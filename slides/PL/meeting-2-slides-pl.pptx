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7" r:id="rId51"/>
    <p:sldId id="308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onfiguracja" id="{D7A7E4CC-22A5-2DCD-2991-C5402491D9DE}">
          <p14:sldIdLst>
            <p14:sldId id="256"/>
            <p14:sldId id="257"/>
          </p14:sldIdLst>
        </p14:section>
        <p14:section name="Aplikacja" id="{ECDE778F-39E5-2BE9-AA5C-A657AB215D61}">
          <p14:sldIdLst>
            <p14:sldId id="258"/>
            <p14:sldId id="259"/>
          </p14:sldIdLst>
        </p14:section>
        <p14:section name="Funkcje" id="{A696A1CD-01C4-639A-C5DA-66C98DF96C6D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Terminal" id="{89A21730-52B6-4760-353A-6BF816983827}">
          <p14:sldIdLst>
            <p14:sldId id="267"/>
            <p14:sldId id="268"/>
          </p14:sldIdLst>
        </p14:section>
        <p14:section name="Razem ze mną" id="{FCE5797B-A2DB-241C-BEB6-FE5A9FA647B2}">
          <p14:sldIdLst>
            <p14:sldId id="269"/>
            <p14:sldId id="270"/>
            <p14:sldId id="271"/>
            <p14:sldId id="272"/>
          </p14:sldIdLst>
        </p14:section>
        <p14:section name="Lint" id="{54301BD5-44C7-C537-5061-3FF0A33A0E1C}">
          <p14:sldIdLst>
            <p14:sldId id="273"/>
            <p14:sldId id="274"/>
            <p14:sldId id="275"/>
          </p14:sldIdLst>
        </p14:section>
        <p14:section name="Workflow" id="{D60EE4DB-2CDE-CB91-994C-0482C995B8D8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Matrix" id="{BC381701-886E-3C82-28E0-6F1DDE0D604A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Artefakty" id="{5D1982E9-18D2-3990-B2E4-B3F7C4B0B71F}">
          <p14:sldIdLst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Bandit" id="{31F25598-C8B9-700C-07F6-E89551BFEEC0}">
          <p14:sldIdLst>
            <p14:sldId id="301"/>
            <p14:sldId id="302"/>
            <p14:sldId id="303"/>
            <p14:sldId id="304"/>
            <p14:sldId id="305"/>
          </p14:sldIdLst>
        </p14:section>
        <p14:section name="Podsumowanie" id="{87C8E0C9-F83E-8479-14FF-3160A571C759}">
          <p14:sldIdLst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31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152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ekranie, gdy ludzie siadają. URL jako zwykły tekst, bez QR. 2FA przez telefon. Komputery w laboratorium: nie zapisywać hasła (tylko ustnie, nigdy na slajdzie). Zatrzymaj Codespace z poprzednich zajęć na github.com/codespaces: darmowe konto ma ograniczone godziny obliczeń i nie chcesz zablokowanego startu.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Ręka w górę: "kto utworzył repo?" (punkt kontrolny S1). Powiedz: "Uruchamia się, gdy rozmawiamy. Nie ruszajcie go, dopóki nie poproszę." Konfiguracja może jeszcze trwać; terminal może się otworzyć, gdy instalacja devcontainera jeszcze trwa.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Pytanie: "Co robi ta aplikacja, gdy dodasz zadanie?" Oczekiwane: zapisuje je, a także czyści tytuł. Nie czytaj endpointów.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ze strzałkami; pierwsze pudełko opisz "ty (żądanie)", jeszcze bez "curl" i "port" (definiuje je slajd curl, localhost, port). Jeśli funkcja nie działa, zadanie i tak powstaje z "normalized": false. Zobaczycie to później na żywo.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Około 40 s. Własnymi słowami; zgodne z dokumentacją AWS Lambda "run code in response to events". Przykład: "wyczyść ten tytuł".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Sformułowanie z dokumentacji AWS Lambda ("no shared state", stan "might not persist across invocations"). Nigdy nie mów, że funkcja "nigdy nie trzyma stanu".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 używany na kolejnych slajdach. Jedno konkretne wywołanie: jeden tytuł na wejściu, jeden na wyjściu.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Nazwy pochodzą z dokumentacji dostawców. Bez twierdzeń o zachowaniu: bez cold startu, bez rozliczeń.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Strona o skalowaniu Azure Functions: "Apps can scale to zero when idle". Mów "może".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Dwa fakty z kodu: jedna funkcja za POST /invoke, bez własnego stanu; uruchamiasz ją sam przez flask, żadna platforma jej nie skaluje. Powiedz: "W stylu FaaS znaczy, że wygląda jak funkcja. Platformy tu nie mamy."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Dwa pytania, po 7 s czekania: "Którą część skalowałbyś osobno?" i "Co bezstanowość oznacza dla miejsca przechowywania zadania?" Odpowiedź: tasks-api trzyma je w pamięci.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Wpisz flask --version. Wypisze się wersja: ręka w górę (przećwicz, żeby potwierdzić w prawdziwym Codespace). Ustnie: "Ręka w górę, jeśli twój Codespace jest otwarty i konfiguracja się skończyła." Plan awaryjny prowadzącego: log tworzenia. Nigdy "terminal otwarty = gotowe". Kto nie jest gotowy, patrzy na projektor i dołącza przy następnym punkcie kontrolnym.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Jeden slajd, trzy słowa. curl: polecenie, które wysyła żądanie na adres webowy i wypisuje odpowiedź. localhost: ta sama maszyna, tu Codespace. port: liczba mówiąca, który program odpowiada: 5000 to API, 5001 to funkcja. Pytanie: "Co powinno zrobić tasks-api, gdy funkcja nie działa?" Oczekiwane: odrzucić zadanie albo i tak je utworzyć; powiedz, że zobaczymy, co robi.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Polecenia z README. Ręka w górę, gdy oba pokazują Running on http://127.0.0.1:5001 i :5000 (punkt kontrolny S2). Zasada pomocy na ekranie od tego miejsca.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Polecenia: POST "  buy   milk ", potem GET /tasks. Oczekiwane Buy milk, "normalized": true (punkt kontrolny S3). Pytanie: "Jak wyglądał tytuł przed i po?"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Oczekiwane "normalized": false i surowy tytuł (punkt kontrolny S4). Pytanie: "Dlaczego zadanie i tak powstaje?" Nie restartuj tasks-api: jego lista jest w pamięci.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Punkt kontrolny S5. Uruchamiaj z folderu serwisu; samo pytest z katalogu głównego nie działa. Pytanie: "Który serwis ma więcej testów i dlaczego?"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Pytanie: "Co wychwyci linter, a test nie?" Oczekiwane: nieużywane importy, styl, ryzykowne wzorce w kodzie, którego żaden test nie dotyka. Tylko rozmowa, nic nie uruchamiamy.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ruff: bardzo szybki linter i formater kodu Pythona, napisany w Rust. flake8: nakładka na PyFlakes, pycodestyle i McCabe. pylint: statyczny analizator kodu. Bez wersji, bez 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Powiedz głośno B101 i zostaw to w ciszy: "Zapamiętajcie B101. Pojawi się w naszych testach." (B101 = użycie assert.) Zdanie kończące, powiedz je tak, jak jest: "Użyjecie Bandita w ostatnim kroku następnego bloku."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to plik w twoim repo, który GitHub uruchamia na własnej maszynie, gdy coś się wydarzy. Kroki: plik i checkout, Python i testy jednego serwisu, oba serwisy, zapis raportu z testów, skan Banditem. Pytanie: "Gdzie wcześniej widzieliście YAML?" (do wycięcia w pierwszej kolejności).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 z odpowiedzią pojawia się o czasie danego kroku, nie wcześniej. Bez repo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Pętla push: zapisz, commit, push do main, otwórz zakładkę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Okno budowania 4 min. Nazwij workflow tak, jak działa: testuje i skanuje.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Klucze: name, on, permissions, jobs, runs-on, steps. Dla studentów, którzy opuścili poprzednie zajęcia.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Startuje 1 min po rozpoczęciu budowania. Podpowiedzi pojawiają się po jednej na minutę: a o 0:52, b o 0:53, c o 0:54. Klucze szkieletu zostaw w panelu bocznym. Podpowiedź nigdy nie jest odpowiedzią.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o czasie danego kroku. Zapytaj "kto ma zielony przebieg?" (C1). Tu bez pytania wyjaśniającego. Jedna linia na blok: on = kiedy się uruchamia; permissions: contents: read = job może tylko czytać repo; ubuntu-latest = świeża maszyna z Ubuntu, za każdym razem pusta; checkout = maszyna startuje pusta, więc pobieramy nasz kod.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Budowanie 4 min. ubuntu-latest ma już Pythona: chodzi o twoje zależności i przypiętą wersję, a nie o "brak Pythona".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Podpowiedź c: "Który argument mówi pytest, gdzie są testy?" Zależy od FACTS F13 (zweryfikuj w próbnym przebiegu). a o 0:57, b o 0:58, c o 0:59.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Zapytaj "kto ma zielony przebieg?" (C2: 23 passed). Pytanie wyjaśniające: "Dlaczego maszyna potrzebuje kroku instalacji?" Oczekiwane: runner ma Pythona, ale nie ma Flaska, requests ani pytest z naszego requirements.txt; każdy przebieg startuje od zera. Wersje w cudzysłowie: niecytowane 3.10 staje się 3.1 w YAML.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Pytanie na tym slajdzie: "Które wartości zmieniają się między dwoma przebiegami?" Tylko nazwa serwisu. Każdy wariant ma własny system plików.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Dlaczego ${{ matrix.service }} występuje w ścieżce instalacji, ścieżce pytest, nazwach plików i nazwach artefaktów.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Strona otwarta wcześniej w karcie, pokazana około 40 s: docs.github.com/en/actions/how-tos/write-workflows/choose-what-workflows-do/run-job-variations (pobrana, 200). Nigdy nie wycinaj.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Budowanie 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Startuje w minucie 1, po jednej na minutę: a o 1:04, b o 1:05, c o 1:06.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Zapytaj "kto ma zielony przebieg?" (C3: dwa warianty, 23 passed, 13 passed). Pytanie wyjaśniające: "Dlaczego matrix.service jest też w ścieżce pytest?" Oczekiwane: podmiana tekstu następuje wszędzie tam, gdzie stoi wyrażenie, więc każdy wariant testuje własny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Wcześniej: "Gdzie żyje raport, jeśli go nie zapiszesz?" Domyślne przechowywanie to 90 dni (dokumentacja). Bez liczb o limicie miejsca.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Artefakty są niezmienne per nazwa; dokumentacja ostrzega przed błędami konfliktu. Nie mów, że pada dokładnie jeden wariant.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Budowanie 4 min. Wskazówka: zapisz wynik do pliku i zostaw go w logu.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Podpowiedzi d i e pojawiają się razem w ostatniej minucie. a o 1:11, b o 1:12, c o 1:13, d i e o 1:13.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Zapytaj "kto ma zielony przebieg?" (C4 pojawia się na slajdzie zepsuj-test). Pokaż w 1 minutę: powiedz trzy nowe rzeczy po jednym zdaniu (plik przez tee, wgrywanie, if: always()), dwa 20-sekundowe dygresje (następne dwa slajdy). Pytanie wyjaśniające przeniesione na slajd zepsuj-test.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s. Bez tego pytest | tee zwraca kod wyjścia 0 z tee i krok zostaje zielony. Zweryfikowane w dokumentacji i lokalnie. Powtórka na runnerze: sformułowanie z próby. Mów "domyślne flagi shella".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s. Ucz tego jako środka ostrożności. Nie twierdź, że raport się nigdy nie wgra bez tego: niezweryfikowane, sformułowanie z próby.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 razem. Zapytaj "Co widzicie?" (czerwony przebieg i oba raporty z testów: najpierw zweryfikuj w próbnym przebiegu). Omówienie: "Po co if: always()?" Oczekiwane: po czerwonym kroku pytest domyślne success() pominęłoby wgrywanie; always() i tak je uruchamia. Nie czekaj tu na zielony.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Budowanie 4 min. Wskazówka na następnym slajdzie.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Tylko kształt. Bandit to pakiet pip.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 jednej na minutę: a o 1:19, b o 1:20, c i d o 1:21. Jeśli kroki Bandita są szare (pominięte), spójrz na krok pytest wyżej: jest czerwony.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Zapytaj "kto ma zielony przebieg?" (C5; tylko zielony pytest; szare kroki Bandita = pominięte, spójrz na krok pytest wyżej). Bez if: na krokach Bandita, chyba że prowadzący zdecyduje inaczej. Dlaczego continue-on-error: Bandit skanuje testy i flaguje assert (B101), 28 znalezisk, kod wyjścia 1 (zweryfikowane lokalnie). Powiedz, co strona przebiegu pokazuje dla nieudanego kroku Bandita, dopiero gdy to zobaczysz (verify).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Dyskusja, 2 min. Sformułowanie z dokumentacji dla continue-on-error: "Prevents a job from failing when a step fails."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robienia, 1 min pytania: "Dlaczego ${{ matrix.service }} występuje w nazwie artefaktu?" (zapasowe: "Kiedy używasz always() zamiast continue-on-error?"). Jeśli rozpakowanie nie działa na komputerach w laboratorium, pokaż to na ekranie i nie czekaj. Sformułowania układu strony: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github.com/codespaces. Praca jest w repozytorium. Nigdy nie wycinaj.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Title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Title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Utwórz swoje repo</a:t>
            </a:r>
            <a:endParaRPr lang="en-US" sz="3400" dirty="0"/>
          </a:p>
        </p:txBody>
      </p:sp>
      <p:sp>
        <p:nvSpPr>
          <p:cNvPr id="4" name="step 1 circle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Zaloguj się na github.com</a:t>
            </a:r>
            <a:endParaRPr lang="en-US" sz="1800" dirty="0"/>
          </a:p>
        </p:txBody>
      </p:sp>
      <p:sp>
        <p:nvSpPr>
          <p:cNvPr id="7" name="step 2 circle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9019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Zatrzymaj stary Codespace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2128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github.com/codespaces</a:t>
            </a:r>
            <a:endParaRPr lang="en-US" sz="1400" dirty="0"/>
          </a:p>
        </p:txBody>
      </p:sp>
      <p:sp>
        <p:nvSpPr>
          <p:cNvPr id="11" name="step 3 circle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25877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Otwórz szablon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898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github.com/kubino148/tasks-app</a:t>
            </a:r>
            <a:endParaRPr lang="en-US" sz="1400" dirty="0"/>
          </a:p>
        </p:txBody>
      </p:sp>
      <p:sp>
        <p:nvSpPr>
          <p:cNvPr id="15" name="step 4 circle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291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</a:rPr>
              <a:t>Naciśnij</a:t>
            </a:r>
            <a:r>
              <a:rPr lang="en-US" sz="1800" b="1" dirty="0">
                <a:solidFill>
                  <a:schemeClr val="bg1"/>
                </a:solidFill>
              </a:rPr>
              <a:t> “Use this template”, </a:t>
            </a:r>
            <a:r>
              <a:rPr lang="en-US" sz="1800" b="1" dirty="0" err="1">
                <a:solidFill>
                  <a:schemeClr val="bg1"/>
                </a:solidFill>
              </a:rPr>
              <a:t>potem</a:t>
            </a:r>
            <a:r>
              <a:rPr lang="en-US" sz="1800" b="1" dirty="0">
                <a:solidFill>
                  <a:schemeClr val="bg1"/>
                </a:solidFill>
              </a:rPr>
              <a:t> “Create a new repository”</a:t>
            </a:r>
          </a:p>
        </p:txBody>
      </p:sp>
      <p:sp>
        <p:nvSpPr>
          <p:cNvPr id="18" name="step 5 circle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Nazwij go tasks-app-&lt;</a:t>
            </a:r>
            <a:r>
              <a:rPr lang="en-US" sz="1800" b="1" dirty="0" err="1">
                <a:solidFill>
                  <a:schemeClr val="bg1"/>
                </a:solidFill>
              </a:rPr>
              <a:t>numerstudenta</a:t>
            </a:r>
            <a:r>
              <a:rPr lang="en-US" sz="1800" b="1" dirty="0">
                <a:solidFill>
                  <a:schemeClr val="bg1"/>
                </a:solidFill>
              </a:rPr>
              <a:t>&gt;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chemeClr val="bg1"/>
                </a:solidFill>
              </a:rPr>
              <a:t>Codespace</a:t>
            </a:r>
            <a:endParaRPr lang="en-US" sz="3400" dirty="0"/>
          </a:p>
        </p:txBody>
      </p:sp>
      <p:sp>
        <p:nvSpPr>
          <p:cNvPr id="4" name="step 1 circle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63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chemeClr val="bg1"/>
                </a:solidFill>
              </a:rPr>
              <a:t>Nacisnij</a:t>
            </a:r>
            <a:r>
              <a:rPr lang="en-US" sz="2800" b="1" dirty="0">
                <a:solidFill>
                  <a:schemeClr val="bg1"/>
                </a:solidFill>
              </a:rPr>
              <a:t> “Code”, </a:t>
            </a:r>
            <a:r>
              <a:rPr lang="en-US" sz="2800" b="1" dirty="0" err="1">
                <a:solidFill>
                  <a:schemeClr val="bg1"/>
                </a:solidFill>
              </a:rPr>
              <a:t>potem</a:t>
            </a:r>
            <a:r>
              <a:rPr lang="en-US" sz="2800" b="1" dirty="0">
                <a:solidFill>
                  <a:schemeClr val="bg1"/>
                </a:solidFill>
              </a:rPr>
              <a:t> “</a:t>
            </a:r>
            <a:r>
              <a:rPr lang="en-US" sz="2800" b="1" dirty="0" err="1">
                <a:solidFill>
                  <a:schemeClr val="bg1"/>
                </a:solidFill>
              </a:rPr>
              <a:t>Codespaces</a:t>
            </a:r>
            <a:r>
              <a:rPr lang="en-US" sz="2800" b="1" dirty="0">
                <a:solidFill>
                  <a:schemeClr val="bg1"/>
                </a:solidFill>
              </a:rPr>
              <a:t>”</a:t>
            </a:r>
            <a:endParaRPr lang="en-US" sz="2800" dirty="0"/>
          </a:p>
        </p:txBody>
      </p:sp>
      <p:sp>
        <p:nvSpPr>
          <p:cNvPr id="7" name="step 2 circle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chemeClr val="bg1"/>
                </a:solidFill>
              </a:rPr>
              <a:t>Nacisnij</a:t>
            </a:r>
            <a:r>
              <a:rPr lang="en-US" sz="2800" b="1" dirty="0">
                <a:solidFill>
                  <a:schemeClr val="bg1"/>
                </a:solidFill>
              </a:rPr>
              <a:t> “Create codespace on main”</a:t>
            </a:r>
            <a:endParaRPr lang="en-US" sz="2800" dirty="0"/>
          </a:p>
        </p:txBody>
      </p:sp>
      <p:sp>
        <p:nvSpPr>
          <p:cNvPr id="10" name="step 3 circle"/>
          <p:cNvSpPr/>
          <p:nvPr/>
        </p:nvSpPr>
        <p:spPr>
          <a:xfrm>
            <a:off x="548640" y="32918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chemeClr val="accent2"/>
                </a:solidFill>
              </a:rPr>
              <a:t>Poczekaj</a:t>
            </a:r>
            <a:r>
              <a:rPr lang="en-US" sz="2800" b="1" dirty="0">
                <a:solidFill>
                  <a:schemeClr val="accent2"/>
                </a:solidFill>
              </a:rPr>
              <a:t> </a:t>
            </a:r>
            <a:r>
              <a:rPr lang="en-US" sz="2800" b="1" dirty="0" err="1">
                <a:solidFill>
                  <a:schemeClr val="accent2"/>
                </a:solidFill>
              </a:rPr>
              <a:t>na</a:t>
            </a:r>
            <a:r>
              <a:rPr lang="en-US" sz="2800" b="1" dirty="0">
                <a:solidFill>
                  <a:schemeClr val="accent2"/>
                </a:solidFill>
              </a:rPr>
              <a:t> </a:t>
            </a:r>
            <a:r>
              <a:rPr lang="en-US" sz="2800" b="1" dirty="0" err="1">
                <a:solidFill>
                  <a:schemeClr val="accent2"/>
                </a:solidFill>
              </a:rPr>
              <a:t>uruchomienie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API listy zadań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Aplikacja przechowuje zadania.</a:t>
            </a:r>
            <a:endParaRPr lang="en-US" sz="3000" dirty="0"/>
          </a:p>
        </p:txBody>
      </p:sp>
      <p:sp>
        <p:nvSpPr>
          <p:cNvPr id="5" name="tile Dodaj zadanie"/>
          <p:cNvSpPr/>
          <p:nvPr/>
        </p:nvSpPr>
        <p:spPr>
          <a:xfrm>
            <a:off x="548640" y="2103120"/>
            <a:ext cx="39319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Dodaj zadanie circle"/>
          <p:cNvSpPr/>
          <p:nvPr/>
        </p:nvSpPr>
        <p:spPr>
          <a:xfrm>
            <a:off x="822960" y="2377440"/>
            <a:ext cx="822960" cy="82296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Dodaj zadanie image" descr="FaPlu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58318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Dodaj zadanie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Wchodzi tytuł.</a:t>
            </a:r>
            <a:endParaRPr lang="en-US" sz="1800" dirty="0"/>
          </a:p>
        </p:txBody>
      </p:sp>
      <p:sp>
        <p:nvSpPr>
          <p:cNvPr id="10" name="tile Pokaż zadania"/>
          <p:cNvSpPr/>
          <p:nvPr/>
        </p:nvSpPr>
        <p:spPr>
          <a:xfrm>
            <a:off x="4663440" y="2103120"/>
            <a:ext cx="39319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Pokaż zadania circle"/>
          <p:cNvSpPr/>
          <p:nvPr/>
        </p:nvSpPr>
        <p:spPr>
          <a:xfrm>
            <a:off x="4937760" y="2377440"/>
            <a:ext cx="822960" cy="82296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okaż zadania image" descr="FaLi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5831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93776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Pokaż zadania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493776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Wychodzą wszystkie zadania.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Dwa serwisy</a:t>
            </a:r>
            <a:endParaRPr lang="en-US" sz="3400" dirty="0"/>
          </a:p>
        </p:txBody>
      </p:sp>
      <p:sp>
        <p:nvSpPr>
          <p:cNvPr id="4" name="box ty"/>
          <p:cNvSpPr/>
          <p:nvPr/>
        </p:nvSpPr>
        <p:spPr>
          <a:xfrm>
            <a:off x="548640" y="164592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17556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chemeClr val="bg1"/>
                </a:solidFill>
              </a:rPr>
              <a:t>Użytkownik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29971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żądanie</a:t>
            </a:r>
            <a:endParaRPr lang="en-US" sz="1400" dirty="0"/>
          </a:p>
        </p:txBody>
      </p:sp>
      <p:sp>
        <p:nvSpPr>
          <p:cNvPr id="7" name="box tasks-api"/>
          <p:cNvSpPr/>
          <p:nvPr/>
        </p:nvSpPr>
        <p:spPr>
          <a:xfrm>
            <a:off x="3657600" y="164592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749040" y="17556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tasks-api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749040" y="229971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5000</a:t>
            </a:r>
            <a:endParaRPr lang="en-US" sz="1400" dirty="0"/>
          </a:p>
        </p:txBody>
      </p:sp>
      <p:sp>
        <p:nvSpPr>
          <p:cNvPr id="10" name="box title-normalizer"/>
          <p:cNvSpPr/>
          <p:nvPr/>
        </p:nvSpPr>
        <p:spPr>
          <a:xfrm>
            <a:off x="6766560" y="164592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388B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858000" y="17556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title-normalizer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229971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5001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2834640" y="2103120"/>
            <a:ext cx="274320" cy="292608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arrow"/>
          <p:cNvSpPr/>
          <p:nvPr/>
        </p:nvSpPr>
        <p:spPr>
          <a:xfrm>
            <a:off x="5989320" y="2103120"/>
            <a:ext cx="274320" cy="292608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7784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/invoke</a:t>
            </a:r>
            <a:endParaRPr lang="en-US" sz="1100" dirty="0"/>
          </a:p>
        </p:txBody>
      </p:sp>
      <p:sp>
        <p:nvSpPr>
          <p:cNvPr id="16" name="caption banner"/>
          <p:cNvSpPr/>
          <p:nvPr/>
        </p:nvSpPr>
        <p:spPr>
          <a:xfrm>
            <a:off x="548640" y="3291840"/>
            <a:ext cx="804672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2918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title-normalizer </a:t>
            </a:r>
            <a:r>
              <a:rPr lang="en-US" sz="2000" dirty="0">
                <a:solidFill>
                  <a:schemeClr val="bg1"/>
                </a:solidFill>
              </a:rPr>
              <a:t>przycina tytuł, zwija spacje, zamienia pierwszą literę na wielką.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Funkcja</a:t>
            </a:r>
            <a:endParaRPr lang="en-US" sz="3400" dirty="0"/>
          </a:p>
        </p:txBody>
      </p:sp>
      <p:sp>
        <p:nvSpPr>
          <p:cNvPr id="4" name="Funkcja circle"/>
          <p:cNvSpPr/>
          <p:nvPr/>
        </p:nvSpPr>
        <p:spPr>
          <a:xfrm>
            <a:off x="640080" y="1600200"/>
            <a:ext cx="1463040" cy="146304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Funkcja image" descr="Fa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468880" y="128016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Mały fragment kodu, który uruchamia się, gdy ktoś go wywoła.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2468880" y="32918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chemeClr val="accent6"/>
                </a:solidFill>
              </a:rPr>
              <a:t>Przykład: wyczyść ten tytuł.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Bezstanowość</a:t>
            </a:r>
            <a:endParaRPr lang="en-US" sz="3400" dirty="0"/>
          </a:p>
        </p:txBody>
      </p:sp>
      <p:sp>
        <p:nvSpPr>
          <p:cNvPr id="4" name="Bezstanowość circle"/>
          <p:cNvSpPr/>
          <p:nvPr/>
        </p:nvSpPr>
        <p:spPr>
          <a:xfrm>
            <a:off x="640080" y="1600200"/>
            <a:ext cx="1463040" cy="146304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Bezstanowość image" descr="FaSyn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468880" y="128016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Każde wywołanie działa samo. To, co zapamiętało jedno wywołanie, może nie być dostępne w następnym.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Wywołanie</a:t>
            </a:r>
            <a:endParaRPr lang="en-US" sz="3400" dirty="0"/>
          </a:p>
        </p:txBody>
      </p:sp>
      <p:sp>
        <p:nvSpPr>
          <p:cNvPr id="4" name="Wywołanie circle"/>
          <p:cNvSpPr/>
          <p:nvPr/>
        </p:nvSpPr>
        <p:spPr>
          <a:xfrm>
            <a:off x="640080" y="1600200"/>
            <a:ext cx="1463040" cy="146304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Wywołanie image" descr="Fa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468880" y="128016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Jedno uruchomienie funkcji.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2468880" y="32918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chemeClr val="accent6"/>
                </a:solidFill>
              </a:rPr>
              <a:t>Jeden tytuł wchodzi, jeden wychodzi.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Platforma</a:t>
            </a:r>
            <a:endParaRPr lang="en-US" sz="3400" dirty="0"/>
          </a:p>
        </p:txBody>
      </p:sp>
      <p:sp>
        <p:nvSpPr>
          <p:cNvPr id="4" name="Platforma circle"/>
          <p:cNvSpPr/>
          <p:nvPr/>
        </p:nvSpPr>
        <p:spPr>
          <a:xfrm>
            <a:off x="640080" y="1600200"/>
            <a:ext cx="1463040" cy="146304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latforma image" descr="FaServ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468880" y="128016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Usługa, która uruchamia </a:t>
            </a:r>
            <a:r>
              <a:rPr lang="en-US" sz="3000" b="1" dirty="0" err="1">
                <a:solidFill>
                  <a:schemeClr val="tx1"/>
                </a:solidFill>
              </a:rPr>
              <a:t>twoje</a:t>
            </a:r>
            <a:r>
              <a:rPr lang="en-US" sz="3000" b="1" dirty="0">
                <a:solidFill>
                  <a:schemeClr val="tx1"/>
                </a:solidFill>
              </a:rPr>
              <a:t> </a:t>
            </a:r>
            <a:r>
              <a:rPr lang="en-US" sz="3000" b="1" dirty="0" err="1">
                <a:solidFill>
                  <a:schemeClr val="tx1"/>
                </a:solidFill>
              </a:rPr>
              <a:t>FaaS’y</a:t>
            </a:r>
            <a:r>
              <a:rPr lang="en-US" sz="3000" b="1" dirty="0">
                <a:solidFill>
                  <a:schemeClr val="tx1"/>
                </a:solidFill>
              </a:rPr>
              <a:t> za ciebie, na przykład AWS Lambda lub Azure Functions.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Skalowanie do zera</a:t>
            </a:r>
            <a:endParaRPr lang="en-US" sz="3400" dirty="0"/>
          </a:p>
        </p:txBody>
      </p:sp>
      <p:sp>
        <p:nvSpPr>
          <p:cNvPr id="4" name="Skalowanie do zera circle"/>
          <p:cNvSpPr/>
          <p:nvPr/>
        </p:nvSpPr>
        <p:spPr>
          <a:xfrm>
            <a:off x="640080" y="1600200"/>
            <a:ext cx="1463040" cy="146304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Skalowanie do zera image" descr="FaChart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468880" y="128016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chemeClr val="tx1"/>
                </a:solidFill>
              </a:rPr>
              <a:t>Gdy</a:t>
            </a:r>
            <a:r>
              <a:rPr lang="en-US" sz="3000" b="1" dirty="0">
                <a:solidFill>
                  <a:schemeClr val="tx1"/>
                </a:solidFill>
              </a:rPr>
              <a:t> </a:t>
            </a:r>
            <a:r>
              <a:rPr lang="en-US" sz="3000" b="1" dirty="0" err="1"/>
              <a:t>serwis</a:t>
            </a:r>
            <a:r>
              <a:rPr lang="en-US" sz="3000" b="1" dirty="0"/>
              <a:t> </a:t>
            </a:r>
            <a:r>
              <a:rPr lang="en-US" sz="3000" b="1" dirty="0" err="1"/>
              <a:t>nie</a:t>
            </a:r>
            <a:r>
              <a:rPr lang="en-US" sz="3000" b="1" dirty="0"/>
              <a:t> </a:t>
            </a:r>
            <a:r>
              <a:rPr lang="en-US" sz="3000" b="1" dirty="0" err="1"/>
              <a:t>jeset</a:t>
            </a:r>
            <a:r>
              <a:rPr lang="en-US" sz="3000" b="1" dirty="0"/>
              <a:t> </a:t>
            </a:r>
            <a:r>
              <a:rPr lang="en-US" sz="3000" b="1" dirty="0" err="1"/>
              <a:t>używany</a:t>
            </a:r>
            <a:r>
              <a:rPr lang="en-US" sz="3000" b="1" dirty="0">
                <a:solidFill>
                  <a:schemeClr val="tx1"/>
                </a:solidFill>
              </a:rPr>
              <a:t>, platforma może nie uruchamiać ani jednej </a:t>
            </a:r>
            <a:r>
              <a:rPr lang="en-US" sz="3000" b="1" dirty="0" err="1">
                <a:solidFill>
                  <a:schemeClr val="tx1"/>
                </a:solidFill>
              </a:rPr>
              <a:t>kopii</a:t>
            </a:r>
            <a:r>
              <a:rPr lang="en-US" sz="3000" b="1" dirty="0">
                <a:solidFill>
                  <a:schemeClr val="tx1"/>
                </a:solidFill>
              </a:rPr>
              <a:t> </a:t>
            </a:r>
            <a:r>
              <a:rPr lang="en-US" sz="3000" b="1" dirty="0" err="1">
                <a:solidFill>
                  <a:schemeClr val="tx1"/>
                </a:solidFill>
              </a:rPr>
              <a:t>twojego</a:t>
            </a:r>
            <a:r>
              <a:rPr lang="en-US" sz="3000" b="1" dirty="0">
                <a:solidFill>
                  <a:schemeClr val="tx1"/>
                </a:solidFill>
              </a:rPr>
              <a:t> </a:t>
            </a:r>
            <a:r>
              <a:rPr lang="en-US" sz="3000" b="1" dirty="0" err="1">
                <a:solidFill>
                  <a:schemeClr val="tx1"/>
                </a:solidFill>
              </a:rPr>
              <a:t>FaaS’a</a:t>
            </a:r>
            <a:r>
              <a:rPr lang="en-US" sz="3000" b="1" dirty="0">
                <a:solidFill>
                  <a:schemeClr val="tx1"/>
                </a:solidFill>
              </a:rPr>
              <a:t>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Nasz </a:t>
            </a:r>
            <a:r>
              <a:rPr lang="en-US" sz="3400" b="1" dirty="0" err="1">
                <a:solidFill>
                  <a:schemeClr val="tx1"/>
                </a:solidFill>
              </a:rPr>
              <a:t>serwis</a:t>
            </a:r>
            <a:r>
              <a:rPr lang="en-US" sz="3400" b="1" dirty="0">
                <a:solidFill>
                  <a:schemeClr val="tx1"/>
                </a:solidFill>
              </a:rPr>
              <a:t> jest w stylu FaaS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Mały serwis podobny do funkcji, nie działa na platformie.</a:t>
            </a:r>
            <a:endParaRPr lang="en-US" sz="2400" dirty="0"/>
          </a:p>
        </p:txBody>
      </p:sp>
      <p:sp>
        <p:nvSpPr>
          <p:cNvPr id="5" name="Jak funkcja"/>
          <p:cNvSpPr/>
          <p:nvPr/>
        </p:nvSpPr>
        <p:spPr>
          <a:xfrm>
            <a:off x="548640" y="2286000"/>
            <a:ext cx="39319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Jak funkcja circle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Jak funkcja image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060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/>
              <a:t>Jako </a:t>
            </a:r>
            <a:r>
              <a:rPr lang="en-US" sz="2200" dirty="0" err="1"/>
              <a:t>funkcja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2004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Jedna mała </a:t>
            </a:r>
            <a:r>
              <a:rPr lang="en-US" sz="1700" dirty="0" err="1">
                <a:solidFill>
                  <a:schemeClr val="tx1"/>
                </a:solidFill>
              </a:rPr>
              <a:t>funkcja</a:t>
            </a:r>
            <a:r>
              <a:rPr lang="en-US" sz="1700" dirty="0">
                <a:solidFill>
                  <a:schemeClr val="tx1"/>
                </a:solidFill>
              </a:rPr>
              <a:t> /invoke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Brak własnego stanu</a:t>
            </a:r>
            <a:endParaRPr lang="en-US" sz="1700" dirty="0"/>
          </a:p>
        </p:txBody>
      </p:sp>
      <p:sp>
        <p:nvSpPr>
          <p:cNvPr id="10" name="Brak platformy"/>
          <p:cNvSpPr/>
          <p:nvPr/>
        </p:nvSpPr>
        <p:spPr>
          <a:xfrm>
            <a:off x="4663440" y="2286000"/>
            <a:ext cx="39319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rak platformy circle"/>
          <p:cNvSpPr/>
          <p:nvPr/>
        </p:nvSpPr>
        <p:spPr>
          <a:xfrm>
            <a:off x="4892040" y="2468880"/>
            <a:ext cx="548640" cy="548640"/>
          </a:xfrm>
          <a:prstGeom prst="ellipse">
            <a:avLst/>
          </a:prstGeom>
          <a:solidFill>
            <a:srgbClr val="D124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Brak platformy image" descr="FaTim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060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2356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Brak platformy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4937760" y="32004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Żadna </a:t>
            </a:r>
            <a:r>
              <a:rPr lang="en-US" sz="1700" dirty="0" err="1">
                <a:solidFill>
                  <a:schemeClr val="tx1"/>
                </a:solidFill>
              </a:rPr>
              <a:t>platforma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/>
              <a:t>jej</a:t>
            </a:r>
            <a:r>
              <a:rPr lang="en-US" sz="1700" dirty="0">
                <a:solidFill>
                  <a:schemeClr val="tx1"/>
                </a:solidFill>
              </a:rPr>
              <a:t> nie uruchamia ani nie skaluje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Uruchamiasz go sam przez flask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Nasze invoke to wywołanie</a:t>
            </a:r>
            <a:endParaRPr lang="en-US" sz="3400" dirty="0"/>
          </a:p>
        </p:txBody>
      </p:sp>
      <p:sp>
        <p:nvSpPr>
          <p:cNvPr id="4" name="box Utwórz zadanie"/>
          <p:cNvSpPr/>
          <p:nvPr/>
        </p:nvSpPr>
        <p:spPr>
          <a:xfrm>
            <a:off x="548640" y="13716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1371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Task-API </a:t>
            </a:r>
            <a:r>
              <a:rPr lang="en-US" sz="2000" b="1" dirty="0" err="1">
                <a:solidFill>
                  <a:schemeClr val="bg1"/>
                </a:solidFill>
              </a:rPr>
              <a:t>tworzy</a:t>
            </a:r>
            <a:r>
              <a:rPr lang="en-US" sz="2000" b="1" dirty="0">
                <a:solidFill>
                  <a:schemeClr val="bg1"/>
                </a:solidFill>
              </a:rPr>
              <a:t> zadanie</a:t>
            </a:r>
            <a:endParaRPr lang="en-US" sz="2000" dirty="0"/>
          </a:p>
        </p:txBody>
      </p:sp>
      <p:sp>
        <p:nvSpPr>
          <p:cNvPr id="6" name="box POST /invoke"/>
          <p:cNvSpPr/>
          <p:nvPr/>
        </p:nvSpPr>
        <p:spPr>
          <a:xfrm>
            <a:off x="3474720" y="13716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3566160" y="1371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POST /invoke</a:t>
            </a:r>
            <a:endParaRPr lang="en-US" sz="1800" dirty="0"/>
          </a:p>
        </p:txBody>
      </p:sp>
      <p:sp>
        <p:nvSpPr>
          <p:cNvPr id="8" name="box Jedno wywołanie"/>
          <p:cNvSpPr/>
          <p:nvPr/>
        </p:nvSpPr>
        <p:spPr>
          <a:xfrm>
            <a:off x="6400800" y="13716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388B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492240" y="1371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Jedno wywołanie</a:t>
            </a:r>
            <a:endParaRPr lang="en-US" sz="2000" dirty="0"/>
          </a:p>
        </p:txBody>
      </p:sp>
      <p:sp>
        <p:nvSpPr>
          <p:cNvPr id="10" name="arrow"/>
          <p:cNvSpPr/>
          <p:nvPr/>
        </p:nvSpPr>
        <p:spPr>
          <a:xfrm>
            <a:off x="2926080" y="1737360"/>
            <a:ext cx="274320" cy="292608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arrow"/>
          <p:cNvSpPr/>
          <p:nvPr/>
        </p:nvSpPr>
        <p:spPr>
          <a:xfrm>
            <a:off x="5852160" y="1737360"/>
            <a:ext cx="274320" cy="292608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tatement banner"/>
          <p:cNvSpPr/>
          <p:nvPr/>
        </p:nvSpPr>
        <p:spPr>
          <a:xfrm>
            <a:off x="548640" y="2926080"/>
            <a:ext cx="804672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926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Każde utworzone zadanie to </a:t>
            </a:r>
            <a:r>
              <a:rPr lang="en-US" sz="2800" b="1" dirty="0">
                <a:solidFill>
                  <a:schemeClr val="accent1"/>
                </a:solidFill>
              </a:rPr>
              <a:t>jedno wywołanie</a:t>
            </a:r>
            <a:r>
              <a:rPr lang="en-US" sz="2800" dirty="0">
                <a:solidFill>
                  <a:schemeClr val="bg1"/>
                </a:solidFill>
              </a:rPr>
              <a:t> naszej funkcji.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 err="1"/>
              <a:t>Gotowi</a:t>
            </a:r>
            <a:r>
              <a:rPr lang="en-US" sz="3400" dirty="0"/>
              <a:t>?</a:t>
            </a:r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6"/>
                </a:solidFill>
              </a:rPr>
              <a:t>Uruchom</a:t>
            </a:r>
            <a:r>
              <a:rPr lang="en-US" sz="2400" dirty="0">
                <a:solidFill>
                  <a:schemeClr val="accent6"/>
                </a:solidFill>
              </a:rPr>
              <a:t>:</a:t>
            </a:r>
          </a:p>
        </p:txBody>
      </p:sp>
      <p:sp>
        <p:nvSpPr>
          <p:cNvPr id="5" name="command panel"/>
          <p:cNvSpPr/>
          <p:nvPr/>
        </p:nvSpPr>
        <p:spPr>
          <a:xfrm>
            <a:off x="548640" y="1834997"/>
            <a:ext cx="8046720" cy="2880361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35431" y="1716436"/>
            <a:ext cx="7873137" cy="2718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>
              <a:solidFill>
                <a:schemeClr val="accent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-r services/task-</a:t>
            </a:r>
            <a:r>
              <a:rPr lang="en-US" sz="3200" dirty="0" err="1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r>
              <a:rPr lang="en-US" sz="3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3200" dirty="0" err="1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br>
              <a:rPr lang="en-US" sz="3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endParaRPr lang="en-US" sz="3200" dirty="0">
              <a:solidFill>
                <a:schemeClr val="accent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flask –version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curl, localhost, port</a:t>
            </a:r>
            <a:endParaRPr lang="en-US" sz="3400" dirty="0"/>
          </a:p>
        </p:txBody>
      </p:sp>
      <p:sp>
        <p:nvSpPr>
          <p:cNvPr id="4" name="card curl"/>
          <p:cNvSpPr/>
          <p:nvPr/>
        </p:nvSpPr>
        <p:spPr>
          <a:xfrm>
            <a:off x="548640" y="137160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curl circle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curl image" descr="FaTermi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5166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291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wysyła żądanie</a:t>
            </a:r>
            <a:endParaRPr lang="en-US" sz="2000" dirty="0"/>
          </a:p>
        </p:txBody>
      </p:sp>
      <p:sp>
        <p:nvSpPr>
          <p:cNvPr id="9" name="card localhost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localhost circle"/>
          <p:cNvSpPr/>
          <p:nvPr/>
        </p:nvSpPr>
        <p:spPr>
          <a:xfrm>
            <a:off x="3566160" y="1645920"/>
            <a:ext cx="822960" cy="82296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localhost image" descr="Fa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18516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3566160" y="3291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 err="1"/>
              <a:t>Lokalny</a:t>
            </a:r>
            <a:r>
              <a:rPr lang="en-US" sz="2000" dirty="0"/>
              <a:t> </a:t>
            </a:r>
            <a:r>
              <a:rPr lang="en-US" sz="2000" dirty="0" err="1"/>
              <a:t>adres</a:t>
            </a:r>
            <a:endParaRPr lang="en-US" sz="2000" dirty="0"/>
          </a:p>
        </p:txBody>
      </p:sp>
      <p:sp>
        <p:nvSpPr>
          <p:cNvPr id="14" name="card port"/>
          <p:cNvSpPr/>
          <p:nvPr/>
        </p:nvSpPr>
        <p:spPr>
          <a:xfrm>
            <a:off x="6035040" y="137160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port circle"/>
          <p:cNvSpPr/>
          <p:nvPr/>
        </p:nvSpPr>
        <p:spPr>
          <a:xfrm>
            <a:off x="6309360" y="1645920"/>
            <a:ext cx="822960" cy="82296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port image" descr="FaLayerGrou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18516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0936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endParaRPr lang="en-US" sz="2800" dirty="0"/>
          </a:p>
        </p:txBody>
      </p:sp>
      <p:sp>
        <p:nvSpPr>
          <p:cNvPr id="18" name="Text 12"/>
          <p:cNvSpPr txBox="1"/>
          <p:nvPr/>
        </p:nvSpPr>
        <p:spPr>
          <a:xfrm>
            <a:off x="6309360" y="3291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</a:rPr>
              <a:t>Wybiera</a:t>
            </a:r>
            <a:r>
              <a:rPr lang="en-US" sz="2000" dirty="0"/>
              <a:t>, </a:t>
            </a:r>
            <a:r>
              <a:rPr lang="en-US" sz="2000" dirty="0" err="1"/>
              <a:t>jaki</a:t>
            </a:r>
            <a:r>
              <a:rPr lang="en-US" sz="2000" dirty="0"/>
              <a:t> </a:t>
            </a:r>
            <a:r>
              <a:rPr lang="en-US" sz="2000" dirty="0" err="1"/>
              <a:t>serwis</a:t>
            </a:r>
            <a:r>
              <a:rPr lang="en-US" sz="2000" dirty="0"/>
              <a:t> pod </a:t>
            </a:r>
            <a:r>
              <a:rPr lang="en-US" sz="2000" dirty="0" err="1"/>
              <a:t>adresem</a:t>
            </a:r>
            <a:r>
              <a:rPr lang="en-US" sz="2000" dirty="0"/>
              <a:t> IP </a:t>
            </a:r>
            <a:r>
              <a:rPr lang="en-US" sz="2000" dirty="0" err="1"/>
              <a:t>użyć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Uruchom oba serwisy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Terminal 1</a:t>
            </a:r>
            <a:endParaRPr lang="en-US" sz="1600" dirty="0"/>
          </a:p>
        </p:txBody>
      </p:sp>
      <p:sp>
        <p:nvSpPr>
          <p:cNvPr id="5" name="code panel"/>
          <p:cNvSpPr/>
          <p:nvPr/>
        </p:nvSpPr>
        <p:spPr>
          <a:xfrm>
            <a:off x="548640" y="1444752"/>
            <a:ext cx="804672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572768"/>
            <a:ext cx="7680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services/title-normalizer</a:t>
            </a:r>
            <a:endParaRPr lang="en-US" sz="1600" dirty="0"/>
          </a:p>
          <a:p>
            <a:pPr marL="0" indent="0">
              <a:lnSpc>
                <a:spcPts val="224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--app app:create_app run --port 5001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Terminal 2</a:t>
            </a:r>
            <a:endParaRPr lang="en-US" sz="1600" dirty="0"/>
          </a:p>
        </p:txBody>
      </p:sp>
      <p:sp>
        <p:nvSpPr>
          <p:cNvPr id="8" name="code panel"/>
          <p:cNvSpPr/>
          <p:nvPr/>
        </p:nvSpPr>
        <p:spPr>
          <a:xfrm>
            <a:off x="548640" y="2724912"/>
            <a:ext cx="804672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31520" y="2852928"/>
            <a:ext cx="7680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services/tasks-api</a:t>
            </a:r>
            <a:endParaRPr lang="en-US" sz="1600" dirty="0"/>
          </a:p>
          <a:p>
            <a:pPr marL="0" indent="0">
              <a:lnSpc>
                <a:spcPts val="224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--app app:create_app run --port 5000</a:t>
            </a:r>
            <a:endParaRPr lang="en-US" sz="1600" dirty="0"/>
          </a:p>
        </p:txBody>
      </p:sp>
      <p:sp>
        <p:nvSpPr>
          <p:cNvPr id="10" name="goal banner"/>
          <p:cNvSpPr/>
          <p:nvPr/>
        </p:nvSpPr>
        <p:spPr>
          <a:xfrm>
            <a:off x="548640" y="3749040"/>
            <a:ext cx="80467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77240" y="37490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Oba pokazują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on http://127.0.0.1:5001</a:t>
            </a:r>
            <a:r>
              <a:rPr lang="en-US" sz="1800" b="1" dirty="0">
                <a:solidFill>
                  <a:schemeClr val="tx1"/>
                </a:solidFill>
              </a:rPr>
              <a:t> i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:5000</a:t>
            </a:r>
            <a:r>
              <a:rPr lang="en-US" sz="1800" b="1" dirty="0">
                <a:solidFill>
                  <a:schemeClr val="tx1"/>
                </a:solidFill>
              </a:rPr>
              <a:t>. </a:t>
            </a:r>
            <a:endParaRPr lang="en-US" sz="1800" dirty="0"/>
          </a:p>
        </p:txBody>
      </p:sp>
      <p:sp>
        <p:nvSpPr>
          <p:cNvPr id="12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demo, README w repo  →  dokumentacja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Trzeci terminal na curl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Kliknij + w panelu terminala. Terminale 1 i 2 dalej działają.</a:t>
            </a:r>
            <a:endParaRPr lang="en-US" sz="1800" dirty="0"/>
          </a:p>
        </p:txBody>
      </p:sp>
      <p:sp>
        <p:nvSpPr>
          <p:cNvPr id="5" name="code panel"/>
          <p:cNvSpPr/>
          <p:nvPr/>
        </p:nvSpPr>
        <p:spPr>
          <a:xfrm>
            <a:off x="548640" y="1554480"/>
            <a:ext cx="8046720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682496"/>
            <a:ext cx="768096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localhost:5000/tasks -H 'Content-Type: application/json' -d '{"title": "  buy   milk "}'</a:t>
            </a:r>
            <a:endParaRPr lang="en-US" sz="1800" dirty="0"/>
          </a:p>
          <a:p>
            <a:pPr marL="0" indent="0">
              <a:lnSpc>
                <a:spcPts val="216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ts val="216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localhost:5000/tasks</a:t>
            </a:r>
            <a:endParaRPr lang="en-US" sz="1800" dirty="0"/>
          </a:p>
        </p:txBody>
      </p:sp>
      <p:sp>
        <p:nvSpPr>
          <p:cNvPr id="7" name="expect banner"/>
          <p:cNvSpPr/>
          <p:nvPr/>
        </p:nvSpPr>
        <p:spPr>
          <a:xfrm>
            <a:off x="548640" y="3749040"/>
            <a:ext cx="80467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37490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Powinieneś zobaczyć tytuł </a:t>
            </a: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 milk</a:t>
            </a:r>
            <a:r>
              <a:rPr lang="en-US" sz="2000" b="1" dirty="0">
                <a:solidFill>
                  <a:schemeClr val="tx1"/>
                </a:solidFill>
              </a:rPr>
              <a:t> i </a:t>
            </a: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"normalized": true</a:t>
            </a:r>
            <a:r>
              <a:rPr lang="en-US" sz="2000" b="1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9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demo, README w repo  →  dokumentacja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Zatrzymaj funkcję</a:t>
            </a:r>
            <a:endParaRPr lang="en-US" sz="3400" dirty="0"/>
          </a:p>
        </p:txBody>
      </p:sp>
      <p:sp>
        <p:nvSpPr>
          <p:cNvPr id="4" name="badge 1"/>
          <p:cNvSpPr/>
          <p:nvPr/>
        </p:nvSpPr>
        <p:spPr>
          <a:xfrm>
            <a:off x="548640" y="122529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225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18872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Terminal 1: naciśnij Ctrl+C.</a:t>
            </a:r>
            <a:endParaRPr lang="en-US" sz="1700" dirty="0"/>
          </a:p>
        </p:txBody>
      </p:sp>
      <p:sp>
        <p:nvSpPr>
          <p:cNvPr id="7" name="badge 2"/>
          <p:cNvSpPr/>
          <p:nvPr/>
        </p:nvSpPr>
        <p:spPr>
          <a:xfrm>
            <a:off x="548640" y="179222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1792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75564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Terminal 3: utwórz kolejne zadanie.</a:t>
            </a:r>
            <a:endParaRPr lang="en-US" sz="1700" dirty="0"/>
          </a:p>
        </p:txBody>
      </p:sp>
      <p:sp>
        <p:nvSpPr>
          <p:cNvPr id="10" name="badge 3"/>
          <p:cNvSpPr/>
          <p:nvPr/>
        </p:nvSpPr>
        <p:spPr>
          <a:xfrm>
            <a:off x="548640" y="23591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2257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Przeczytaj odpowiedź. Potem uruchom funkcję ponownie w terminalu 1 (strzałka w górę, Enter).</a:t>
            </a:r>
            <a:endParaRPr lang="en-US" sz="1700" dirty="0"/>
          </a:p>
        </p:txBody>
      </p:sp>
      <p:sp>
        <p:nvSpPr>
          <p:cNvPr id="13" name="code panel"/>
          <p:cNvSpPr/>
          <p:nvPr/>
        </p:nvSpPr>
        <p:spPr>
          <a:xfrm>
            <a:off x="548640" y="3017520"/>
            <a:ext cx="804672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3145536"/>
            <a:ext cx="7680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localhost:5000/tasks -H 'Content-Type: application/json' -d '{"title": "  buy   milk "}'</a:t>
            </a:r>
            <a:endParaRPr lang="en-US" sz="1600" dirty="0"/>
          </a:p>
        </p:txBody>
      </p:sp>
      <p:sp>
        <p:nvSpPr>
          <p:cNvPr id="15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demo, README w repo  →  dokumentacja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Uruchom oba zestawy testów</a:t>
            </a:r>
            <a:endParaRPr lang="en-US" sz="3400" dirty="0"/>
          </a:p>
        </p:txBody>
      </p:sp>
      <p:sp>
        <p:nvSpPr>
          <p:cNvPr id="4" name="code panel"/>
          <p:cNvSpPr/>
          <p:nvPr/>
        </p:nvSpPr>
        <p:spPr>
          <a:xfrm>
            <a:off x="548640" y="1280160"/>
            <a:ext cx="4754880" cy="310896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31520" y="1408176"/>
            <a:ext cx="438912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services/tasks-api</a:t>
            </a:r>
            <a:endParaRPr lang="en-US" sz="18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8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../title-normalizer</a:t>
            </a:r>
            <a:endParaRPr lang="en-US" sz="18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800" dirty="0"/>
          </a:p>
        </p:txBody>
      </p:sp>
      <p:sp>
        <p:nvSpPr>
          <p:cNvPr id="6" name="result tasks-api"/>
          <p:cNvSpPr/>
          <p:nvPr/>
        </p:nvSpPr>
        <p:spPr>
          <a:xfrm>
            <a:off x="5486400" y="1280160"/>
            <a:ext cx="3108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6928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passed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tasks-api</a:t>
            </a:r>
            <a:endParaRPr lang="en-US" sz="2000" dirty="0"/>
          </a:p>
        </p:txBody>
      </p:sp>
      <p:sp>
        <p:nvSpPr>
          <p:cNvPr id="9" name="result title-normalizer"/>
          <p:cNvSpPr/>
          <p:nvPr/>
        </p:nvSpPr>
        <p:spPr>
          <a:xfrm>
            <a:off x="5486400" y="2926080"/>
            <a:ext cx="3108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66928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passed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title-normalizer</a:t>
            </a:r>
            <a:endParaRPr lang="en-US" sz="2000" dirty="0"/>
          </a:p>
        </p:txBody>
      </p:sp>
      <p:sp>
        <p:nvSpPr>
          <p:cNvPr id="12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demo, README w repo  →  dokumentacja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Czym jest lint?</a:t>
            </a:r>
            <a:endParaRPr lang="en-US" sz="3400" dirty="0"/>
          </a:p>
        </p:txBody>
      </p:sp>
      <p:sp>
        <p:nvSpPr>
          <p:cNvPr id="4" name="Czym jest lint? circle"/>
          <p:cNvSpPr/>
          <p:nvPr/>
        </p:nvSpPr>
        <p:spPr>
          <a:xfrm>
            <a:off x="640080" y="1600200"/>
            <a:ext cx="1463040" cy="146304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Czym jest lint? image" descr="FaSe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468880" y="128016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Narzędzie czyta kod bez uruchamiania i wskazuje podejrzane miejsca.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Istniejące lintery</a:t>
            </a:r>
            <a:endParaRPr lang="en-US" sz="3400" dirty="0"/>
          </a:p>
        </p:txBody>
      </p:sp>
      <p:sp>
        <p:nvSpPr>
          <p:cNvPr id="4" name="card ruff"/>
          <p:cNvSpPr/>
          <p:nvPr/>
        </p:nvSpPr>
        <p:spPr>
          <a:xfrm>
            <a:off x="548640" y="137160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600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37744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Bardzo szybki linter i formater kodu Pythona, napisany w Rust.</a:t>
            </a:r>
            <a:endParaRPr lang="en-US" sz="1800" dirty="0"/>
          </a:p>
        </p:txBody>
      </p:sp>
      <p:sp>
        <p:nvSpPr>
          <p:cNvPr id="7" name="card flake8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520440" y="1600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flake8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237744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Nakładka na PyFlakes, pycodestyle i skrypt McCabe.</a:t>
            </a:r>
            <a:endParaRPr lang="en-US" sz="1800" dirty="0"/>
          </a:p>
        </p:txBody>
      </p:sp>
      <p:sp>
        <p:nvSpPr>
          <p:cNvPr id="10" name="card pylint"/>
          <p:cNvSpPr/>
          <p:nvPr/>
        </p:nvSpPr>
        <p:spPr>
          <a:xfrm>
            <a:off x="6035040" y="137160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263640" y="1600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pylint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37744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Statyczny analizator kodu Pythona.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Bandit, skaner bezpieczeństwa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Bandit szuka typowych problemów bezpieczeństwa w kodzie Pythona.</a:t>
            </a:r>
            <a:endParaRPr lang="en-US" sz="2800" dirty="0"/>
          </a:p>
        </p:txBody>
      </p:sp>
      <p:sp>
        <p:nvSpPr>
          <p:cNvPr id="5" name="example B105"/>
          <p:cNvSpPr/>
          <p:nvPr/>
        </p:nvSpPr>
        <p:spPr>
          <a:xfrm>
            <a:off x="548640" y="246888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B105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91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zaszyte w kodzie hasło</a:t>
            </a:r>
            <a:endParaRPr lang="en-US" sz="2000" dirty="0"/>
          </a:p>
        </p:txBody>
      </p:sp>
      <p:sp>
        <p:nvSpPr>
          <p:cNvPr id="8" name="example B602"/>
          <p:cNvSpPr/>
          <p:nvPr/>
        </p:nvSpPr>
        <p:spPr>
          <a:xfrm>
            <a:off x="4663440" y="246888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93776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B602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3291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shell=True w wywołaniu subprocess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Pięć kroków, jeden plik</a:t>
            </a:r>
            <a:endParaRPr lang="en-US" sz="3400" dirty="0"/>
          </a:p>
        </p:txBody>
      </p:sp>
      <p:sp>
        <p:nvSpPr>
          <p:cNvPr id="5" name="step 1"/>
          <p:cNvSpPr/>
          <p:nvPr/>
        </p:nvSpPr>
        <p:spPr>
          <a:xfrm>
            <a:off x="548640" y="2194560"/>
            <a:ext cx="1463040" cy="22860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badge 1"/>
          <p:cNvSpPr/>
          <p:nvPr/>
        </p:nvSpPr>
        <p:spPr>
          <a:xfrm>
            <a:off x="105156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515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017520"/>
            <a:ext cx="1243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Plik i checkout</a:t>
            </a:r>
            <a:endParaRPr lang="en-US" sz="1600" dirty="0"/>
          </a:p>
        </p:txBody>
      </p:sp>
      <p:sp>
        <p:nvSpPr>
          <p:cNvPr id="9" name="step 2"/>
          <p:cNvSpPr/>
          <p:nvPr/>
        </p:nvSpPr>
        <p:spPr>
          <a:xfrm>
            <a:off x="2194560" y="2194560"/>
            <a:ext cx="1463040" cy="22860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badge 2"/>
          <p:cNvSpPr/>
          <p:nvPr/>
        </p:nvSpPr>
        <p:spPr>
          <a:xfrm>
            <a:off x="269748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26974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2304288" y="3017520"/>
            <a:ext cx="1243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 i testy jednego serwisu</a:t>
            </a:r>
            <a:endParaRPr lang="en-US" sz="1600" dirty="0"/>
          </a:p>
        </p:txBody>
      </p:sp>
      <p:sp>
        <p:nvSpPr>
          <p:cNvPr id="13" name="step 3"/>
          <p:cNvSpPr/>
          <p:nvPr/>
        </p:nvSpPr>
        <p:spPr>
          <a:xfrm>
            <a:off x="3840480" y="2194560"/>
            <a:ext cx="1463040" cy="22860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badge 3"/>
          <p:cNvSpPr/>
          <p:nvPr/>
        </p:nvSpPr>
        <p:spPr>
          <a:xfrm>
            <a:off x="434340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3434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3950208" y="3017520"/>
            <a:ext cx="1243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Oba </a:t>
            </a:r>
            <a:r>
              <a:rPr lang="en-US" sz="1600" b="1" dirty="0" err="1">
                <a:solidFill>
                  <a:schemeClr val="tx1"/>
                </a:solidFill>
              </a:rPr>
              <a:t>serwisy</a:t>
            </a:r>
            <a:r>
              <a:rPr lang="en-US" sz="1600" b="1" dirty="0">
                <a:solidFill>
                  <a:schemeClr val="tx1"/>
                </a:solidFill>
              </a:rPr>
              <a:t> z </a:t>
            </a:r>
            <a:r>
              <a:rPr lang="en-US" sz="1600" b="1" dirty="0" err="1">
                <a:solidFill>
                  <a:schemeClr val="tx1"/>
                </a:solidFill>
              </a:rPr>
              <a:t>użyciem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opcji</a:t>
            </a:r>
            <a:r>
              <a:rPr lang="en-US" sz="1600" b="1" dirty="0">
                <a:solidFill>
                  <a:schemeClr val="tx1"/>
                </a:solidFill>
              </a:rPr>
              <a:t> Matrix</a:t>
            </a:r>
            <a:endParaRPr lang="en-US" sz="1600" dirty="0"/>
          </a:p>
        </p:txBody>
      </p:sp>
      <p:sp>
        <p:nvSpPr>
          <p:cNvPr id="17" name="step 4"/>
          <p:cNvSpPr/>
          <p:nvPr/>
        </p:nvSpPr>
        <p:spPr>
          <a:xfrm>
            <a:off x="5486400" y="2194560"/>
            <a:ext cx="1463040" cy="22860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4"/>
          <p:cNvSpPr/>
          <p:nvPr/>
        </p:nvSpPr>
        <p:spPr>
          <a:xfrm>
            <a:off x="598932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9893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596128" y="3017520"/>
            <a:ext cx="1243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Zapisz raport z testów</a:t>
            </a:r>
            <a:endParaRPr lang="en-US" sz="1600" dirty="0"/>
          </a:p>
        </p:txBody>
      </p:sp>
      <p:sp>
        <p:nvSpPr>
          <p:cNvPr id="21" name="step 5"/>
          <p:cNvSpPr/>
          <p:nvPr/>
        </p:nvSpPr>
        <p:spPr>
          <a:xfrm>
            <a:off x="7132320" y="2194560"/>
            <a:ext cx="1463040" cy="22860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badge 5"/>
          <p:cNvSpPr/>
          <p:nvPr/>
        </p:nvSpPr>
        <p:spPr>
          <a:xfrm>
            <a:off x="76352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6352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242048" y="3017520"/>
            <a:ext cx="1243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Skan Banditem</a:t>
            </a:r>
            <a:endParaRPr lang="en-US" sz="1600" dirty="0"/>
          </a:p>
        </p:txBody>
      </p:sp>
      <p:sp>
        <p:nvSpPr>
          <p:cNvPr id="25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 </a:t>
            </a:r>
            <a:r>
              <a:rPr lang="en-US" sz="3400" b="1" dirty="0" err="1">
                <a:solidFill>
                  <a:schemeClr val="tx1"/>
                </a:solidFill>
              </a:rPr>
              <a:t>robić</a:t>
            </a:r>
            <a:r>
              <a:rPr lang="en-US" sz="3400" b="1" dirty="0">
                <a:solidFill>
                  <a:schemeClr val="tx1"/>
                </a:solidFill>
              </a:rPr>
              <a:t> w </a:t>
            </a:r>
            <a:r>
              <a:rPr lang="en-US" sz="3400" b="1" dirty="0" err="1">
                <a:solidFill>
                  <a:schemeClr val="tx1"/>
                </a:solidFill>
              </a:rPr>
              <a:t>razie</a:t>
            </a:r>
            <a:r>
              <a:rPr lang="en-US" sz="3400" b="1" dirty="0">
                <a:solidFill>
                  <a:schemeClr val="tx1"/>
                </a:solidFill>
              </a:rPr>
              <a:t> </a:t>
            </a:r>
            <a:r>
              <a:rPr lang="en-US" sz="3400" b="1" dirty="0" err="1">
                <a:solidFill>
                  <a:schemeClr val="tx1"/>
                </a:solidFill>
              </a:rPr>
              <a:t>błędu</a:t>
            </a:r>
            <a:endParaRPr lang="en-US" sz="3400" dirty="0"/>
          </a:p>
        </p:txBody>
      </p:sp>
      <p:sp>
        <p:nvSpPr>
          <p:cNvPr id="4" name="box Twoje wcześniejsze kroki"/>
          <p:cNvSpPr/>
          <p:nvPr/>
        </p:nvSpPr>
        <p:spPr>
          <a:xfrm>
            <a:off x="548640" y="155448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1554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chemeClr val="bg1"/>
                </a:solidFill>
              </a:rPr>
              <a:t>Sprawdź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swoje</a:t>
            </a:r>
            <a:r>
              <a:rPr lang="en-US" sz="2200" b="1" dirty="0">
                <a:solidFill>
                  <a:schemeClr val="bg1"/>
                </a:solidFill>
              </a:rPr>
              <a:t> wcześniejsze kroki</a:t>
            </a:r>
            <a:endParaRPr lang="en-US" sz="2200" dirty="0"/>
          </a:p>
        </p:txBody>
      </p:sp>
      <p:sp>
        <p:nvSpPr>
          <p:cNvPr id="6" name="arrow"/>
          <p:cNvSpPr/>
          <p:nvPr/>
        </p:nvSpPr>
        <p:spPr>
          <a:xfrm>
            <a:off x="3054096" y="2066544"/>
            <a:ext cx="274320" cy="292608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box GitHub Docs"/>
          <p:cNvSpPr/>
          <p:nvPr/>
        </p:nvSpPr>
        <p:spPr>
          <a:xfrm>
            <a:off x="3337560" y="155448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429000" y="1554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GitHub Docs</a:t>
            </a:r>
            <a:endParaRPr lang="en-US" sz="2200" dirty="0"/>
          </a:p>
        </p:txBody>
      </p:sp>
      <p:sp>
        <p:nvSpPr>
          <p:cNvPr id="9" name="arrow"/>
          <p:cNvSpPr/>
          <p:nvPr/>
        </p:nvSpPr>
        <p:spPr>
          <a:xfrm>
            <a:off x="5843016" y="2066544"/>
            <a:ext cx="274320" cy="292608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box Podnieś rękę"/>
          <p:cNvSpPr/>
          <p:nvPr/>
        </p:nvSpPr>
        <p:spPr>
          <a:xfrm>
            <a:off x="6126480" y="1554480"/>
            <a:ext cx="2468880" cy="128016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217920" y="1554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Podnieś rękę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&gt; GitHub Docs: </a:t>
            </a:r>
            <a:r>
              <a:rPr lang="en-US" sz="2400" b="1" dirty="0">
                <a:solidFill>
                  <a:schemeClr val="tx1"/>
                </a:solidFill>
              </a:rPr>
              <a:t>Workflow syntax for GitHub Actions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6"/>
                </a:solidFill>
              </a:rPr>
              <a:t>Po </a:t>
            </a:r>
            <a:r>
              <a:rPr lang="en-US" sz="2200" dirty="0" err="1">
                <a:solidFill>
                  <a:schemeClr val="accent6"/>
                </a:solidFill>
              </a:rPr>
              <a:t>każdym</a:t>
            </a:r>
            <a:r>
              <a:rPr lang="en-US" sz="2200" dirty="0">
                <a:solidFill>
                  <a:schemeClr val="accent6"/>
                </a:solidFill>
              </a:rPr>
              <a:t> </a:t>
            </a:r>
            <a:r>
              <a:rPr lang="en-US" sz="2200" dirty="0" err="1">
                <a:solidFill>
                  <a:schemeClr val="accent6"/>
                </a:solidFill>
              </a:rPr>
              <a:t>kroku</a:t>
            </a:r>
            <a:r>
              <a:rPr lang="en-US" sz="2200" dirty="0">
                <a:solidFill>
                  <a:schemeClr val="accent6"/>
                </a:solidFill>
              </a:rPr>
              <a:t> </a:t>
            </a:r>
            <a:r>
              <a:rPr lang="en-US" sz="2200" dirty="0" err="1">
                <a:solidFill>
                  <a:schemeClr val="accent6"/>
                </a:solidFill>
              </a:rPr>
              <a:t>pojawi</a:t>
            </a:r>
            <a:r>
              <a:rPr lang="en-US" sz="2200" dirty="0">
                <a:solidFill>
                  <a:schemeClr val="accent6"/>
                </a:solidFill>
              </a:rPr>
              <a:t> </a:t>
            </a:r>
            <a:r>
              <a:rPr lang="en-US" sz="2200" dirty="0" err="1">
                <a:solidFill>
                  <a:schemeClr val="accent6"/>
                </a:solidFill>
              </a:rPr>
              <a:t>się</a:t>
            </a:r>
            <a:r>
              <a:rPr lang="en-US" sz="2200" dirty="0">
                <a:solidFill>
                  <a:schemeClr val="accent6"/>
                </a:solidFill>
              </a:rPr>
              <a:t> </a:t>
            </a:r>
            <a:r>
              <a:rPr lang="en-US" sz="2200" dirty="0" err="1">
                <a:solidFill>
                  <a:schemeClr val="accent6"/>
                </a:solidFill>
              </a:rPr>
              <a:t>slajd</a:t>
            </a:r>
            <a:r>
              <a:rPr lang="en-US" sz="2200" dirty="0">
                <a:solidFill>
                  <a:schemeClr val="accent6"/>
                </a:solidFill>
              </a:rPr>
              <a:t> z </a:t>
            </a:r>
            <a:r>
              <a:rPr lang="en-US" sz="2200" dirty="0" err="1">
                <a:solidFill>
                  <a:schemeClr val="accent6"/>
                </a:solidFill>
              </a:rPr>
              <a:t>odpowiedzią</a:t>
            </a:r>
            <a:r>
              <a:rPr lang="en-US" sz="2200" dirty="0">
                <a:solidFill>
                  <a:schemeClr val="accent6"/>
                </a:solidFill>
              </a:rPr>
              <a:t>, ale </a:t>
            </a:r>
            <a:r>
              <a:rPr lang="en-US" sz="2200" dirty="0" err="1">
                <a:solidFill>
                  <a:schemeClr val="accent6"/>
                </a:solidFill>
              </a:rPr>
              <a:t>jeśli</a:t>
            </a:r>
            <a:r>
              <a:rPr lang="en-US" sz="2200" dirty="0">
                <a:solidFill>
                  <a:schemeClr val="accent6"/>
                </a:solidFill>
              </a:rPr>
              <a:t> </a:t>
            </a:r>
            <a:r>
              <a:rPr lang="en-US" sz="2200" dirty="0" err="1">
                <a:solidFill>
                  <a:schemeClr val="accent6"/>
                </a:solidFill>
              </a:rPr>
              <a:t>twój</a:t>
            </a:r>
            <a:r>
              <a:rPr lang="en-US" sz="2200" dirty="0">
                <a:solidFill>
                  <a:schemeClr val="accent6"/>
                </a:solidFill>
              </a:rPr>
              <a:t> </a:t>
            </a:r>
            <a:r>
              <a:rPr lang="en-US" sz="2200" dirty="0" err="1">
                <a:solidFill>
                  <a:schemeClr val="accent6"/>
                </a:solidFill>
              </a:rPr>
              <a:t>kod</a:t>
            </a:r>
            <a:r>
              <a:rPr lang="en-US" sz="2200" dirty="0">
                <a:solidFill>
                  <a:schemeClr val="accent6"/>
                </a:solidFill>
              </a:rPr>
              <a:t> jest </a:t>
            </a:r>
            <a:r>
              <a:rPr lang="en-US" sz="2200" dirty="0" err="1">
                <a:solidFill>
                  <a:schemeClr val="accent6"/>
                </a:solidFill>
              </a:rPr>
              <a:t>poprawny</a:t>
            </a:r>
            <a:r>
              <a:rPr lang="en-US" sz="2200" dirty="0">
                <a:solidFill>
                  <a:schemeClr val="accent6"/>
                </a:solidFill>
              </a:rPr>
              <a:t> to </a:t>
            </a:r>
            <a:r>
              <a:rPr lang="en-US" sz="2200" dirty="0" err="1">
                <a:solidFill>
                  <a:schemeClr val="accent6"/>
                </a:solidFill>
              </a:rPr>
              <a:t>nie</a:t>
            </a:r>
            <a:r>
              <a:rPr lang="en-US" sz="2200" dirty="0">
                <a:solidFill>
                  <a:schemeClr val="accent6"/>
                </a:solidFill>
              </a:rPr>
              <a:t> </a:t>
            </a:r>
            <a:r>
              <a:rPr lang="en-US" sz="2200" dirty="0" err="1">
                <a:solidFill>
                  <a:schemeClr val="accent6"/>
                </a:solidFill>
              </a:rPr>
              <a:t>musisz</a:t>
            </a:r>
            <a:r>
              <a:rPr lang="en-US" sz="2200" dirty="0">
                <a:solidFill>
                  <a:schemeClr val="accent6"/>
                </a:solidFill>
              </a:rPr>
              <a:t> go </a:t>
            </a:r>
            <a:r>
              <a:rPr lang="en-US" sz="2200" dirty="0" err="1">
                <a:solidFill>
                  <a:schemeClr val="accent6"/>
                </a:solidFill>
              </a:rPr>
              <a:t>dostosowywać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chemeClr val="tx1"/>
                </a:solidFill>
              </a:rPr>
              <a:t>Błędy</a:t>
            </a:r>
            <a:r>
              <a:rPr lang="en-US" sz="3400" b="1" dirty="0">
                <a:solidFill>
                  <a:schemeClr val="tx1"/>
                </a:solidFill>
              </a:rPr>
              <a:t> </a:t>
            </a:r>
            <a:r>
              <a:rPr lang="en-US" sz="3400" b="1" dirty="0" err="1">
                <a:solidFill>
                  <a:schemeClr val="tx1"/>
                </a:solidFill>
              </a:rPr>
              <a:t>i</a:t>
            </a:r>
            <a:r>
              <a:rPr lang="en-US" sz="3400" b="1" dirty="0">
                <a:solidFill>
                  <a:schemeClr val="tx1"/>
                </a:solidFill>
              </a:rPr>
              <a:t> </a:t>
            </a:r>
            <a:r>
              <a:rPr lang="en-US" sz="3400" b="1" dirty="0" err="1">
                <a:solidFill>
                  <a:schemeClr val="tx1"/>
                </a:solidFill>
              </a:rPr>
              <a:t>niepowodzenia</a:t>
            </a:r>
            <a:r>
              <a:rPr lang="en-US" sz="3400" b="1" dirty="0">
                <a:solidFill>
                  <a:schemeClr val="tx1"/>
                </a:solidFill>
              </a:rPr>
              <a:t> to </a:t>
            </a:r>
            <a:r>
              <a:rPr lang="en-US" sz="3400" b="1" dirty="0" err="1">
                <a:solidFill>
                  <a:schemeClr val="tx1"/>
                </a:solidFill>
              </a:rPr>
              <a:t>też</a:t>
            </a:r>
            <a:r>
              <a:rPr lang="en-US" sz="3400" b="1" dirty="0">
                <a:solidFill>
                  <a:schemeClr val="tx1"/>
                </a:solidFill>
              </a:rPr>
              <a:t> informacja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6931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Przeczytaj</a:t>
            </a:r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dokładnie</a:t>
            </a:r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kod</a:t>
            </a:r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błedu</a:t>
            </a:r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i</a:t>
            </a:r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jego</a:t>
            </a:r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treść</a:t>
            </a:r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, zanim </a:t>
            </a:r>
            <a:r>
              <a:rPr lang="en-US" sz="2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cokolwiek</a:t>
            </a:r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zmienisz</a:t>
            </a:r>
            <a:r>
              <a:rPr lang="en-US" sz="2800" b="1" dirty="0">
                <a:highlight>
                  <a:srgbClr val="FFFF00"/>
                </a:highlight>
              </a:rPr>
              <a:t>!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548640" y="20802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Zmieniaj jedną rzecz naraz.</a:t>
            </a:r>
            <a:endParaRPr lang="en-US" sz="2800" dirty="0"/>
          </a:p>
        </p:txBody>
      </p:sp>
      <p:sp>
        <p:nvSpPr>
          <p:cNvPr id="6" name="box Zapisz"/>
          <p:cNvSpPr/>
          <p:nvPr/>
        </p:nvSpPr>
        <p:spPr>
          <a:xfrm>
            <a:off x="548640" y="292608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0080" y="29260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Zapisz</a:t>
            </a:r>
            <a:endParaRPr lang="en-US" sz="2000" dirty="0"/>
          </a:p>
        </p:txBody>
      </p:sp>
      <p:sp>
        <p:nvSpPr>
          <p:cNvPr id="8" name="arrow"/>
          <p:cNvSpPr/>
          <p:nvPr/>
        </p:nvSpPr>
        <p:spPr>
          <a:xfrm>
            <a:off x="2313432" y="3291840"/>
            <a:ext cx="274320" cy="292608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box Commit"/>
          <p:cNvSpPr/>
          <p:nvPr/>
        </p:nvSpPr>
        <p:spPr>
          <a:xfrm>
            <a:off x="2606040" y="292608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697480" y="29260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Commit</a:t>
            </a:r>
            <a:endParaRPr lang="en-US" sz="2000" dirty="0"/>
          </a:p>
        </p:txBody>
      </p:sp>
      <p:sp>
        <p:nvSpPr>
          <p:cNvPr id="11" name="arrow"/>
          <p:cNvSpPr/>
          <p:nvPr/>
        </p:nvSpPr>
        <p:spPr>
          <a:xfrm>
            <a:off x="4370832" y="3291840"/>
            <a:ext cx="274320" cy="292608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box Push do main"/>
          <p:cNvSpPr/>
          <p:nvPr/>
        </p:nvSpPr>
        <p:spPr>
          <a:xfrm>
            <a:off x="4663440" y="292608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754880" y="29260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Push do main</a:t>
            </a:r>
            <a:endParaRPr lang="en-US" sz="2000" dirty="0"/>
          </a:p>
        </p:txBody>
      </p:sp>
      <p:sp>
        <p:nvSpPr>
          <p:cNvPr id="14" name="arrow"/>
          <p:cNvSpPr/>
          <p:nvPr/>
        </p:nvSpPr>
        <p:spPr>
          <a:xfrm>
            <a:off x="6428232" y="3291840"/>
            <a:ext cx="274320" cy="292608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box Zakładka Actions"/>
          <p:cNvSpPr/>
          <p:nvPr/>
        </p:nvSpPr>
        <p:spPr>
          <a:xfrm>
            <a:off x="6720840" y="292608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812280" y="29260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Zakładka Actions</a:t>
            </a:r>
            <a:endParaRPr lang="en-US" sz="2000" dirty="0"/>
          </a:p>
        </p:txBody>
      </p:sp>
      <p:sp>
        <p:nvSpPr>
          <p:cNvPr id="17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1: workflow</a:t>
            </a:r>
            <a:endParaRPr lang="en-US" sz="3400" dirty="0"/>
          </a:p>
        </p:txBody>
      </p:sp>
      <p:sp>
        <p:nvSpPr>
          <p:cNvPr id="4" name="requirement"/>
          <p:cNvSpPr/>
          <p:nvPr/>
        </p:nvSpPr>
        <p:spPr>
          <a:xfrm>
            <a:off x="548640" y="1280160"/>
            <a:ext cx="80467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requirement bar"/>
          <p:cNvSpPr/>
          <p:nvPr/>
        </p:nvSpPr>
        <p:spPr>
          <a:xfrm>
            <a:off x="548640" y="1280160"/>
            <a:ext cx="91440" cy="2743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14400" y="13716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Krok 1. Workflow w </a:t>
            </a: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.github/workflows/&lt;nazwa&gt;.yml</a:t>
            </a:r>
            <a:r>
              <a:rPr lang="en-US" sz="2200" dirty="0">
                <a:solidFill>
                  <a:schemeClr val="tx1"/>
                </a:solidFill>
              </a:rPr>
              <a:t>, który uruchamia się przy każdym push do </a:t>
            </a: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2200" dirty="0">
                <a:solidFill>
                  <a:schemeClr val="tx1"/>
                </a:solidFill>
              </a:rPr>
              <a:t>, pobiera twój kod i może tylko czytać repo. </a:t>
            </a:r>
            <a:r>
              <a:rPr lang="en-US" sz="2200" dirty="0" err="1">
                <a:solidFill>
                  <a:schemeClr val="tx1"/>
                </a:solidFill>
              </a:rPr>
              <a:t>Nazwij</a:t>
            </a:r>
            <a:r>
              <a:rPr lang="en-US" sz="2200" dirty="0">
                <a:solidFill>
                  <a:schemeClr val="tx1"/>
                </a:solidFill>
              </a:rPr>
              <a:t> go “Test and Scan”</a:t>
            </a:r>
            <a:endParaRPr lang="en-US" sz="2200" dirty="0"/>
          </a:p>
        </p:txBody>
      </p:sp>
      <p:sp>
        <p:nvSpPr>
          <p:cNvPr id="7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1: szkielet</a:t>
            </a:r>
            <a:endParaRPr lang="en-US" sz="3400" dirty="0"/>
          </a:p>
        </p:txBody>
      </p:sp>
      <p:sp>
        <p:nvSpPr>
          <p:cNvPr id="4" name="code panel"/>
          <p:cNvSpPr/>
          <p:nvPr/>
        </p:nvSpPr>
        <p:spPr>
          <a:xfrm>
            <a:off x="548640" y="1188720"/>
            <a:ext cx="8046720" cy="3337560"/>
          </a:xfrm>
          <a:prstGeom prst="roundRect">
            <a:avLst>
              <a:gd name="adj" fmla="val 219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31520" y="1316736"/>
            <a:ext cx="768096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ci.yml</a:t>
            </a:r>
            <a:endParaRPr lang="en-US" sz="1800" dirty="0"/>
          </a:p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endParaRPr lang="en-US" sz="1800" dirty="0"/>
          </a:p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800" dirty="0"/>
          </a:p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</a:t>
            </a:r>
            <a:endParaRPr lang="en-US" sz="1800" dirty="0"/>
          </a:p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800" dirty="0"/>
          </a:p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r>
              <a:rPr lang="en-US" sz="1800" dirty="0" err="1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job_name</a:t>
            </a:r>
            <a:r>
              <a:rPr lang="en-US" sz="18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&gt;:</a:t>
            </a:r>
            <a:endParaRPr lang="en-US" sz="1800" dirty="0"/>
          </a:p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</a:t>
            </a:r>
            <a:endParaRPr lang="en-US" sz="1800" dirty="0"/>
          </a:p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800" dirty="0"/>
          </a:p>
        </p:txBody>
      </p:sp>
      <p:sp>
        <p:nvSpPr>
          <p:cNvPr id="6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1: utknąłeś?</a:t>
            </a:r>
            <a:endParaRPr lang="en-US" sz="3400" dirty="0"/>
          </a:p>
        </p:txBody>
      </p:sp>
      <p:sp>
        <p:nvSpPr>
          <p:cNvPr id="4" name="requirement line"/>
          <p:cNvSpPr/>
          <p:nvPr/>
        </p:nvSpPr>
        <p:spPr>
          <a:xfrm>
            <a:off x="548640" y="109728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097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CI </a:t>
            </a:r>
            <a:r>
              <a:rPr lang="en-US" sz="1600" b="1" dirty="0" err="1">
                <a:solidFill>
                  <a:schemeClr val="bg1"/>
                </a:solidFill>
              </a:rPr>
              <a:t>uruchamia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się</a:t>
            </a:r>
            <a:r>
              <a:rPr lang="en-US" sz="1600" b="1" dirty="0">
                <a:solidFill>
                  <a:schemeClr val="bg1"/>
                </a:solidFill>
              </a:rPr>
              <a:t> przy każdym push do </a:t>
            </a: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600" b="1" dirty="0">
                <a:solidFill>
                  <a:schemeClr val="bg1"/>
                </a:solidFill>
              </a:rPr>
              <a:t>, </a:t>
            </a:r>
            <a:r>
              <a:rPr lang="en-US" sz="1600" b="1" dirty="0" err="1">
                <a:solidFill>
                  <a:schemeClr val="bg1"/>
                </a:solidFill>
              </a:rPr>
              <a:t>pobiera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kod</a:t>
            </a:r>
            <a:endParaRPr lang="en-US" sz="1600" dirty="0"/>
          </a:p>
        </p:txBody>
      </p:sp>
      <p:sp>
        <p:nvSpPr>
          <p:cNvPr id="6" name="hint 1"/>
          <p:cNvSpPr/>
          <p:nvPr/>
        </p:nvSpPr>
        <p:spPr>
          <a:xfrm>
            <a:off x="548640" y="1783080"/>
            <a:ext cx="48463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badge a"/>
          <p:cNvSpPr/>
          <p:nvPr/>
        </p:nvSpPr>
        <p:spPr>
          <a:xfrm>
            <a:off x="713232" y="19888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13232" y="1988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307592" y="1819656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Które zdarzenie go uruchamia i na której gałęzi?</a:t>
            </a:r>
            <a:endParaRPr lang="en-US" sz="1600" dirty="0"/>
          </a:p>
        </p:txBody>
      </p:sp>
      <p:sp>
        <p:nvSpPr>
          <p:cNvPr id="10" name="hint 2"/>
          <p:cNvSpPr/>
          <p:nvPr/>
        </p:nvSpPr>
        <p:spPr>
          <a:xfrm>
            <a:off x="548640" y="2743200"/>
            <a:ext cx="48463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adge b"/>
          <p:cNvSpPr/>
          <p:nvPr/>
        </p:nvSpPr>
        <p:spPr>
          <a:xfrm>
            <a:off x="713232" y="29489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132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07592" y="2779776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Maszyna startuje pusta. Co pobiera twój kod? Zajrzyj do </a:t>
            </a: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actions/checkout</a:t>
            </a:r>
            <a:r>
              <a:rPr lang="en-US" sz="1600" dirty="0">
                <a:solidFill>
                  <a:schemeClr val="tx1"/>
                </a:solidFill>
              </a:rPr>
              <a:t>, wersja główna v7.</a:t>
            </a:r>
            <a:endParaRPr lang="en-US" sz="1600" dirty="0"/>
          </a:p>
        </p:txBody>
      </p:sp>
      <p:sp>
        <p:nvSpPr>
          <p:cNvPr id="18" name="keys panel"/>
          <p:cNvSpPr/>
          <p:nvPr/>
        </p:nvSpPr>
        <p:spPr>
          <a:xfrm>
            <a:off x="5577840" y="1783080"/>
            <a:ext cx="3017520" cy="2788920"/>
          </a:xfrm>
          <a:prstGeom prst="roundRect">
            <a:avLst>
              <a:gd name="adj" fmla="val 262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76072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Klucze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760720" y="2240280"/>
            <a:ext cx="2651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runs-on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endParaRPr lang="en-US" sz="1800" dirty="0"/>
          </a:p>
        </p:txBody>
      </p:sp>
      <p:sp>
        <p:nvSpPr>
          <p:cNvPr id="21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1: odpowiedź</a:t>
            </a:r>
            <a:endParaRPr lang="en-US" sz="3400" dirty="0"/>
          </a:p>
        </p:txBody>
      </p:sp>
      <p:sp>
        <p:nvSpPr>
          <p:cNvPr id="4" name="code panel"/>
          <p:cNvSpPr/>
          <p:nvPr/>
        </p:nvSpPr>
        <p:spPr>
          <a:xfrm>
            <a:off x="274320" y="1143000"/>
            <a:ext cx="8595360" cy="3154680"/>
          </a:xfrm>
          <a:prstGeom prst="roundRect">
            <a:avLst>
              <a:gd name="adj" fmla="val 231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57200" y="1271016"/>
            <a:ext cx="822960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5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Test and Scan</a:t>
            </a:r>
            <a:endParaRPr lang="en-US" sz="1400" dirty="0"/>
          </a:p>
          <a:p>
            <a:pPr marL="0" indent="0">
              <a:lnSpc>
                <a:spcPts val="2075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400" dirty="0"/>
          </a:p>
          <a:p>
            <a:pPr marL="0" indent="0">
              <a:lnSpc>
                <a:spcPts val="2075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400" dirty="0"/>
          </a:p>
          <a:p>
            <a:pPr marL="0" indent="0">
              <a:lnSpc>
                <a:spcPts val="2075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1400" dirty="0"/>
          </a:p>
          <a:p>
            <a:pPr marL="0" indent="0">
              <a:lnSpc>
                <a:spcPts val="2075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400" dirty="0"/>
          </a:p>
          <a:p>
            <a:pPr marL="0" indent="0">
              <a:lnSpc>
                <a:spcPts val="2075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run_tests:</a:t>
            </a:r>
            <a:endParaRPr lang="en-US" sz="1400" dirty="0"/>
          </a:p>
          <a:p>
            <a:pPr marL="0" indent="0">
              <a:lnSpc>
                <a:spcPts val="2075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400" dirty="0"/>
          </a:p>
          <a:p>
            <a:pPr marL="0" indent="0">
              <a:lnSpc>
                <a:spcPts val="2075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400" dirty="0"/>
          </a:p>
          <a:p>
            <a:pPr marL="0" indent="0">
              <a:lnSpc>
                <a:spcPts val="2075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actions/checkout@v7</a:t>
            </a:r>
            <a:endParaRPr lang="en-US" sz="1400" dirty="0"/>
          </a:p>
        </p:txBody>
      </p:sp>
      <p:sp>
        <p:nvSpPr>
          <p:cNvPr id="6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2: testy jednego serwisu</a:t>
            </a:r>
            <a:endParaRPr lang="en-US" sz="3400" dirty="0"/>
          </a:p>
        </p:txBody>
      </p:sp>
      <p:sp>
        <p:nvSpPr>
          <p:cNvPr id="4" name="requirement"/>
          <p:cNvSpPr/>
          <p:nvPr/>
        </p:nvSpPr>
        <p:spPr>
          <a:xfrm>
            <a:off x="548640" y="1280160"/>
            <a:ext cx="80467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requirement bar"/>
          <p:cNvSpPr/>
          <p:nvPr/>
        </p:nvSpPr>
        <p:spPr>
          <a:xfrm>
            <a:off x="548640" y="1280160"/>
            <a:ext cx="91440" cy="2743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14400" y="13716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Krok 2. Dodaj Pythona 3.12, </a:t>
            </a:r>
            <a:r>
              <a:rPr lang="en-US" sz="2000" dirty="0" err="1">
                <a:solidFill>
                  <a:schemeClr val="tx1"/>
                </a:solidFill>
              </a:rPr>
              <a:t>zainstaluj</a:t>
            </a:r>
            <a:r>
              <a:rPr lang="en-US" sz="2000" dirty="0">
                <a:solidFill>
                  <a:schemeClr val="tx1"/>
                </a:solidFill>
              </a:rPr>
              <a:t> dependencies </a:t>
            </a: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tasks-api</a:t>
            </a:r>
            <a:r>
              <a:rPr lang="en-US" sz="2000" dirty="0">
                <a:solidFill>
                  <a:schemeClr val="tx1"/>
                </a:solidFill>
              </a:rPr>
              <a:t> i uruchom jego testy. Uruchom </a:t>
            </a: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r>
              <a:rPr lang="en-US" sz="2000" dirty="0">
                <a:solidFill>
                  <a:schemeClr val="tx1"/>
                </a:solidFill>
              </a:rPr>
              <a:t> z katalogu głównego repo, podając ścieżkę serwisu jako argument.</a:t>
            </a:r>
            <a:endParaRPr lang="en-US" sz="2000" dirty="0"/>
          </a:p>
        </p:txBody>
      </p:sp>
      <p:sp>
        <p:nvSpPr>
          <p:cNvPr id="7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2: utknąłeś?</a:t>
            </a:r>
            <a:endParaRPr lang="en-US" sz="3400" dirty="0"/>
          </a:p>
        </p:txBody>
      </p:sp>
      <p:sp>
        <p:nvSpPr>
          <p:cNvPr id="4" name="requirement line"/>
          <p:cNvSpPr/>
          <p:nvPr/>
        </p:nvSpPr>
        <p:spPr>
          <a:xfrm>
            <a:off x="548640" y="109728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097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Python 3.12, zainstaluj zależności serwisu, uruchom testy z katalogu głównego.</a:t>
            </a:r>
            <a:endParaRPr lang="en-US" sz="1600" dirty="0"/>
          </a:p>
        </p:txBody>
      </p:sp>
      <p:sp>
        <p:nvSpPr>
          <p:cNvPr id="6" name="hint 1"/>
          <p:cNvSpPr/>
          <p:nvPr/>
        </p:nvSpPr>
        <p:spPr>
          <a:xfrm>
            <a:off x="548640" y="1783080"/>
            <a:ext cx="80467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badge a"/>
          <p:cNvSpPr/>
          <p:nvPr/>
        </p:nvSpPr>
        <p:spPr>
          <a:xfrm>
            <a:off x="713232" y="19888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13232" y="1988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307592" y="1819656"/>
            <a:ext cx="7132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chemeClr val="tx1"/>
                </a:solidFill>
              </a:rPr>
              <a:t>Czego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brakuje</a:t>
            </a:r>
            <a:r>
              <a:rPr lang="en-US" sz="1800" dirty="0">
                <a:solidFill>
                  <a:schemeClr val="tx1"/>
                </a:solidFill>
              </a:rPr>
              <a:t> w </a:t>
            </a:r>
            <a:r>
              <a:rPr lang="en-US" sz="1800" dirty="0" err="1">
                <a:solidFill>
                  <a:schemeClr val="tx1"/>
                </a:solidFill>
              </a:rPr>
              <a:t>świeżej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maszynie</a:t>
            </a:r>
            <a:r>
              <a:rPr lang="en-US" sz="1800" dirty="0">
                <a:solidFill>
                  <a:schemeClr val="tx1"/>
                </a:solidFill>
              </a:rPr>
              <a:t> z Ubuntu?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Zajrzyj do </a:t>
            </a: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actions/setup-python</a:t>
            </a:r>
            <a:r>
              <a:rPr lang="en-US" sz="1800" dirty="0">
                <a:solidFill>
                  <a:schemeClr val="tx1"/>
                </a:solidFill>
              </a:rPr>
              <a:t>, wersja główna v7.</a:t>
            </a:r>
            <a:endParaRPr lang="en-US" sz="1800" dirty="0"/>
          </a:p>
        </p:txBody>
      </p:sp>
      <p:sp>
        <p:nvSpPr>
          <p:cNvPr id="10" name="hint 2"/>
          <p:cNvSpPr/>
          <p:nvPr/>
        </p:nvSpPr>
        <p:spPr>
          <a:xfrm>
            <a:off x="548640" y="2743200"/>
            <a:ext cx="80467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adge b"/>
          <p:cNvSpPr/>
          <p:nvPr/>
        </p:nvSpPr>
        <p:spPr>
          <a:xfrm>
            <a:off x="713232" y="29489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132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07592" y="2779776"/>
            <a:ext cx="7132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Zainstaluj to, co serwis wymienia we własnym </a:t>
            </a: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4" name="hint 3"/>
          <p:cNvSpPr/>
          <p:nvPr/>
        </p:nvSpPr>
        <p:spPr>
          <a:xfrm>
            <a:off x="548640" y="3703320"/>
            <a:ext cx="80467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badge c"/>
          <p:cNvSpPr/>
          <p:nvPr/>
        </p:nvSpPr>
        <p:spPr>
          <a:xfrm>
            <a:off x="713232" y="39090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13232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307592" y="3739896"/>
            <a:ext cx="7132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Który argument mówi </a:t>
            </a: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r>
              <a:rPr lang="en-US" sz="1800" dirty="0">
                <a:solidFill>
                  <a:schemeClr val="tx1"/>
                </a:solidFill>
              </a:rPr>
              <a:t>, gdzie są testy?</a:t>
            </a:r>
            <a:endParaRPr lang="en-US" sz="1800" dirty="0"/>
          </a:p>
        </p:txBody>
      </p:sp>
      <p:sp>
        <p:nvSpPr>
          <p:cNvPr id="18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2: odpowiedź</a:t>
            </a:r>
            <a:endParaRPr lang="en-US" sz="3400" dirty="0"/>
          </a:p>
        </p:txBody>
      </p:sp>
      <p:sp>
        <p:nvSpPr>
          <p:cNvPr id="4" name="code panel"/>
          <p:cNvSpPr/>
          <p:nvPr/>
        </p:nvSpPr>
        <p:spPr>
          <a:xfrm>
            <a:off x="274320" y="1143000"/>
            <a:ext cx="8595360" cy="3154680"/>
          </a:xfrm>
          <a:prstGeom prst="roundRect">
            <a:avLst>
              <a:gd name="adj" fmla="val 231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57200" y="1271016"/>
            <a:ext cx="822960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actions/checkout@v7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actions/setup-python@v7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python-version: "3.12"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pip install -r services/tasks-api/requirements.txt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pytest services/tasks-api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34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Zielone linie są nowe lub zmienione.</a:t>
            </a:r>
            <a:endParaRPr lang="en-US" sz="1300" dirty="0"/>
          </a:p>
        </p:txBody>
      </p:sp>
      <p:sp>
        <p:nvSpPr>
          <p:cNvPr id="7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Ten sam job, zmienia się jedna wartość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Matrix uruchamia ten sam job raz dla każdej wartości. Każdy wariant to osobny job na osobnej maszynie.</a:t>
            </a:r>
            <a:endParaRPr lang="en-US" sz="2200" dirty="0"/>
          </a:p>
        </p:txBody>
      </p:sp>
      <p:sp>
        <p:nvSpPr>
          <p:cNvPr id="5" name="leg tasks-api"/>
          <p:cNvSpPr/>
          <p:nvPr/>
        </p:nvSpPr>
        <p:spPr>
          <a:xfrm>
            <a:off x="548640" y="2286000"/>
            <a:ext cx="39319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wariant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service: tasks-api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własna maszyna i pliki</a:t>
            </a:r>
            <a:endParaRPr lang="en-US" sz="1600" dirty="0"/>
          </a:p>
        </p:txBody>
      </p:sp>
      <p:sp>
        <p:nvSpPr>
          <p:cNvPr id="9" name="leg title-normalizer"/>
          <p:cNvSpPr/>
          <p:nvPr/>
        </p:nvSpPr>
        <p:spPr>
          <a:xfrm>
            <a:off x="4663440" y="2286000"/>
            <a:ext cx="39319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93776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wariant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service: title-normalizer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własna maszyna i pliki</a:t>
            </a:r>
            <a:endParaRPr lang="en-US" sz="1600" dirty="0"/>
          </a:p>
        </p:txBody>
      </p:sp>
      <p:sp>
        <p:nvSpPr>
          <p:cNvPr id="13" name="question banner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22960" y="3840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Które wartości zmieniają się między przebiegami?</a:t>
            </a:r>
            <a:endParaRPr lang="en-US" sz="2200" dirty="0"/>
          </a:p>
        </p:txBody>
      </p:sp>
      <p:sp>
        <p:nvSpPr>
          <p:cNvPr id="15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Nazwa jest podmieniana jako tekst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Piszesz</a:t>
            </a:r>
            <a:endParaRPr lang="en-US" sz="1600" dirty="0"/>
          </a:p>
        </p:txBody>
      </p:sp>
      <p:sp>
        <p:nvSpPr>
          <p:cNvPr id="5" name="code panel"/>
          <p:cNvSpPr/>
          <p:nvPr/>
        </p:nvSpPr>
        <p:spPr>
          <a:xfrm>
            <a:off x="548640" y="1481328"/>
            <a:ext cx="804672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609344"/>
            <a:ext cx="7680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services/${{ matrix.service }}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GitHub podmienia tekst, zanim zobaczy go shell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Shell widzi</a:t>
            </a:r>
            <a:endParaRPr lang="en-US" sz="1600" dirty="0"/>
          </a:p>
        </p:txBody>
      </p:sp>
      <p:sp>
        <p:nvSpPr>
          <p:cNvPr id="9" name="code panel"/>
          <p:cNvSpPr/>
          <p:nvPr/>
        </p:nvSpPr>
        <p:spPr>
          <a:xfrm>
            <a:off x="548640" y="3218688"/>
            <a:ext cx="804672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31520" y="3346704"/>
            <a:ext cx="7680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services/tasks-api</a:t>
            </a:r>
            <a:endParaRPr lang="en-US" sz="2200" dirty="0"/>
          </a:p>
        </p:txBody>
      </p:sp>
      <p:sp>
        <p:nvSpPr>
          <p:cNvPr id="11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Szukanie w dokumentacji: matrix</a:t>
            </a:r>
            <a:endParaRPr lang="en-US" sz="3400" dirty="0"/>
          </a:p>
        </p:txBody>
      </p:sp>
      <p:sp>
        <p:nvSpPr>
          <p:cNvPr id="4" name="docs card"/>
          <p:cNvSpPr/>
          <p:nvPr/>
        </p:nvSpPr>
        <p:spPr>
          <a:xfrm>
            <a:off x="548640" y="1280160"/>
            <a:ext cx="804672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docs circle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docs image" descr="FaB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1554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GitHub Docs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3774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Running variations of jobs in a workflow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337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docs.github.com/en/actions/how-tos/write-workflows/choose-what-workflows-do/run-job-variations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931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Znajdź: </a:t>
            </a: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</a:t>
            </a:r>
            <a:endParaRPr lang="en-US" sz="2400" dirty="0"/>
          </a:p>
        </p:txBody>
      </p:sp>
      <p:sp>
        <p:nvSpPr>
          <p:cNvPr id="11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3: oba serwisy</a:t>
            </a:r>
            <a:endParaRPr lang="en-US" sz="3400" dirty="0"/>
          </a:p>
        </p:txBody>
      </p:sp>
      <p:sp>
        <p:nvSpPr>
          <p:cNvPr id="4" name="requirement"/>
          <p:cNvSpPr/>
          <p:nvPr/>
        </p:nvSpPr>
        <p:spPr>
          <a:xfrm>
            <a:off x="548640" y="1280160"/>
            <a:ext cx="8046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requirement bar"/>
          <p:cNvSpPr/>
          <p:nvPr/>
        </p:nvSpPr>
        <p:spPr>
          <a:xfrm>
            <a:off x="548640" y="1280160"/>
            <a:ext cx="91440" cy="219456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14400" y="13716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Krok 3. Uruchom ten sam job dla OBU serwisów, </a:t>
            </a: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tasks-api</a:t>
            </a:r>
            <a:r>
              <a:rPr lang="en-US" sz="2800" dirty="0">
                <a:solidFill>
                  <a:schemeClr val="tx1"/>
                </a:solidFill>
              </a:rPr>
              <a:t> i </a:t>
            </a: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title-normalizer</a:t>
            </a:r>
            <a:r>
              <a:rPr lang="en-US" sz="2800" dirty="0">
                <a:solidFill>
                  <a:schemeClr val="tx1"/>
                </a:solidFill>
              </a:rPr>
              <a:t>, z użyciem matrix.</a:t>
            </a:r>
            <a:endParaRPr lang="en-US" sz="2800" dirty="0"/>
          </a:p>
        </p:txBody>
      </p:sp>
      <p:sp>
        <p:nvSpPr>
          <p:cNvPr id="7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3: utknąłeś?</a:t>
            </a:r>
            <a:endParaRPr lang="en-US" sz="3400" dirty="0"/>
          </a:p>
        </p:txBody>
      </p:sp>
      <p:sp>
        <p:nvSpPr>
          <p:cNvPr id="4" name="requirement line"/>
          <p:cNvSpPr/>
          <p:nvPr/>
        </p:nvSpPr>
        <p:spPr>
          <a:xfrm>
            <a:off x="548640" y="109728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097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Uruchom ten sam job dla </a:t>
            </a: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tasks-api</a:t>
            </a:r>
            <a:r>
              <a:rPr lang="en-US" sz="1600" b="1" dirty="0">
                <a:solidFill>
                  <a:schemeClr val="bg1"/>
                </a:solidFill>
              </a:rPr>
              <a:t> i </a:t>
            </a: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title-normalizer</a:t>
            </a:r>
            <a:r>
              <a:rPr lang="en-US" sz="1600" b="1" dirty="0">
                <a:solidFill>
                  <a:schemeClr val="bg1"/>
                </a:solidFill>
              </a:rPr>
              <a:t> z matrix.</a:t>
            </a:r>
            <a:endParaRPr lang="en-US" sz="1600" dirty="0"/>
          </a:p>
        </p:txBody>
      </p:sp>
      <p:sp>
        <p:nvSpPr>
          <p:cNvPr id="6" name="hint 1"/>
          <p:cNvSpPr/>
          <p:nvPr/>
        </p:nvSpPr>
        <p:spPr>
          <a:xfrm>
            <a:off x="548640" y="1783080"/>
            <a:ext cx="80467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badge a"/>
          <p:cNvSpPr/>
          <p:nvPr/>
        </p:nvSpPr>
        <p:spPr>
          <a:xfrm>
            <a:off x="713232" y="19888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13232" y="1988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307592" y="1819656"/>
            <a:ext cx="7132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Czym różnią się dwa przebiegi? Tylko nazwą serwisu.</a:t>
            </a:r>
            <a:endParaRPr lang="en-US" sz="1800" dirty="0"/>
          </a:p>
        </p:txBody>
      </p:sp>
      <p:sp>
        <p:nvSpPr>
          <p:cNvPr id="10" name="hint 2"/>
          <p:cNvSpPr/>
          <p:nvPr/>
        </p:nvSpPr>
        <p:spPr>
          <a:xfrm>
            <a:off x="548640" y="2743200"/>
            <a:ext cx="80467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adge b"/>
          <p:cNvSpPr/>
          <p:nvPr/>
        </p:nvSpPr>
        <p:spPr>
          <a:xfrm>
            <a:off x="713232" y="29489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132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07592" y="2779776"/>
            <a:ext cx="7132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Zapisz nazwę raz jako listę i użyj jej wszędzie tam, gdzie występuje nazwa.</a:t>
            </a:r>
            <a:endParaRPr lang="en-US" sz="1800" dirty="0"/>
          </a:p>
        </p:txBody>
      </p:sp>
      <p:sp>
        <p:nvSpPr>
          <p:cNvPr id="14" name="hint 3"/>
          <p:cNvSpPr/>
          <p:nvPr/>
        </p:nvSpPr>
        <p:spPr>
          <a:xfrm>
            <a:off x="548640" y="3703320"/>
            <a:ext cx="80467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badge c"/>
          <p:cNvSpPr/>
          <p:nvPr/>
        </p:nvSpPr>
        <p:spPr>
          <a:xfrm>
            <a:off x="713232" y="39090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13232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307592" y="3739896"/>
            <a:ext cx="7132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Otwórz stronę Docs o strategiach matrix ("Running variations of jobs in a workflow").</a:t>
            </a:r>
            <a:endParaRPr lang="en-US" sz="1800" dirty="0"/>
          </a:p>
        </p:txBody>
      </p:sp>
      <p:sp>
        <p:nvSpPr>
          <p:cNvPr id="18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3: odpowiedź</a:t>
            </a:r>
            <a:endParaRPr lang="en-US" sz="3400" dirty="0"/>
          </a:p>
        </p:txBody>
      </p:sp>
      <p:sp>
        <p:nvSpPr>
          <p:cNvPr id="4" name="code panel"/>
          <p:cNvSpPr/>
          <p:nvPr/>
        </p:nvSpPr>
        <p:spPr>
          <a:xfrm>
            <a:off x="274320" y="1143000"/>
            <a:ext cx="8595360" cy="3154680"/>
          </a:xfrm>
          <a:prstGeom prst="roundRect">
            <a:avLst>
              <a:gd name="adj" fmla="val 231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57200" y="1271016"/>
            <a:ext cx="822960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6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400" dirty="0"/>
          </a:p>
          <a:p>
            <a:pPr marL="0" indent="0">
              <a:lnSpc>
                <a:spcPts val="1756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run_tests:</a:t>
            </a:r>
            <a:endParaRPr lang="en-US" sz="1400" dirty="0"/>
          </a:p>
          <a:p>
            <a:pPr marL="0" indent="0">
              <a:lnSpc>
                <a:spcPts val="1756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400" dirty="0"/>
          </a:p>
          <a:p>
            <a:pPr marL="0" indent="0">
              <a:lnSpc>
                <a:spcPts val="1756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strategy:</a:t>
            </a:r>
            <a:endParaRPr lang="en-US" sz="1400" dirty="0"/>
          </a:p>
          <a:p>
            <a:pPr marL="0" indent="0">
              <a:lnSpc>
                <a:spcPts val="1756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matrix:</a:t>
            </a:r>
            <a:endParaRPr lang="en-US" sz="1400" dirty="0"/>
          </a:p>
          <a:p>
            <a:pPr marL="0" indent="0">
              <a:lnSpc>
                <a:spcPts val="1756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service: [tasks-api, title-normalizer]</a:t>
            </a:r>
            <a:endParaRPr lang="en-US" sz="1400" dirty="0"/>
          </a:p>
          <a:p>
            <a:pPr marL="0" indent="0">
              <a:lnSpc>
                <a:spcPts val="1756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400" dirty="0"/>
          </a:p>
          <a:p>
            <a:pPr marL="0" indent="0">
              <a:lnSpc>
                <a:spcPts val="1756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actions/checkout@v7</a:t>
            </a:r>
            <a:endParaRPr lang="en-US" sz="1400" dirty="0"/>
          </a:p>
          <a:p>
            <a:pPr marL="0" indent="0">
              <a:lnSpc>
                <a:spcPts val="1756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actions/setup-python@v7</a:t>
            </a:r>
            <a:endParaRPr lang="en-US" sz="1400" dirty="0"/>
          </a:p>
          <a:p>
            <a:pPr marL="0" indent="0">
              <a:lnSpc>
                <a:spcPts val="1756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400" dirty="0"/>
          </a:p>
          <a:p>
            <a:pPr marL="0" indent="0">
              <a:lnSpc>
                <a:spcPts val="1756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python-version: "3.12"</a:t>
            </a:r>
            <a:endParaRPr lang="en-US" sz="1400" dirty="0"/>
          </a:p>
          <a:p>
            <a:pPr marL="0" indent="0">
              <a:lnSpc>
                <a:spcPts val="1756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pip install -r services/${{ matrix.service }}/requirements.txt</a:t>
            </a:r>
            <a:endParaRPr lang="en-US" sz="1400" dirty="0"/>
          </a:p>
          <a:p>
            <a:pPr marL="0" indent="0">
              <a:lnSpc>
                <a:spcPts val="1756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pytest services/${{ matrix.service }}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34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Zielone linie są nowe lub zmienione.</a:t>
            </a:r>
            <a:endParaRPr lang="en-US" sz="1300" dirty="0"/>
          </a:p>
        </p:txBody>
      </p:sp>
      <p:sp>
        <p:nvSpPr>
          <p:cNvPr id="7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Czym jest artefakt?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Plik trzymany </a:t>
            </a:r>
            <a:r>
              <a:rPr lang="en-US" sz="2800" b="1" dirty="0" err="1">
                <a:solidFill>
                  <a:schemeClr val="tx1"/>
                </a:solidFill>
              </a:rPr>
              <a:t>przy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podsumowaniu</a:t>
            </a:r>
            <a:r>
              <a:rPr lang="en-US" sz="2800" b="1" dirty="0">
                <a:solidFill>
                  <a:schemeClr val="tx1"/>
                </a:solidFill>
              </a:rPr>
              <a:t> workflow.</a:t>
            </a:r>
            <a:endParaRPr lang="en-US" sz="2800" dirty="0"/>
          </a:p>
        </p:txBody>
      </p:sp>
      <p:sp>
        <p:nvSpPr>
          <p:cNvPr id="5" name="Trzymany przy przebiegu"/>
          <p:cNvSpPr/>
          <p:nvPr/>
        </p:nvSpPr>
        <p:spPr>
          <a:xfrm>
            <a:off x="548640" y="219456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rzymany przy przebiegu circle"/>
          <p:cNvSpPr/>
          <p:nvPr/>
        </p:nvSpPr>
        <p:spPr>
          <a:xfrm>
            <a:off x="822960" y="2468880"/>
            <a:ext cx="731520" cy="73152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Trzymany przy przebiegu image" descr="FaGithu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517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3291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Trzymany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/>
              <a:t>tylko</a:t>
            </a:r>
            <a:r>
              <a:rPr lang="en-US" b="1" dirty="0"/>
              <a:t> w </a:t>
            </a:r>
            <a:r>
              <a:rPr lang="en-US" b="1" dirty="0" err="1"/>
              <a:t>podsumowaniu</a:t>
            </a:r>
            <a:r>
              <a:rPr lang="en-US" b="1" dirty="0"/>
              <a:t> </a:t>
            </a:r>
            <a:r>
              <a:rPr lang="en-US" b="1" dirty="0" err="1"/>
              <a:t>zakończonego</a:t>
            </a:r>
            <a:r>
              <a:rPr lang="en-US" b="1" dirty="0"/>
              <a:t> </a:t>
            </a:r>
            <a:r>
              <a:rPr lang="en-US" b="1" dirty="0" err="1"/>
              <a:t>przebiegu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Do pobrania jako zip"/>
          <p:cNvSpPr/>
          <p:nvPr/>
        </p:nvSpPr>
        <p:spPr>
          <a:xfrm>
            <a:off x="3291840" y="219456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Do pobrania jako zip circle"/>
          <p:cNvSpPr/>
          <p:nvPr/>
        </p:nvSpPr>
        <p:spPr>
          <a:xfrm>
            <a:off x="3566160" y="2468880"/>
            <a:ext cx="731520" cy="73152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Do pobrania jako zip image" descr="FaDownlo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6517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 pobrania jako zip</a:t>
            </a:r>
            <a:endParaRPr lang="en-US" sz="2200" dirty="0"/>
          </a:p>
        </p:txBody>
      </p:sp>
      <p:sp>
        <p:nvSpPr>
          <p:cNvPr id="13" name="Nie ma go w repo"/>
          <p:cNvSpPr/>
          <p:nvPr/>
        </p:nvSpPr>
        <p:spPr>
          <a:xfrm>
            <a:off x="6035040" y="219456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Nie ma go w repo circle"/>
          <p:cNvSpPr/>
          <p:nvPr/>
        </p:nvSpPr>
        <p:spPr>
          <a:xfrm>
            <a:off x="6309360" y="2468880"/>
            <a:ext cx="731520" cy="73152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Nie ma go w repo image" descr="FaCodeBran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65176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0936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Nie ma go w repo</a:t>
            </a:r>
            <a:endParaRPr lang="en-US" sz="2200" dirty="0"/>
          </a:p>
        </p:txBody>
      </p:sp>
      <p:sp>
        <p:nvSpPr>
          <p:cNvPr id="17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Jeden artefakt na wariant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Nazwij każdy artefakt </a:t>
            </a:r>
            <a:r>
              <a:rPr lang="en-US" sz="2400" b="1" dirty="0" err="1">
                <a:solidFill>
                  <a:schemeClr val="tx1"/>
                </a:solidFill>
              </a:rPr>
              <a:t>nazwą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serwisu</a:t>
            </a:r>
            <a:endParaRPr lang="en-US" sz="2400" dirty="0"/>
          </a:p>
        </p:txBody>
      </p:sp>
      <p:sp>
        <p:nvSpPr>
          <p:cNvPr id="5" name="box wariant"/>
          <p:cNvSpPr/>
          <p:nvPr/>
        </p:nvSpPr>
        <p:spPr>
          <a:xfrm>
            <a:off x="548640" y="22402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40080" y="2350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wariant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tasks-api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3063240" y="2551176"/>
            <a:ext cx="274320" cy="292608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artifact tasks-api-test-report"/>
          <p:cNvSpPr/>
          <p:nvPr/>
        </p:nvSpPr>
        <p:spPr>
          <a:xfrm>
            <a:off x="3520440" y="2240280"/>
            <a:ext cx="5074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3703320" y="2240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tasks-api-test-report</a:t>
            </a:r>
            <a:endParaRPr lang="en-US" sz="1800" dirty="0"/>
          </a:p>
        </p:txBody>
      </p:sp>
      <p:sp>
        <p:nvSpPr>
          <p:cNvPr id="11" name="box wariant"/>
          <p:cNvSpPr/>
          <p:nvPr/>
        </p:nvSpPr>
        <p:spPr>
          <a:xfrm>
            <a:off x="548640" y="33832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40080" y="3493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wariant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title-normalizer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3063240" y="3694176"/>
            <a:ext cx="274320" cy="292608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artifact title-normalizer-test-report"/>
          <p:cNvSpPr/>
          <p:nvPr/>
        </p:nvSpPr>
        <p:spPr>
          <a:xfrm>
            <a:off x="3520440" y="3383280"/>
            <a:ext cx="5074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3703320" y="3383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title-normalizer-test-report</a:t>
            </a:r>
            <a:endParaRPr lang="en-US" sz="1800" dirty="0"/>
          </a:p>
        </p:txBody>
      </p:sp>
      <p:sp>
        <p:nvSpPr>
          <p:cNvPr id="17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4: zapisz raport z testów</a:t>
            </a:r>
            <a:endParaRPr lang="en-US" sz="3400" dirty="0"/>
          </a:p>
        </p:txBody>
      </p:sp>
      <p:sp>
        <p:nvSpPr>
          <p:cNvPr id="4" name="requirement"/>
          <p:cNvSpPr/>
          <p:nvPr/>
        </p:nvSpPr>
        <p:spPr>
          <a:xfrm>
            <a:off x="548640" y="1280160"/>
            <a:ext cx="80467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requirement bar"/>
          <p:cNvSpPr/>
          <p:nvPr/>
        </p:nvSpPr>
        <p:spPr>
          <a:xfrm>
            <a:off x="548640" y="1280160"/>
            <a:ext cx="91440" cy="20116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14400" y="137160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Krok 4. Zapisz raport z testów </a:t>
            </a:r>
            <a:r>
              <a:rPr lang="en-US" sz="2400" dirty="0" err="1">
                <a:solidFill>
                  <a:schemeClr val="tx1"/>
                </a:solidFill>
              </a:rPr>
              <a:t>jako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artefakt</a:t>
            </a:r>
            <a:r>
              <a:rPr lang="en-US" sz="2400" dirty="0">
                <a:solidFill>
                  <a:schemeClr val="tx1"/>
                </a:solidFill>
              </a:rPr>
              <a:t>, nazwany nazwą serwisu (na przykład </a:t>
            </a:r>
            <a:r>
              <a:rPr lang="en-US" sz="2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&lt;serwis&gt;-test-report</a:t>
            </a:r>
            <a:r>
              <a:rPr lang="en-US" sz="2400" dirty="0">
                <a:solidFill>
                  <a:schemeClr val="tx1"/>
                </a:solidFill>
              </a:rPr>
              <a:t>), nawet jeśli testy się nie powiodą.</a:t>
            </a:r>
            <a:endParaRPr lang="en-US" sz="2400" dirty="0"/>
          </a:p>
        </p:txBody>
      </p:sp>
      <p:sp>
        <p:nvSpPr>
          <p:cNvPr id="7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Wskazówka</a:t>
            </a:r>
            <a:endParaRPr lang="en-US" sz="1600" dirty="0"/>
          </a:p>
        </p:txBody>
      </p:sp>
      <p:sp>
        <p:nvSpPr>
          <p:cNvPr id="10" name="code panel"/>
          <p:cNvSpPr/>
          <p:nvPr/>
        </p:nvSpPr>
        <p:spPr>
          <a:xfrm>
            <a:off x="548640" y="3749040"/>
            <a:ext cx="804672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31520" y="3877056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... | tee &lt;plik&gt;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4: utknąłeś?</a:t>
            </a:r>
            <a:endParaRPr lang="en-US" sz="3400" dirty="0"/>
          </a:p>
        </p:txBody>
      </p:sp>
      <p:sp>
        <p:nvSpPr>
          <p:cNvPr id="4" name="requirement line"/>
          <p:cNvSpPr/>
          <p:nvPr/>
        </p:nvSpPr>
        <p:spPr>
          <a:xfrm>
            <a:off x="548640" y="109728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097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Jeden artefakt na wariant, nazwany nazwą serwisu, nawet jeśli testy się nie powiodą.</a:t>
            </a:r>
            <a:endParaRPr lang="en-US" sz="1600" dirty="0"/>
          </a:p>
        </p:txBody>
      </p:sp>
      <p:sp>
        <p:nvSpPr>
          <p:cNvPr id="6" name="hint 1"/>
          <p:cNvSpPr/>
          <p:nvPr/>
        </p:nvSpPr>
        <p:spPr>
          <a:xfrm>
            <a:off x="548640" y="1783080"/>
            <a:ext cx="8046720" cy="513893"/>
          </a:xfrm>
          <a:prstGeom prst="roundRect">
            <a:avLst>
              <a:gd name="adj" fmla="val 1423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badge a"/>
          <p:cNvSpPr/>
          <p:nvPr/>
        </p:nvSpPr>
        <p:spPr>
          <a:xfrm>
            <a:off x="713232" y="1847088"/>
            <a:ext cx="385877" cy="385877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13232" y="1847088"/>
            <a:ext cx="385877" cy="385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6269" y="1819656"/>
            <a:ext cx="7203643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Gdzie trafia raport, jeśli go nie zapiszesz?</a:t>
            </a:r>
            <a:endParaRPr lang="en-US" sz="1400" dirty="0"/>
          </a:p>
        </p:txBody>
      </p:sp>
      <p:sp>
        <p:nvSpPr>
          <p:cNvPr id="10" name="hint 2"/>
          <p:cNvSpPr/>
          <p:nvPr/>
        </p:nvSpPr>
        <p:spPr>
          <a:xfrm>
            <a:off x="548640" y="2351837"/>
            <a:ext cx="8046720" cy="513893"/>
          </a:xfrm>
          <a:prstGeom prst="roundRect">
            <a:avLst>
              <a:gd name="adj" fmla="val 1423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adge b"/>
          <p:cNvSpPr/>
          <p:nvPr/>
        </p:nvSpPr>
        <p:spPr>
          <a:xfrm>
            <a:off x="713232" y="2415845"/>
            <a:ext cx="385877" cy="385877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13232" y="2415845"/>
            <a:ext cx="385877" cy="385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36269" y="2388413"/>
            <a:ext cx="7203643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Zapisz wynik do pliku, potem przekaż plik do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actions/upload-artifact</a:t>
            </a:r>
            <a:r>
              <a:rPr lang="en-US" sz="1400" dirty="0">
                <a:solidFill>
                  <a:schemeClr val="tx1"/>
                </a:solidFill>
              </a:rPr>
              <a:t>, wersja główna v7.</a:t>
            </a:r>
            <a:endParaRPr lang="en-US" sz="1400" dirty="0"/>
          </a:p>
        </p:txBody>
      </p:sp>
      <p:sp>
        <p:nvSpPr>
          <p:cNvPr id="14" name="hint 3"/>
          <p:cNvSpPr/>
          <p:nvPr/>
        </p:nvSpPr>
        <p:spPr>
          <a:xfrm>
            <a:off x="548640" y="2920594"/>
            <a:ext cx="8046720" cy="513893"/>
          </a:xfrm>
          <a:prstGeom prst="roundRect">
            <a:avLst>
              <a:gd name="adj" fmla="val 1423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badge c"/>
          <p:cNvSpPr/>
          <p:nvPr/>
        </p:nvSpPr>
        <p:spPr>
          <a:xfrm>
            <a:off x="713232" y="2984602"/>
            <a:ext cx="385877" cy="385877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13232" y="2984602"/>
            <a:ext cx="385877" cy="385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36269" y="2957170"/>
            <a:ext cx="7203643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chemeClr val="tx1"/>
                </a:solidFill>
              </a:rPr>
              <a:t>Dwa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warianty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raportu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>
                <a:solidFill>
                  <a:schemeClr val="tx1"/>
                </a:solidFill>
              </a:rPr>
              <a:t> jedna nazwa artefaktu: co się psuje? </a:t>
            </a:r>
            <a:r>
              <a:rPr lang="en-US" sz="1400" dirty="0" err="1"/>
              <a:t>Pamiętaj</a:t>
            </a:r>
            <a:r>
              <a:rPr lang="en-US" sz="1400" dirty="0"/>
              <a:t> o </a:t>
            </a:r>
            <a:r>
              <a:rPr lang="en-US" sz="1400" dirty="0" err="1"/>
              <a:t>nazwie</a:t>
            </a:r>
            <a:r>
              <a:rPr lang="en-US" sz="1400" dirty="0"/>
              <a:t> </a:t>
            </a:r>
            <a:r>
              <a:rPr lang="en-US" sz="1400" dirty="0" err="1"/>
              <a:t>serwisu</a:t>
            </a:r>
            <a:r>
              <a:rPr lang="en-US" sz="1400" dirty="0"/>
              <a:t> w </a:t>
            </a:r>
            <a:r>
              <a:rPr lang="en-US" sz="1400" dirty="0" err="1"/>
              <a:t>nazwie</a:t>
            </a:r>
            <a:r>
              <a:rPr lang="en-US" sz="1400" dirty="0"/>
              <a:t> </a:t>
            </a:r>
            <a:r>
              <a:rPr lang="en-US" sz="1400" dirty="0" err="1"/>
              <a:t>artefaktu</a:t>
            </a:r>
            <a:endParaRPr lang="en-US" sz="1400" dirty="0"/>
          </a:p>
        </p:txBody>
      </p:sp>
      <p:sp>
        <p:nvSpPr>
          <p:cNvPr id="18" name="hint 4"/>
          <p:cNvSpPr/>
          <p:nvPr/>
        </p:nvSpPr>
        <p:spPr>
          <a:xfrm>
            <a:off x="548640" y="3489350"/>
            <a:ext cx="8046720" cy="513893"/>
          </a:xfrm>
          <a:prstGeom prst="roundRect">
            <a:avLst>
              <a:gd name="adj" fmla="val 1423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badge d"/>
          <p:cNvSpPr/>
          <p:nvPr/>
        </p:nvSpPr>
        <p:spPr>
          <a:xfrm>
            <a:off x="713232" y="3553358"/>
            <a:ext cx="385877" cy="385877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13232" y="3553358"/>
            <a:ext cx="385877" cy="385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36269" y="3525926"/>
            <a:ext cx="7203643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Czy </a:t>
            </a:r>
            <a:r>
              <a:rPr lang="en-US" sz="1400" dirty="0" err="1">
                <a:solidFill>
                  <a:schemeClr val="tx1"/>
                </a:solidFill>
              </a:rPr>
              <a:t>krok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/>
              <a:t>uploadu</a:t>
            </a:r>
            <a:r>
              <a:rPr lang="en-US" sz="1400" dirty="0"/>
              <a:t> </a:t>
            </a:r>
            <a:r>
              <a:rPr lang="en-US" sz="1400" dirty="0" err="1"/>
              <a:t>artefaktu</a:t>
            </a:r>
            <a:r>
              <a:rPr lang="en-US" sz="1400" dirty="0">
                <a:solidFill>
                  <a:schemeClr val="tx1"/>
                </a:solidFill>
              </a:rPr>
              <a:t> uruchamia się po nieudanym kroku?</a:t>
            </a:r>
            <a:endParaRPr lang="en-US" sz="1400" dirty="0"/>
          </a:p>
        </p:txBody>
      </p:sp>
      <p:sp>
        <p:nvSpPr>
          <p:cNvPr id="22" name="hint 5"/>
          <p:cNvSpPr/>
          <p:nvPr/>
        </p:nvSpPr>
        <p:spPr>
          <a:xfrm>
            <a:off x="548640" y="4058107"/>
            <a:ext cx="8046720" cy="513893"/>
          </a:xfrm>
          <a:prstGeom prst="roundRect">
            <a:avLst>
              <a:gd name="adj" fmla="val 1423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badge e"/>
          <p:cNvSpPr/>
          <p:nvPr/>
        </p:nvSpPr>
        <p:spPr>
          <a:xfrm>
            <a:off x="713232" y="4122115"/>
            <a:ext cx="385877" cy="385877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13232" y="4122115"/>
            <a:ext cx="385877" cy="385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236269" y="4094683"/>
            <a:ext cx="7203643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 dzieje się z drugim wariantem, gdy jeden się wywali? Sprawdź opcje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6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4: odpowiedź</a:t>
            </a:r>
            <a:endParaRPr lang="en-US" sz="3400" dirty="0"/>
          </a:p>
        </p:txBody>
      </p:sp>
      <p:sp>
        <p:nvSpPr>
          <p:cNvPr id="4" name="code panel"/>
          <p:cNvSpPr/>
          <p:nvPr/>
        </p:nvSpPr>
        <p:spPr>
          <a:xfrm>
            <a:off x="274320" y="1143000"/>
            <a:ext cx="8595360" cy="3154680"/>
          </a:xfrm>
          <a:prstGeom prst="roundRect">
            <a:avLst>
              <a:gd name="adj" fmla="val 231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57200" y="1271016"/>
            <a:ext cx="822960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3"/>
              </a:lnSpc>
              <a:buNone/>
            </a:pPr>
            <a:r>
              <a:rPr lang="en-US" sz="11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strategy: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fail-fast: false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matrix: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service: [tasks-api, title-normalizer]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actions/checkout@v7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actions/setup-python@v7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python-version: "3.12"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pip install -r services/${{ matrix.service }}/requirements.txt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shell: bash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pytest -rA services/${{ matrix.service }} | tee ${{ matrix.service }}-test-report.txt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actions/upload-artifact@v7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if: always()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name: ${{ matrix.service }}-test-report</a:t>
            </a:r>
            <a:endParaRPr lang="en-US" sz="1100" dirty="0"/>
          </a:p>
          <a:p>
            <a:pPr marL="0" indent="0">
              <a:lnSpc>
                <a:spcPts val="1343"/>
              </a:lnSpc>
              <a:buNone/>
            </a:pPr>
            <a:r>
              <a:rPr lang="en-US" sz="11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${{ matrix.service }}-test-report.txt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34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Zielone linie są nowe lub zmienione.</a:t>
            </a:r>
            <a:endParaRPr lang="en-US" sz="1300" dirty="0"/>
          </a:p>
        </p:txBody>
      </p:sp>
      <p:sp>
        <p:nvSpPr>
          <p:cNvPr id="7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Po co shell: bash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Zwykły krok </a:t>
            </a: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2200" b="1" dirty="0">
                <a:solidFill>
                  <a:schemeClr val="tx1"/>
                </a:solidFill>
              </a:rPr>
              <a:t> używa domyślnych flag shella. </a:t>
            </a: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shell: bash</a:t>
            </a:r>
            <a:r>
              <a:rPr lang="en-US" sz="2200" b="1" dirty="0">
                <a:solidFill>
                  <a:schemeClr val="tx1"/>
                </a:solidFill>
              </a:rPr>
              <a:t> dodaje </a:t>
            </a: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 pipefail</a:t>
            </a:r>
            <a:r>
              <a:rPr lang="en-US" sz="2200" b="1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5" name="run: ..."/>
          <p:cNvSpPr/>
          <p:nvPr/>
        </p:nvSpPr>
        <p:spPr>
          <a:xfrm>
            <a:off x="548640" y="228600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2377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...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-e</a:t>
            </a:r>
            <a:endParaRPr lang="en-US" sz="2400" dirty="0"/>
          </a:p>
        </p:txBody>
      </p:sp>
      <p:sp>
        <p:nvSpPr>
          <p:cNvPr id="8" name="shell: bash"/>
          <p:cNvSpPr/>
          <p:nvPr/>
        </p:nvSpPr>
        <p:spPr>
          <a:xfrm>
            <a:off x="4663440" y="228600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937760" y="2377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A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shell: bash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-eo pipefail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Bez </a:t>
            </a: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pipefail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| tee</a:t>
            </a:r>
            <a:r>
              <a:rPr lang="en-US" sz="2000" dirty="0">
                <a:solidFill>
                  <a:schemeClr val="tx1"/>
                </a:solidFill>
              </a:rPr>
              <a:t> kończy się kodem wyjścia </a:t>
            </a: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2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Po co fail-fast: false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Domyślnie jeden wariant, który się wywali, anuluje pozostałe, jeszcze trwające lub w kolejce.</a:t>
            </a:r>
            <a:endParaRPr lang="en-US" sz="2400" dirty="0"/>
          </a:p>
        </p:txBody>
      </p:sp>
      <p:sp>
        <p:nvSpPr>
          <p:cNvPr id="5" name="fail-fast: true"/>
          <p:cNvSpPr/>
          <p:nvPr/>
        </p:nvSpPr>
        <p:spPr>
          <a:xfrm>
            <a:off x="548640" y="2286000"/>
            <a:ext cx="39319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124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fail-fast: true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domyślnie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Jeden wariant pada: pozostałe, trwające lub w kolejce, są anulowane.</a:t>
            </a:r>
            <a:endParaRPr lang="en-US" sz="2000" dirty="0"/>
          </a:p>
        </p:txBody>
      </p:sp>
      <p:sp>
        <p:nvSpPr>
          <p:cNvPr id="9" name="fail-fast: false"/>
          <p:cNvSpPr/>
          <p:nvPr/>
        </p:nvSpPr>
        <p:spPr>
          <a:xfrm>
            <a:off x="4663440" y="2286000"/>
            <a:ext cx="39319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93776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EA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fail-fast: false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32461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Pozostałe warianty nie są anulowane.</a:t>
            </a:r>
            <a:endParaRPr lang="en-US" sz="2000" dirty="0"/>
          </a:p>
        </p:txBody>
      </p:sp>
      <p:sp>
        <p:nvSpPr>
          <p:cNvPr id="12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Zepsuj test</a:t>
            </a:r>
            <a:endParaRPr lang="en-US" sz="3400" dirty="0"/>
          </a:p>
        </p:txBody>
      </p:sp>
      <p:sp>
        <p:nvSpPr>
          <p:cNvPr id="4" name="badge 1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234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Zepsuj jeden test: zmień jedną oczekiwaną wartość w pliku testowym w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services/tasks-api/tests/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badg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Push.</a:t>
            </a:r>
            <a:endParaRPr lang="en-US" sz="1800" dirty="0"/>
          </a:p>
        </p:txBody>
      </p:sp>
      <p:sp>
        <p:nvSpPr>
          <p:cNvPr id="10" name="badge 3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606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Spójrz na przebieg i na Artifacts.</a:t>
            </a:r>
            <a:endParaRPr lang="en-US" sz="1800" dirty="0"/>
          </a:p>
        </p:txBody>
      </p:sp>
      <p:sp>
        <p:nvSpPr>
          <p:cNvPr id="13" name="fix banner"/>
          <p:cNvSpPr/>
          <p:nvPr/>
        </p:nvSpPr>
        <p:spPr>
          <a:xfrm>
            <a:off x="548640" y="3429000"/>
            <a:ext cx="804672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22960" y="342900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Napraw test i zrób push. </a:t>
            </a:r>
            <a:r>
              <a:rPr lang="en-US" sz="2600" dirty="0">
                <a:solidFill>
                  <a:schemeClr val="bg1"/>
                </a:solidFill>
              </a:rPr>
              <a:t>Krok 5 wymaga zielonego pytest.</a:t>
            </a:r>
            <a:endParaRPr lang="en-US" sz="2600" dirty="0"/>
          </a:p>
        </p:txBody>
      </p:sp>
      <p:sp>
        <p:nvSpPr>
          <p:cNvPr id="15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5: skan Banditem</a:t>
            </a:r>
            <a:endParaRPr lang="en-US" sz="3400" dirty="0"/>
          </a:p>
        </p:txBody>
      </p:sp>
      <p:sp>
        <p:nvSpPr>
          <p:cNvPr id="4" name="requirement"/>
          <p:cNvSpPr/>
          <p:nvPr/>
        </p:nvSpPr>
        <p:spPr>
          <a:xfrm>
            <a:off x="548640" y="1280160"/>
            <a:ext cx="80467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requirement bar"/>
          <p:cNvSpPr/>
          <p:nvPr/>
        </p:nvSpPr>
        <p:spPr>
          <a:xfrm>
            <a:off x="548640" y="1280160"/>
            <a:ext cx="91440" cy="2743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14400" y="13716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Krok 5. Przeskanuj każdy serwis Banditem i zapisz raport HTML. Wgraj go jako artefakt z nazwą per wariant, tak samo jak w kroku 4. Skan nie może wywalić joba.</a:t>
            </a:r>
            <a:endParaRPr lang="en-US" sz="2200" dirty="0"/>
          </a:p>
        </p:txBody>
      </p:sp>
      <p:sp>
        <p:nvSpPr>
          <p:cNvPr id="7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Wskazówka: polecenie Bandit</a:t>
            </a:r>
            <a:endParaRPr lang="en-US" sz="3400" dirty="0"/>
          </a:p>
        </p:txBody>
      </p:sp>
      <p:sp>
        <p:nvSpPr>
          <p:cNvPr id="4" name="code panel"/>
          <p:cNvSpPr/>
          <p:nvPr/>
        </p:nvSpPr>
        <p:spPr>
          <a:xfrm>
            <a:off x="548640" y="1463040"/>
            <a:ext cx="804672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31520" y="1591056"/>
            <a:ext cx="7680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bandit -r &lt;ścieżka&gt; -f html -o &lt;plik&gt;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Bandit to pakiet pip.</a:t>
            </a:r>
            <a:endParaRPr lang="en-US" sz="2800" dirty="0"/>
          </a:p>
        </p:txBody>
      </p:sp>
      <p:sp>
        <p:nvSpPr>
          <p:cNvPr id="7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5: utknąłeś?</a:t>
            </a:r>
            <a:endParaRPr lang="en-US" sz="3400" dirty="0"/>
          </a:p>
        </p:txBody>
      </p:sp>
      <p:sp>
        <p:nvSpPr>
          <p:cNvPr id="4" name="requirement line"/>
          <p:cNvSpPr/>
          <p:nvPr/>
        </p:nvSpPr>
        <p:spPr>
          <a:xfrm>
            <a:off x="548640" y="109728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097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Uruchom Bandita dla każdego serwisu, wgraj raport HTML per wariant, skan nie może wywalić joba.</a:t>
            </a:r>
            <a:endParaRPr lang="en-US" sz="1600" dirty="0"/>
          </a:p>
        </p:txBody>
      </p:sp>
      <p:sp>
        <p:nvSpPr>
          <p:cNvPr id="6" name="hint 1"/>
          <p:cNvSpPr/>
          <p:nvPr/>
        </p:nvSpPr>
        <p:spPr>
          <a:xfrm>
            <a:off x="548640" y="1783080"/>
            <a:ext cx="8046720" cy="628650"/>
          </a:xfrm>
          <a:prstGeom prst="roundRect">
            <a:avLst>
              <a:gd name="adj" fmla="val 1163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badge a"/>
          <p:cNvSpPr/>
          <p:nvPr/>
        </p:nvSpPr>
        <p:spPr>
          <a:xfrm>
            <a:off x="713232" y="1868805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13232" y="186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307592" y="1819656"/>
            <a:ext cx="71323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Bandit to pakiet pip: przeczytaj </a:t>
            </a: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bandit --help</a:t>
            </a:r>
            <a:r>
              <a:rPr lang="en-US" sz="1600" dirty="0">
                <a:solidFill>
                  <a:schemeClr val="tx1"/>
                </a:solidFill>
              </a:rPr>
              <a:t> lub jego dokumentację.</a:t>
            </a:r>
            <a:endParaRPr lang="en-US" sz="1600" dirty="0"/>
          </a:p>
        </p:txBody>
      </p:sp>
      <p:sp>
        <p:nvSpPr>
          <p:cNvPr id="10" name="hint 2"/>
          <p:cNvSpPr/>
          <p:nvPr/>
        </p:nvSpPr>
        <p:spPr>
          <a:xfrm>
            <a:off x="548640" y="2503170"/>
            <a:ext cx="8046720" cy="628650"/>
          </a:xfrm>
          <a:prstGeom prst="roundRect">
            <a:avLst>
              <a:gd name="adj" fmla="val 1163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adge b"/>
          <p:cNvSpPr/>
          <p:nvPr/>
        </p:nvSpPr>
        <p:spPr>
          <a:xfrm>
            <a:off x="713232" y="2588895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13232" y="258889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07592" y="2539746"/>
            <a:ext cx="71323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Kształt flag: </a:t>
            </a: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r>
              <a:rPr lang="en-US" sz="1600" dirty="0">
                <a:solidFill>
                  <a:schemeClr val="tx1"/>
                </a:solidFill>
              </a:rPr>
              <a:t> ścieżka, </a:t>
            </a: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 html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</a:t>
            </a:r>
            <a:r>
              <a:rPr lang="en-US" sz="1600" dirty="0">
                <a:solidFill>
                  <a:schemeClr val="tx1"/>
                </a:solidFill>
              </a:rPr>
              <a:t> plik.</a:t>
            </a:r>
            <a:endParaRPr lang="en-US" sz="1600" dirty="0"/>
          </a:p>
        </p:txBody>
      </p:sp>
      <p:sp>
        <p:nvSpPr>
          <p:cNvPr id="14" name="hint 3"/>
          <p:cNvSpPr/>
          <p:nvPr/>
        </p:nvSpPr>
        <p:spPr>
          <a:xfrm>
            <a:off x="548640" y="3223260"/>
            <a:ext cx="8046720" cy="628650"/>
          </a:xfrm>
          <a:prstGeom prst="roundRect">
            <a:avLst>
              <a:gd name="adj" fmla="val 1163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badge c"/>
          <p:cNvSpPr/>
          <p:nvPr/>
        </p:nvSpPr>
        <p:spPr>
          <a:xfrm>
            <a:off x="713232" y="3308985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13232" y="33089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307592" y="3259836"/>
            <a:ext cx="71323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Jakim kodem kończy się Bandit, gdy coś znajdzie? Które ustawienie kroku pozwala mu paść bez wywalania joba?</a:t>
            </a:r>
            <a:endParaRPr lang="en-US" sz="1600" dirty="0"/>
          </a:p>
        </p:txBody>
      </p:sp>
      <p:sp>
        <p:nvSpPr>
          <p:cNvPr id="18" name="hint 4"/>
          <p:cNvSpPr/>
          <p:nvPr/>
        </p:nvSpPr>
        <p:spPr>
          <a:xfrm>
            <a:off x="548640" y="3943350"/>
            <a:ext cx="8046720" cy="628650"/>
          </a:xfrm>
          <a:prstGeom prst="roundRect">
            <a:avLst>
              <a:gd name="adj" fmla="val 1163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badge d"/>
          <p:cNvSpPr/>
          <p:nvPr/>
        </p:nvSpPr>
        <p:spPr>
          <a:xfrm>
            <a:off x="713232" y="4029075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13232" y="40290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d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307592" y="3979926"/>
            <a:ext cx="71323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Ten sam wzorzec wgrywania co w kroku 4, z inną nazwą.</a:t>
            </a:r>
            <a:endParaRPr lang="en-US" sz="1600" dirty="0"/>
          </a:p>
        </p:txBody>
      </p:sp>
      <p:sp>
        <p:nvSpPr>
          <p:cNvPr id="22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Krok 5: odpowiedź</a:t>
            </a:r>
            <a:endParaRPr lang="en-US" sz="3400" dirty="0"/>
          </a:p>
        </p:txBody>
      </p:sp>
      <p:sp>
        <p:nvSpPr>
          <p:cNvPr id="4" name="code panel"/>
          <p:cNvSpPr/>
          <p:nvPr/>
        </p:nvSpPr>
        <p:spPr>
          <a:xfrm>
            <a:off x="274320" y="1143000"/>
            <a:ext cx="8595360" cy="3154680"/>
          </a:xfrm>
          <a:prstGeom prst="roundRect">
            <a:avLst>
              <a:gd name="adj" fmla="val 231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57200" y="1271016"/>
            <a:ext cx="822960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shell: bash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pytest -rA services/${{ matrix.service }} | tee ${{ matrix.service }}-test-report.txt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actions/upload-artifact@v7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if: always()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name: ${{ matrix.service }}-test-report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9D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${{ matrix.service }}-test-report.txt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pip install bandit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bandit -r services/${{ matrix.service }} -f html -o ${{ matrix.service }}-bandit-report.html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continue-on-error: true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actions/upload-artifact@v7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name: ${{ matrix.service }}-bandit-report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highlight>
                  <a:srgbClr val="1B3A2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${{ matrix.service }}-bandit-report.html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34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Zielone linie są nowe lub zmienione.</a:t>
            </a:r>
            <a:endParaRPr lang="en-US" sz="1300" dirty="0"/>
          </a:p>
        </p:txBody>
      </p:sp>
      <p:sp>
        <p:nvSpPr>
          <p:cNvPr id="7" name="help rule"/>
          <p:cNvSpPr/>
          <p:nvPr/>
        </p:nvSpPr>
        <p:spPr>
          <a:xfrm>
            <a:off x="548640" y="4645152"/>
            <a:ext cx="76809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4645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Potrzebujesz pomocy?  </a:t>
            </a:r>
            <a:r>
              <a:rPr lang="en-US" sz="1400" b="1" dirty="0">
                <a:solidFill>
                  <a:schemeClr val="tx1"/>
                </a:solidFill>
              </a:rPr>
              <a:t>twoje wcześniejsze kroki  →  GitHub Docs  →  podnieś rękę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always() or continue-on-error</a:t>
            </a:r>
            <a:endParaRPr lang="en-US" sz="3400" dirty="0"/>
          </a:p>
        </p:txBody>
      </p:sp>
      <p:sp>
        <p:nvSpPr>
          <p:cNvPr id="4" name="always()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554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124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always()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377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Uruchamia krok nawet po błędzie wcześniejszego.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D1242F"/>
                </a:solidFill>
              </a:rPr>
              <a:t>Job i tak kończy się na czerwono.</a:t>
            </a:r>
            <a:endParaRPr lang="en-US" sz="2400" dirty="0"/>
          </a:p>
        </p:txBody>
      </p:sp>
      <p:sp>
        <p:nvSpPr>
          <p:cNvPr id="8" name="continue-on-error: true"/>
          <p:cNvSpPr/>
          <p:nvPr/>
        </p:nvSpPr>
        <p:spPr>
          <a:xfrm>
            <a:off x="4663440" y="1371600"/>
            <a:ext cx="39319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937760" y="1554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A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continue-on-error: true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2377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Pozwala krokowi paść.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A043"/>
                </a:solidFill>
              </a:rPr>
              <a:t>Job zostaje zielony.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Otwórz swój raport</a:t>
            </a:r>
            <a:endParaRPr lang="en-US" sz="3400" dirty="0"/>
          </a:p>
        </p:txBody>
      </p:sp>
      <p:sp>
        <p:nvSpPr>
          <p:cNvPr id="4" name="step 1"/>
          <p:cNvSpPr/>
          <p:nvPr/>
        </p:nvSpPr>
        <p:spPr>
          <a:xfrm>
            <a:off x="548640" y="128016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badge 1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325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Zakładka Actions</a:t>
            </a:r>
            <a:endParaRPr lang="en-US" sz="1800" dirty="0"/>
          </a:p>
        </p:txBody>
      </p:sp>
      <p:sp>
        <p:nvSpPr>
          <p:cNvPr id="8" name="step 2"/>
          <p:cNvSpPr/>
          <p:nvPr/>
        </p:nvSpPr>
        <p:spPr>
          <a:xfrm>
            <a:off x="548640" y="233172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badge 2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377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Otwórz najnowszy przebieg</a:t>
            </a:r>
            <a:endParaRPr lang="en-US" sz="1800" dirty="0"/>
          </a:p>
        </p:txBody>
      </p:sp>
      <p:sp>
        <p:nvSpPr>
          <p:cNvPr id="12" name="step 3"/>
          <p:cNvSpPr/>
          <p:nvPr/>
        </p:nvSpPr>
        <p:spPr>
          <a:xfrm>
            <a:off x="548640" y="338328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badge 3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429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Artifacts: kliknij</a:t>
            </a:r>
            <a:endParaRPr lang="en-US" sz="18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tasks-api-bandit-report</a:t>
            </a:r>
            <a:endParaRPr lang="en-US" sz="1800" dirty="0"/>
          </a:p>
        </p:txBody>
      </p:sp>
      <p:sp>
        <p:nvSpPr>
          <p:cNvPr id="16" name="step 4"/>
          <p:cNvSpPr/>
          <p:nvPr/>
        </p:nvSpPr>
        <p:spPr>
          <a:xfrm>
            <a:off x="4663440" y="128016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badge 4"/>
          <p:cNvSpPr/>
          <p:nvPr/>
        </p:nvSpPr>
        <p:spPr>
          <a:xfrm>
            <a:off x="48463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846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1325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Zapisz zip</a:t>
            </a:r>
            <a:endParaRPr lang="en-US" sz="1800" dirty="0"/>
          </a:p>
        </p:txBody>
      </p:sp>
      <p:sp>
        <p:nvSpPr>
          <p:cNvPr id="20" name="step 5"/>
          <p:cNvSpPr/>
          <p:nvPr/>
        </p:nvSpPr>
        <p:spPr>
          <a:xfrm>
            <a:off x="4663440" y="233172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badge 5"/>
          <p:cNvSpPr/>
          <p:nvPr/>
        </p:nvSpPr>
        <p:spPr>
          <a:xfrm>
            <a:off x="484632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8463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2377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Rozpakuj go</a:t>
            </a:r>
            <a:endParaRPr lang="en-US" sz="1800" dirty="0"/>
          </a:p>
        </p:txBody>
      </p:sp>
      <p:sp>
        <p:nvSpPr>
          <p:cNvPr id="24" name="step 6"/>
          <p:cNvSpPr/>
          <p:nvPr/>
        </p:nvSpPr>
        <p:spPr>
          <a:xfrm>
            <a:off x="4663440" y="338328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badge 6"/>
          <p:cNvSpPr/>
          <p:nvPr/>
        </p:nvSpPr>
        <p:spPr>
          <a:xfrm>
            <a:off x="4846320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48463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0" y="3429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Otwórz HTML w przeglądarce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Zatrzymaj i wyloguj się</a:t>
            </a:r>
            <a:endParaRPr lang="en-US" sz="3400" dirty="0"/>
          </a:p>
        </p:txBody>
      </p:sp>
      <p:sp>
        <p:nvSpPr>
          <p:cNvPr id="4" name="Zatrzymaj  circle"/>
          <p:cNvSpPr/>
          <p:nvPr/>
        </p:nvSpPr>
        <p:spPr>
          <a:xfrm>
            <a:off x="640080" y="1325880"/>
            <a:ext cx="640080" cy="64008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Zatrzymaj  image" descr="FaPowerO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485900"/>
            <a:ext cx="320040" cy="320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Zatrzymaj swój Codespace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7099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github.com/codespaces</a:t>
            </a:r>
            <a:endParaRPr lang="en-US" sz="1400" dirty="0"/>
          </a:p>
        </p:txBody>
      </p:sp>
      <p:sp>
        <p:nvSpPr>
          <p:cNvPr id="8" name="Wyloguj si circle"/>
          <p:cNvSpPr/>
          <p:nvPr/>
        </p:nvSpPr>
        <p:spPr>
          <a:xfrm>
            <a:off x="640080" y="2194560"/>
            <a:ext cx="640080" cy="64008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Wyloguj si image" descr="FaSignOutA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35458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21945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Wyloguj się z GitHuba w laboratorium</a:t>
            </a:r>
            <a:endParaRPr lang="en-US" sz="2200" dirty="0"/>
          </a:p>
        </p:txBody>
      </p:sp>
      <p:sp>
        <p:nvSpPr>
          <p:cNvPr id="11" name="Praca jest circle"/>
          <p:cNvSpPr/>
          <p:nvPr/>
        </p:nvSpPr>
        <p:spPr>
          <a:xfrm>
            <a:off x="640080" y="3063240"/>
            <a:ext cx="640080" cy="64008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raca jest image" descr="FaGithu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22326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554480" y="30632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Praca jest w repozytorium, nie na komputerze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vOps Terminal">
  <a:themeElements>
    <a:clrScheme name="DevOps Terminal">
      <a:dk1>
        <a:srgbClr val="161B22"/>
      </a:dk1>
      <a:lt1>
        <a:srgbClr val="FFFFFF"/>
      </a:lt1>
      <a:dk2>
        <a:srgbClr val="30363D"/>
      </a:dk2>
      <a:lt2>
        <a:srgbClr val="F3F5F7"/>
      </a:lt2>
      <a:accent1>
        <a:srgbClr val="2EA043"/>
      </a:accent1>
      <a:accent2>
        <a:srgbClr val="B7791F"/>
      </a:accent2>
      <a:accent3>
        <a:srgbClr val="D1242F"/>
      </a:accent3>
      <a:accent4>
        <a:srgbClr val="388BFD"/>
      </a:accent4>
      <a:accent5>
        <a:srgbClr val="8957E5"/>
      </a:accent5>
      <a:accent6>
        <a:srgbClr val="57606A"/>
      </a:accent6>
      <a:hlink>
        <a:srgbClr val="388BFD"/>
      </a:hlink>
      <a:folHlink>
        <a:srgbClr val="8957E5"/>
      </a:folHlink>
    </a:clrScheme>
    <a:fontScheme name="DevOps Termi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4355</Words>
  <Application>Microsoft Macintosh PowerPoint</Application>
  <PresentationFormat>On-screen Show (16:9)</PresentationFormat>
  <Paragraphs>553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Courier New</vt:lpstr>
      <vt:lpstr>DevOps Terminal</vt:lpstr>
      <vt:lpstr>Utwórz swoje repo</vt:lpstr>
      <vt:lpstr>Codespace</vt:lpstr>
      <vt:lpstr>API listy zadań</vt:lpstr>
      <vt:lpstr>Dwa serwisy</vt:lpstr>
      <vt:lpstr>Funkcja</vt:lpstr>
      <vt:lpstr>Bezstanowość</vt:lpstr>
      <vt:lpstr>Wywołanie</vt:lpstr>
      <vt:lpstr>Platforma</vt:lpstr>
      <vt:lpstr>Skalowanie do zera</vt:lpstr>
      <vt:lpstr>Nasz serwis jest w stylu FaaS</vt:lpstr>
      <vt:lpstr>Nasze invoke to wywołanie</vt:lpstr>
      <vt:lpstr>Gotowi?</vt:lpstr>
      <vt:lpstr>curl, localhost, port</vt:lpstr>
      <vt:lpstr>Uruchom oba serwisy</vt:lpstr>
      <vt:lpstr>Trzeci terminal na curl</vt:lpstr>
      <vt:lpstr>Zatrzymaj funkcję</vt:lpstr>
      <vt:lpstr>Uruchom oba zestawy testów</vt:lpstr>
      <vt:lpstr>Czym jest lint?</vt:lpstr>
      <vt:lpstr>Istniejące lintery</vt:lpstr>
      <vt:lpstr>Bandit, skaner bezpieczeństwa</vt:lpstr>
      <vt:lpstr>Pięć kroków, jeden plik</vt:lpstr>
      <vt:lpstr>Co robić w razie błędu</vt:lpstr>
      <vt:lpstr>Błędy i niepowodzenia to też informacja</vt:lpstr>
      <vt:lpstr>Krok 1: workflow</vt:lpstr>
      <vt:lpstr>Krok 1: szkielet</vt:lpstr>
      <vt:lpstr>Krok 1: utknąłeś?</vt:lpstr>
      <vt:lpstr>Krok 1: odpowiedź</vt:lpstr>
      <vt:lpstr>Krok 2: testy jednego serwisu</vt:lpstr>
      <vt:lpstr>Krok 2: utknąłeś?</vt:lpstr>
      <vt:lpstr>Krok 2: odpowiedź</vt:lpstr>
      <vt:lpstr>Ten sam job, zmienia się jedna wartość</vt:lpstr>
      <vt:lpstr>Nazwa jest podmieniana jako tekst</vt:lpstr>
      <vt:lpstr>Szukanie w dokumentacji: matrix</vt:lpstr>
      <vt:lpstr>Krok 3: oba serwisy</vt:lpstr>
      <vt:lpstr>Krok 3: utknąłeś?</vt:lpstr>
      <vt:lpstr>Krok 3: odpowiedź</vt:lpstr>
      <vt:lpstr>Czym jest artefakt?</vt:lpstr>
      <vt:lpstr>Jeden artefakt na wariant</vt:lpstr>
      <vt:lpstr>Krok 4: zapisz raport z testów</vt:lpstr>
      <vt:lpstr>Krok 4: utknąłeś?</vt:lpstr>
      <vt:lpstr>Krok 4: odpowiedź</vt:lpstr>
      <vt:lpstr>Po co shell: bash</vt:lpstr>
      <vt:lpstr>Po co fail-fast: false</vt:lpstr>
      <vt:lpstr>Zepsuj test</vt:lpstr>
      <vt:lpstr>Krok 5: skan Banditem</vt:lpstr>
      <vt:lpstr>Wskazówka: polecenie Bandit</vt:lpstr>
      <vt:lpstr>Krok 5: utknąłeś?</vt:lpstr>
      <vt:lpstr>Krok 5: odpowiedź</vt:lpstr>
      <vt:lpstr>always() or continue-on-error</vt:lpstr>
      <vt:lpstr>Otwórz swój raport</vt:lpstr>
      <vt:lpstr>Zatrzymaj i wyloguj się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Warsztaty DevOps</dc:title>
  <dc:subject>PptxGenJS Presentation</dc:subject>
  <dc:creator>Prowadzący</dc:creator>
  <cp:lastModifiedBy>Jakub Załucki</cp:lastModifiedBy>
  <cp:revision>8</cp:revision>
  <dcterms:created xsi:type="dcterms:W3CDTF">2026-10-16T11:40:06Z</dcterms:created>
  <dcterms:modified xsi:type="dcterms:W3CDTF">2026-10-16T12:25:03Z</dcterms:modified>
</cp:coreProperties>
</file>