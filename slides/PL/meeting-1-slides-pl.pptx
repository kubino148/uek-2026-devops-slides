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1" r:id="rId5"/>
    <p:sldId id="262" r:id="rId6"/>
    <p:sldId id="263" r:id="rId7"/>
    <p:sldId id="265" r:id="rId8"/>
    <p:sldId id="266" r:id="rId9"/>
    <p:sldId id="268" r:id="rId10"/>
    <p:sldId id="269" r:id="rId11"/>
    <p:sldId id="272" r:id="rId12"/>
    <p:sldId id="273" r:id="rId13"/>
    <p:sldId id="274" r:id="rId14"/>
    <p:sldId id="275" r:id="rId15"/>
    <p:sldId id="277" r:id="rId16"/>
    <p:sldId id="279" r:id="rId17"/>
    <p:sldId id="280" r:id="rId18"/>
    <p:sldId id="282" r:id="rId19"/>
    <p:sldId id="291" r:id="rId20"/>
    <p:sldId id="284" r:id="rId21"/>
    <p:sldId id="286" r:id="rId22"/>
    <p:sldId id="287" r:id="rId23"/>
    <p:sldId id="289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6875725-47D1-46AA-59A2-67C394E2B6C8}">
          <p14:sldIdLst>
            <p14:sldId id="256"/>
            <p14:sldId id="258"/>
            <p14:sldId id="259"/>
          </p14:sldIdLst>
        </p14:section>
        <p14:section name="DevOps" id="{D3F5AFBA-3B49-3E5A-66E2-D9BBD9CA4DE5}">
          <p14:sldIdLst>
            <p14:sldId id="261"/>
            <p14:sldId id="262"/>
            <p14:sldId id="263"/>
          </p14:sldIdLst>
        </p14:section>
        <p14:section name="AI" id="{5D82F041-6517-0862-F88F-D1322D3AEBE8}">
          <p14:sldIdLst>
            <p14:sldId id="265"/>
            <p14:sldId id="266"/>
            <p14:sldId id="268"/>
            <p14:sldId id="269"/>
            <p14:sldId id="272"/>
          </p14:sldIdLst>
        </p14:section>
        <p14:section name="Kurs" id="{D984D21C-2540-82C8-826D-D4A9A56D70AC}">
          <p14:sldIdLst>
            <p14:sldId id="273"/>
            <p14:sldId id="274"/>
            <p14:sldId id="275"/>
          </p14:sldIdLst>
        </p14:section>
        <p14:section name="Dokumentacja" id="{1A737E92-C0A9-C2D9-6A9D-5BB09D09E12C}">
          <p14:sldIdLst>
            <p14:sldId id="277"/>
          </p14:sldIdLst>
        </p14:section>
        <p14:section name="Warsztat" id="{9C2E8009-DDBB-22BF-761A-D2C913C50E15}">
          <p14:sldIdLst>
            <p14:sldId id="279"/>
            <p14:sldId id="280"/>
            <p14:sldId id="282"/>
            <p14:sldId id="291"/>
            <p14:sldId id="284"/>
            <p14:sldId id="286"/>
            <p14:sldId id="287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743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widoczny, gdy studenci wchodzą. Powiedz: to zajmie minutę lub dwie, słuchajcie dalej, gdy się uruchamia. Lekcja 0 służy głównie oswojeniu się z Codespaces. Komputery w laboratorium: wylogować się z GitHuba przy wyjściu, nie pozwalać przeglądarce zapisać hasła.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Imię, nazwisko, mail kontaktowy. Format: 45 minut, 5 minut przerwy, 40 minut. Obecność: co najmniej 50%.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Ustny egzamin z oceną, trzy pytania: jedno na wiedzę, jedno o teoretyczny scenariusz, jedno o code review. Efekty: po kursie potrafisz zrobić wymienione rzeczy oraz je wyjaśnić, zweryfikować i naprawić.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Deweloperzy chcą wypuszczać zmiany, operacje chcą stabilności, więc każda strona blokuje drugą. Zapytaj: komu zdarzyło się 'u mnie działa'? DevOps usuwa mur: jeden zespół odpowiada za całą drogę od commita do działającej usługi.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Plan, kod, build, test, release, deploy, obsługa, monitoring, i z powrotem do planu. CI: każda zmiana jest automatycznie budowana i testowana. CD: każda zmiana, która przejdzie, jest automatycznie wydawana. GitHub Actions: plik w twoim repozytorium, który GitHub uruchamia na własnych serwerach, gdy coś się wydarzy.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Cztery metryki DORA: częstotliwość wdrożeń, czas realizacji zmiany, odsetek nieudanych zmian, czas przywracania. To nie jest szybkość kontra bezpieczeństwo: małe zmiany są bezpieczniejsze. Kto: najpewniej deweloperzy backendu/API, inżynierowie platform i chmury, SRE, bezpieczeństwo, ML. Mniej prawdopodobnie: czysty UI/design, kod badawczy, który nigdy nie trafia na produkcję, samotne projekty hobbystyczne. Zapytaj: gdzie siebie widzisz?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jest dozwolone. Ślepe kopiuj-wklej nie: wklejasz zadanie, wklejasz odpowiedź. Jeśli nie umiesz tego wyjaśnić, nie wypuszczaj tego. Zapytaj: ręka w górę, kto w tym miesiącu użył AI do zadania; zostaje w górze, kto umiałby wyjaśnić każdą linię. Bez oceniania.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Czy mogę i powinienem użyć do tego AI? Tak: sam to zaprojektowałeś, a AI tylko pisze. Nie: nie ma jeszcze pomysłów ani ograniczeń. 2) Czy ufam wynikowi i go rozumiem? docker system prune -af --volumes usuwa nieużywane obrazy, zatrzymane kontenery i wolumeny (dane). Rozpoznawaj też chmod -R 777, curl | sudo bash, git push --force, permissions write-all. 3) Jak to zweryfikować, zmodyfikować i naprawić? Uruchom w bezpiecznym miejscu, przeczytaj dokumentację każdej flagi, sprawdź, czy każdy pakiet i action istnieje. Zapytanie drugiego AI się nie liczy.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Dobre: boilerplate, składnia, której nie pamiętasz, wyjaśnianie błędu, gdy znasz kontekst, implementacja projektu, który sam zrobiłeś. Złe: znajomość twojego repozytorium, stosu i ograniczeń; wymyślanie architektury; wiedza, czy dana action lub flaga naprawdę istnieje. Do pominięcia, jeśli brakuje czasu.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01-assignment-prompt.md. Zapytaj: w jakim języku jest aplikacja? Gdzie są testy? Nikt tego nie wie z tekstu, AI też nie. Następny slajd przedstaw jako 'typowy wynik takiego promptu'.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04-contrast-good-prompt.md. To samo zadanie, cztery zdania kontekstu, 15 linii YAML-a, które da się przeczytać za jednym razem. Zakończ stwierdzeniem: zrozumienie przypadku użycia, kontekstu i architektury to twoja robota; AI może napisać kod szybciej, ale to ty decydujesz, jaki kod ma napisać.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aplikację z ankietą na żywo w przeglądarce także na projektorze. Zeskanuj kod QR aparatem telefonu. Powiedz dlaczego: po tym wybiorę przykładową aplikację, więc muszę wiedzieć, co już umiecie. Pytania: imię i nazwisko; języki i frameworki, których używasz; czy masz projekt backendowy, który napisałeś lub piszesz; czy masz wybrany kierunek programowania. Gdy wypełniają, sprawdź Codespaces studentów na komputerach w laboratorium.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Tylko tematy, bez numerów spotkań. Kontrola wersji, continuous integration, continuous delivery z GitHub Pages (dokumentacja API, raporty z testów i skanów), kontenery z Dockerem, aplikacje wieloserwisowe z Docker Compose, jakość i bezpieczeństwo (linting, Trivy, Dependabot), infrastruktura jako kod z Terraform, monitoring, jeśli starczy czasu.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i GitHub, Actions, Docker, Compose, Trivy, Dependabot, Terraform, Pages. Gdzie to uruchamiamy: GitHub Codespaces dla wszystkich. Sedno: wszystko mieszka w repozytorium i nic nie zależy od twojego komputera.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żywo, bez slajdów: wyszukaj 'git switch docs' i pokaż oficjalną stronę; uruchom git --help i git switch --help; otwórz docs.github.com i przejdź do składni workflow. Powiedz, czego szukasz: oficjalna strona, przykład, tabela flag, wersja. Na koniec: używaj AI do wyjaśnienia znalezionej strony, nie do zastąpienia jej szukania.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Studenci uruchamiają sprawdzenie w terminalu Codespace. Oczekiwane: wersje Pythona i pytest, wynik testów, na końcu OK. Kto utknął: drabinka awaryjna. Zasadę pomocy zostaw na ekranie przez cały segment: repozytorium demo, potem dokumentacja, potem podnieś rękę.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0:54. To już znacie: jeden szybki przebieg, potem czas idzie na CI. Wpisuj polecenia na żywo, a oni śledzą. gh jest zainstalowane i zalogowane w Codespaces; w przeciwnym razie Compare and pull request na github.com. Wskaż No checks na stronie PR: to jest punkt odniesienia. Pytanie ustne, bez ćwiczenia: scalasz gałąź i jest konflikt, jakie są twoje pierwsze dwa polecenia? Oczekiwane: git status, potem otworzyć pliki i rozwiązać znaczniki; git merge --abort jako wyjście awaryjne.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0:59, 12 minut. Otwórz własne repo demo, malutki projekt w bashu ze skryptem testowym. URL zostaw na slajdzie. Studenci patrzą i robią notatki, nie piszą razem z tobą, bo ich projekt jest w Pythonie, a zadanie inne. Komentuj na bieżąco, także to, jak korzystasz z dokumentacji; nie otwieraj strony Building and testing Python. Jeden commit na krok, żeby historia czytała się jak tutorial. Kroki: wpisz workflow (4 min), push i przeczytaj zielony przebieg oraz logi (3 min), zepsuj test, przeczytaj czerwony, revert, zielony (4 min), pokaż slajd z zadaniem (1 min). Powiedz: mój projekt nie wymagał niczego instalować, wasz wymaga.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7DFA1-B7E4-39C8-BA03-CE29D224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A6EB5-DAE9-852C-87BF-5587226AF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82D91-A391-37DF-3BC4-CF087874A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widoczny, gdy studenci wchodzą. Powiedz: to zajmie minutę lub dwie, słuchajcie dalej, gdy się uruchamia. Lekcja 0 służy głównie oswojeniu się z Codespaces. Komputery w laboratorium: wylogować się z GitHuba przy wyjściu, nie pozwalać przeglądarce zapisać hasła.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A3D8A-306C-90BB-3D21-87239896C8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396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1:11, 14 minut, studenci pracują sami. Powiedz: ta sama idea, inny stos. Korzystajcie z mojego repo i dokumentacji. Nie kopiujcie mojego pliku, dla Pythona nie wystarczy. Krąż po sali. Uważaj na tabulatory w YAML, pliki poza .github/workflows, kopie pliku z dema w bashu (check robi się czerwony, dobry moment dydaktyczny) i długie odpowiedzi AI, których studenci nie umieją wyjaśnić: zapytaj, co robi dana linia, nie poprawiaj ich pliku. Jeśli ktoś gapi się na czerwony przebieg, wskaż log i zapytaj, co mu mówi. Spodziewaj się, że część nie dojdzie do kroku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Klocki, celowo nie po kolei: studenci sami decydują, których potrzebują i w jakiej kolejności. Postawa inżyniera: nie celuj w idealną pierwszą próbę; push, obserwuj przebieg, przeczytaj błąd, zmień jedną rzecz, push jeszcze raz; czerwony przebieg to informacja, nie porażka; każdy push kosztuje mniej niż minutę; zmieniaj jedną rzecz naraz, żeby wiedzieć, co pomogło.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Pokazuj tylko, gdy studenci utknęli: podpowiedź 1 około 1:14, podpowiedź 2 o 1:17, podpowiedź 3 o 1:20. Typowe problemy: check się nie pojawia (plik nie leży w .github/workflows albo złe wcięcia w YAML; zakładka Actions pokazuje błąd); czerwony pytest lub pip install bez setup-python (sprawdź na próbie, co mówi log); wersje Pythona w cudzysłowie jako tekst, niecytowane 3.10 jest czytane jako 3.1; check wisi w kolejce, bo GitHub jest wolny.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1:25, 3 minuty. Każdy student dopisuje jedną linię do NOTES.md na gałęzi PR, robi commit i push, czeka na zielony, potem scala PR zielonym przyciskiem. Studenci, którzy nie zdążyli, mogą skończyć później; repo demo i dokumentacja pozostają dostępne.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Zrób to teraz</a:t>
            </a:r>
            <a:endParaRPr lang="en-US" sz="3400" dirty="0"/>
          </a:p>
        </p:txBody>
      </p:sp>
      <p:sp>
        <p:nvSpPr>
          <p:cNvPr id="4" name="step 1 circle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2161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Otwórz github.com i zaloguj się</a:t>
            </a:r>
            <a:endParaRPr lang="en-US" sz="1800" dirty="0"/>
          </a:p>
        </p:txBody>
      </p:sp>
      <p:sp>
        <p:nvSpPr>
          <p:cNvPr id="7" name="step 2 circle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9019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Otwórz repozytorium szablonu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212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github.com/kubino148/devops-lesson-1</a:t>
            </a:r>
            <a:endParaRPr lang="en-US" sz="1400" dirty="0"/>
          </a:p>
        </p:txBody>
      </p:sp>
      <p:sp>
        <p:nvSpPr>
          <p:cNvPr id="11" name="step 3 circle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5877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</a:rPr>
              <a:t>Kliknij</a:t>
            </a:r>
            <a:r>
              <a:rPr lang="en-US" b="1" dirty="0">
                <a:solidFill>
                  <a:schemeClr val="bg1"/>
                </a:solidFill>
              </a:rPr>
              <a:t> “</a:t>
            </a:r>
            <a:r>
              <a:rPr lang="en-US" sz="1800" b="1" dirty="0">
                <a:solidFill>
                  <a:schemeClr val="bg1"/>
                </a:solidFill>
              </a:rPr>
              <a:t>Use this template”, </a:t>
            </a:r>
            <a:r>
              <a:rPr lang="en-US" sz="1800" b="1" dirty="0" err="1">
                <a:solidFill>
                  <a:schemeClr val="bg1"/>
                </a:solidFill>
              </a:rPr>
              <a:t>potem</a:t>
            </a:r>
            <a:r>
              <a:rPr lang="en-US" sz="1800" b="1" dirty="0">
                <a:solidFill>
                  <a:schemeClr val="bg1"/>
                </a:solidFill>
              </a:rPr>
              <a:t> “Create a new repository”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898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publiczne  -  nazwa: devops-lesson-1-&lt;twojeimie&gt;</a:t>
            </a:r>
            <a:endParaRPr lang="en-US" sz="1400" dirty="0"/>
          </a:p>
        </p:txBody>
      </p:sp>
      <p:sp>
        <p:nvSpPr>
          <p:cNvPr id="15" name="step 4 circle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2735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Kliknij</a:t>
            </a:r>
            <a:r>
              <a:rPr lang="en-US" sz="1800" b="1" dirty="0">
                <a:solidFill>
                  <a:schemeClr val="bg1"/>
                </a:solidFill>
              </a:rPr>
              <a:t> “Code”, </a:t>
            </a:r>
            <a:r>
              <a:rPr lang="en-US" sz="1800" b="1" dirty="0" err="1">
                <a:solidFill>
                  <a:schemeClr val="bg1"/>
                </a:solidFill>
              </a:rPr>
              <a:t>potem</a:t>
            </a:r>
            <a:r>
              <a:rPr lang="en-US" sz="1800" b="1" dirty="0">
                <a:solidFill>
                  <a:schemeClr val="bg1"/>
                </a:solidFill>
              </a:rPr>
              <a:t> “</a:t>
            </a:r>
            <a:r>
              <a:rPr lang="en-US" sz="1800" b="1" dirty="0" err="1">
                <a:solidFill>
                  <a:schemeClr val="bg1"/>
                </a:solidFill>
              </a:rPr>
              <a:t>Codespaces</a:t>
            </a:r>
            <a:r>
              <a:rPr lang="en-US" sz="1800" b="1" dirty="0">
                <a:solidFill>
                  <a:schemeClr val="bg1"/>
                </a:solidFill>
              </a:rPr>
              <a:t>”, </a:t>
            </a:r>
            <a:r>
              <a:rPr lang="en-US" sz="1800" b="1" dirty="0" err="1">
                <a:solidFill>
                  <a:schemeClr val="bg1"/>
                </a:solidFill>
              </a:rPr>
              <a:t>potem</a:t>
            </a:r>
            <a:r>
              <a:rPr lang="en-US" sz="1800" b="1" dirty="0">
                <a:solidFill>
                  <a:schemeClr val="bg1"/>
                </a:solidFill>
              </a:rPr>
              <a:t> “Create codespace on main”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584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Uruchamia się 1-2 minuty. Słuchaj dalej.</a:t>
            </a:r>
            <a:endParaRPr lang="en-US" sz="1400" dirty="0"/>
          </a:p>
        </p:txBody>
      </p:sp>
      <p:sp>
        <p:nvSpPr>
          <p:cNvPr id="19" name="step 5 circle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959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Kliknij swój aktywny codespace, żeby otworzyć go w edytorze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Otwiera się w przeglądarce, razem z terminalem.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 warsztatach</a:t>
            </a:r>
            <a:endParaRPr lang="en-US" sz="3400" dirty="0"/>
          </a:p>
        </p:txBody>
      </p:sp>
      <p:sp>
        <p:nvSpPr>
          <p:cNvPr id="4" name="contact card"/>
          <p:cNvSpPr/>
          <p:nvPr/>
        </p:nvSpPr>
        <p:spPr>
          <a:xfrm>
            <a:off x="548640" y="128016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Prowadzący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Jakub Załucki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zaluckij@uek.krakow.pl</a:t>
            </a:r>
            <a:endParaRPr lang="en-US" sz="1600" dirty="0"/>
          </a:p>
        </p:txBody>
      </p:sp>
      <p:sp>
        <p:nvSpPr>
          <p:cNvPr id="8" name="attendance card"/>
          <p:cNvSpPr/>
          <p:nvPr/>
        </p:nvSpPr>
        <p:spPr>
          <a:xfrm>
            <a:off x="4663440" y="128016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892040" y="13716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50%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371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obecności wymagane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Każde spotkanie</a:t>
            </a:r>
            <a:endParaRPr lang="en-US" sz="1400" dirty="0"/>
          </a:p>
        </p:txBody>
      </p:sp>
      <p:sp>
        <p:nvSpPr>
          <p:cNvPr id="12" name="block 45"/>
          <p:cNvSpPr/>
          <p:nvPr/>
        </p:nvSpPr>
        <p:spPr>
          <a:xfrm>
            <a:off x="548640" y="3063240"/>
            <a:ext cx="4023360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block break"/>
          <p:cNvSpPr/>
          <p:nvPr/>
        </p:nvSpPr>
        <p:spPr>
          <a:xfrm>
            <a:off x="3177152" y="3063240"/>
            <a:ext cx="447040" cy="73152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lock 40"/>
          <p:cNvSpPr/>
          <p:nvPr/>
        </p:nvSpPr>
        <p:spPr>
          <a:xfrm>
            <a:off x="5019040" y="3063240"/>
            <a:ext cx="3576320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4864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60 </a:t>
            </a:r>
            <a:r>
              <a:rPr lang="en-US" sz="2000" b="1" dirty="0" err="1">
                <a:solidFill>
                  <a:schemeClr val="bg1"/>
                </a:solidFill>
              </a:rPr>
              <a:t>minut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019040" y="3063240"/>
            <a:ext cx="357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60 </a:t>
            </a:r>
            <a:r>
              <a:rPr lang="en-US" sz="2000" b="1" dirty="0" err="1">
                <a:solidFill>
                  <a:schemeClr val="bg1"/>
                </a:solidFill>
              </a:rPr>
              <a:t>minut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3011491" y="3931920"/>
            <a:ext cx="99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przerwa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block break">
            <a:extLst>
              <a:ext uri="{FF2B5EF4-FFF2-40B4-BE49-F238E27FC236}">
                <a16:creationId xmlns:a16="http://schemas.microsoft.com/office/drawing/2014/main" id="{9327A9EC-72CF-0BA1-D4FD-D430D6139F9E}"/>
              </a:ext>
            </a:extLst>
          </p:cNvPr>
          <p:cNvSpPr/>
          <p:nvPr/>
        </p:nvSpPr>
        <p:spPr>
          <a:xfrm>
            <a:off x="5805664" y="3063240"/>
            <a:ext cx="447040" cy="73152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block 45">
            <a:extLst>
              <a:ext uri="{FF2B5EF4-FFF2-40B4-BE49-F238E27FC236}">
                <a16:creationId xmlns:a16="http://schemas.microsoft.com/office/drawing/2014/main" id="{FF7E9832-62EE-F91B-65A7-003250D6E809}"/>
              </a:ext>
            </a:extLst>
          </p:cNvPr>
          <p:cNvSpPr/>
          <p:nvPr/>
        </p:nvSpPr>
        <p:spPr>
          <a:xfrm>
            <a:off x="4149583" y="3063240"/>
            <a:ext cx="1143777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82E0E430-830C-64EF-8DA0-1CB8C09BCDC2}"/>
              </a:ext>
            </a:extLst>
          </p:cNvPr>
          <p:cNvSpPr txBox="1"/>
          <p:nvPr/>
        </p:nvSpPr>
        <p:spPr>
          <a:xfrm>
            <a:off x="278892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60 </a:t>
            </a:r>
            <a:r>
              <a:rPr lang="en-US" sz="2000" b="1" dirty="0" err="1">
                <a:solidFill>
                  <a:schemeClr val="bg1"/>
                </a:solidFill>
              </a:rPr>
              <a:t>minut</a:t>
            </a:r>
            <a:endParaRPr lang="en-US" sz="20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B1775631-09DF-9B41-AB25-376AAB1732D4}"/>
              </a:ext>
            </a:extLst>
          </p:cNvPr>
          <p:cNvSpPr txBox="1"/>
          <p:nvPr/>
        </p:nvSpPr>
        <p:spPr>
          <a:xfrm>
            <a:off x="5405120" y="3931920"/>
            <a:ext cx="99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przerwa</a:t>
            </a:r>
            <a:endParaRPr lang="en-US" sz="14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5D271DDA-92FA-01FC-F30A-EEEAF660310F}"/>
              </a:ext>
            </a:extLst>
          </p:cNvPr>
          <p:cNvSpPr txBox="1"/>
          <p:nvPr/>
        </p:nvSpPr>
        <p:spPr>
          <a:xfrm>
            <a:off x="1571872" y="305168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 </a:t>
            </a:r>
          </a:p>
          <a:p>
            <a:pPr marL="0" indent="0" algn="ctr"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minut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DECEC8E0-2D09-E9CF-404C-21E9066392C9}"/>
              </a:ext>
            </a:extLst>
          </p:cNvPr>
          <p:cNvSpPr txBox="1"/>
          <p:nvPr/>
        </p:nvSpPr>
        <p:spPr>
          <a:xfrm>
            <a:off x="4206240" y="30401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 </a:t>
            </a:r>
          </a:p>
          <a:p>
            <a:pPr marL="0" indent="0" algn="ctr"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minut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chemeClr val="tx1"/>
                </a:solidFill>
              </a:rPr>
              <a:t>Ocenianie</a:t>
            </a:r>
            <a:r>
              <a:rPr lang="en-US" sz="3400" b="1" dirty="0">
                <a:solidFill>
                  <a:schemeClr val="tx1"/>
                </a:solidFill>
              </a:rPr>
              <a:t> I </a:t>
            </a:r>
            <a:r>
              <a:rPr lang="en-US" sz="3400" b="1" dirty="0" err="1">
                <a:solidFill>
                  <a:schemeClr val="tx1"/>
                </a:solidFill>
              </a:rPr>
              <a:t>egzamin</a:t>
            </a:r>
            <a:endParaRPr lang="en-US" sz="3400" dirty="0"/>
          </a:p>
        </p:txBody>
      </p:sp>
      <p:sp>
        <p:nvSpPr>
          <p:cNvPr id="4" name="exam card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Ustny egzamin z oceną</a:t>
            </a:r>
            <a:endParaRPr lang="en-US" sz="2200" dirty="0"/>
          </a:p>
        </p:txBody>
      </p:sp>
      <p:sp>
        <p:nvSpPr>
          <p:cNvPr id="6" name="exam 1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Jedno pytanie na wiedzę</a:t>
            </a:r>
            <a:endParaRPr lang="en-US" sz="1600" dirty="0"/>
          </a:p>
        </p:txBody>
      </p:sp>
      <p:sp>
        <p:nvSpPr>
          <p:cNvPr id="9" name="exam 2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772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834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Jedno pytanie o teoretyczny scenariusz</a:t>
            </a:r>
            <a:endParaRPr lang="en-US" sz="1600" dirty="0"/>
          </a:p>
        </p:txBody>
      </p:sp>
      <p:sp>
        <p:nvSpPr>
          <p:cNvPr id="12" name="exam 3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Jedno pytanie o code review</a:t>
            </a:r>
            <a:endParaRPr lang="en-US" sz="1600" dirty="0"/>
          </a:p>
        </p:txBody>
      </p:sp>
      <p:sp>
        <p:nvSpPr>
          <p:cNvPr id="15" name="outcomes card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 kursie potrafisz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192024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Pracować z Git i GitHub w zespole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Zbudować i wyjaśnić pipeline CI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Uruchamiać aplikacje w Dockerze i Compose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Dodawać bramki jakości i bezpieczeństwa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Opisywać infrastrukturę jako kod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Wyjaśnić, zweryfikować i naprawić to wszystko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Dev </a:t>
            </a:r>
            <a:r>
              <a:rPr lang="en-US" sz="3400" b="1" dirty="0" err="1">
                <a:solidFill>
                  <a:schemeClr val="tx1"/>
                </a:solidFill>
              </a:rPr>
              <a:t>i</a:t>
            </a:r>
            <a:r>
              <a:rPr lang="en-US" sz="3400" b="1" dirty="0">
                <a:solidFill>
                  <a:schemeClr val="tx1"/>
                </a:solidFill>
              </a:rPr>
              <a:t> Ops</a:t>
            </a:r>
            <a:endParaRPr lang="en-US" sz="3400" dirty="0"/>
          </a:p>
        </p:txBody>
      </p:sp>
      <p:sp>
        <p:nvSpPr>
          <p:cNvPr id="4" name="dev box"/>
          <p:cNvSpPr/>
          <p:nvPr/>
        </p:nvSpPr>
        <p:spPr>
          <a:xfrm>
            <a:off x="54864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Dev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Szybkie zmiany</a:t>
            </a:r>
            <a:endParaRPr lang="en-US" sz="1800" dirty="0"/>
          </a:p>
        </p:txBody>
      </p:sp>
      <p:sp>
        <p:nvSpPr>
          <p:cNvPr id="7" name="wall"/>
          <p:cNvSpPr/>
          <p:nvPr/>
        </p:nvSpPr>
        <p:spPr>
          <a:xfrm>
            <a:off x="4297680" y="1188720"/>
            <a:ext cx="548640" cy="173736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ops box"/>
          <p:cNvSpPr/>
          <p:nvPr/>
        </p:nvSpPr>
        <p:spPr>
          <a:xfrm>
            <a:off x="59436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94360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Ops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Utrzymać stabilność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017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i="1" dirty="0">
                <a:solidFill>
                  <a:schemeClr val="accent6"/>
                </a:solidFill>
              </a:rPr>
              <a:t>„U mnie działa.”</a:t>
            </a:r>
            <a:endParaRPr lang="en-US" sz="2200" dirty="0"/>
          </a:p>
        </p:txBody>
      </p:sp>
      <p:sp>
        <p:nvSpPr>
          <p:cNvPr id="12" name="devops banner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3657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DevOps </a:t>
            </a:r>
            <a:r>
              <a:rPr lang="en-US" sz="2000" b="1" dirty="0" err="1">
                <a:solidFill>
                  <a:schemeClr val="accent1"/>
                </a:solidFill>
              </a:rPr>
              <a:t>usuwa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niejasności</a:t>
            </a:r>
            <a:r>
              <a:rPr lang="en-US" sz="2000" b="1" dirty="0">
                <a:solidFill>
                  <a:schemeClr val="accent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jeden zespół odpowiada za drogę od commita do działającej usługi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Pętla DevOps</a:t>
            </a:r>
            <a:endParaRPr lang="en-US" sz="3400" dirty="0"/>
          </a:p>
        </p:txBody>
      </p:sp>
      <p:sp>
        <p:nvSpPr>
          <p:cNvPr id="4" name="loop ring"/>
          <p:cNvSpPr/>
          <p:nvPr/>
        </p:nvSpPr>
        <p:spPr>
          <a:xfrm>
            <a:off x="1005840" y="1554480"/>
            <a:ext cx="3017520" cy="2743200"/>
          </a:xfrm>
          <a:prstGeom prst="ellipse">
            <a:avLst/>
          </a:prstGeom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loop Plan"/>
          <p:cNvSpPr/>
          <p:nvPr/>
        </p:nvSpPr>
        <p:spPr>
          <a:xfrm>
            <a:off x="2011680" y="1362456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2011680" y="13624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</a:t>
            </a:r>
            <a:endParaRPr lang="en-US" sz="1400" dirty="0"/>
          </a:p>
        </p:txBody>
      </p:sp>
      <p:sp>
        <p:nvSpPr>
          <p:cNvPr id="7" name="loop Kod"/>
          <p:cNvSpPr/>
          <p:nvPr/>
        </p:nvSpPr>
        <p:spPr>
          <a:xfrm>
            <a:off x="3078534" y="1764188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078534" y="17641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Kod</a:t>
            </a:r>
            <a:endParaRPr lang="en-US" sz="1400" dirty="0"/>
          </a:p>
        </p:txBody>
      </p:sp>
      <p:sp>
        <p:nvSpPr>
          <p:cNvPr id="9" name="loop Build"/>
          <p:cNvSpPr/>
          <p:nvPr/>
        </p:nvSpPr>
        <p:spPr>
          <a:xfrm>
            <a:off x="3520440" y="2734056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520440" y="2734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loop Test"/>
          <p:cNvSpPr/>
          <p:nvPr/>
        </p:nvSpPr>
        <p:spPr>
          <a:xfrm>
            <a:off x="3078534" y="3703924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078534" y="37039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Test</a:t>
            </a:r>
            <a:endParaRPr lang="en-US" sz="1400" dirty="0"/>
          </a:p>
        </p:txBody>
      </p:sp>
      <p:sp>
        <p:nvSpPr>
          <p:cNvPr id="13" name="loop Release"/>
          <p:cNvSpPr/>
          <p:nvPr/>
        </p:nvSpPr>
        <p:spPr>
          <a:xfrm>
            <a:off x="2011680" y="4105656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011680" y="41056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Release</a:t>
            </a:r>
            <a:endParaRPr lang="en-US" sz="1400" dirty="0"/>
          </a:p>
        </p:txBody>
      </p:sp>
      <p:sp>
        <p:nvSpPr>
          <p:cNvPr id="15" name="loop Deploy"/>
          <p:cNvSpPr/>
          <p:nvPr/>
        </p:nvSpPr>
        <p:spPr>
          <a:xfrm>
            <a:off x="944826" y="3703924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44826" y="37039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Deploy</a:t>
            </a:r>
            <a:endParaRPr lang="en-US" sz="1400" dirty="0"/>
          </a:p>
        </p:txBody>
      </p:sp>
      <p:sp>
        <p:nvSpPr>
          <p:cNvPr id="17" name="loop Obsługa"/>
          <p:cNvSpPr/>
          <p:nvPr/>
        </p:nvSpPr>
        <p:spPr>
          <a:xfrm>
            <a:off x="502920" y="2734056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02920" y="2734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Obsługa</a:t>
            </a:r>
            <a:endParaRPr lang="en-US" sz="1400" dirty="0"/>
          </a:p>
        </p:txBody>
      </p:sp>
      <p:sp>
        <p:nvSpPr>
          <p:cNvPr id="19" name="loop Monitoring"/>
          <p:cNvSpPr/>
          <p:nvPr/>
        </p:nvSpPr>
        <p:spPr>
          <a:xfrm>
            <a:off x="944826" y="1764188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44826" y="17641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8308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6"/>
                </a:solidFill>
              </a:rPr>
              <a:t>jedna pętla,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accent6"/>
                </a:solidFill>
              </a:rPr>
              <a:t>jeden zespół</a:t>
            </a:r>
            <a:endParaRPr lang="en-US" sz="1600" dirty="0"/>
          </a:p>
        </p:txBody>
      </p:sp>
      <p:sp>
        <p:nvSpPr>
          <p:cNvPr id="22" name="def CI"/>
          <p:cNvSpPr/>
          <p:nvPr/>
        </p:nvSpPr>
        <p:spPr>
          <a:xfrm>
            <a:off x="4937760" y="1280160"/>
            <a:ext cx="3657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120640" y="1371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CI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12064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Każda zmiana jest automatycznie budowana i testowana.</a:t>
            </a:r>
            <a:endParaRPr lang="en-US" sz="1400" dirty="0"/>
          </a:p>
        </p:txBody>
      </p:sp>
      <p:sp>
        <p:nvSpPr>
          <p:cNvPr id="25" name="def CD"/>
          <p:cNvSpPr/>
          <p:nvPr/>
        </p:nvSpPr>
        <p:spPr>
          <a:xfrm>
            <a:off x="4937760" y="2423160"/>
            <a:ext cx="3657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120640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CD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12064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Każda zmiana, która przejdzie, jest automatycznie wydawana.</a:t>
            </a:r>
            <a:endParaRPr lang="en-US" sz="1400" dirty="0"/>
          </a:p>
        </p:txBody>
      </p:sp>
      <p:sp>
        <p:nvSpPr>
          <p:cNvPr id="28" name="def GitHub Actions"/>
          <p:cNvSpPr/>
          <p:nvPr/>
        </p:nvSpPr>
        <p:spPr>
          <a:xfrm>
            <a:off x="4937760" y="3566160"/>
            <a:ext cx="3657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120640" y="3657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GitHub Actions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12064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Plik w twoim repozytorium, który GitHub uruchamia, gdy coś się wydarzy.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Jak to mierzymy i do kogo pasuje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Częstotliwość wdrożeń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697480" y="1280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Czas realizacji zmiany</a:t>
            </a:r>
            <a:endParaRPr lang="en-US" sz="1600" dirty="0"/>
          </a:p>
        </p:txBody>
      </p:sp>
      <p:sp>
        <p:nvSpPr>
          <p:cNvPr id="12" name="likely card"/>
          <p:cNvSpPr/>
          <p:nvPr/>
        </p:nvSpPr>
        <p:spPr>
          <a:xfrm>
            <a:off x="548640" y="1051560"/>
            <a:ext cx="3931920" cy="31546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77240" y="11201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Spotkasz tę pracę jako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1508760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Deweloper backendu i API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Inżynier platform lub chmury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Inżynier SRE lub bezpieczeństwa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Inżynier ML</a:t>
            </a:r>
            <a:endParaRPr lang="en-US" sz="1600" dirty="0"/>
          </a:p>
        </p:txBody>
      </p:sp>
      <p:sp>
        <p:nvSpPr>
          <p:cNvPr id="15" name="less likely card"/>
          <p:cNvSpPr/>
          <p:nvPr/>
        </p:nvSpPr>
        <p:spPr>
          <a:xfrm>
            <a:off x="4663440" y="1028700"/>
            <a:ext cx="3931920" cy="31775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892040" y="11658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Rzadziej, ale też się przydaje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160020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Czysty UI lub design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Kod badawczy, który nie trafia na produkcję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Samotne projekty hobbystyczne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AI na tych warsztatach</a:t>
            </a:r>
            <a:endParaRPr lang="en-US" sz="3400" dirty="0"/>
          </a:p>
        </p:txBody>
      </p:sp>
      <p:sp>
        <p:nvSpPr>
          <p:cNvPr id="4" name="robot circle"/>
          <p:cNvSpPr/>
          <p:nvPr/>
        </p:nvSpPr>
        <p:spPr>
          <a:xfrm>
            <a:off x="640080" y="1737360"/>
            <a:ext cx="1371600" cy="137160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robot image" descr="FaRob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8026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77440" y="15087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jest dozwolone.</a:t>
            </a:r>
            <a:endParaRPr lang="en-US" sz="3800" dirty="0"/>
          </a:p>
        </p:txBody>
      </p:sp>
      <p:sp>
        <p:nvSpPr>
          <p:cNvPr id="7" name="Text 3"/>
          <p:cNvSpPr txBox="1"/>
          <p:nvPr/>
        </p:nvSpPr>
        <p:spPr>
          <a:xfrm>
            <a:off x="2377440" y="22860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Ślepe kopiuj-wklej nie.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chemeClr val="bg1"/>
                </a:solidFill>
              </a:rPr>
              <a:t>Nie umiesz wyjaśnić? Nie wypuszczaj.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Trzy pytania przed użyciem AI</a:t>
            </a:r>
            <a:endParaRPr lang="en-US" sz="3400" dirty="0"/>
          </a:p>
        </p:txBody>
      </p:sp>
      <p:sp>
        <p:nvSpPr>
          <p:cNvPr id="4" name="q card 1"/>
          <p:cNvSpPr/>
          <p:nvPr/>
        </p:nvSpPr>
        <p:spPr>
          <a:xfrm>
            <a:off x="548640" y="1280160"/>
            <a:ext cx="2560320" cy="33375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q 1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65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Czy mogę i powinienem użyć do tego AI?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Tak: </a:t>
            </a:r>
            <a:r>
              <a:rPr lang="en-US" sz="1600" dirty="0">
                <a:solidFill>
                  <a:schemeClr val="tx1"/>
                </a:solidFill>
              </a:rPr>
              <a:t>zamień mój działający docker run w plik compose.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Nie: </a:t>
            </a:r>
            <a:r>
              <a:rPr lang="en-US" sz="1600" dirty="0">
                <a:solidFill>
                  <a:schemeClr val="tx1"/>
                </a:solidFill>
              </a:rPr>
              <a:t>zaprojektuj mi architekturę od zera.</a:t>
            </a:r>
            <a:endParaRPr lang="en-US" sz="1600" dirty="0"/>
          </a:p>
        </p:txBody>
      </p:sp>
      <p:sp>
        <p:nvSpPr>
          <p:cNvPr id="9" name="q card 2"/>
          <p:cNvSpPr/>
          <p:nvPr/>
        </p:nvSpPr>
        <p:spPr>
          <a:xfrm>
            <a:off x="3383280" y="1280160"/>
            <a:ext cx="2560320" cy="33375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q 2 badge"/>
          <p:cNvSpPr/>
          <p:nvPr/>
        </p:nvSpPr>
        <p:spPr>
          <a:xfrm>
            <a:off x="356616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5661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1965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Czy ufam wynikowi i go rozumiem?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9260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system prune -af --volumes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Czy umiesz powiedzieć, co usuwa? Wolumeny to twoje dane.</a:t>
            </a:r>
            <a:endParaRPr lang="en-US" sz="1600" dirty="0"/>
          </a:p>
        </p:txBody>
      </p:sp>
      <p:sp>
        <p:nvSpPr>
          <p:cNvPr id="14" name="q card 3"/>
          <p:cNvSpPr/>
          <p:nvPr/>
        </p:nvSpPr>
        <p:spPr>
          <a:xfrm>
            <a:off x="6217920" y="1280160"/>
            <a:ext cx="2560320" cy="33375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q 3 badge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1965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Jak zweryfikować, zmodyfikować, naprawić?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29260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Uruchom w bezpiecznym miejscu.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Sprawdź każdą flagę w dokumentacji.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sprawdzające AI się nie liczy.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 czym AI jest dobre, a w czym złe</a:t>
            </a:r>
            <a:endParaRPr lang="en-US" sz="3400" dirty="0"/>
          </a:p>
        </p:txBody>
      </p:sp>
      <p:sp>
        <p:nvSpPr>
          <p:cNvPr id="4" name="Dobre w card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Dobre w circle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Dobre w image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Dobre w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Boilerplate i składnia, której nie pamiętasz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Implementacja projektu, który już zrobiłeś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Wyjaśnianie błędu, dla którego znasz kontekst</a:t>
            </a:r>
            <a:endParaRPr lang="en-US" sz="1800" dirty="0"/>
          </a:p>
        </p:txBody>
      </p:sp>
      <p:sp>
        <p:nvSpPr>
          <p:cNvPr id="9" name="Złe w card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Złe w circle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D124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Złe w image" descr="FaTim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002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2356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Złe w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493776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Znajomość twojego repozytorium, stosu i ograniczeń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Wymyślanie architektury od zera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Wiedza, czy flaga lub action naprawdę istnieje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Demo: leniwy prompt</a:t>
            </a:r>
            <a:endParaRPr lang="en-US" sz="3400" dirty="0"/>
          </a:p>
        </p:txBody>
      </p:sp>
      <p:sp>
        <p:nvSpPr>
          <p:cNvPr id="4" name="prompt panel"/>
          <p:cNvSpPr/>
          <p:nvPr/>
        </p:nvSpPr>
        <p:spPr>
          <a:xfrm>
            <a:off x="548640" y="1280160"/>
            <a:ext cx="804672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417320"/>
            <a:ext cx="7498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Zadanie 2: Continuous Integration</a:t>
            </a:r>
            <a:endParaRPr lang="en-US" sz="1800" dirty="0"/>
          </a:p>
          <a:p>
            <a:pPr marL="0" indent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Skonfiguruj pipeline CI dla aplikacji. Pipeline ma zbudować aplikację, uruchomić testy, sprawdzić jakość kodu i zaraportować wyniki. Użyj GitHub Actions. Oddaj plik workflow.</a:t>
            </a:r>
            <a:endParaRPr lang="en-US" sz="1800" dirty="0"/>
          </a:p>
          <a:p>
            <a:pPr marL="0" indent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Napisz kompletny workflow GitHub Actions.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W jakim języku jest aplikacja?  Gdzie są testy?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To samo zadanie, z kontekstem</a:t>
            </a:r>
            <a:endParaRPr lang="en-US" sz="3400" dirty="0"/>
          </a:p>
        </p:txBody>
      </p:sp>
      <p:sp>
        <p:nvSpPr>
          <p:cNvPr id="4" name="lazy card"/>
          <p:cNvSpPr/>
          <p:nvPr/>
        </p:nvSpPr>
        <p:spPr>
          <a:xfrm>
            <a:off x="548640" y="1280160"/>
            <a:ext cx="39319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Leniwy prompt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37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Zadanie wklejone bez zmian. Bez języka, bez struktury, bez poleceń.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54 joby, wymyślone actions, testy, które nie mogą się wywalić</a:t>
            </a:r>
            <a:endParaRPr lang="en-US" sz="1600" dirty="0"/>
          </a:p>
        </p:txBody>
      </p:sp>
      <p:sp>
        <p:nvSpPr>
          <p:cNvPr id="8" name="context card"/>
          <p:cNvSpPr/>
          <p:nvPr/>
        </p:nvSpPr>
        <p:spPr>
          <a:xfrm>
            <a:off x="4663440" y="1280160"/>
            <a:ext cx="39319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8920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Prompt z kontekstem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737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Python 3.12, pytest, na push i PR, tylko oficjalne actions.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514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15 linii, które możesz przeczytać i wyjaśnić</a:t>
            </a:r>
            <a:endParaRPr lang="en-US" sz="1600" dirty="0"/>
          </a:p>
        </p:txBody>
      </p:sp>
      <p:sp>
        <p:nvSpPr>
          <p:cNvPr id="12" name="message banner"/>
          <p:cNvSpPr/>
          <p:nvPr/>
        </p:nvSpPr>
        <p:spPr>
          <a:xfrm>
            <a:off x="548640" y="3474720"/>
            <a:ext cx="804672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34747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Zrozumienie przypadku użycia, kontekstu i architektury to twoja robota. </a:t>
            </a:r>
            <a:r>
              <a:rPr lang="en-US" sz="2000" b="1" dirty="0">
                <a:solidFill>
                  <a:schemeClr val="accent1"/>
                </a:solidFill>
              </a:rPr>
              <a:t>AI może napisać kod szybciej, ale to ty decydujesz, jaki kod ma napisać.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chemeClr val="tx1"/>
                </a:solidFill>
              </a:rPr>
              <a:t>Szybka</a:t>
            </a:r>
            <a:r>
              <a:rPr lang="en-US" sz="3400" b="1" dirty="0">
                <a:solidFill>
                  <a:schemeClr val="tx1"/>
                </a:solidFill>
              </a:rPr>
              <a:t> </a:t>
            </a:r>
            <a:r>
              <a:rPr lang="en-US" sz="3400" b="1" dirty="0" err="1">
                <a:solidFill>
                  <a:schemeClr val="tx1"/>
                </a:solidFill>
              </a:rPr>
              <a:t>ankieta</a:t>
            </a:r>
            <a:r>
              <a:rPr lang="en-US" sz="3400" b="1" dirty="0">
                <a:solidFill>
                  <a:schemeClr val="tx1"/>
                </a:solidFill>
              </a:rPr>
              <a:t> (po </a:t>
            </a:r>
            <a:r>
              <a:rPr lang="en-US" sz="3400" b="1" dirty="0" err="1">
                <a:solidFill>
                  <a:schemeClr val="tx1"/>
                </a:solidFill>
              </a:rPr>
              <a:t>angielsku</a:t>
            </a:r>
            <a:r>
              <a:rPr lang="en-US" sz="3400" b="1" dirty="0">
                <a:solidFill>
                  <a:schemeClr val="tx1"/>
                </a:solidFill>
              </a:rPr>
              <a:t>): 5 minut, na telefonie</a:t>
            </a:r>
            <a:endParaRPr lang="en-US" sz="3400" dirty="0"/>
          </a:p>
        </p:txBody>
      </p:sp>
      <p:sp>
        <p:nvSpPr>
          <p:cNvPr id="4" name="qr card"/>
          <p:cNvSpPr/>
          <p:nvPr/>
        </p:nvSpPr>
        <p:spPr>
          <a:xfrm>
            <a:off x="548640" y="1280160"/>
            <a:ext cx="32918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survey qr" descr="Kod QR prowadzący do formularza ankie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3017520" cy="3017520"/>
          </a:xfrm>
          <a:prstGeom prst="rect">
            <a:avLst/>
          </a:prstGeom>
        </p:spPr>
      </p:pic>
      <p:sp>
        <p:nvSpPr>
          <p:cNvPr id="6" name="Jakich język circle"/>
          <p:cNvSpPr/>
          <p:nvPr/>
        </p:nvSpPr>
        <p:spPr>
          <a:xfrm>
            <a:off x="4206240" y="1371600"/>
            <a:ext cx="640080" cy="64008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Jakich język image" descr="FaC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15316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029200" y="1371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Jakich języków i frameworków używasz</a:t>
            </a:r>
            <a:endParaRPr lang="en-US" sz="2000" dirty="0"/>
          </a:p>
        </p:txBody>
      </p:sp>
      <p:sp>
        <p:nvSpPr>
          <p:cNvPr id="9" name="Czy masz pro circle"/>
          <p:cNvSpPr/>
          <p:nvPr/>
        </p:nvSpPr>
        <p:spPr>
          <a:xfrm>
            <a:off x="4206240" y="2286000"/>
            <a:ext cx="640080" cy="64008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Czy masz pro image" descr="FaServ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244602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029200" y="2286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Czy masz projekt backendowy</a:t>
            </a:r>
            <a:endParaRPr lang="en-US" sz="2000" dirty="0"/>
          </a:p>
        </p:txBody>
      </p:sp>
      <p:sp>
        <p:nvSpPr>
          <p:cNvPr id="12" name="W którą stro circle"/>
          <p:cNvSpPr/>
          <p:nvPr/>
        </p:nvSpPr>
        <p:spPr>
          <a:xfrm>
            <a:off x="4206240" y="3200400"/>
            <a:ext cx="640080" cy="64008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W którą stro image" descr="FaRock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260" y="336042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029200" y="3200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 którą stronę chcesz iść</a:t>
            </a:r>
            <a:endParaRPr lang="en-US" sz="2000" dirty="0"/>
          </a:p>
        </p:txBody>
      </p:sp>
      <p:sp>
        <p:nvSpPr>
          <p:cNvPr id="15" name="Text 8"/>
          <p:cNvSpPr txBox="1"/>
          <p:nvPr/>
        </p:nvSpPr>
        <p:spPr>
          <a:xfrm>
            <a:off x="4206240" y="4069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Po tym wybiorę przykładową aplikację, więc muszę wiedzieć, co umiesz.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 omówimy</a:t>
            </a:r>
            <a:endParaRPr lang="en-US" sz="3400" dirty="0"/>
          </a:p>
        </p:txBody>
      </p:sp>
      <p:sp>
        <p:nvSpPr>
          <p:cNvPr id="4" name="topic Kontrola wersji"/>
          <p:cNvSpPr/>
          <p:nvPr/>
        </p:nvSpPr>
        <p:spPr>
          <a:xfrm>
            <a:off x="548640" y="128016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Kontrola wersji circle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Kontrola wersji image" descr="FaCodeBran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3162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Kontrola wersji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Git, GitHub, pull requesty</a:t>
            </a:r>
            <a:endParaRPr lang="en-US" sz="1200" dirty="0"/>
          </a:p>
        </p:txBody>
      </p:sp>
      <p:sp>
        <p:nvSpPr>
          <p:cNvPr id="9" name="topic Continuous integration"/>
          <p:cNvSpPr/>
          <p:nvPr/>
        </p:nvSpPr>
        <p:spPr>
          <a:xfrm>
            <a:off x="2606040" y="128016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Continuous integration circle"/>
          <p:cNvSpPr/>
          <p:nvPr/>
        </p:nvSpPr>
        <p:spPr>
          <a:xfrm>
            <a:off x="2743200" y="1417320"/>
            <a:ext cx="457200" cy="45720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Continuous integration image" descr="FaSyn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153162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4320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Continuous integration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74320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Automatyczne testy z GitHub Actions</a:t>
            </a:r>
            <a:endParaRPr lang="en-US" sz="1200" dirty="0"/>
          </a:p>
        </p:txBody>
      </p:sp>
      <p:sp>
        <p:nvSpPr>
          <p:cNvPr id="14" name="topic Continuous delivery"/>
          <p:cNvSpPr/>
          <p:nvPr/>
        </p:nvSpPr>
        <p:spPr>
          <a:xfrm>
            <a:off x="4663440" y="128016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Continuous delivery circle"/>
          <p:cNvSpPr/>
          <p:nvPr/>
        </p:nvSpPr>
        <p:spPr>
          <a:xfrm>
            <a:off x="4800600" y="1417320"/>
            <a:ext cx="457200" cy="45720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Continuous delivery image" descr="FaRoc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15316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0060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Continuous delivery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80060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Raporty i dokumentacja API na GitHub Pages</a:t>
            </a:r>
            <a:endParaRPr lang="en-US" sz="1200" dirty="0"/>
          </a:p>
        </p:txBody>
      </p:sp>
      <p:sp>
        <p:nvSpPr>
          <p:cNvPr id="19" name="topic Kontenery"/>
          <p:cNvSpPr/>
          <p:nvPr/>
        </p:nvSpPr>
        <p:spPr>
          <a:xfrm>
            <a:off x="6720840" y="128016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Kontenery circle"/>
          <p:cNvSpPr/>
          <p:nvPr/>
        </p:nvSpPr>
        <p:spPr>
          <a:xfrm>
            <a:off x="6858000" y="1417320"/>
            <a:ext cx="457200" cy="45720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Kontenery image" descr="FaDoc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15316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5800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Kontenery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858000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Obrazy i kontenery Dockera</a:t>
            </a:r>
            <a:endParaRPr lang="en-US" sz="1200" dirty="0"/>
          </a:p>
        </p:txBody>
      </p:sp>
      <p:sp>
        <p:nvSpPr>
          <p:cNvPr id="24" name="topic Aplikacje wieloserwisowe"/>
          <p:cNvSpPr/>
          <p:nvPr/>
        </p:nvSpPr>
        <p:spPr>
          <a:xfrm>
            <a:off x="548640" y="297180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Aplikacje wieloserwisowe circle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Aplikacje wieloserwisowe image" descr="FaLayerGrou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223260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5800" y="3611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Aplikacje wieloserwisowe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685800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Docker Compose</a:t>
            </a:r>
            <a:endParaRPr lang="en-US" sz="1200" dirty="0"/>
          </a:p>
        </p:txBody>
      </p:sp>
      <p:sp>
        <p:nvSpPr>
          <p:cNvPr id="29" name="topic Jakość i bezpieczeństwo"/>
          <p:cNvSpPr/>
          <p:nvPr/>
        </p:nvSpPr>
        <p:spPr>
          <a:xfrm>
            <a:off x="2606040" y="297180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Jakość i bezpieczeństwo circle"/>
          <p:cNvSpPr/>
          <p:nvPr/>
        </p:nvSpPr>
        <p:spPr>
          <a:xfrm>
            <a:off x="2743200" y="3108960"/>
            <a:ext cx="457200" cy="45720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Jakość i bezpieczeństwo image" descr="FaShieldAl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0" y="322326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743200" y="3611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Jakość i bezpieczeństwo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2743200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Linting, Trivy, Dependabot</a:t>
            </a:r>
            <a:endParaRPr lang="en-US" sz="1200" dirty="0"/>
          </a:p>
        </p:txBody>
      </p:sp>
      <p:sp>
        <p:nvSpPr>
          <p:cNvPr id="34" name="topic Infrastruktura jako kod"/>
          <p:cNvSpPr/>
          <p:nvPr/>
        </p:nvSpPr>
        <p:spPr>
          <a:xfrm>
            <a:off x="4663440" y="297180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Infrastruktura jako kod circle"/>
          <p:cNvSpPr/>
          <p:nvPr/>
        </p:nvSpPr>
        <p:spPr>
          <a:xfrm>
            <a:off x="4800600" y="3108960"/>
            <a:ext cx="457200" cy="45720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nfrastruktura jako kod image" descr="FaServe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3223260"/>
            <a:ext cx="228600" cy="2286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800600" y="3611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Infrastruktura jako kod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4800600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Terraform</a:t>
            </a:r>
            <a:endParaRPr lang="en-US" sz="1200" dirty="0"/>
          </a:p>
        </p:txBody>
      </p:sp>
      <p:sp>
        <p:nvSpPr>
          <p:cNvPr id="39" name="topic Monitoring"/>
          <p:cNvSpPr/>
          <p:nvPr/>
        </p:nvSpPr>
        <p:spPr>
          <a:xfrm>
            <a:off x="6720840" y="2971800"/>
            <a:ext cx="1874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Monitoring circle"/>
          <p:cNvSpPr/>
          <p:nvPr/>
        </p:nvSpPr>
        <p:spPr>
          <a:xfrm>
            <a:off x="6858000" y="3108960"/>
            <a:ext cx="457200" cy="457200"/>
          </a:xfrm>
          <a:prstGeom prst="ellipse">
            <a:avLst/>
          </a:prstGeom>
          <a:solidFill>
            <a:srgbClr val="57606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Monitoring image" descr="FaChartLin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2300" y="3223260"/>
            <a:ext cx="228600" cy="22860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6858000" y="3611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43" name="Text 32"/>
          <p:cNvSpPr txBox="1"/>
          <p:nvPr/>
        </p:nvSpPr>
        <p:spPr>
          <a:xfrm>
            <a:off x="6858000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Jeśli starczy czasu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Nasz stack, od początku do końca</a:t>
            </a:r>
            <a:endParaRPr lang="en-US" sz="3400" dirty="0"/>
          </a:p>
        </p:txBody>
      </p:sp>
      <p:sp>
        <p:nvSpPr>
          <p:cNvPr id="4" name="flow Kod"/>
          <p:cNvSpPr/>
          <p:nvPr/>
        </p:nvSpPr>
        <p:spPr>
          <a:xfrm>
            <a:off x="548640" y="1280160"/>
            <a:ext cx="137160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Kod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Git + GitHub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>
            <a:off x="1947672" y="164592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flow Test"/>
          <p:cNvSpPr/>
          <p:nvPr/>
        </p:nvSpPr>
        <p:spPr>
          <a:xfrm>
            <a:off x="2217420" y="1280160"/>
            <a:ext cx="137160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21742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Test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21742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GitHub Actions</a:t>
            </a:r>
            <a:endParaRPr lang="en-US" sz="1400" dirty="0"/>
          </a:p>
        </p:txBody>
      </p:sp>
      <p:sp>
        <p:nvSpPr>
          <p:cNvPr id="11" name="arrow 2"/>
          <p:cNvSpPr/>
          <p:nvPr/>
        </p:nvSpPr>
        <p:spPr>
          <a:xfrm>
            <a:off x="3616452" y="164592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flow Pakowanie"/>
          <p:cNvSpPr/>
          <p:nvPr/>
        </p:nvSpPr>
        <p:spPr>
          <a:xfrm>
            <a:off x="3886200" y="1280160"/>
            <a:ext cx="137160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88620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Pakowanie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88620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Docker</a:t>
            </a:r>
            <a:endParaRPr lang="en-US" sz="1400" dirty="0"/>
          </a:p>
        </p:txBody>
      </p:sp>
      <p:sp>
        <p:nvSpPr>
          <p:cNvPr id="15" name="arrow 3"/>
          <p:cNvSpPr/>
          <p:nvPr/>
        </p:nvSpPr>
        <p:spPr>
          <a:xfrm>
            <a:off x="5285232" y="164592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flow Skan"/>
          <p:cNvSpPr/>
          <p:nvPr/>
        </p:nvSpPr>
        <p:spPr>
          <a:xfrm>
            <a:off x="5554980" y="1280160"/>
            <a:ext cx="137160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55498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Skan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55498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Trivy</a:t>
            </a:r>
            <a:endParaRPr lang="en-US" sz="1400" dirty="0"/>
          </a:p>
        </p:txBody>
      </p:sp>
      <p:sp>
        <p:nvSpPr>
          <p:cNvPr id="19" name="arrow 4"/>
          <p:cNvSpPr/>
          <p:nvPr/>
        </p:nvSpPr>
        <p:spPr>
          <a:xfrm>
            <a:off x="6954012" y="164592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flow Publikacja"/>
          <p:cNvSpPr/>
          <p:nvPr/>
        </p:nvSpPr>
        <p:spPr>
          <a:xfrm>
            <a:off x="7223760" y="1280160"/>
            <a:ext cx="137160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22376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Publikacja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GitHub Pages</a:t>
            </a:r>
            <a:endParaRPr lang="en-US" sz="1400" dirty="0"/>
          </a:p>
        </p:txBody>
      </p:sp>
      <p:sp>
        <p:nvSpPr>
          <p:cNvPr id="23" name="support Dependabot"/>
          <p:cNvSpPr/>
          <p:nvPr/>
        </p:nvSpPr>
        <p:spPr>
          <a:xfrm>
            <a:off x="548640" y="26060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315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Dependabot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Aktualizuje zależności i actions</a:t>
            </a:r>
            <a:endParaRPr lang="en-US" sz="1400" dirty="0"/>
          </a:p>
        </p:txBody>
      </p:sp>
      <p:sp>
        <p:nvSpPr>
          <p:cNvPr id="26" name="support Terraform"/>
          <p:cNvSpPr/>
          <p:nvPr/>
        </p:nvSpPr>
        <p:spPr>
          <a:xfrm>
            <a:off x="3291840" y="26060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34747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Terraform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Infrastruktura jako kod</a:t>
            </a:r>
            <a:endParaRPr lang="en-US" sz="1400" dirty="0"/>
          </a:p>
        </p:txBody>
      </p:sp>
      <p:sp>
        <p:nvSpPr>
          <p:cNvPr id="29" name="support Docker Compose"/>
          <p:cNvSpPr/>
          <p:nvPr/>
        </p:nvSpPr>
        <p:spPr>
          <a:xfrm>
            <a:off x="6035040" y="26060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62179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Docker Compose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2179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Uruchamia aplikacje wieloserwisowe</a:t>
            </a:r>
            <a:endParaRPr lang="en-US" sz="1400" dirty="0"/>
          </a:p>
        </p:txBody>
      </p:sp>
      <p:sp>
        <p:nvSpPr>
          <p:cNvPr id="32" name="runs in banner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822960" y="3840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Działa w GitHub Codespaces. </a:t>
            </a:r>
            <a:r>
              <a:rPr lang="en-US" sz="1800" b="1" dirty="0">
                <a:solidFill>
                  <a:schemeClr val="accent1"/>
                </a:solidFill>
              </a:rPr>
              <a:t>Wszystko mieszka w repozytorium.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Jak inżynier szuka dokumentacji</a:t>
            </a:r>
            <a:endParaRPr lang="en-US" sz="3400" dirty="0"/>
          </a:p>
        </p:txBody>
      </p:sp>
      <p:sp>
        <p:nvSpPr>
          <p:cNvPr id="4" name="Zacznij od o circle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Zacznij od o image" descr="Fa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1280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Zacznij od oficjalnej strony</a:t>
            </a:r>
            <a:endParaRPr lang="en-US" sz="1800" dirty="0"/>
          </a:p>
        </p:txBody>
      </p:sp>
      <p:sp>
        <p:nvSpPr>
          <p:cNvPr id="7" name="Najpierw prz circle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Najpierw prz image" descr="FaBo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031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Najpierw przeczytaj przykład, potem szczegóły</a:t>
            </a:r>
            <a:endParaRPr lang="en-US" sz="1800" dirty="0"/>
          </a:p>
        </p:txBody>
      </p:sp>
      <p:sp>
        <p:nvSpPr>
          <p:cNvPr id="10" name="Sprawdź tabe circle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Sprawdź tabe image" descr="FaSliders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8892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2651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Sprawdź tabelę opcji i flag</a:t>
            </a:r>
            <a:endParaRPr lang="en-US" sz="1800" dirty="0"/>
          </a:p>
        </p:txBody>
      </p:sp>
      <p:sp>
        <p:nvSpPr>
          <p:cNvPr id="13" name="Upewnij się, circle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Upewnij się, image" descr="FaCodeBranc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7472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3337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Upewnij się, że wersja zgadza się z twoją</a:t>
            </a:r>
            <a:endParaRPr lang="en-US" sz="1800" dirty="0"/>
          </a:p>
        </p:txBody>
      </p:sp>
      <p:sp>
        <p:nvSpPr>
          <p:cNvPr id="16" name="terminal panel"/>
          <p:cNvSpPr/>
          <p:nvPr/>
        </p:nvSpPr>
        <p:spPr>
          <a:xfrm>
            <a:off x="5486400" y="1280160"/>
            <a:ext cx="310896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 txBox="1"/>
          <p:nvPr/>
        </p:nvSpPr>
        <p:spPr>
          <a:xfrm>
            <a:off x="5715000" y="1463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--help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--help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--help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Używaj AI do wyjaśniania znalezionej strony, nie do jej szukania.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Sprawdzenie środowiska</a:t>
            </a:r>
            <a:endParaRPr lang="en-US" sz="3400" dirty="0"/>
          </a:p>
        </p:txBody>
      </p:sp>
      <p:sp>
        <p:nvSpPr>
          <p:cNvPr id="4" name="terminal panel"/>
          <p:cNvSpPr/>
          <p:nvPr/>
        </p:nvSpPr>
        <p:spPr>
          <a:xfrm>
            <a:off x="548640" y="1280160"/>
            <a:ext cx="8046720" cy="233172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41732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bash scripts/check-env.sh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  git --version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  python3 --version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  python3 -m pytest --version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  python3 -m pytest -q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600" dirty="0"/>
          </a:p>
        </p:txBody>
      </p:sp>
      <p:sp>
        <p:nvSpPr>
          <p:cNvPr id="6" name="help rule banner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3840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Potrzebujesz pomocy?  </a:t>
            </a:r>
            <a:r>
              <a:rPr lang="en-US" sz="2000" b="1" dirty="0">
                <a:solidFill>
                  <a:schemeClr val="tx1"/>
                </a:solidFill>
              </a:rPr>
              <a:t>repo demo  →  dokumentacja  →  podnieś rękę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Szybkie przypomnienie Gita</a:t>
            </a:r>
            <a:endParaRPr lang="en-US" sz="3400" dirty="0"/>
          </a:p>
        </p:txBody>
      </p:sp>
      <p:sp>
        <p:nvSpPr>
          <p:cNvPr id="4" name="commands panel"/>
          <p:cNvSpPr/>
          <p:nvPr/>
        </p:nvSpPr>
        <p:spPr>
          <a:xfrm>
            <a:off x="548640" y="1280160"/>
            <a:ext cx="493776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463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ci/&lt;twojeimie&gt;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dopisz swoje imię i datę do NOTES.md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-am "Add my name to notes"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ci/&lt;</a:t>
            </a:r>
            <a:r>
              <a:rPr lang="en-US" sz="1400" dirty="0" err="1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twojeimie</a:t>
            </a: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conflict card"/>
          <p:cNvSpPr/>
          <p:nvPr/>
        </p:nvSpPr>
        <p:spPr>
          <a:xfrm>
            <a:off x="5669280" y="1205802"/>
            <a:ext cx="2926080" cy="3366198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8521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Szybkie pytanie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5204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/>
              <a:t>Twój</a:t>
            </a:r>
            <a:r>
              <a:rPr lang="en-US" sz="1600" dirty="0"/>
              <a:t> me</a:t>
            </a:r>
            <a:r>
              <a:rPr lang="en-US" sz="1600" dirty="0">
                <a:solidFill>
                  <a:schemeClr val="tx1"/>
                </a:solidFill>
              </a:rPr>
              <a:t>rge </a:t>
            </a:r>
            <a:r>
              <a:rPr lang="en-US" sz="1600" dirty="0" err="1">
                <a:solidFill>
                  <a:schemeClr val="tx1"/>
                </a:solidFill>
              </a:rPr>
              <a:t>stworzył</a:t>
            </a:r>
            <a:r>
              <a:rPr lang="en-US" sz="1600" dirty="0">
                <a:solidFill>
                  <a:schemeClr val="tx1"/>
                </a:solidFill>
              </a:rPr>
              <a:t> konflikt. Jakie są twoje pierwsze </a:t>
            </a:r>
            <a:r>
              <a:rPr lang="en-US" sz="1600" dirty="0" err="1">
                <a:solidFill>
                  <a:schemeClr val="tx1"/>
                </a:solidFill>
              </a:rPr>
              <a:t>dwa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polecenia</a:t>
            </a:r>
            <a:r>
              <a:rPr lang="en-US" sz="1600" dirty="0">
                <a:solidFill>
                  <a:schemeClr val="tx1"/>
                </a:solidFill>
              </a:rPr>
              <a:t> w </a:t>
            </a:r>
            <a:r>
              <a:rPr lang="en-US" sz="1600" dirty="0" err="1">
                <a:solidFill>
                  <a:schemeClr val="tx1"/>
                </a:solidFill>
              </a:rPr>
              <a:t>terminalu</a:t>
            </a:r>
            <a:r>
              <a:rPr lang="en-US" sz="1600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Demo na żywo: CI dla projektu w bashu</a:t>
            </a:r>
            <a:endParaRPr lang="en-US" sz="3400" dirty="0"/>
          </a:p>
        </p:txBody>
      </p:sp>
      <p:sp>
        <p:nvSpPr>
          <p:cNvPr id="4" name="demo step 1"/>
          <p:cNvSpPr/>
          <p:nvPr/>
        </p:nvSpPr>
        <p:spPr>
          <a:xfrm>
            <a:off x="548640" y="132588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94360" y="1325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Napisz workflow</a:t>
            </a:r>
            <a:endParaRPr lang="en-US" sz="1600" dirty="0"/>
          </a:p>
        </p:txBody>
      </p:sp>
      <p:sp>
        <p:nvSpPr>
          <p:cNvPr id="6" name="demo arrow 1"/>
          <p:cNvSpPr/>
          <p:nvPr/>
        </p:nvSpPr>
        <p:spPr>
          <a:xfrm>
            <a:off x="1947672" y="1645920"/>
            <a:ext cx="246888" cy="274320"/>
          </a:xfrm>
          <a:prstGeom prst="rightArrow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demo step 2"/>
          <p:cNvSpPr/>
          <p:nvPr/>
        </p:nvSpPr>
        <p:spPr>
          <a:xfrm>
            <a:off x="2217420" y="132588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2263140" y="1325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Push</a:t>
            </a:r>
            <a:endParaRPr lang="en-US" sz="1600" dirty="0"/>
          </a:p>
        </p:txBody>
      </p:sp>
      <p:sp>
        <p:nvSpPr>
          <p:cNvPr id="9" name="demo arrow 2"/>
          <p:cNvSpPr/>
          <p:nvPr/>
        </p:nvSpPr>
        <p:spPr>
          <a:xfrm>
            <a:off x="3616452" y="1645920"/>
            <a:ext cx="246888" cy="274320"/>
          </a:xfrm>
          <a:prstGeom prst="rightArrow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demo step 3"/>
          <p:cNvSpPr/>
          <p:nvPr/>
        </p:nvSpPr>
        <p:spPr>
          <a:xfrm>
            <a:off x="3886200" y="132588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931920" y="1325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Zielony check</a:t>
            </a:r>
            <a:endParaRPr lang="en-US" sz="1600" dirty="0"/>
          </a:p>
        </p:txBody>
      </p:sp>
      <p:sp>
        <p:nvSpPr>
          <p:cNvPr id="12" name="demo arrow 3"/>
          <p:cNvSpPr/>
          <p:nvPr/>
        </p:nvSpPr>
        <p:spPr>
          <a:xfrm>
            <a:off x="5285232" y="1645920"/>
            <a:ext cx="246888" cy="274320"/>
          </a:xfrm>
          <a:prstGeom prst="rightArrow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demo step 4"/>
          <p:cNvSpPr/>
          <p:nvPr/>
        </p:nvSpPr>
        <p:spPr>
          <a:xfrm>
            <a:off x="5554980" y="132588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600700" y="1325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Zepsuj test</a:t>
            </a:r>
            <a:endParaRPr lang="en-US" sz="1600" dirty="0"/>
          </a:p>
        </p:txBody>
      </p:sp>
      <p:sp>
        <p:nvSpPr>
          <p:cNvPr id="15" name="demo arrow 4"/>
          <p:cNvSpPr/>
          <p:nvPr/>
        </p:nvSpPr>
        <p:spPr>
          <a:xfrm>
            <a:off x="6954012" y="1645920"/>
            <a:ext cx="246888" cy="274320"/>
          </a:xfrm>
          <a:prstGeom prst="rightArrow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demo step 5"/>
          <p:cNvSpPr/>
          <p:nvPr/>
        </p:nvSpPr>
        <p:spPr>
          <a:xfrm>
            <a:off x="7223760" y="132588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269480" y="1325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Czerwony, potem revert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903221"/>
            <a:ext cx="8001000" cy="2000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Patrz i rób notatki. Nie </a:t>
            </a:r>
            <a:r>
              <a:rPr lang="en-US" sz="2800" dirty="0" err="1">
                <a:solidFill>
                  <a:schemeClr val="bg1"/>
                </a:solidFill>
              </a:rPr>
              <a:t>pisz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kodu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razem</a:t>
            </a:r>
            <a:r>
              <a:rPr lang="en-US" sz="2800" dirty="0">
                <a:solidFill>
                  <a:schemeClr val="bg1"/>
                </a:solidFill>
              </a:rPr>
              <a:t> ze mną.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F5E30-17FC-9088-95BB-B6C3B276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3B75D0CB-DAFC-C56B-7F1D-28F596674578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chemeClr val="bg1"/>
                </a:solidFill>
              </a:rPr>
              <a:t>Zrób</a:t>
            </a:r>
            <a:r>
              <a:rPr lang="en-US" sz="3400" b="1" dirty="0">
                <a:solidFill>
                  <a:schemeClr val="bg1"/>
                </a:solidFill>
              </a:rPr>
              <a:t> </a:t>
            </a:r>
            <a:r>
              <a:rPr lang="en-US" sz="3400" b="1" dirty="0" err="1">
                <a:solidFill>
                  <a:schemeClr val="bg1"/>
                </a:solidFill>
              </a:rPr>
              <a:t>teraz</a:t>
            </a:r>
            <a:endParaRPr lang="en-US" sz="3400" dirty="0"/>
          </a:p>
        </p:txBody>
      </p:sp>
      <p:sp>
        <p:nvSpPr>
          <p:cNvPr id="4" name="step 1 circle">
            <a:extLst>
              <a:ext uri="{FF2B5EF4-FFF2-40B4-BE49-F238E27FC236}">
                <a16:creationId xmlns:a16="http://schemas.microsoft.com/office/drawing/2014/main" id="{CF6BEF9C-39BC-001A-4447-624CEF6C9403}"/>
              </a:ext>
            </a:extLst>
          </p:cNvPr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467C579-99E1-FDEC-10E9-857C16D27988}"/>
              </a:ext>
            </a:extLst>
          </p:cNvPr>
          <p:cNvSpPr txBox="1"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5BFE5FA-050D-3475-F29F-2B968D98F7A1}"/>
              </a:ext>
            </a:extLst>
          </p:cNvPr>
          <p:cNvSpPr txBox="1"/>
          <p:nvPr/>
        </p:nvSpPr>
        <p:spPr>
          <a:xfrm>
            <a:off x="1280160" y="12161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Otwórz github.com i zaloguj się</a:t>
            </a:r>
            <a:endParaRPr lang="en-US" sz="1800" dirty="0"/>
          </a:p>
        </p:txBody>
      </p:sp>
      <p:sp>
        <p:nvSpPr>
          <p:cNvPr id="7" name="step 2 circle">
            <a:extLst>
              <a:ext uri="{FF2B5EF4-FFF2-40B4-BE49-F238E27FC236}">
                <a16:creationId xmlns:a16="http://schemas.microsoft.com/office/drawing/2014/main" id="{389DD05D-786D-B74E-0805-51B6DEF07D9C}"/>
              </a:ext>
            </a:extLst>
          </p:cNvPr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4C5C126-EFA7-578C-D838-4AD902E7AB46}"/>
              </a:ext>
            </a:extLst>
          </p:cNvPr>
          <p:cNvSpPr txBox="1"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4AB3C12-B2ED-7C61-B819-C4BBFAA2425E}"/>
              </a:ext>
            </a:extLst>
          </p:cNvPr>
          <p:cNvSpPr txBox="1"/>
          <p:nvPr/>
        </p:nvSpPr>
        <p:spPr>
          <a:xfrm>
            <a:off x="1280160" y="19019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Otwórz repozytorium szablonu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C3CF225-47EF-EEE5-0C97-1469F52E7CD9}"/>
              </a:ext>
            </a:extLst>
          </p:cNvPr>
          <p:cNvSpPr txBox="1"/>
          <p:nvPr/>
        </p:nvSpPr>
        <p:spPr>
          <a:xfrm>
            <a:off x="1280160" y="2212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github.com/kubino148/devops-lesson-1</a:t>
            </a:r>
            <a:endParaRPr lang="en-US" sz="1400" dirty="0"/>
          </a:p>
        </p:txBody>
      </p:sp>
      <p:sp>
        <p:nvSpPr>
          <p:cNvPr id="11" name="step 3 circle">
            <a:extLst>
              <a:ext uri="{FF2B5EF4-FFF2-40B4-BE49-F238E27FC236}">
                <a16:creationId xmlns:a16="http://schemas.microsoft.com/office/drawing/2014/main" id="{96C97DA6-B1A6-25C4-9847-E9CBEA59770B}"/>
              </a:ext>
            </a:extLst>
          </p:cNvPr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D237B9B-332D-CCA5-C96E-AE6E94E6D867}"/>
              </a:ext>
            </a:extLst>
          </p:cNvPr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86EBFEE-B0BB-D737-A4C0-149EE8655362}"/>
              </a:ext>
            </a:extLst>
          </p:cNvPr>
          <p:cNvSpPr txBox="1"/>
          <p:nvPr/>
        </p:nvSpPr>
        <p:spPr>
          <a:xfrm>
            <a:off x="1280160" y="25877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</a:rPr>
              <a:t>Kliknij</a:t>
            </a:r>
            <a:r>
              <a:rPr lang="en-US" b="1" dirty="0">
                <a:solidFill>
                  <a:schemeClr val="bg1"/>
                </a:solidFill>
              </a:rPr>
              <a:t> “</a:t>
            </a:r>
            <a:r>
              <a:rPr lang="en-US" sz="1800" b="1" dirty="0">
                <a:solidFill>
                  <a:schemeClr val="bg1"/>
                </a:solidFill>
              </a:rPr>
              <a:t>Use this template”, </a:t>
            </a:r>
            <a:r>
              <a:rPr lang="en-US" sz="1800" b="1" dirty="0" err="1">
                <a:solidFill>
                  <a:schemeClr val="bg1"/>
                </a:solidFill>
              </a:rPr>
              <a:t>potem</a:t>
            </a:r>
            <a:r>
              <a:rPr lang="en-US" sz="1800" b="1" dirty="0">
                <a:solidFill>
                  <a:schemeClr val="bg1"/>
                </a:solidFill>
              </a:rPr>
              <a:t> “Create a new repository”</a:t>
            </a:r>
            <a:endParaRPr lang="en-US" sz="1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1BC3B97-FD7D-5114-2D11-15DEE0EE45E8}"/>
              </a:ext>
            </a:extLst>
          </p:cNvPr>
          <p:cNvSpPr txBox="1"/>
          <p:nvPr/>
        </p:nvSpPr>
        <p:spPr>
          <a:xfrm>
            <a:off x="1280160" y="2898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publiczne  -  nazwa: devops-lesson-1-&lt;twojeimie&gt;</a:t>
            </a:r>
            <a:endParaRPr lang="en-US" sz="1400" dirty="0"/>
          </a:p>
        </p:txBody>
      </p:sp>
      <p:sp>
        <p:nvSpPr>
          <p:cNvPr id="15" name="step 4 circle">
            <a:extLst>
              <a:ext uri="{FF2B5EF4-FFF2-40B4-BE49-F238E27FC236}">
                <a16:creationId xmlns:a16="http://schemas.microsoft.com/office/drawing/2014/main" id="{ACA2BEB9-A2BB-E6F9-61CF-AE9BF92949A3}"/>
              </a:ext>
            </a:extLst>
          </p:cNvPr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E286540-BD88-F6B2-70B1-4DE35BAA0533}"/>
              </a:ext>
            </a:extLst>
          </p:cNvPr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49A6541-DAB1-BCD0-C32D-8D1AA9F3C2B6}"/>
              </a:ext>
            </a:extLst>
          </p:cNvPr>
          <p:cNvSpPr txBox="1"/>
          <p:nvPr/>
        </p:nvSpPr>
        <p:spPr>
          <a:xfrm>
            <a:off x="1280160" y="32735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Kliknij</a:t>
            </a:r>
            <a:r>
              <a:rPr lang="en-US" sz="1800" b="1" dirty="0">
                <a:solidFill>
                  <a:schemeClr val="bg1"/>
                </a:solidFill>
              </a:rPr>
              <a:t> “Code”, </a:t>
            </a:r>
            <a:r>
              <a:rPr lang="en-US" sz="1800" b="1" dirty="0" err="1">
                <a:solidFill>
                  <a:schemeClr val="bg1"/>
                </a:solidFill>
              </a:rPr>
              <a:t>potem</a:t>
            </a:r>
            <a:r>
              <a:rPr lang="en-US" sz="1800" b="1" dirty="0">
                <a:solidFill>
                  <a:schemeClr val="bg1"/>
                </a:solidFill>
              </a:rPr>
              <a:t> “</a:t>
            </a:r>
            <a:r>
              <a:rPr lang="en-US" sz="1800" b="1" dirty="0" err="1">
                <a:solidFill>
                  <a:schemeClr val="bg1"/>
                </a:solidFill>
              </a:rPr>
              <a:t>Codespaces</a:t>
            </a:r>
            <a:r>
              <a:rPr lang="en-US" sz="1800" b="1" dirty="0">
                <a:solidFill>
                  <a:schemeClr val="bg1"/>
                </a:solidFill>
              </a:rPr>
              <a:t>”, </a:t>
            </a:r>
            <a:r>
              <a:rPr lang="en-US" sz="1800" b="1" dirty="0" err="1">
                <a:solidFill>
                  <a:schemeClr val="bg1"/>
                </a:solidFill>
              </a:rPr>
              <a:t>potem</a:t>
            </a:r>
            <a:r>
              <a:rPr lang="en-US" sz="1800" b="1" dirty="0">
                <a:solidFill>
                  <a:schemeClr val="bg1"/>
                </a:solidFill>
              </a:rPr>
              <a:t> “Create codespace on main”</a:t>
            </a:r>
            <a:endParaRPr lang="en-US" sz="18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1C8D21D-5191-134B-B405-37350DC944C9}"/>
              </a:ext>
            </a:extLst>
          </p:cNvPr>
          <p:cNvSpPr txBox="1"/>
          <p:nvPr/>
        </p:nvSpPr>
        <p:spPr>
          <a:xfrm>
            <a:off x="1280160" y="3584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Uruchamia się 1-2 minuty. Słuchaj dalej.</a:t>
            </a:r>
            <a:endParaRPr lang="en-US" sz="1400" dirty="0"/>
          </a:p>
        </p:txBody>
      </p:sp>
      <p:sp>
        <p:nvSpPr>
          <p:cNvPr id="19" name="step 5 circle">
            <a:extLst>
              <a:ext uri="{FF2B5EF4-FFF2-40B4-BE49-F238E27FC236}">
                <a16:creationId xmlns:a16="http://schemas.microsoft.com/office/drawing/2014/main" id="{A812684F-B2D8-27FB-A69D-E81A854F912E}"/>
              </a:ext>
            </a:extLst>
          </p:cNvPr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9A2B9F7-7161-BAEF-1EFD-40AA517077D7}"/>
              </a:ext>
            </a:extLst>
          </p:cNvPr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DF4133C-2832-E879-3538-2610663C2048}"/>
              </a:ext>
            </a:extLst>
          </p:cNvPr>
          <p:cNvSpPr txBox="1"/>
          <p:nvPr/>
        </p:nvSpPr>
        <p:spPr>
          <a:xfrm>
            <a:off x="1280160" y="3959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Kliknij swój aktywny codespace, żeby otworzyć go w edytorze</a:t>
            </a:r>
            <a:endParaRPr lang="en-US" sz="18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16C82F5-4701-0339-3C4E-50DF7A43517E}"/>
              </a:ext>
            </a:extLst>
          </p:cNvPr>
          <p:cNvSpPr txBox="1"/>
          <p:nvPr/>
        </p:nvSpPr>
        <p:spPr>
          <a:xfrm>
            <a:off x="128016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Otwiera się w przeglądarce, razem z terminalem.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E010D77-362F-C273-FFFE-F0D71D9C0F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02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Twoja kolej: CI dla repo w Pythonie</a:t>
            </a:r>
            <a:endParaRPr lang="en-US" sz="3400" dirty="0"/>
          </a:p>
        </p:txBody>
      </p:sp>
      <p:sp>
        <p:nvSpPr>
          <p:cNvPr id="4" name="task card"/>
          <p:cNvSpPr/>
          <p:nvPr/>
        </p:nvSpPr>
        <p:spPr>
          <a:xfrm>
            <a:off x="548640" y="1280160"/>
            <a:ext cx="804672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ask 1"/>
          <p:cNvSpPr/>
          <p:nvPr/>
        </p:nvSpPr>
        <p:spPr>
          <a:xfrm>
            <a:off x="73152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7160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Dodaj .github/workflows/ci.yml: uruchamiaj testy przy każdym push do main i przy każdym pull requeście</a:t>
            </a:r>
            <a:endParaRPr lang="en-US" sz="1500" dirty="0"/>
          </a:p>
        </p:txBody>
      </p:sp>
      <p:sp>
        <p:nvSpPr>
          <p:cNvPr id="8" name="task 2"/>
          <p:cNvSpPr/>
          <p:nvPr/>
        </p:nvSpPr>
        <p:spPr>
          <a:xfrm>
            <a:off x="731520" y="198424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3152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193852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Mój projekt jest w bashu, wasz w Pythonie. Czego potrzebuje świeża maszyna, zanim pytest ruszy?</a:t>
            </a:r>
            <a:endParaRPr lang="en-US" sz="1500" dirty="0"/>
          </a:p>
        </p:txBody>
      </p:sp>
      <p:sp>
        <p:nvSpPr>
          <p:cNvPr id="11" name="task 3"/>
          <p:cNvSpPr/>
          <p:nvPr/>
        </p:nvSpPr>
        <p:spPr>
          <a:xfrm>
            <a:off x="731520" y="255117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3152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50545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Wypisz wersję Pythona przed uruchomieniem testów</a:t>
            </a:r>
            <a:endParaRPr lang="en-US" sz="1500" dirty="0"/>
          </a:p>
        </p:txBody>
      </p:sp>
      <p:sp>
        <p:nvSpPr>
          <p:cNvPr id="14" name="task 4"/>
          <p:cNvSpPr/>
          <p:nvPr/>
        </p:nvSpPr>
        <p:spPr>
          <a:xfrm>
            <a:off x="731520" y="311810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31520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07238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Zrób push na gałąź PR i uzyskaj zielony check</a:t>
            </a:r>
            <a:endParaRPr lang="en-US" sz="1500" dirty="0"/>
          </a:p>
        </p:txBody>
      </p:sp>
      <p:sp>
        <p:nvSpPr>
          <p:cNvPr id="17" name="task 5"/>
          <p:cNvSpPr/>
          <p:nvPr/>
        </p:nvSpPr>
        <p:spPr>
          <a:xfrm>
            <a:off x="731520" y="368503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152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63931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Zepsuj coś innego niż test: dodaj do requirements.txt pakiet, który nie istnieje. Znajdź krok, który pada, i linię logu, która to wyjaśnia. Napraw.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Zajrzyj do: </a:t>
            </a:r>
            <a:r>
              <a:rPr lang="en-US" sz="1600" dirty="0">
                <a:solidFill>
                  <a:schemeClr val="tx1"/>
                </a:solidFill>
              </a:rPr>
              <a:t>repo demo i GitHub Docs „Building and testing Python”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chemeClr val="tx1"/>
                </a:solidFill>
              </a:rPr>
              <a:t>Narzędzia</a:t>
            </a:r>
            <a:endParaRPr lang="en-US" sz="3400" dirty="0"/>
          </a:p>
        </p:txBody>
      </p:sp>
      <p:sp>
        <p:nvSpPr>
          <p:cNvPr id="4" name="toolbox card"/>
          <p:cNvSpPr/>
          <p:nvPr/>
        </p:nvSpPr>
        <p:spPr>
          <a:xfrm>
            <a:off x="548640" y="1280160"/>
            <a:ext cx="804672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417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pytest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98348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uruchamia twoje testy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110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uses: actions/checkout@v4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9110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pobiera twój kod na maszynę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048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python --version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24048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wypisuje wersję Pythona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898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pip install -r requirements.txt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28986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instaluje twoje zależności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3924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uses: actions/setup-python@v5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33924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instaluje Pythona (python-version: "3.12")</a:t>
            </a:r>
            <a:endParaRPr lang="en-US" sz="1400" dirty="0"/>
          </a:p>
        </p:txBody>
      </p:sp>
      <p:sp>
        <p:nvSpPr>
          <p:cNvPr id="15" name="mindset banner"/>
          <p:cNvSpPr/>
          <p:nvPr/>
        </p:nvSpPr>
        <p:spPr>
          <a:xfrm>
            <a:off x="548640" y="4023360"/>
            <a:ext cx="804672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4023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accent1"/>
                </a:solidFill>
              </a:rPr>
              <a:t>Czerwony</a:t>
            </a:r>
            <a:r>
              <a:rPr lang="en-US" sz="1600" b="1" dirty="0">
                <a:solidFill>
                  <a:schemeClr val="accent1"/>
                </a:solidFill>
              </a:rPr>
              <a:t> error to informacja, nie porażka. </a:t>
            </a:r>
            <a:r>
              <a:rPr lang="en-US" sz="1600" dirty="0">
                <a:solidFill>
                  <a:schemeClr val="bg1"/>
                </a:solidFill>
              </a:rPr>
              <a:t>Push, przeczytaj błąd, zmień jedną rzecz, push jeszcze raz.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Utknąłeś? Podpowiedzi</a:t>
            </a:r>
            <a:endParaRPr lang="en-US" sz="3400" dirty="0"/>
          </a:p>
        </p:txBody>
      </p:sp>
      <p:sp>
        <p:nvSpPr>
          <p:cNvPr id="4" name="hint 1"/>
          <p:cNvSpPr/>
          <p:nvPr/>
        </p:nvSpPr>
        <p:spPr>
          <a:xfrm>
            <a:off x="548640" y="1280160"/>
            <a:ext cx="8046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hint 1 badge"/>
          <p:cNvSpPr/>
          <p:nvPr/>
        </p:nvSpPr>
        <p:spPr>
          <a:xfrm>
            <a:off x="777240" y="15270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3716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Mój skrypt w bashu nie wymagał niczego instalować. Czego potrzebuje świeża maszyna z Ubuntu, zanim uruchomi twoje testy?</a:t>
            </a:r>
            <a:endParaRPr lang="en-US" sz="1800" dirty="0"/>
          </a:p>
        </p:txBody>
      </p:sp>
      <p:sp>
        <p:nvSpPr>
          <p:cNvPr id="9" name="hint 2 badge"/>
          <p:cNvSpPr/>
          <p:nvPr/>
        </p:nvSpPr>
        <p:spPr>
          <a:xfrm>
            <a:off x="777240" y="26700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7724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5146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/>
              <a:t>Dla</a:t>
            </a:r>
            <a:r>
              <a:rPr lang="en-US" dirty="0"/>
              <a:t> </a:t>
            </a:r>
            <a:r>
              <a:rPr lang="en-US" dirty="0" err="1"/>
              <a:t>zepsutej</a:t>
            </a:r>
            <a:r>
              <a:rPr lang="en-US" dirty="0"/>
              <a:t> </a:t>
            </a:r>
            <a:r>
              <a:rPr lang="en-US" dirty="0" err="1"/>
              <a:t>instalacji</a:t>
            </a:r>
            <a:r>
              <a:rPr lang="en-US" dirty="0"/>
              <a:t>: </a:t>
            </a:r>
            <a:r>
              <a:rPr lang="en-US" dirty="0" err="1"/>
              <a:t>który</a:t>
            </a:r>
            <a:r>
              <a:rPr lang="en-US" dirty="0"/>
              <a:t> </a:t>
            </a:r>
            <a:r>
              <a:rPr lang="en-US" dirty="0" err="1"/>
              <a:t>krok</a:t>
            </a:r>
            <a:r>
              <a:rPr lang="en-US" dirty="0"/>
              <a:t> </a:t>
            </a:r>
            <a:r>
              <a:rPr lang="en-US" dirty="0" err="1"/>
              <a:t>robi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czerwony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która</a:t>
            </a:r>
            <a:r>
              <a:rPr lang="en-US" dirty="0"/>
              <a:t> </a:t>
            </a:r>
            <a:r>
              <a:rPr lang="en-US" dirty="0" err="1"/>
              <a:t>linia</a:t>
            </a:r>
            <a:r>
              <a:rPr lang="en-US" dirty="0"/>
              <a:t> </a:t>
            </a:r>
            <a:r>
              <a:rPr lang="en-US" dirty="0" err="1"/>
              <a:t>mówi</a:t>
            </a:r>
            <a:r>
              <a:rPr lang="en-US" dirty="0"/>
              <a:t> </a:t>
            </a:r>
            <a:r>
              <a:rPr lang="en-US" dirty="0" err="1"/>
              <a:t>dlaczego</a:t>
            </a:r>
            <a:r>
              <a:rPr lang="en-US" dirty="0"/>
              <a:t>?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1508760" y="36576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Bilet wyjścia i scalenie</a:t>
            </a:r>
            <a:endParaRPr lang="en-US" sz="3400" dirty="0"/>
          </a:p>
        </p:txBody>
      </p:sp>
      <p:sp>
        <p:nvSpPr>
          <p:cNvPr id="4" name="ticket card"/>
          <p:cNvSpPr/>
          <p:nvPr/>
        </p:nvSpPr>
        <p:spPr>
          <a:xfrm>
            <a:off x="548640" y="1280160"/>
            <a:ext cx="804672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371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Dopisz jedną linię do NOTES.md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Co potrzebuje mój workflow w Pythonie, a demo w bashu nie, i dlaczego.</a:t>
            </a:r>
            <a:endParaRPr lang="en-US" sz="2400" dirty="0"/>
          </a:p>
        </p:txBody>
      </p:sp>
      <p:sp>
        <p:nvSpPr>
          <p:cNvPr id="7" name="exit step 1"/>
          <p:cNvSpPr/>
          <p:nvPr/>
        </p:nvSpPr>
        <p:spPr>
          <a:xfrm>
            <a:off x="548640" y="3200400"/>
            <a:ext cx="246888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Commit i push</a:t>
            </a:r>
            <a:endParaRPr lang="en-US" sz="1800" dirty="0"/>
          </a:p>
        </p:txBody>
      </p:sp>
      <p:sp>
        <p:nvSpPr>
          <p:cNvPr id="9" name="exit arrow 1"/>
          <p:cNvSpPr/>
          <p:nvPr/>
        </p:nvSpPr>
        <p:spPr>
          <a:xfrm>
            <a:off x="3063240" y="361188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exit step 2"/>
          <p:cNvSpPr/>
          <p:nvPr/>
        </p:nvSpPr>
        <p:spPr>
          <a:xfrm>
            <a:off x="3337560" y="3200400"/>
            <a:ext cx="246888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42900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Poczekaj na zielony check</a:t>
            </a:r>
            <a:endParaRPr lang="en-US" sz="1800" dirty="0"/>
          </a:p>
        </p:txBody>
      </p:sp>
      <p:sp>
        <p:nvSpPr>
          <p:cNvPr id="12" name="exit arrow 2"/>
          <p:cNvSpPr/>
          <p:nvPr/>
        </p:nvSpPr>
        <p:spPr>
          <a:xfrm>
            <a:off x="5852160" y="361188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exit step 3"/>
          <p:cNvSpPr/>
          <p:nvPr/>
        </p:nvSpPr>
        <p:spPr>
          <a:xfrm>
            <a:off x="6126480" y="3200400"/>
            <a:ext cx="246888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21792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Scal pull request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Ops Terminal">
  <a:themeElements>
    <a:clrScheme name="DevOps Terminal">
      <a:dk1>
        <a:srgbClr val="161B22"/>
      </a:dk1>
      <a:lt1>
        <a:srgbClr val="FFFFFF"/>
      </a:lt1>
      <a:dk2>
        <a:srgbClr val="30363D"/>
      </a:dk2>
      <a:lt2>
        <a:srgbClr val="F3F5F7"/>
      </a:lt2>
      <a:accent1>
        <a:srgbClr val="2EA043"/>
      </a:accent1>
      <a:accent2>
        <a:srgbClr val="B7791F"/>
      </a:accent2>
      <a:accent3>
        <a:srgbClr val="D1242F"/>
      </a:accent3>
      <a:accent4>
        <a:srgbClr val="388BFD"/>
      </a:accent4>
      <a:accent5>
        <a:srgbClr val="8957E5"/>
      </a:accent5>
      <a:accent6>
        <a:srgbClr val="57606A"/>
      </a:accent6>
      <a:hlink>
        <a:srgbClr val="388BFD"/>
      </a:hlink>
      <a:folHlink>
        <a:srgbClr val="8957E5"/>
      </a:folHlink>
    </a:clrScheme>
    <a:fontScheme name="DevOps Termi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2838</Words>
  <Application>Microsoft Macintosh PowerPoint</Application>
  <PresentationFormat>On-screen Show (16:9)</PresentationFormat>
  <Paragraphs>318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DevOps Terminal</vt:lpstr>
      <vt:lpstr>Zrób to teraz</vt:lpstr>
      <vt:lpstr>O warsztatach</vt:lpstr>
      <vt:lpstr>Ocenianie I egzamin</vt:lpstr>
      <vt:lpstr>Dev i Ops</vt:lpstr>
      <vt:lpstr>Pętla DevOps</vt:lpstr>
      <vt:lpstr>Jak to mierzymy i do kogo pasuje</vt:lpstr>
      <vt:lpstr>AI na tych warsztatach</vt:lpstr>
      <vt:lpstr>Trzy pytania przed użyciem AI</vt:lpstr>
      <vt:lpstr>W czym AI jest dobre, a w czym złe</vt:lpstr>
      <vt:lpstr>Demo: leniwy prompt</vt:lpstr>
      <vt:lpstr>To samo zadanie, z kontekstem</vt:lpstr>
      <vt:lpstr>Szybka ankieta (po angielsku): 5 minut, na telefonie</vt:lpstr>
      <vt:lpstr>Co omówimy</vt:lpstr>
      <vt:lpstr>Nasz stack, od początku do końca</vt:lpstr>
      <vt:lpstr>Jak inżynier szuka dokumentacji</vt:lpstr>
      <vt:lpstr>Sprawdzenie środowiska</vt:lpstr>
      <vt:lpstr>Szybkie przypomnienie Gita</vt:lpstr>
      <vt:lpstr>Demo na żywo: CI dla projektu w bashu</vt:lpstr>
      <vt:lpstr>Zrób teraz</vt:lpstr>
      <vt:lpstr>Twoja kolej: CI dla repo w Pythonie</vt:lpstr>
      <vt:lpstr>Narzędzia</vt:lpstr>
      <vt:lpstr>Utknąłeś? Podpowiedzi</vt:lpstr>
      <vt:lpstr>Bilet wyjścia i scalenie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Warsztaty DevOps</dc:title>
  <dc:subject>PptxGenJS Presentation</dc:subject>
  <dc:creator>Prowadzący</dc:creator>
  <cp:lastModifiedBy>Jakub Załucki</cp:lastModifiedBy>
  <cp:revision>7</cp:revision>
  <dcterms:created xsi:type="dcterms:W3CDTF">2026-10-16T11:54:07Z</dcterms:created>
  <dcterms:modified xsi:type="dcterms:W3CDTF">2026-10-16T12:36:00Z</dcterms:modified>
</cp:coreProperties>
</file>