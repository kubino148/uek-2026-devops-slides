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tup" id="{48F1D1A7-4900-FDFA-4184-779ED987DAC3}">
          <p14:sldIdLst>
            <p14:sldId id="256"/>
            <p14:sldId id="257"/>
          </p14:sldIdLst>
        </p14:section>
        <p14:section name="App" id="{35621E00-11BA-56D4-BA1F-E480500C5CAB}">
          <p14:sldIdLst>
            <p14:sldId id="258"/>
            <p14:sldId id="259"/>
          </p14:sldIdLst>
        </p14:section>
        <p14:section name="Functions" id="{2C0553EB-372F-7FE5-013C-DFBA15A6A911}">
          <p14:sldIdLst>
            <p14:sldId id="260"/>
            <p14:sldId id="261"/>
            <p14:sldId id="262"/>
            <p14:sldId id="263"/>
            <p14:sldId id="264"/>
            <p14:sldId id="265"/>
            <p14:sldId id="266"/>
          </p14:sldIdLst>
        </p14:section>
        <p14:section name="Terminal" id="{69DF927B-2E38-DAE1-D656-82BBEF198D4B}">
          <p14:sldIdLst>
            <p14:sldId id="267"/>
            <p14:sldId id="268"/>
          </p14:sldIdLst>
        </p14:section>
        <p14:section name="Follow along" id="{AB66E283-526D-1EC5-D0E7-4E871EA17BA9}">
          <p14:sldIdLst>
            <p14:sldId id="269"/>
            <p14:sldId id="270"/>
            <p14:sldId id="271"/>
            <p14:sldId id="272"/>
          </p14:sldIdLst>
        </p14:section>
        <p14:section name="Lint" id="{EC8B9B7C-F69F-B7CA-7B8A-ADD11EF9C14C}">
          <p14:sldIdLst>
            <p14:sldId id="273"/>
            <p14:sldId id="274"/>
            <p14:sldId id="275"/>
          </p14:sldIdLst>
        </p14:section>
        <p14:section name="Break" id="{8CFD6C24-32FE-3218-483C-3C31A9D9BC54}">
          <p14:sldIdLst>
            <p14:sldId id="276"/>
          </p14:sldIdLst>
        </p14:section>
        <p14:section name="Workflow" id="{0AC229B5-2E88-A268-B5EF-5BEB901A0F50}">
          <p14:sldIdLst>
            <p14:sldId id="277"/>
            <p14:sldId id="278"/>
            <p14:sldId id="279"/>
            <p14:sldId id="280"/>
            <p14:sldId id="281"/>
            <p14:sldId id="282"/>
            <p14:sldId id="283"/>
            <p14:sldId id="284"/>
            <p14:sldId id="285"/>
            <p14:sldId id="286"/>
          </p14:sldIdLst>
        </p14:section>
        <p14:section name="Matrix" id="{E07E3BFF-7592-E708-3463-155F7AB1C800}">
          <p14:sldIdLst>
            <p14:sldId id="287"/>
            <p14:sldId id="288"/>
            <p14:sldId id="289"/>
            <p14:sldId id="290"/>
            <p14:sldId id="291"/>
            <p14:sldId id="292"/>
          </p14:sldIdLst>
        </p14:section>
        <p14:section name="Artifacts" id="{58D4A33A-0D5E-BA3F-8E58-C0215478EA46}">
          <p14:sldIdLst>
            <p14:sldId id="293"/>
            <p14:sldId id="294"/>
            <p14:sldId id="295"/>
            <p14:sldId id="296"/>
            <p14:sldId id="297"/>
            <p14:sldId id="298"/>
            <p14:sldId id="299"/>
            <p14:sldId id="300"/>
          </p14:sldIdLst>
        </p14:section>
        <p14:section name="Bandit" id="{1B12E99B-3E88-47F3-5E82-8DBE8AAF53F1}">
          <p14:sldIdLst>
            <p14:sldId id="301"/>
            <p14:sldId id="302"/>
            <p14:sldId id="303"/>
            <p14:sldId id="304"/>
            <p14:sldId id="305"/>
            <p14:sldId id="306"/>
          </p14:sldIdLst>
        </p14:section>
        <p14:section name="Wrap-up" id="{4BBD76A3-EAFD-1A17-D482-82B1718DAA4F}">
          <p14:sldIdLst>
            <p14:sldId id="307"/>
            <p14:sldId id="30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9" d="100"/>
          <a:sy n="169" d="100"/>
        </p:scale>
        <p:origin x="19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04752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screen while people sit down. URL as plain text, no QR. 2FA via phone. Lab PCs: do not save the password (spoken only, never on the slide). Stop last session's Codespace at github.com/codespaces: a free account has limited compute hours and you do not want a blocked start.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Hands up "who has created the repo?" (checkpoint S1). Say: "It boots while we talk. Do not touch it until I ask." Setup may still be running; the terminal can open while the devcontainer install is still running.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"What does this app do when you add a task?" Expected: stores it, also cleans the title. Do not read the endpoints.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 with arrows; label the first box "you (a request)", no "curl" or "port" yet (the curl, localhost, port slide defines them). If the function is down the task is still created with "normalized": false. You see it live later.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 Own words; matches AWS Lambda docs "run code in response to events". Example: "clean this title".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Wording from AWS Lambda docs ("no shared state", state "might not persist across invocations"). Never say a function "never keeps state".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 used on the next slides. One concrete call: one title in, one title out.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Names come from the vendor docs. No behaviour claims: no cold start, no billing.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Azure Functions scale page: "Apps can scale to zero when idle". Say "can".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facts from the code: one function behind POST /invoke, no state of its own; you start it yourself with flask, no platform scales it. Say: "FaaS-style means it looks like a function. The platform is what we do not have here."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questions, wait 7 s each: "Which part would you scale on its own?" and "What does stateless mean for where a task is stored?" Answer: tasks-api stores them in memory.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flask --version. A version prints: hands up (rehearse to confirm in a real Codespace). Spoken: "Hands up if your Codespace is open and the setup has finished." Instructor fallback: the creation log. Never "terminal open = ready". Anyone not ready follows the projector and joins at the next checkpoint.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three words. curl: a command that sends a request to a web address and prints the answer. localhost: this same machine, here the Codespace. port: a number that says which program answers: 5000 is the API, 5001 is the function. Question: "What should tasks-api do when the function is down?" Expected: refuse the task, or create it anyway; say we will see what it does.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README commands. Hands up when both show Running on http://127.0.0.1:5001 and :5000 (checkpoint S2). Help rule on screen from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Commands: POST "  buy   milk ", then GET /tasks. Expect Buy milk, "normalized": true (checkpoint S3). Question: "What did the title look like before and after?"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"normalized": false and the raw title (checkpoint S4). Question: "Why does the task still get created?" Do not restart tasks-api: its list is in memory.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Checkpoint S5. Run from the service folder; plain pytest from the root fails. Question: "Which service has more tests, and why?"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"What would a linter catch that a test does not?" Expected: unused imports, style, risky patterns in code that no test touches. Talk only, nothing is run.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ruff: an extremely fast Python linter and code formatter, written in Rust. flake8: a wrapper around PyFlakes, pycodestyle and McCabe. pylint: a static code analyser. No versions, no dates.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B101 aloud and let it sit: "Remember B101. It shows up in our tests." (B101 = use of assert.) Closing sentence, say it as given: "You will use Bandit in the last step of the next block."</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stuck Codespaces with the ladder. Everyone needs an editor and a way to push to main. Do not skip the break.</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workflow is a file in your repo that GitHub runs on its own machine whenever something happens. Steps: file and checkout, Python and tests for one service, both services, save the test report, scan with Bandit. Question: "Where have you seen YAML before?" (cut first).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slide appears at the mark of each step, not before. No demo repo.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push loop: save, commit, push to main, open the Actions tab.</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window 4 min. Name the workflow for what it does: it tests and it scans.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Keys: name, on, permissions, jobs, runs-on, steps. For students who missed the previous session.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Starts 1 min after the build begins. Hints appear one per minute: a at 0:52, b at 0:53, c at 0:54. Keep the skeleton keys in the side panel. Hints are never the answer.</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Revealed at the mark. Ask "who has a green run?" (C1). No explain question here. One line per block: on = when it runs; permissions: contents: read = the job may only read the repo; ubuntu-latest = a fresh Ubuntu machine, empty every time; checkout = the machine starts empty, so fetch our code.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min. ubuntu-latest already has a Python: the reasoning is your dependencies and a pinned version, not "no Python".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 c: "Which argument tells pytest where the tests are?" Depends on FACTS F13 (verify in the throwaway run). a at 0:57, b at 0:58, c at 0:59.</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a green run?" (C2: 23 passed). Explain question: "Why does the machine need an install step?" Expected: the runner has Python but not Flask, requests or pytest from our requirements.txt; each run starts clean. Quote versions: unquoted 3.10 becomes 3.1 in YAML.</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on this slide: "Which values change between the two runs?" Only the service name. Each leg has its own filesystem.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 matrix.service }} appears in the install path, pytest path, file names and artifact names.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opened in a tab beforehand, shown about 40 s: docs.github.com/en/actions/how-tos/write-workflows/choose-what-workflows-do/run-job-variations (fetched, 200). Never cut.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min.</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Starts at minute 1, one per minute: a at 1:04, b at 1:05, c at 1:06.</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a green run?" (C3: two legs, 23 passed, 13 passed). Explain question: "Why is matrix.service in the pytest path too?" Expected: text replacement happens everywhere the expression stands, so each leg tests its own folder.</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"Where does the report live if you do not save it?" Default retention is 90 days (docs). No storage number.</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Artifacts are immutable per name; the docs warn of conflict errors. Do not say exactly one leg fails.</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min. The clue: write the output to a file and keep it in the log.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Hints d and e appear together in the last minute. a at 1:11, b at 1:12, c at 1:13, d and e at 1:13.</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a green run?" (C4 follows on the break-a-test slide). Reveal in 1 minute: say the three new things in one sentence each (the file via tee, the upload, if: always()), two 20-second asides (the next two slides). The explain question moved to the break-a-test slide.</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Without it pytest | tee returns tee's exit 0 and the step stays green. Verified in the docs and locally. Runner repeat: wording from rehearsal. Say "default shell flags".</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s. Teach it as a precaution. Do not state that the report never uploads without it: unverified, wording from rehearsal.</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together. Ask "What do you see?" (red run and both test reports: verify in the throwaway run first). Debrief: "Why if: always()?" Expected: after the red pytest step the default success() would skip the upload; always() runs it anyway. Do not wait for green here.</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4 min. Clue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Shape only. Bandit is a pip package.</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per minute: a at 1:19, b at 1:20, c and d at 1:21. If Bandit steps are grey (skipped), look at the pytest step above: it is red.</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has a green run?" (C5; green pytest only; grey Bandit steps = skipped, look at the pytest step above). No if: on the Bandit steps unless the instructor decides otherwise. Why continue-on-error: Bandit scans the tests and flags assert (B101), 28 findings, exit 1 (verified locally). Say what the run page shows for the failed Bandit step only after you saw it (verify).</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Discussion, 2 min. Docs wording for continue-on-error: "Prevents a job from failing when a step fails."</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cut. Also Bandit exits 2 on a missing output folder and continue-on-error would hide it. Question: "What do you lose when a step is allowed to fail?"</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doing, 1 min question: "Why does ${{ matrix.service }} appear in the artifact name?" (spare: "When do you use always() instead of continue-on-error?"). If the unzip fails on lab PCs, show it on screen and do not wait. Layout wording: verify.</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github.com/codespaces. The work lives in the repo. Never cut.</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61B22"/>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txBody>
          <a:bodyPr/>
          <a:lstStyle/>
          <a:p>
            <a:endParaRPr lang="en-US"/>
          </a:p>
        </p:txBody>
      </p:sp>
      <p:sp>
        <p:nvSpPr>
          <p:cNvPr id="3" name="Text 1"/>
          <p:cNvSpPr>
            <a:spLocks noGrp="1"/>
          </p:cNvSpPr>
          <p:nvPr>
            <p:ph type="title" idx="101" hasCustomPrompt="1"/>
          </p:nvPr>
        </p:nvSpPr>
        <p:spPr>
          <a:xfrm>
            <a:off x="548640" y="320040"/>
            <a:ext cx="8046720" cy="731520"/>
          </a:xfrm>
          <a:prstGeom prst="rect">
            <a:avLst/>
          </a:prstGeom>
          <a:noFill/>
          <a:ln/>
        </p:spPr>
        <p:txBody>
          <a:bodyPr wrap="square" rtlCol="0"/>
          <a:lstStyle>
            <a:lvl1pPr marL="0" indent="0" algn="l">
              <a:buNone/>
              <a:defRPr lang="en-US" sz="3400" b="1" dirty="0">
                <a:solidFill>
                  <a:schemeClr val="bg1"/>
                </a:solidFill>
              </a:defRPr>
            </a:lvl1pPr>
          </a:lstStyle>
          <a:p>
            <a:pPr marL="0" indent="0" algn="l">
              <a:buNone/>
            </a:pPr>
            <a:r>
              <a:rPr lang="en-US" sz="3400" b="1" dirty="0">
                <a:solidFill>
                  <a:schemeClr val="bg1"/>
                </a:solidFill>
              </a:rPr>
              <a:t>Title</a:t>
            </a:r>
            <a:endParaRPr lang="en-US" sz="3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bg1"/>
          </a:solidFill>
          <a:ln/>
        </p:spPr>
        <p:txBody>
          <a:bodyPr/>
          <a:lstStyle/>
          <a:p>
            <a:endParaRPr lang="en-US"/>
          </a:p>
        </p:txBody>
      </p:sp>
      <p:sp>
        <p:nvSpPr>
          <p:cNvPr id="3" name="Text 1"/>
          <p:cNvSpPr>
            <a:spLocks noGrp="1"/>
          </p:cNvSpPr>
          <p:nvPr>
            <p:ph type="title" idx="101" hasCustomPrompt="1"/>
          </p:nvPr>
        </p:nvSpPr>
        <p:spPr>
          <a:xfrm>
            <a:off x="548640" y="320040"/>
            <a:ext cx="8046720" cy="731520"/>
          </a:xfrm>
          <a:prstGeom prst="rect">
            <a:avLst/>
          </a:prstGeom>
          <a:noFill/>
          <a:ln/>
        </p:spPr>
        <p:txBody>
          <a:bodyPr wrap="square" rtlCol="0"/>
          <a:lstStyle>
            <a:lvl1pPr marL="0" indent="0" algn="l">
              <a:buNone/>
              <a:defRPr lang="en-US" sz="3400" b="1" dirty="0">
                <a:solidFill>
                  <a:schemeClr val="tx1"/>
                </a:solidFill>
              </a:defRPr>
            </a:lvl1pPr>
          </a:lstStyle>
          <a:p>
            <a:pPr marL="0" indent="0" algn="l">
              <a:buNone/>
            </a:pPr>
            <a:r>
              <a:rPr lang="en-US" sz="3400" b="1" dirty="0">
                <a:solidFill>
                  <a:schemeClr val="tx1"/>
                </a:solidFill>
              </a:rPr>
              <a:t>Title</a:t>
            </a:r>
            <a:endParaRPr lang="en-US" sz="3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bg1"/>
                </a:solidFill>
              </a:rPr>
              <a:t>Create your repo</a:t>
            </a:r>
            <a:endParaRPr lang="en-US" sz="3400" dirty="0"/>
          </a:p>
        </p:txBody>
      </p:sp>
      <p:sp>
        <p:nvSpPr>
          <p:cNvPr id="4" name="step 1 circle"/>
          <p:cNvSpPr/>
          <p:nvPr/>
        </p:nvSpPr>
        <p:spPr>
          <a:xfrm>
            <a:off x="548640" y="1234440"/>
            <a:ext cx="502920" cy="502920"/>
          </a:xfrm>
          <a:prstGeom prst="ellipse">
            <a:avLst/>
          </a:prstGeom>
          <a:solidFill>
            <a:schemeClr val="accent1"/>
          </a:solidFill>
          <a:ln/>
        </p:spPr>
        <p:txBody>
          <a:bodyPr/>
          <a:lstStyle/>
          <a:p>
            <a:endParaRPr lang="en-US"/>
          </a:p>
        </p:txBody>
      </p:sp>
      <p:sp>
        <p:nvSpPr>
          <p:cNvPr id="5" name="Text 2"/>
          <p:cNvSpPr txBox="1"/>
          <p:nvPr/>
        </p:nvSpPr>
        <p:spPr>
          <a:xfrm>
            <a:off x="548640" y="123444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Text 3"/>
          <p:cNvSpPr txBox="1"/>
          <p:nvPr/>
        </p:nvSpPr>
        <p:spPr>
          <a:xfrm>
            <a:off x="1280160" y="1234440"/>
            <a:ext cx="7315200" cy="502920"/>
          </a:xfrm>
          <a:prstGeom prst="rect">
            <a:avLst/>
          </a:prstGeom>
          <a:noFill/>
          <a:ln/>
        </p:spPr>
        <p:txBody>
          <a:bodyPr wrap="square" lIns="0" tIns="0" rIns="0" bIns="0" rtlCol="0" anchor="ctr"/>
          <a:lstStyle/>
          <a:p>
            <a:pPr marL="0" indent="0">
              <a:buNone/>
            </a:pPr>
            <a:r>
              <a:rPr lang="en-US" sz="1800" b="1" dirty="0">
                <a:solidFill>
                  <a:schemeClr val="bg1"/>
                </a:solidFill>
              </a:rPr>
              <a:t>Sign in at github.com</a:t>
            </a:r>
            <a:endParaRPr lang="en-US" sz="1800" dirty="0"/>
          </a:p>
        </p:txBody>
      </p:sp>
      <p:sp>
        <p:nvSpPr>
          <p:cNvPr id="7" name="step 2 circle"/>
          <p:cNvSpPr/>
          <p:nvPr/>
        </p:nvSpPr>
        <p:spPr>
          <a:xfrm>
            <a:off x="548640" y="1920240"/>
            <a:ext cx="502920" cy="502920"/>
          </a:xfrm>
          <a:prstGeom prst="ellipse">
            <a:avLst/>
          </a:prstGeom>
          <a:solidFill>
            <a:schemeClr val="accent1"/>
          </a:solidFill>
          <a:ln/>
        </p:spPr>
        <p:txBody>
          <a:bodyPr/>
          <a:lstStyle/>
          <a:p>
            <a:endParaRPr lang="en-US"/>
          </a:p>
        </p:txBody>
      </p:sp>
      <p:sp>
        <p:nvSpPr>
          <p:cNvPr id="8" name="Text 5"/>
          <p:cNvSpPr txBox="1"/>
          <p:nvPr/>
        </p:nvSpPr>
        <p:spPr>
          <a:xfrm>
            <a:off x="548640" y="192024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9" name="Text 6"/>
          <p:cNvSpPr txBox="1"/>
          <p:nvPr/>
        </p:nvSpPr>
        <p:spPr>
          <a:xfrm>
            <a:off x="1280160" y="1901952"/>
            <a:ext cx="7315200" cy="310896"/>
          </a:xfrm>
          <a:prstGeom prst="rect">
            <a:avLst/>
          </a:prstGeom>
          <a:noFill/>
          <a:ln/>
        </p:spPr>
        <p:txBody>
          <a:bodyPr wrap="square" lIns="0" tIns="0" rIns="0" bIns="0" rtlCol="0" anchor="t"/>
          <a:lstStyle/>
          <a:p>
            <a:pPr marL="0" indent="0">
              <a:buNone/>
            </a:pPr>
            <a:r>
              <a:rPr lang="en-US" sz="1800" b="1" dirty="0">
                <a:solidFill>
                  <a:schemeClr val="bg1"/>
                </a:solidFill>
              </a:rPr>
              <a:t>Stop your old Codespace</a:t>
            </a:r>
            <a:endParaRPr lang="en-US" sz="1800" dirty="0"/>
          </a:p>
        </p:txBody>
      </p:sp>
      <p:sp>
        <p:nvSpPr>
          <p:cNvPr id="10" name="Text 7"/>
          <p:cNvSpPr txBox="1"/>
          <p:nvPr/>
        </p:nvSpPr>
        <p:spPr>
          <a:xfrm>
            <a:off x="1280160" y="2212848"/>
            <a:ext cx="7315200" cy="274320"/>
          </a:xfrm>
          <a:prstGeom prst="rect">
            <a:avLst/>
          </a:prstGeom>
          <a:noFill/>
          <a:ln/>
        </p:spPr>
        <p:txBody>
          <a:bodyPr wrap="square" lIns="0" tIns="0" rIns="0" bIns="0" rtlCol="0" anchor="t"/>
          <a:lstStyle/>
          <a:p>
            <a:pPr marL="0" indent="0">
              <a:buNone/>
            </a:pPr>
            <a:r>
              <a:rPr lang="en-US" sz="1400" dirty="0">
                <a:solidFill>
                  <a:schemeClr val="bg2"/>
                </a:solidFill>
                <a:latin typeface="Courier New" pitchFamily="34" charset="0"/>
                <a:ea typeface="Courier New" pitchFamily="34" charset="-122"/>
                <a:cs typeface="Courier New" pitchFamily="34" charset="-120"/>
              </a:rPr>
              <a:t>github.com/codespaces</a:t>
            </a:r>
            <a:endParaRPr lang="en-US" sz="1400" dirty="0"/>
          </a:p>
        </p:txBody>
      </p:sp>
      <p:sp>
        <p:nvSpPr>
          <p:cNvPr id="11" name="step 3 circle"/>
          <p:cNvSpPr/>
          <p:nvPr/>
        </p:nvSpPr>
        <p:spPr>
          <a:xfrm>
            <a:off x="548640" y="2606040"/>
            <a:ext cx="502920" cy="502920"/>
          </a:xfrm>
          <a:prstGeom prst="ellipse">
            <a:avLst/>
          </a:prstGeom>
          <a:solidFill>
            <a:schemeClr val="accent1"/>
          </a:solidFill>
          <a:ln/>
        </p:spPr>
        <p:txBody>
          <a:bodyPr/>
          <a:lstStyle/>
          <a:p>
            <a:endParaRPr lang="en-US"/>
          </a:p>
        </p:txBody>
      </p:sp>
      <p:sp>
        <p:nvSpPr>
          <p:cNvPr id="12" name="Text 9"/>
          <p:cNvSpPr txBox="1"/>
          <p:nvPr/>
        </p:nvSpPr>
        <p:spPr>
          <a:xfrm>
            <a:off x="548640" y="260604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3" name="Text 10"/>
          <p:cNvSpPr txBox="1"/>
          <p:nvPr/>
        </p:nvSpPr>
        <p:spPr>
          <a:xfrm>
            <a:off x="1280160" y="2587752"/>
            <a:ext cx="7315200" cy="310896"/>
          </a:xfrm>
          <a:prstGeom prst="rect">
            <a:avLst/>
          </a:prstGeom>
          <a:noFill/>
          <a:ln/>
        </p:spPr>
        <p:txBody>
          <a:bodyPr wrap="square" lIns="0" tIns="0" rIns="0" bIns="0" rtlCol="0" anchor="t"/>
          <a:lstStyle/>
          <a:p>
            <a:pPr marL="0" indent="0">
              <a:buNone/>
            </a:pPr>
            <a:r>
              <a:rPr lang="en-US" sz="1800" b="1" dirty="0">
                <a:solidFill>
                  <a:schemeClr val="bg1"/>
                </a:solidFill>
              </a:rPr>
              <a:t>Open the template</a:t>
            </a:r>
            <a:endParaRPr lang="en-US" sz="1800" dirty="0"/>
          </a:p>
        </p:txBody>
      </p:sp>
      <p:sp>
        <p:nvSpPr>
          <p:cNvPr id="14" name="Text 11"/>
          <p:cNvSpPr txBox="1"/>
          <p:nvPr/>
        </p:nvSpPr>
        <p:spPr>
          <a:xfrm>
            <a:off x="1280160" y="2898648"/>
            <a:ext cx="7315200" cy="274320"/>
          </a:xfrm>
          <a:prstGeom prst="rect">
            <a:avLst/>
          </a:prstGeom>
          <a:noFill/>
          <a:ln/>
        </p:spPr>
        <p:txBody>
          <a:bodyPr wrap="square" lIns="0" tIns="0" rIns="0" bIns="0" rtlCol="0" anchor="t"/>
          <a:lstStyle/>
          <a:p>
            <a:pPr marL="0" indent="0">
              <a:buNone/>
            </a:pPr>
            <a:r>
              <a:rPr lang="en-US" sz="1400" dirty="0">
                <a:solidFill>
                  <a:schemeClr val="bg2"/>
                </a:solidFill>
                <a:latin typeface="Courier New" pitchFamily="34" charset="0"/>
                <a:ea typeface="Courier New" pitchFamily="34" charset="-122"/>
                <a:cs typeface="Courier New" pitchFamily="34" charset="-120"/>
              </a:rPr>
              <a:t>github.com/kubino148/tasks-app</a:t>
            </a:r>
            <a:endParaRPr lang="en-US" sz="1400" dirty="0"/>
          </a:p>
        </p:txBody>
      </p:sp>
      <p:sp>
        <p:nvSpPr>
          <p:cNvPr id="15" name="step 4 circle"/>
          <p:cNvSpPr/>
          <p:nvPr/>
        </p:nvSpPr>
        <p:spPr>
          <a:xfrm>
            <a:off x="548640" y="3291840"/>
            <a:ext cx="502920" cy="502920"/>
          </a:xfrm>
          <a:prstGeom prst="ellipse">
            <a:avLst/>
          </a:prstGeom>
          <a:solidFill>
            <a:schemeClr val="accent1"/>
          </a:solidFill>
          <a:ln/>
        </p:spPr>
        <p:txBody>
          <a:bodyPr/>
          <a:lstStyle/>
          <a:p>
            <a:endParaRPr lang="en-US"/>
          </a:p>
        </p:txBody>
      </p:sp>
      <p:sp>
        <p:nvSpPr>
          <p:cNvPr id="16" name="Text 13"/>
          <p:cNvSpPr txBox="1"/>
          <p:nvPr/>
        </p:nvSpPr>
        <p:spPr>
          <a:xfrm>
            <a:off x="548640" y="329184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17" name="Text 14"/>
          <p:cNvSpPr txBox="1"/>
          <p:nvPr/>
        </p:nvSpPr>
        <p:spPr>
          <a:xfrm>
            <a:off x="1280160" y="3291840"/>
            <a:ext cx="7315200" cy="502920"/>
          </a:xfrm>
          <a:prstGeom prst="rect">
            <a:avLst/>
          </a:prstGeom>
          <a:noFill/>
          <a:ln/>
        </p:spPr>
        <p:txBody>
          <a:bodyPr wrap="square" lIns="0" tIns="0" rIns="0" bIns="0" rtlCol="0" anchor="ctr"/>
          <a:lstStyle/>
          <a:p>
            <a:pPr marL="0" indent="0">
              <a:buNone/>
            </a:pPr>
            <a:r>
              <a:rPr lang="en-US" sz="1800" b="1" dirty="0">
                <a:solidFill>
                  <a:schemeClr val="bg1"/>
                </a:solidFill>
              </a:rPr>
              <a:t>Use this template, then Create a new repository</a:t>
            </a:r>
            <a:endParaRPr lang="en-US" sz="1800" dirty="0"/>
          </a:p>
        </p:txBody>
      </p:sp>
      <p:sp>
        <p:nvSpPr>
          <p:cNvPr id="18" name="step 5 circle"/>
          <p:cNvSpPr/>
          <p:nvPr/>
        </p:nvSpPr>
        <p:spPr>
          <a:xfrm>
            <a:off x="548640" y="3977640"/>
            <a:ext cx="502920" cy="502920"/>
          </a:xfrm>
          <a:prstGeom prst="ellipse">
            <a:avLst/>
          </a:prstGeom>
          <a:solidFill>
            <a:schemeClr val="accent1"/>
          </a:solidFill>
          <a:ln/>
        </p:spPr>
        <p:txBody>
          <a:bodyPr/>
          <a:lstStyle/>
          <a:p>
            <a:endParaRPr lang="en-US"/>
          </a:p>
        </p:txBody>
      </p:sp>
      <p:sp>
        <p:nvSpPr>
          <p:cNvPr id="19" name="Text 16"/>
          <p:cNvSpPr txBox="1"/>
          <p:nvPr/>
        </p:nvSpPr>
        <p:spPr>
          <a:xfrm>
            <a:off x="548640" y="397764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0" name="Text 17"/>
          <p:cNvSpPr txBox="1"/>
          <p:nvPr/>
        </p:nvSpPr>
        <p:spPr>
          <a:xfrm>
            <a:off x="1280160" y="3977640"/>
            <a:ext cx="7315200" cy="502920"/>
          </a:xfrm>
          <a:prstGeom prst="rect">
            <a:avLst/>
          </a:prstGeom>
          <a:noFill/>
          <a:ln/>
        </p:spPr>
        <p:txBody>
          <a:bodyPr wrap="square" lIns="0" tIns="0" rIns="0" bIns="0" rtlCol="0" anchor="ctr"/>
          <a:lstStyle/>
          <a:p>
            <a:pPr marL="0" indent="0">
              <a:buNone/>
            </a:pPr>
            <a:r>
              <a:rPr lang="en-US" sz="1800" b="1" dirty="0">
                <a:solidFill>
                  <a:schemeClr val="bg1"/>
                </a:solidFill>
              </a:rPr>
              <a:t>Name it tasks-app-&lt;yourname&gt;, public</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bg1"/>
                </a:solidFill>
              </a:rPr>
              <a:t>Then a Codespace</a:t>
            </a:r>
            <a:endParaRPr lang="en-US" sz="3400" dirty="0"/>
          </a:p>
        </p:txBody>
      </p:sp>
      <p:sp>
        <p:nvSpPr>
          <p:cNvPr id="4" name="step 1 circle"/>
          <p:cNvSpPr/>
          <p:nvPr/>
        </p:nvSpPr>
        <p:spPr>
          <a:xfrm>
            <a:off x="548640" y="1463040"/>
            <a:ext cx="640080" cy="640080"/>
          </a:xfrm>
          <a:prstGeom prst="ellipse">
            <a:avLst/>
          </a:prstGeom>
          <a:solidFill>
            <a:schemeClr val="accent1"/>
          </a:solidFill>
          <a:ln/>
        </p:spPr>
        <p:txBody>
          <a:bodyPr/>
          <a:lstStyle/>
          <a:p>
            <a:endParaRPr lang="en-US"/>
          </a:p>
        </p:txBody>
      </p:sp>
      <p:sp>
        <p:nvSpPr>
          <p:cNvPr id="5" name="Text 2"/>
          <p:cNvSpPr txBox="1"/>
          <p:nvPr/>
        </p:nvSpPr>
        <p:spPr>
          <a:xfrm>
            <a:off x="548640" y="146304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1</a:t>
            </a:r>
            <a:endParaRPr lang="en-US" sz="2400" dirty="0"/>
          </a:p>
        </p:txBody>
      </p:sp>
      <p:sp>
        <p:nvSpPr>
          <p:cNvPr id="6" name="Text 3"/>
          <p:cNvSpPr txBox="1"/>
          <p:nvPr/>
        </p:nvSpPr>
        <p:spPr>
          <a:xfrm>
            <a:off x="1463040" y="1463040"/>
            <a:ext cx="7132320" cy="640080"/>
          </a:xfrm>
          <a:prstGeom prst="rect">
            <a:avLst/>
          </a:prstGeom>
          <a:noFill/>
          <a:ln/>
        </p:spPr>
        <p:txBody>
          <a:bodyPr wrap="square" lIns="0" tIns="0" rIns="0" bIns="0" rtlCol="0" anchor="ctr"/>
          <a:lstStyle/>
          <a:p>
            <a:pPr marL="0" indent="0">
              <a:buNone/>
            </a:pPr>
            <a:r>
              <a:rPr lang="en-US" sz="2800" b="1" dirty="0">
                <a:solidFill>
                  <a:schemeClr val="bg1"/>
                </a:solidFill>
              </a:rPr>
              <a:t>Code, then Codespaces</a:t>
            </a:r>
            <a:endParaRPr lang="en-US" sz="2800" dirty="0"/>
          </a:p>
        </p:txBody>
      </p:sp>
      <p:sp>
        <p:nvSpPr>
          <p:cNvPr id="7" name="step 2 circle"/>
          <p:cNvSpPr/>
          <p:nvPr/>
        </p:nvSpPr>
        <p:spPr>
          <a:xfrm>
            <a:off x="548640" y="2377440"/>
            <a:ext cx="640080" cy="640080"/>
          </a:xfrm>
          <a:prstGeom prst="ellipse">
            <a:avLst/>
          </a:prstGeom>
          <a:solidFill>
            <a:schemeClr val="accent1"/>
          </a:solidFill>
          <a:ln/>
        </p:spPr>
        <p:txBody>
          <a:bodyPr/>
          <a:lstStyle/>
          <a:p>
            <a:endParaRPr lang="en-US"/>
          </a:p>
        </p:txBody>
      </p:sp>
      <p:sp>
        <p:nvSpPr>
          <p:cNvPr id="8" name="Text 5"/>
          <p:cNvSpPr txBox="1"/>
          <p:nvPr/>
        </p:nvSpPr>
        <p:spPr>
          <a:xfrm>
            <a:off x="548640" y="237744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2</a:t>
            </a:r>
            <a:endParaRPr lang="en-US" sz="2400" dirty="0"/>
          </a:p>
        </p:txBody>
      </p:sp>
      <p:sp>
        <p:nvSpPr>
          <p:cNvPr id="9" name="Text 6"/>
          <p:cNvSpPr txBox="1"/>
          <p:nvPr/>
        </p:nvSpPr>
        <p:spPr>
          <a:xfrm>
            <a:off x="1463040" y="2377440"/>
            <a:ext cx="7132320" cy="640080"/>
          </a:xfrm>
          <a:prstGeom prst="rect">
            <a:avLst/>
          </a:prstGeom>
          <a:noFill/>
          <a:ln/>
        </p:spPr>
        <p:txBody>
          <a:bodyPr wrap="square" lIns="0" tIns="0" rIns="0" bIns="0" rtlCol="0" anchor="ctr"/>
          <a:lstStyle/>
          <a:p>
            <a:pPr marL="0" indent="0">
              <a:buNone/>
            </a:pPr>
            <a:r>
              <a:rPr lang="en-US" sz="2800" b="1" dirty="0">
                <a:solidFill>
                  <a:schemeClr val="bg1"/>
                </a:solidFill>
              </a:rPr>
              <a:t>Create codespace on main</a:t>
            </a:r>
            <a:endParaRPr lang="en-US" sz="2800" dirty="0"/>
          </a:p>
        </p:txBody>
      </p:sp>
      <p:sp>
        <p:nvSpPr>
          <p:cNvPr id="10" name="step 3 circle"/>
          <p:cNvSpPr/>
          <p:nvPr/>
        </p:nvSpPr>
        <p:spPr>
          <a:xfrm>
            <a:off x="548640" y="3291840"/>
            <a:ext cx="640080" cy="640080"/>
          </a:xfrm>
          <a:prstGeom prst="ellipse">
            <a:avLst/>
          </a:prstGeom>
          <a:solidFill>
            <a:schemeClr val="accent2"/>
          </a:solidFill>
          <a:ln/>
        </p:spPr>
        <p:txBody>
          <a:bodyPr/>
          <a:lstStyle/>
          <a:p>
            <a:endParaRPr lang="en-US"/>
          </a:p>
        </p:txBody>
      </p:sp>
      <p:sp>
        <p:nvSpPr>
          <p:cNvPr id="11" name="Text 8"/>
          <p:cNvSpPr txBox="1"/>
          <p:nvPr/>
        </p:nvSpPr>
        <p:spPr>
          <a:xfrm>
            <a:off x="548640" y="3291840"/>
            <a:ext cx="640080" cy="640080"/>
          </a:xfrm>
          <a:prstGeom prst="rect">
            <a:avLst/>
          </a:prstGeom>
          <a:noFill/>
          <a:ln/>
        </p:spPr>
        <p:txBody>
          <a:bodyPr wrap="square" lIns="0" tIns="0" rIns="0" bIns="0" rtlCol="0" anchor="ctr"/>
          <a:lstStyle/>
          <a:p>
            <a:pPr marL="0" indent="0" algn="ctr">
              <a:buNone/>
            </a:pPr>
            <a:r>
              <a:rPr lang="en-US" sz="2400" b="1" dirty="0">
                <a:solidFill>
                  <a:schemeClr val="bg1"/>
                </a:solidFill>
              </a:rPr>
              <a:t>3</a:t>
            </a:r>
            <a:endParaRPr lang="en-US" sz="2400" dirty="0"/>
          </a:p>
        </p:txBody>
      </p:sp>
      <p:sp>
        <p:nvSpPr>
          <p:cNvPr id="12" name="Text 9"/>
          <p:cNvSpPr txBox="1"/>
          <p:nvPr/>
        </p:nvSpPr>
        <p:spPr>
          <a:xfrm>
            <a:off x="1463040" y="3291840"/>
            <a:ext cx="7132320" cy="640080"/>
          </a:xfrm>
          <a:prstGeom prst="rect">
            <a:avLst/>
          </a:prstGeom>
          <a:noFill/>
          <a:ln/>
        </p:spPr>
        <p:txBody>
          <a:bodyPr wrap="square" lIns="0" tIns="0" rIns="0" bIns="0" rtlCol="0" anchor="ctr"/>
          <a:lstStyle/>
          <a:p>
            <a:pPr marL="0" indent="0">
              <a:buNone/>
            </a:pPr>
            <a:r>
              <a:rPr lang="en-US" sz="2800" b="1" dirty="0">
                <a:solidFill>
                  <a:schemeClr val="accent2"/>
                </a:solidFill>
              </a:rPr>
              <a:t>It boots while we talk.</a:t>
            </a:r>
            <a:endParaRPr lang="en-US" sz="2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A task list API</a:t>
            </a:r>
            <a:endParaRPr lang="en-US" sz="3400" dirty="0"/>
          </a:p>
        </p:txBody>
      </p:sp>
      <p:sp>
        <p:nvSpPr>
          <p:cNvPr id="4" name="Text 1"/>
          <p:cNvSpPr txBox="1"/>
          <p:nvPr/>
        </p:nvSpPr>
        <p:spPr>
          <a:xfrm>
            <a:off x="548640" y="1234440"/>
            <a:ext cx="8046720" cy="548640"/>
          </a:xfrm>
          <a:prstGeom prst="rect">
            <a:avLst/>
          </a:prstGeom>
          <a:noFill/>
          <a:ln/>
        </p:spPr>
        <p:txBody>
          <a:bodyPr wrap="square" lIns="0" tIns="0" rIns="0" bIns="0" rtlCol="0" anchor="t"/>
          <a:lstStyle/>
          <a:p>
            <a:pPr marL="0" indent="0">
              <a:buNone/>
            </a:pPr>
            <a:r>
              <a:rPr lang="en-US" sz="3000" b="1" dirty="0">
                <a:solidFill>
                  <a:schemeClr val="tx1"/>
                </a:solidFill>
              </a:rPr>
              <a:t>The app stores tasks.</a:t>
            </a:r>
            <a:endParaRPr lang="en-US" sz="3000" dirty="0"/>
          </a:p>
        </p:txBody>
      </p:sp>
      <p:sp>
        <p:nvSpPr>
          <p:cNvPr id="5" name="tile Add a task"/>
          <p:cNvSpPr/>
          <p:nvPr/>
        </p:nvSpPr>
        <p:spPr>
          <a:xfrm>
            <a:off x="548640" y="2103120"/>
            <a:ext cx="3931920" cy="2286000"/>
          </a:xfrm>
          <a:prstGeom prst="roundRect">
            <a:avLst>
              <a:gd name="adj" fmla="val 32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6" name="Add a task circle"/>
          <p:cNvSpPr/>
          <p:nvPr/>
        </p:nvSpPr>
        <p:spPr>
          <a:xfrm>
            <a:off x="822960" y="2377440"/>
            <a:ext cx="822960" cy="822960"/>
          </a:xfrm>
          <a:prstGeom prst="ellipse">
            <a:avLst/>
          </a:prstGeom>
          <a:solidFill>
            <a:srgbClr val="2EA043"/>
          </a:solidFill>
          <a:ln/>
        </p:spPr>
        <p:txBody>
          <a:bodyPr/>
          <a:lstStyle/>
          <a:p>
            <a:endParaRPr lang="en-US"/>
          </a:p>
        </p:txBody>
      </p:sp>
      <p:pic>
        <p:nvPicPr>
          <p:cNvPr id="7" name="Add a task image" descr="FaPlus"/>
          <p:cNvPicPr>
            <a:picLocks noChangeAspect="1"/>
          </p:cNvPicPr>
          <p:nvPr/>
        </p:nvPicPr>
        <p:blipFill>
          <a:blip r:embed="rId3"/>
          <a:stretch>
            <a:fillRect/>
          </a:stretch>
        </p:blipFill>
        <p:spPr>
          <a:xfrm>
            <a:off x="1028700" y="2583180"/>
            <a:ext cx="411480" cy="411480"/>
          </a:xfrm>
          <a:prstGeom prst="rect">
            <a:avLst/>
          </a:prstGeom>
        </p:spPr>
      </p:pic>
      <p:sp>
        <p:nvSpPr>
          <p:cNvPr id="8" name="Text 4"/>
          <p:cNvSpPr txBox="1"/>
          <p:nvPr/>
        </p:nvSpPr>
        <p:spPr>
          <a:xfrm>
            <a:off x="822960" y="3337560"/>
            <a:ext cx="3383280" cy="457200"/>
          </a:xfrm>
          <a:prstGeom prst="rect">
            <a:avLst/>
          </a:prstGeom>
          <a:noFill/>
          <a:ln/>
        </p:spPr>
        <p:txBody>
          <a:bodyPr wrap="square" lIns="0" tIns="0" rIns="0" bIns="0" rtlCol="0" anchor="t"/>
          <a:lstStyle/>
          <a:p>
            <a:pPr marL="0" indent="0">
              <a:buNone/>
            </a:pPr>
            <a:r>
              <a:rPr lang="en-US" sz="2600" b="1" dirty="0">
                <a:solidFill>
                  <a:schemeClr val="tx1"/>
                </a:solidFill>
              </a:rPr>
              <a:t>Add a task</a:t>
            </a:r>
            <a:endParaRPr lang="en-US" sz="2600" dirty="0"/>
          </a:p>
        </p:txBody>
      </p:sp>
      <p:sp>
        <p:nvSpPr>
          <p:cNvPr id="9" name="Text 5"/>
          <p:cNvSpPr txBox="1"/>
          <p:nvPr/>
        </p:nvSpPr>
        <p:spPr>
          <a:xfrm>
            <a:off x="822960" y="3794760"/>
            <a:ext cx="3383280" cy="365760"/>
          </a:xfrm>
          <a:prstGeom prst="rect">
            <a:avLst/>
          </a:prstGeom>
          <a:noFill/>
          <a:ln/>
        </p:spPr>
        <p:txBody>
          <a:bodyPr wrap="square" lIns="0" tIns="0" rIns="0" bIns="0" rtlCol="0" anchor="t"/>
          <a:lstStyle/>
          <a:p>
            <a:pPr marL="0" indent="0">
              <a:buNone/>
            </a:pPr>
            <a:r>
              <a:rPr lang="en-US" sz="1800" dirty="0">
                <a:solidFill>
                  <a:schemeClr val="accent6"/>
                </a:solidFill>
              </a:rPr>
              <a:t>A title goes in.</a:t>
            </a:r>
            <a:endParaRPr lang="en-US" sz="1800" dirty="0"/>
          </a:p>
        </p:txBody>
      </p:sp>
      <p:sp>
        <p:nvSpPr>
          <p:cNvPr id="10" name="tile List tasks"/>
          <p:cNvSpPr/>
          <p:nvPr/>
        </p:nvSpPr>
        <p:spPr>
          <a:xfrm>
            <a:off x="4663440" y="2103120"/>
            <a:ext cx="3931920" cy="2286000"/>
          </a:xfrm>
          <a:prstGeom prst="roundRect">
            <a:avLst>
              <a:gd name="adj" fmla="val 32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 name="List tasks circle"/>
          <p:cNvSpPr/>
          <p:nvPr/>
        </p:nvSpPr>
        <p:spPr>
          <a:xfrm>
            <a:off x="4937760" y="2377440"/>
            <a:ext cx="822960" cy="822960"/>
          </a:xfrm>
          <a:prstGeom prst="ellipse">
            <a:avLst/>
          </a:prstGeom>
          <a:solidFill>
            <a:srgbClr val="2EA043"/>
          </a:solidFill>
          <a:ln/>
        </p:spPr>
        <p:txBody>
          <a:bodyPr/>
          <a:lstStyle/>
          <a:p>
            <a:endParaRPr lang="en-US"/>
          </a:p>
        </p:txBody>
      </p:sp>
      <p:pic>
        <p:nvPicPr>
          <p:cNvPr id="12" name="List tasks image" descr="FaList"/>
          <p:cNvPicPr>
            <a:picLocks noChangeAspect="1"/>
          </p:cNvPicPr>
          <p:nvPr/>
        </p:nvPicPr>
        <p:blipFill>
          <a:blip r:embed="rId4"/>
          <a:stretch>
            <a:fillRect/>
          </a:stretch>
        </p:blipFill>
        <p:spPr>
          <a:xfrm>
            <a:off x="5143500" y="2583180"/>
            <a:ext cx="411480" cy="411480"/>
          </a:xfrm>
          <a:prstGeom prst="rect">
            <a:avLst/>
          </a:prstGeom>
        </p:spPr>
      </p:pic>
      <p:sp>
        <p:nvSpPr>
          <p:cNvPr id="13" name="Text 8"/>
          <p:cNvSpPr txBox="1"/>
          <p:nvPr/>
        </p:nvSpPr>
        <p:spPr>
          <a:xfrm>
            <a:off x="4937760" y="3337560"/>
            <a:ext cx="3383280" cy="457200"/>
          </a:xfrm>
          <a:prstGeom prst="rect">
            <a:avLst/>
          </a:prstGeom>
          <a:noFill/>
          <a:ln/>
        </p:spPr>
        <p:txBody>
          <a:bodyPr wrap="square" lIns="0" tIns="0" rIns="0" bIns="0" rtlCol="0" anchor="t"/>
          <a:lstStyle/>
          <a:p>
            <a:pPr marL="0" indent="0">
              <a:buNone/>
            </a:pPr>
            <a:r>
              <a:rPr lang="en-US" sz="2600" b="1" dirty="0">
                <a:solidFill>
                  <a:schemeClr val="tx1"/>
                </a:solidFill>
              </a:rPr>
              <a:t>List tasks</a:t>
            </a:r>
            <a:endParaRPr lang="en-US" sz="2600" dirty="0"/>
          </a:p>
        </p:txBody>
      </p:sp>
      <p:sp>
        <p:nvSpPr>
          <p:cNvPr id="14" name="Text 9"/>
          <p:cNvSpPr txBox="1"/>
          <p:nvPr/>
        </p:nvSpPr>
        <p:spPr>
          <a:xfrm>
            <a:off x="4937760" y="3794760"/>
            <a:ext cx="3383280" cy="365760"/>
          </a:xfrm>
          <a:prstGeom prst="rect">
            <a:avLst/>
          </a:prstGeom>
          <a:noFill/>
          <a:ln/>
        </p:spPr>
        <p:txBody>
          <a:bodyPr wrap="square" lIns="0" tIns="0" rIns="0" bIns="0" rtlCol="0" anchor="t"/>
          <a:lstStyle/>
          <a:p>
            <a:pPr marL="0" indent="0">
              <a:buNone/>
            </a:pPr>
            <a:r>
              <a:rPr lang="en-US" sz="1800" dirty="0">
                <a:solidFill>
                  <a:schemeClr val="accent6"/>
                </a:solidFill>
              </a:rPr>
              <a:t>All tasks come out.</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Two services</a:t>
            </a:r>
            <a:endParaRPr lang="en-US" sz="3400" dirty="0"/>
          </a:p>
        </p:txBody>
      </p:sp>
      <p:sp>
        <p:nvSpPr>
          <p:cNvPr id="4" name="box you"/>
          <p:cNvSpPr/>
          <p:nvPr/>
        </p:nvSpPr>
        <p:spPr>
          <a:xfrm>
            <a:off x="548640" y="1645920"/>
            <a:ext cx="1828800" cy="1188720"/>
          </a:xfrm>
          <a:prstGeom prst="roundRect">
            <a:avLst>
              <a:gd name="adj" fmla="val 6154"/>
            </a:avLst>
          </a:prstGeom>
          <a:solidFill>
            <a:srgbClr val="30363D"/>
          </a:solidFill>
          <a:ln/>
        </p:spPr>
        <p:txBody>
          <a:bodyPr/>
          <a:lstStyle/>
          <a:p>
            <a:endParaRPr lang="en-US"/>
          </a:p>
        </p:txBody>
      </p:sp>
      <p:sp>
        <p:nvSpPr>
          <p:cNvPr id="5" name="Text 2"/>
          <p:cNvSpPr txBox="1"/>
          <p:nvPr/>
        </p:nvSpPr>
        <p:spPr>
          <a:xfrm>
            <a:off x="640080" y="1755648"/>
            <a:ext cx="1645920" cy="594360"/>
          </a:xfrm>
          <a:prstGeom prst="rect">
            <a:avLst/>
          </a:prstGeom>
          <a:noFill/>
          <a:ln/>
        </p:spPr>
        <p:txBody>
          <a:bodyPr wrap="square" lIns="0" tIns="0" rIns="0" bIns="0" rtlCol="0" anchor="b"/>
          <a:lstStyle/>
          <a:p>
            <a:pPr marL="0" indent="0" algn="ctr">
              <a:buNone/>
            </a:pPr>
            <a:r>
              <a:rPr lang="en-US" sz="2400" b="1" dirty="0">
                <a:solidFill>
                  <a:schemeClr val="bg1"/>
                </a:solidFill>
              </a:rPr>
              <a:t>you</a:t>
            </a:r>
            <a:endParaRPr lang="en-US" sz="2400" dirty="0"/>
          </a:p>
        </p:txBody>
      </p:sp>
      <p:sp>
        <p:nvSpPr>
          <p:cNvPr id="6" name="Text 3"/>
          <p:cNvSpPr txBox="1"/>
          <p:nvPr/>
        </p:nvSpPr>
        <p:spPr>
          <a:xfrm>
            <a:off x="640080" y="2299716"/>
            <a:ext cx="1645920" cy="475488"/>
          </a:xfrm>
          <a:prstGeom prst="rect">
            <a:avLst/>
          </a:prstGeom>
          <a:noFill/>
          <a:ln/>
        </p:spPr>
        <p:txBody>
          <a:bodyPr wrap="square" lIns="0" tIns="0" rIns="0" bIns="0" rtlCol="0" anchor="t"/>
          <a:lstStyle/>
          <a:p>
            <a:pPr marL="0" indent="0" algn="ctr">
              <a:buNone/>
            </a:pPr>
            <a:r>
              <a:rPr lang="en-US" sz="1400" dirty="0">
                <a:solidFill>
                  <a:schemeClr val="bg2"/>
                </a:solidFill>
              </a:rPr>
              <a:t>a request</a:t>
            </a:r>
            <a:endParaRPr lang="en-US" sz="1400" dirty="0"/>
          </a:p>
        </p:txBody>
      </p:sp>
      <p:sp>
        <p:nvSpPr>
          <p:cNvPr id="7" name="box tasks-api"/>
          <p:cNvSpPr/>
          <p:nvPr/>
        </p:nvSpPr>
        <p:spPr>
          <a:xfrm>
            <a:off x="3657600" y="1645920"/>
            <a:ext cx="1828800" cy="1188720"/>
          </a:xfrm>
          <a:prstGeom prst="roundRect">
            <a:avLst>
              <a:gd name="adj" fmla="val 6154"/>
            </a:avLst>
          </a:prstGeom>
          <a:solidFill>
            <a:srgbClr val="2EA043"/>
          </a:solidFill>
          <a:ln/>
        </p:spPr>
        <p:txBody>
          <a:bodyPr/>
          <a:lstStyle/>
          <a:p>
            <a:endParaRPr lang="en-US"/>
          </a:p>
        </p:txBody>
      </p:sp>
      <p:sp>
        <p:nvSpPr>
          <p:cNvPr id="8" name="Text 5"/>
          <p:cNvSpPr txBox="1"/>
          <p:nvPr/>
        </p:nvSpPr>
        <p:spPr>
          <a:xfrm>
            <a:off x="3749040" y="1755648"/>
            <a:ext cx="1645920" cy="594360"/>
          </a:xfrm>
          <a:prstGeom prst="rect">
            <a:avLst/>
          </a:prstGeom>
          <a:noFill/>
          <a:ln/>
        </p:spPr>
        <p:txBody>
          <a:bodyPr wrap="square" lIns="0" tIns="0" rIns="0" bIns="0" rtlCol="0" anchor="b"/>
          <a:lstStyle/>
          <a:p>
            <a:pPr marL="0" indent="0" algn="ctr">
              <a:buNone/>
            </a:pPr>
            <a:r>
              <a:rPr lang="en-US" sz="2200" b="1" dirty="0">
                <a:solidFill>
                  <a:schemeClr val="bg1"/>
                </a:solidFill>
              </a:rPr>
              <a:t>tasks-api</a:t>
            </a:r>
            <a:endParaRPr lang="en-US" sz="2200" dirty="0"/>
          </a:p>
        </p:txBody>
      </p:sp>
      <p:sp>
        <p:nvSpPr>
          <p:cNvPr id="9" name="Text 6"/>
          <p:cNvSpPr txBox="1"/>
          <p:nvPr/>
        </p:nvSpPr>
        <p:spPr>
          <a:xfrm>
            <a:off x="3749040" y="2299716"/>
            <a:ext cx="1645920" cy="475488"/>
          </a:xfrm>
          <a:prstGeom prst="rect">
            <a:avLst/>
          </a:prstGeom>
          <a:noFill/>
          <a:ln/>
        </p:spPr>
        <p:txBody>
          <a:bodyPr wrap="square" lIns="0" tIns="0" rIns="0" bIns="0" rtlCol="0" anchor="t"/>
          <a:lstStyle/>
          <a:p>
            <a:pPr marL="0" indent="0" algn="ctr">
              <a:buNone/>
            </a:pPr>
            <a:r>
              <a:rPr lang="en-US" sz="1400" dirty="0">
                <a:solidFill>
                  <a:schemeClr val="bg2"/>
                </a:solidFill>
              </a:rPr>
              <a:t>5000</a:t>
            </a:r>
            <a:endParaRPr lang="en-US" sz="1400" dirty="0"/>
          </a:p>
        </p:txBody>
      </p:sp>
      <p:sp>
        <p:nvSpPr>
          <p:cNvPr id="10" name="box title-normalizer"/>
          <p:cNvSpPr/>
          <p:nvPr/>
        </p:nvSpPr>
        <p:spPr>
          <a:xfrm>
            <a:off x="6766560" y="1645920"/>
            <a:ext cx="1828800" cy="1188720"/>
          </a:xfrm>
          <a:prstGeom prst="roundRect">
            <a:avLst>
              <a:gd name="adj" fmla="val 6154"/>
            </a:avLst>
          </a:prstGeom>
          <a:solidFill>
            <a:srgbClr val="388BFD"/>
          </a:solidFill>
          <a:ln/>
        </p:spPr>
        <p:txBody>
          <a:bodyPr/>
          <a:lstStyle/>
          <a:p>
            <a:endParaRPr lang="en-US"/>
          </a:p>
        </p:txBody>
      </p:sp>
      <p:sp>
        <p:nvSpPr>
          <p:cNvPr id="11" name="Text 8"/>
          <p:cNvSpPr txBox="1"/>
          <p:nvPr/>
        </p:nvSpPr>
        <p:spPr>
          <a:xfrm>
            <a:off x="6858000" y="1755648"/>
            <a:ext cx="1645920" cy="594360"/>
          </a:xfrm>
          <a:prstGeom prst="rect">
            <a:avLst/>
          </a:prstGeom>
          <a:noFill/>
          <a:ln/>
        </p:spPr>
        <p:txBody>
          <a:bodyPr wrap="square" lIns="0" tIns="0" rIns="0" bIns="0" rtlCol="0" anchor="b"/>
          <a:lstStyle/>
          <a:p>
            <a:pPr marL="0" indent="0" algn="ctr">
              <a:buNone/>
            </a:pPr>
            <a:r>
              <a:rPr lang="en-US" sz="1600" b="1" dirty="0">
                <a:solidFill>
                  <a:schemeClr val="bg1"/>
                </a:solidFill>
              </a:rPr>
              <a:t>title-normalizer</a:t>
            </a:r>
            <a:endParaRPr lang="en-US" sz="1600" dirty="0"/>
          </a:p>
        </p:txBody>
      </p:sp>
      <p:sp>
        <p:nvSpPr>
          <p:cNvPr id="12" name="Text 9"/>
          <p:cNvSpPr txBox="1"/>
          <p:nvPr/>
        </p:nvSpPr>
        <p:spPr>
          <a:xfrm>
            <a:off x="6858000" y="2299716"/>
            <a:ext cx="1645920" cy="475488"/>
          </a:xfrm>
          <a:prstGeom prst="rect">
            <a:avLst/>
          </a:prstGeom>
          <a:noFill/>
          <a:ln/>
        </p:spPr>
        <p:txBody>
          <a:bodyPr wrap="square" lIns="0" tIns="0" rIns="0" bIns="0" rtlCol="0" anchor="t"/>
          <a:lstStyle/>
          <a:p>
            <a:pPr marL="0" indent="0" algn="ctr">
              <a:buNone/>
            </a:pPr>
            <a:r>
              <a:rPr lang="en-US" sz="1400" dirty="0">
                <a:solidFill>
                  <a:schemeClr val="bg2"/>
                </a:solidFill>
              </a:rPr>
              <a:t>5001</a:t>
            </a:r>
            <a:endParaRPr lang="en-US" sz="1400" dirty="0"/>
          </a:p>
        </p:txBody>
      </p:sp>
      <p:sp>
        <p:nvSpPr>
          <p:cNvPr id="13" name="arrow"/>
          <p:cNvSpPr/>
          <p:nvPr/>
        </p:nvSpPr>
        <p:spPr>
          <a:xfrm>
            <a:off x="2834640" y="2103120"/>
            <a:ext cx="274320" cy="292608"/>
          </a:xfrm>
          <a:prstGeom prst="rightArrow">
            <a:avLst/>
          </a:prstGeom>
          <a:solidFill>
            <a:schemeClr val="accent6"/>
          </a:solidFill>
          <a:ln/>
        </p:spPr>
        <p:txBody>
          <a:bodyPr/>
          <a:lstStyle/>
          <a:p>
            <a:endParaRPr lang="en-US"/>
          </a:p>
        </p:txBody>
      </p:sp>
      <p:sp>
        <p:nvSpPr>
          <p:cNvPr id="14" name="arrow"/>
          <p:cNvSpPr/>
          <p:nvPr/>
        </p:nvSpPr>
        <p:spPr>
          <a:xfrm>
            <a:off x="5989320" y="2103120"/>
            <a:ext cx="274320" cy="292608"/>
          </a:xfrm>
          <a:prstGeom prst="rightArrow">
            <a:avLst/>
          </a:prstGeom>
          <a:solidFill>
            <a:schemeClr val="accent6"/>
          </a:solidFill>
          <a:ln/>
        </p:spPr>
        <p:txBody>
          <a:bodyPr/>
          <a:lstStyle/>
          <a:p>
            <a:endParaRPr lang="en-US"/>
          </a:p>
        </p:txBody>
      </p:sp>
      <p:sp>
        <p:nvSpPr>
          <p:cNvPr id="15" name="Text 12"/>
          <p:cNvSpPr txBox="1"/>
          <p:nvPr/>
        </p:nvSpPr>
        <p:spPr>
          <a:xfrm>
            <a:off x="5577840" y="1691640"/>
            <a:ext cx="1188720" cy="274320"/>
          </a:xfrm>
          <a:prstGeom prst="rect">
            <a:avLst/>
          </a:prstGeom>
          <a:noFill/>
          <a:ln/>
        </p:spPr>
        <p:txBody>
          <a:bodyPr wrap="square" lIns="0" tIns="0" rIns="0" bIns="0" rtlCol="0" anchor="t"/>
          <a:lstStyle/>
          <a:p>
            <a:pPr marL="0" indent="0" algn="ctr">
              <a:buNone/>
            </a:pPr>
            <a:r>
              <a:rPr lang="en-US" sz="1100" b="1" dirty="0">
                <a:solidFill>
                  <a:schemeClr val="tx1"/>
                </a:solidFill>
                <a:latin typeface="Courier New" pitchFamily="34" charset="0"/>
                <a:ea typeface="Courier New" pitchFamily="34" charset="-122"/>
                <a:cs typeface="Courier New" pitchFamily="34" charset="-120"/>
              </a:rPr>
              <a:t>POST /invoke</a:t>
            </a:r>
            <a:endParaRPr lang="en-US" sz="1100" dirty="0"/>
          </a:p>
        </p:txBody>
      </p:sp>
      <p:sp>
        <p:nvSpPr>
          <p:cNvPr id="16" name="caption banner"/>
          <p:cNvSpPr/>
          <p:nvPr/>
        </p:nvSpPr>
        <p:spPr>
          <a:xfrm>
            <a:off x="548640" y="3291840"/>
            <a:ext cx="8046720" cy="1097280"/>
          </a:xfrm>
          <a:prstGeom prst="roundRect">
            <a:avLst>
              <a:gd name="adj" fmla="val 6667"/>
            </a:avLst>
          </a:prstGeom>
          <a:solidFill>
            <a:schemeClr val="tx1"/>
          </a:solidFill>
          <a:ln/>
        </p:spPr>
        <p:txBody>
          <a:bodyPr/>
          <a:lstStyle/>
          <a:p>
            <a:endParaRPr lang="en-US"/>
          </a:p>
        </p:txBody>
      </p:sp>
      <p:sp>
        <p:nvSpPr>
          <p:cNvPr id="17" name="Text 14"/>
          <p:cNvSpPr txBox="1"/>
          <p:nvPr/>
        </p:nvSpPr>
        <p:spPr>
          <a:xfrm>
            <a:off x="822960" y="3291840"/>
            <a:ext cx="7498080" cy="1097280"/>
          </a:xfrm>
          <a:prstGeom prst="rect">
            <a:avLst/>
          </a:prstGeom>
          <a:noFill/>
          <a:ln/>
        </p:spPr>
        <p:txBody>
          <a:bodyPr wrap="square" lIns="0" tIns="0" rIns="0" bIns="0" rtlCol="0" anchor="ctr"/>
          <a:lstStyle/>
          <a:p>
            <a:pPr marL="0" indent="0">
              <a:buNone/>
            </a:pPr>
            <a:r>
              <a:rPr lang="en-US" sz="1800" b="1" dirty="0">
                <a:solidFill>
                  <a:schemeClr val="accent1"/>
                </a:solidFill>
                <a:latin typeface="Courier New" pitchFamily="34" charset="0"/>
                <a:ea typeface="Courier New" pitchFamily="34" charset="-122"/>
                <a:cs typeface="Courier New" pitchFamily="34" charset="-120"/>
              </a:rPr>
              <a:t>title-normalizer </a:t>
            </a:r>
            <a:r>
              <a:rPr lang="en-US" sz="2000" dirty="0">
                <a:solidFill>
                  <a:schemeClr val="bg1"/>
                </a:solidFill>
              </a:rPr>
              <a:t>trims the title, collapses spaces, capitalizes the first letter.</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Function</a:t>
            </a:r>
            <a:endParaRPr lang="en-US" sz="3400" dirty="0"/>
          </a:p>
        </p:txBody>
      </p:sp>
      <p:sp>
        <p:nvSpPr>
          <p:cNvPr id="4" name="Function circle"/>
          <p:cNvSpPr/>
          <p:nvPr/>
        </p:nvSpPr>
        <p:spPr>
          <a:xfrm>
            <a:off x="640080" y="1600200"/>
            <a:ext cx="1463040" cy="1463040"/>
          </a:xfrm>
          <a:prstGeom prst="ellipse">
            <a:avLst/>
          </a:prstGeom>
          <a:solidFill>
            <a:srgbClr val="2EA043"/>
          </a:solidFill>
          <a:ln/>
        </p:spPr>
        <p:txBody>
          <a:bodyPr/>
          <a:lstStyle/>
          <a:p>
            <a:endParaRPr lang="en-US"/>
          </a:p>
        </p:txBody>
      </p:sp>
      <p:pic>
        <p:nvPicPr>
          <p:cNvPr id="5" name="Function image" descr="FaCode"/>
          <p:cNvPicPr>
            <a:picLocks noChangeAspect="1"/>
          </p:cNvPicPr>
          <p:nvPr/>
        </p:nvPicPr>
        <p:blipFill>
          <a:blip r:embed="rId3"/>
          <a:stretch>
            <a:fillRect/>
          </a:stretch>
        </p:blipFill>
        <p:spPr>
          <a:xfrm>
            <a:off x="1005840" y="1965960"/>
            <a:ext cx="731520" cy="731520"/>
          </a:xfrm>
          <a:prstGeom prst="rect">
            <a:avLst/>
          </a:prstGeom>
        </p:spPr>
      </p:pic>
      <p:sp>
        <p:nvSpPr>
          <p:cNvPr id="6" name="Text 2"/>
          <p:cNvSpPr txBox="1"/>
          <p:nvPr/>
        </p:nvSpPr>
        <p:spPr>
          <a:xfrm>
            <a:off x="2468880" y="1280160"/>
            <a:ext cx="6126480" cy="1828800"/>
          </a:xfrm>
          <a:prstGeom prst="rect">
            <a:avLst/>
          </a:prstGeom>
          <a:noFill/>
          <a:ln/>
        </p:spPr>
        <p:txBody>
          <a:bodyPr wrap="square" lIns="0" tIns="0" rIns="0" bIns="0" rtlCol="0" anchor="ctr"/>
          <a:lstStyle/>
          <a:p>
            <a:pPr marL="0" indent="0">
              <a:buNone/>
            </a:pPr>
            <a:r>
              <a:rPr lang="en-US" sz="3000" b="1" dirty="0">
                <a:solidFill>
                  <a:schemeClr val="tx1"/>
                </a:solidFill>
              </a:rPr>
              <a:t>A small piece of code that runs when something calls it.</a:t>
            </a:r>
            <a:endParaRPr lang="en-US" sz="3000" dirty="0"/>
          </a:p>
        </p:txBody>
      </p:sp>
      <p:sp>
        <p:nvSpPr>
          <p:cNvPr id="7" name="Text 3"/>
          <p:cNvSpPr txBox="1"/>
          <p:nvPr/>
        </p:nvSpPr>
        <p:spPr>
          <a:xfrm>
            <a:off x="2468880" y="3291840"/>
            <a:ext cx="6126480" cy="640080"/>
          </a:xfrm>
          <a:prstGeom prst="rect">
            <a:avLst/>
          </a:prstGeom>
          <a:noFill/>
          <a:ln/>
        </p:spPr>
        <p:txBody>
          <a:bodyPr wrap="square" lIns="0" tIns="0" rIns="0" bIns="0" rtlCol="0" anchor="t"/>
          <a:lstStyle/>
          <a:p>
            <a:pPr marL="0" indent="0">
              <a:buNone/>
            </a:pPr>
            <a:r>
              <a:rPr lang="en-US" sz="2200" i="1" dirty="0">
                <a:solidFill>
                  <a:schemeClr val="accent6"/>
                </a:solidFill>
              </a:rPr>
              <a:t>Example: clean this title.</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Stateless</a:t>
            </a:r>
            <a:endParaRPr lang="en-US" sz="3400" dirty="0"/>
          </a:p>
        </p:txBody>
      </p:sp>
      <p:sp>
        <p:nvSpPr>
          <p:cNvPr id="4" name="Stateless circle"/>
          <p:cNvSpPr/>
          <p:nvPr/>
        </p:nvSpPr>
        <p:spPr>
          <a:xfrm>
            <a:off x="640080" y="1600200"/>
            <a:ext cx="1463040" cy="1463040"/>
          </a:xfrm>
          <a:prstGeom prst="ellipse">
            <a:avLst/>
          </a:prstGeom>
          <a:solidFill>
            <a:srgbClr val="2EA043"/>
          </a:solidFill>
          <a:ln/>
        </p:spPr>
        <p:txBody>
          <a:bodyPr/>
          <a:lstStyle/>
          <a:p>
            <a:endParaRPr lang="en-US"/>
          </a:p>
        </p:txBody>
      </p:sp>
      <p:pic>
        <p:nvPicPr>
          <p:cNvPr id="5" name="Stateless image" descr="FaSync"/>
          <p:cNvPicPr>
            <a:picLocks noChangeAspect="1"/>
          </p:cNvPicPr>
          <p:nvPr/>
        </p:nvPicPr>
        <p:blipFill>
          <a:blip r:embed="rId3"/>
          <a:stretch>
            <a:fillRect/>
          </a:stretch>
        </p:blipFill>
        <p:spPr>
          <a:xfrm>
            <a:off x="1005840" y="1965960"/>
            <a:ext cx="731520" cy="731520"/>
          </a:xfrm>
          <a:prstGeom prst="rect">
            <a:avLst/>
          </a:prstGeom>
        </p:spPr>
      </p:pic>
      <p:sp>
        <p:nvSpPr>
          <p:cNvPr id="6" name="Text 2"/>
          <p:cNvSpPr txBox="1"/>
          <p:nvPr/>
        </p:nvSpPr>
        <p:spPr>
          <a:xfrm>
            <a:off x="2468880" y="1280160"/>
            <a:ext cx="6126480" cy="2377440"/>
          </a:xfrm>
          <a:prstGeom prst="rect">
            <a:avLst/>
          </a:prstGeom>
          <a:noFill/>
          <a:ln/>
        </p:spPr>
        <p:txBody>
          <a:bodyPr wrap="square" lIns="0" tIns="0" rIns="0" bIns="0" rtlCol="0" anchor="ctr"/>
          <a:lstStyle/>
          <a:p>
            <a:pPr marL="0" indent="0">
              <a:buNone/>
            </a:pPr>
            <a:r>
              <a:rPr lang="en-US" sz="3000" b="1" dirty="0">
                <a:solidFill>
                  <a:schemeClr val="tx1"/>
                </a:solidFill>
              </a:rPr>
              <a:t>Each call runs on its own. What one call remembers might not be there for the next one.</a:t>
            </a:r>
            <a:endParaRPr lang="en-US" sz="3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Invocation</a:t>
            </a:r>
            <a:endParaRPr lang="en-US" sz="3400" dirty="0"/>
          </a:p>
        </p:txBody>
      </p:sp>
      <p:sp>
        <p:nvSpPr>
          <p:cNvPr id="4" name="Invocation circle"/>
          <p:cNvSpPr/>
          <p:nvPr/>
        </p:nvSpPr>
        <p:spPr>
          <a:xfrm>
            <a:off x="640080" y="1600200"/>
            <a:ext cx="1463040" cy="1463040"/>
          </a:xfrm>
          <a:prstGeom prst="ellipse">
            <a:avLst/>
          </a:prstGeom>
          <a:solidFill>
            <a:srgbClr val="2EA043"/>
          </a:solidFill>
          <a:ln/>
        </p:spPr>
        <p:txBody>
          <a:bodyPr/>
          <a:lstStyle/>
          <a:p>
            <a:endParaRPr lang="en-US"/>
          </a:p>
        </p:txBody>
      </p:sp>
      <p:pic>
        <p:nvPicPr>
          <p:cNvPr id="5" name="Invocation image" descr="FaRocket"/>
          <p:cNvPicPr>
            <a:picLocks noChangeAspect="1"/>
          </p:cNvPicPr>
          <p:nvPr/>
        </p:nvPicPr>
        <p:blipFill>
          <a:blip r:embed="rId3"/>
          <a:stretch>
            <a:fillRect/>
          </a:stretch>
        </p:blipFill>
        <p:spPr>
          <a:xfrm>
            <a:off x="1005840" y="1965960"/>
            <a:ext cx="731520" cy="731520"/>
          </a:xfrm>
          <a:prstGeom prst="rect">
            <a:avLst/>
          </a:prstGeom>
        </p:spPr>
      </p:pic>
      <p:sp>
        <p:nvSpPr>
          <p:cNvPr id="6" name="Text 2"/>
          <p:cNvSpPr txBox="1"/>
          <p:nvPr/>
        </p:nvSpPr>
        <p:spPr>
          <a:xfrm>
            <a:off x="2468880" y="1280160"/>
            <a:ext cx="6126480" cy="1828800"/>
          </a:xfrm>
          <a:prstGeom prst="rect">
            <a:avLst/>
          </a:prstGeom>
          <a:noFill/>
          <a:ln/>
        </p:spPr>
        <p:txBody>
          <a:bodyPr wrap="square" lIns="0" tIns="0" rIns="0" bIns="0" rtlCol="0" anchor="ctr"/>
          <a:lstStyle/>
          <a:p>
            <a:pPr marL="0" indent="0">
              <a:buNone/>
            </a:pPr>
            <a:r>
              <a:rPr lang="en-US" sz="3000" b="1" dirty="0">
                <a:solidFill>
                  <a:schemeClr val="tx1"/>
                </a:solidFill>
              </a:rPr>
              <a:t>One call of the function: one run.</a:t>
            </a:r>
            <a:endParaRPr lang="en-US" sz="3000" dirty="0"/>
          </a:p>
        </p:txBody>
      </p:sp>
      <p:sp>
        <p:nvSpPr>
          <p:cNvPr id="7" name="Text 3"/>
          <p:cNvSpPr txBox="1"/>
          <p:nvPr/>
        </p:nvSpPr>
        <p:spPr>
          <a:xfrm>
            <a:off x="2468880" y="3291840"/>
            <a:ext cx="6126480" cy="640080"/>
          </a:xfrm>
          <a:prstGeom prst="rect">
            <a:avLst/>
          </a:prstGeom>
          <a:noFill/>
          <a:ln/>
        </p:spPr>
        <p:txBody>
          <a:bodyPr wrap="square" lIns="0" tIns="0" rIns="0" bIns="0" rtlCol="0" anchor="t"/>
          <a:lstStyle/>
          <a:p>
            <a:pPr marL="0" indent="0">
              <a:buNone/>
            </a:pPr>
            <a:r>
              <a:rPr lang="en-US" sz="2200" i="1" dirty="0">
                <a:solidFill>
                  <a:schemeClr val="accent6"/>
                </a:solidFill>
              </a:rPr>
              <a:t>One title in, one title out.</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Platform</a:t>
            </a:r>
            <a:endParaRPr lang="en-US" sz="3400" dirty="0"/>
          </a:p>
        </p:txBody>
      </p:sp>
      <p:sp>
        <p:nvSpPr>
          <p:cNvPr id="4" name="Platform circle"/>
          <p:cNvSpPr/>
          <p:nvPr/>
        </p:nvSpPr>
        <p:spPr>
          <a:xfrm>
            <a:off x="640080" y="1600200"/>
            <a:ext cx="1463040" cy="1463040"/>
          </a:xfrm>
          <a:prstGeom prst="ellipse">
            <a:avLst/>
          </a:prstGeom>
          <a:solidFill>
            <a:srgbClr val="2EA043"/>
          </a:solidFill>
          <a:ln/>
        </p:spPr>
        <p:txBody>
          <a:bodyPr/>
          <a:lstStyle/>
          <a:p>
            <a:endParaRPr lang="en-US"/>
          </a:p>
        </p:txBody>
      </p:sp>
      <p:pic>
        <p:nvPicPr>
          <p:cNvPr id="5" name="Platform image" descr="FaServer"/>
          <p:cNvPicPr>
            <a:picLocks noChangeAspect="1"/>
          </p:cNvPicPr>
          <p:nvPr/>
        </p:nvPicPr>
        <p:blipFill>
          <a:blip r:embed="rId3"/>
          <a:stretch>
            <a:fillRect/>
          </a:stretch>
        </p:blipFill>
        <p:spPr>
          <a:xfrm>
            <a:off x="1005840" y="1965960"/>
            <a:ext cx="731520" cy="731520"/>
          </a:xfrm>
          <a:prstGeom prst="rect">
            <a:avLst/>
          </a:prstGeom>
        </p:spPr>
      </p:pic>
      <p:sp>
        <p:nvSpPr>
          <p:cNvPr id="6" name="Text 2"/>
          <p:cNvSpPr txBox="1"/>
          <p:nvPr/>
        </p:nvSpPr>
        <p:spPr>
          <a:xfrm>
            <a:off x="2468880" y="1280160"/>
            <a:ext cx="6126480" cy="2377440"/>
          </a:xfrm>
          <a:prstGeom prst="rect">
            <a:avLst/>
          </a:prstGeom>
          <a:noFill/>
          <a:ln/>
        </p:spPr>
        <p:txBody>
          <a:bodyPr wrap="square" lIns="0" tIns="0" rIns="0" bIns="0" rtlCol="0" anchor="ctr"/>
          <a:lstStyle/>
          <a:p>
            <a:pPr marL="0" indent="0">
              <a:buNone/>
            </a:pPr>
            <a:r>
              <a:rPr lang="en-US" sz="3000" b="1" dirty="0">
                <a:solidFill>
                  <a:schemeClr val="tx1"/>
                </a:solidFill>
              </a:rPr>
              <a:t>A service that runs your functions for you, for example AWS Lambda or Azure Functions.</a:t>
            </a:r>
            <a:endParaRPr lang="en-US" sz="3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Scale to zero</a:t>
            </a:r>
            <a:endParaRPr lang="en-US" sz="3400" dirty="0"/>
          </a:p>
        </p:txBody>
      </p:sp>
      <p:sp>
        <p:nvSpPr>
          <p:cNvPr id="4" name="Scale to zero circle"/>
          <p:cNvSpPr/>
          <p:nvPr/>
        </p:nvSpPr>
        <p:spPr>
          <a:xfrm>
            <a:off x="640080" y="1600200"/>
            <a:ext cx="1463040" cy="1463040"/>
          </a:xfrm>
          <a:prstGeom prst="ellipse">
            <a:avLst/>
          </a:prstGeom>
          <a:solidFill>
            <a:srgbClr val="2EA043"/>
          </a:solidFill>
          <a:ln/>
        </p:spPr>
        <p:txBody>
          <a:bodyPr/>
          <a:lstStyle/>
          <a:p>
            <a:endParaRPr lang="en-US"/>
          </a:p>
        </p:txBody>
      </p:sp>
      <p:pic>
        <p:nvPicPr>
          <p:cNvPr id="5" name="Scale to zero image" descr="FaChartLine"/>
          <p:cNvPicPr>
            <a:picLocks noChangeAspect="1"/>
          </p:cNvPicPr>
          <p:nvPr/>
        </p:nvPicPr>
        <p:blipFill>
          <a:blip r:embed="rId3"/>
          <a:stretch>
            <a:fillRect/>
          </a:stretch>
        </p:blipFill>
        <p:spPr>
          <a:xfrm>
            <a:off x="1005840" y="1965960"/>
            <a:ext cx="731520" cy="731520"/>
          </a:xfrm>
          <a:prstGeom prst="rect">
            <a:avLst/>
          </a:prstGeom>
        </p:spPr>
      </p:pic>
      <p:sp>
        <p:nvSpPr>
          <p:cNvPr id="6" name="Text 2"/>
          <p:cNvSpPr txBox="1"/>
          <p:nvPr/>
        </p:nvSpPr>
        <p:spPr>
          <a:xfrm>
            <a:off x="2468880" y="1280160"/>
            <a:ext cx="6126480" cy="2377440"/>
          </a:xfrm>
          <a:prstGeom prst="rect">
            <a:avLst/>
          </a:prstGeom>
          <a:noFill/>
          <a:ln/>
        </p:spPr>
        <p:txBody>
          <a:bodyPr wrap="square" lIns="0" tIns="0" rIns="0" bIns="0" rtlCol="0" anchor="ctr"/>
          <a:lstStyle/>
          <a:p>
            <a:pPr marL="0" indent="0">
              <a:buNone/>
            </a:pPr>
            <a:r>
              <a:rPr lang="en-US" sz="3000" b="1" dirty="0">
                <a:solidFill>
                  <a:schemeClr val="tx1"/>
                </a:solidFill>
              </a:rPr>
              <a:t>When nobody calls, the platform can run no copy of your function at all.</a:t>
            </a:r>
            <a:endParaRPr lang="en-US" sz="3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Ours is FaaS-style</a:t>
            </a:r>
            <a:endParaRPr lang="en-US" sz="3400" dirty="0"/>
          </a:p>
        </p:txBody>
      </p:sp>
      <p:sp>
        <p:nvSpPr>
          <p:cNvPr id="4" name="Text 1"/>
          <p:cNvSpPr txBox="1"/>
          <p:nvPr/>
        </p:nvSpPr>
        <p:spPr>
          <a:xfrm>
            <a:off x="548640" y="1188720"/>
            <a:ext cx="8046720" cy="822960"/>
          </a:xfrm>
          <a:prstGeom prst="rect">
            <a:avLst/>
          </a:prstGeom>
          <a:noFill/>
          <a:ln/>
        </p:spPr>
        <p:txBody>
          <a:bodyPr wrap="square" lIns="0" tIns="0" rIns="0" bIns="0" rtlCol="0" anchor="ctr"/>
          <a:lstStyle/>
          <a:p>
            <a:pPr marL="0" indent="0">
              <a:buNone/>
            </a:pPr>
            <a:r>
              <a:rPr lang="en-US" sz="2400" b="1" dirty="0">
                <a:solidFill>
                  <a:schemeClr val="tx1"/>
                </a:solidFill>
              </a:rPr>
              <a:t>A small function-like service, not running on a platform.</a:t>
            </a:r>
            <a:endParaRPr lang="en-US" sz="2400" dirty="0"/>
          </a:p>
        </p:txBody>
      </p:sp>
      <p:sp>
        <p:nvSpPr>
          <p:cNvPr id="5" name="Function-like"/>
          <p:cNvSpPr/>
          <p:nvPr/>
        </p:nvSpPr>
        <p:spPr>
          <a:xfrm>
            <a:off x="548640" y="2286000"/>
            <a:ext cx="3931920" cy="2194560"/>
          </a:xfrm>
          <a:prstGeom prst="roundRect">
            <a:avLst>
              <a:gd name="adj" fmla="val 3333"/>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6" name="Function-like circle"/>
          <p:cNvSpPr/>
          <p:nvPr/>
        </p:nvSpPr>
        <p:spPr>
          <a:xfrm>
            <a:off x="777240" y="2468880"/>
            <a:ext cx="548640" cy="548640"/>
          </a:xfrm>
          <a:prstGeom prst="ellipse">
            <a:avLst/>
          </a:prstGeom>
          <a:solidFill>
            <a:srgbClr val="2EA043"/>
          </a:solidFill>
          <a:ln/>
        </p:spPr>
        <p:txBody>
          <a:bodyPr/>
          <a:lstStyle/>
          <a:p>
            <a:endParaRPr lang="en-US"/>
          </a:p>
        </p:txBody>
      </p:sp>
      <p:pic>
        <p:nvPicPr>
          <p:cNvPr id="7" name="Function-like image" descr="FaCheck"/>
          <p:cNvPicPr>
            <a:picLocks noChangeAspect="1"/>
          </p:cNvPicPr>
          <p:nvPr/>
        </p:nvPicPr>
        <p:blipFill>
          <a:blip r:embed="rId3"/>
          <a:stretch>
            <a:fillRect/>
          </a:stretch>
        </p:blipFill>
        <p:spPr>
          <a:xfrm>
            <a:off x="914400" y="2606040"/>
            <a:ext cx="274320" cy="274320"/>
          </a:xfrm>
          <a:prstGeom prst="rect">
            <a:avLst/>
          </a:prstGeom>
        </p:spPr>
      </p:pic>
      <p:sp>
        <p:nvSpPr>
          <p:cNvPr id="8" name="Text 4"/>
          <p:cNvSpPr txBox="1"/>
          <p:nvPr/>
        </p:nvSpPr>
        <p:spPr>
          <a:xfrm>
            <a:off x="1508760" y="2468880"/>
            <a:ext cx="2743200" cy="548640"/>
          </a:xfrm>
          <a:prstGeom prst="rect">
            <a:avLst/>
          </a:prstGeom>
          <a:noFill/>
          <a:ln/>
        </p:spPr>
        <p:txBody>
          <a:bodyPr wrap="square" lIns="0" tIns="0" rIns="0" bIns="0" rtlCol="0" anchor="ctr"/>
          <a:lstStyle/>
          <a:p>
            <a:pPr marL="0" indent="0">
              <a:buNone/>
            </a:pPr>
            <a:r>
              <a:rPr lang="en-US" sz="2200" b="1" dirty="0">
                <a:solidFill>
                  <a:schemeClr val="tx1"/>
                </a:solidFill>
              </a:rPr>
              <a:t>Function-like</a:t>
            </a:r>
            <a:endParaRPr lang="en-US" sz="2200" dirty="0"/>
          </a:p>
        </p:txBody>
      </p:sp>
      <p:sp>
        <p:nvSpPr>
          <p:cNvPr id="9" name="Text 5"/>
          <p:cNvSpPr txBox="1"/>
          <p:nvPr/>
        </p:nvSpPr>
        <p:spPr>
          <a:xfrm>
            <a:off x="822960" y="3200400"/>
            <a:ext cx="3474720" cy="118872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rPr>
              <a:t>One small function behind POST /invoke</a:t>
            </a:r>
            <a:endParaRPr lang="en-US" sz="1700" dirty="0"/>
          </a:p>
          <a:p>
            <a:pPr marL="177800" indent="-177800">
              <a:spcAft>
                <a:spcPts val="800"/>
              </a:spcAft>
              <a:buSzPct val="100000"/>
              <a:buChar char="•"/>
            </a:pPr>
            <a:r>
              <a:rPr lang="en-US" sz="1700" dirty="0">
                <a:solidFill>
                  <a:schemeClr val="tx1"/>
                </a:solidFill>
              </a:rPr>
              <a:t>No state of its own</a:t>
            </a:r>
            <a:endParaRPr lang="en-US" sz="1700" dirty="0"/>
          </a:p>
        </p:txBody>
      </p:sp>
      <p:sp>
        <p:nvSpPr>
          <p:cNvPr id="10" name="No platform"/>
          <p:cNvSpPr/>
          <p:nvPr/>
        </p:nvSpPr>
        <p:spPr>
          <a:xfrm>
            <a:off x="4663440" y="2286000"/>
            <a:ext cx="3931920" cy="2194560"/>
          </a:xfrm>
          <a:prstGeom prst="roundRect">
            <a:avLst>
              <a:gd name="adj" fmla="val 3333"/>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 name="No platform circle"/>
          <p:cNvSpPr/>
          <p:nvPr/>
        </p:nvSpPr>
        <p:spPr>
          <a:xfrm>
            <a:off x="4892040" y="2468880"/>
            <a:ext cx="548640" cy="548640"/>
          </a:xfrm>
          <a:prstGeom prst="ellipse">
            <a:avLst/>
          </a:prstGeom>
          <a:solidFill>
            <a:srgbClr val="D1242F"/>
          </a:solidFill>
          <a:ln/>
        </p:spPr>
        <p:txBody>
          <a:bodyPr/>
          <a:lstStyle/>
          <a:p>
            <a:endParaRPr lang="en-US"/>
          </a:p>
        </p:txBody>
      </p:sp>
      <p:pic>
        <p:nvPicPr>
          <p:cNvPr id="12" name="No platform image" descr="FaTimes"/>
          <p:cNvPicPr>
            <a:picLocks noChangeAspect="1"/>
          </p:cNvPicPr>
          <p:nvPr/>
        </p:nvPicPr>
        <p:blipFill>
          <a:blip r:embed="rId4"/>
          <a:stretch>
            <a:fillRect/>
          </a:stretch>
        </p:blipFill>
        <p:spPr>
          <a:xfrm>
            <a:off x="5029200" y="2606040"/>
            <a:ext cx="274320" cy="274320"/>
          </a:xfrm>
          <a:prstGeom prst="rect">
            <a:avLst/>
          </a:prstGeom>
        </p:spPr>
      </p:pic>
      <p:sp>
        <p:nvSpPr>
          <p:cNvPr id="13" name="Text 8"/>
          <p:cNvSpPr txBox="1"/>
          <p:nvPr/>
        </p:nvSpPr>
        <p:spPr>
          <a:xfrm>
            <a:off x="5623560" y="2468880"/>
            <a:ext cx="2743200" cy="548640"/>
          </a:xfrm>
          <a:prstGeom prst="rect">
            <a:avLst/>
          </a:prstGeom>
          <a:noFill/>
          <a:ln/>
        </p:spPr>
        <p:txBody>
          <a:bodyPr wrap="square" lIns="0" tIns="0" rIns="0" bIns="0" rtlCol="0" anchor="ctr"/>
          <a:lstStyle/>
          <a:p>
            <a:pPr marL="0" indent="0">
              <a:buNone/>
            </a:pPr>
            <a:r>
              <a:rPr lang="en-US" sz="2200" b="1" dirty="0">
                <a:solidFill>
                  <a:schemeClr val="tx1"/>
                </a:solidFill>
              </a:rPr>
              <a:t>No platform</a:t>
            </a:r>
            <a:endParaRPr lang="en-US" sz="2200" dirty="0"/>
          </a:p>
        </p:txBody>
      </p:sp>
      <p:sp>
        <p:nvSpPr>
          <p:cNvPr id="14" name="Text 9"/>
          <p:cNvSpPr txBox="1"/>
          <p:nvPr/>
        </p:nvSpPr>
        <p:spPr>
          <a:xfrm>
            <a:off x="4937760" y="3200400"/>
            <a:ext cx="3474720" cy="1188720"/>
          </a:xfrm>
          <a:prstGeom prst="rect">
            <a:avLst/>
          </a:prstGeom>
          <a:noFill/>
          <a:ln/>
        </p:spPr>
        <p:txBody>
          <a:bodyPr wrap="square" lIns="0" tIns="0" rIns="0" bIns="0" rtlCol="0" anchor="t"/>
          <a:lstStyle/>
          <a:p>
            <a:pPr marL="177800" indent="-177800">
              <a:spcAft>
                <a:spcPts val="800"/>
              </a:spcAft>
              <a:buSzPct val="100000"/>
              <a:buChar char="•"/>
            </a:pPr>
            <a:r>
              <a:rPr lang="en-US" sz="1700" dirty="0">
                <a:solidFill>
                  <a:schemeClr val="tx1"/>
                </a:solidFill>
              </a:rPr>
              <a:t>No platform starts it or scales it</a:t>
            </a:r>
            <a:endParaRPr lang="en-US" sz="1700" dirty="0"/>
          </a:p>
          <a:p>
            <a:pPr marL="177800" indent="-177800">
              <a:spcAft>
                <a:spcPts val="800"/>
              </a:spcAft>
              <a:buSzPct val="100000"/>
              <a:buChar char="•"/>
            </a:pPr>
            <a:r>
              <a:rPr lang="en-US" sz="1700" dirty="0">
                <a:solidFill>
                  <a:schemeClr val="tx1"/>
                </a:solidFill>
              </a:rPr>
              <a:t>You start it yourself with flask</a:t>
            </a:r>
            <a:endParaRPr lang="en-US" sz="17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Our invoke is the invocation</a:t>
            </a:r>
            <a:endParaRPr lang="en-US" sz="3400" dirty="0"/>
          </a:p>
        </p:txBody>
      </p:sp>
      <p:sp>
        <p:nvSpPr>
          <p:cNvPr id="4" name="box Create a task"/>
          <p:cNvSpPr/>
          <p:nvPr/>
        </p:nvSpPr>
        <p:spPr>
          <a:xfrm>
            <a:off x="548640" y="1371600"/>
            <a:ext cx="2194560" cy="1005840"/>
          </a:xfrm>
          <a:prstGeom prst="roundRect">
            <a:avLst>
              <a:gd name="adj" fmla="val 7273"/>
            </a:avLst>
          </a:prstGeom>
          <a:solidFill>
            <a:srgbClr val="30363D"/>
          </a:solidFill>
          <a:ln/>
        </p:spPr>
        <p:txBody>
          <a:bodyPr/>
          <a:lstStyle/>
          <a:p>
            <a:endParaRPr lang="en-US"/>
          </a:p>
        </p:txBody>
      </p:sp>
      <p:sp>
        <p:nvSpPr>
          <p:cNvPr id="5" name="Text 2"/>
          <p:cNvSpPr txBox="1"/>
          <p:nvPr/>
        </p:nvSpPr>
        <p:spPr>
          <a:xfrm>
            <a:off x="640080" y="1371600"/>
            <a:ext cx="2011680" cy="1005840"/>
          </a:xfrm>
          <a:prstGeom prst="rect">
            <a:avLst/>
          </a:prstGeom>
          <a:noFill/>
          <a:ln/>
        </p:spPr>
        <p:txBody>
          <a:bodyPr wrap="square" lIns="0" tIns="0" rIns="0" bIns="0" rtlCol="0" anchor="ctr"/>
          <a:lstStyle/>
          <a:p>
            <a:pPr marL="0" indent="0" algn="ctr">
              <a:buNone/>
            </a:pPr>
            <a:r>
              <a:rPr lang="en-US" sz="2000" b="1" dirty="0">
                <a:solidFill>
                  <a:schemeClr val="bg1"/>
                </a:solidFill>
              </a:rPr>
              <a:t>Create a task</a:t>
            </a:r>
            <a:endParaRPr lang="en-US" sz="2000" dirty="0"/>
          </a:p>
        </p:txBody>
      </p:sp>
      <p:sp>
        <p:nvSpPr>
          <p:cNvPr id="6" name="box POST /invoke"/>
          <p:cNvSpPr/>
          <p:nvPr/>
        </p:nvSpPr>
        <p:spPr>
          <a:xfrm>
            <a:off x="3474720" y="1371600"/>
            <a:ext cx="2194560" cy="1005840"/>
          </a:xfrm>
          <a:prstGeom prst="roundRect">
            <a:avLst>
              <a:gd name="adj" fmla="val 7273"/>
            </a:avLst>
          </a:prstGeom>
          <a:solidFill>
            <a:srgbClr val="2EA043"/>
          </a:solidFill>
          <a:ln/>
        </p:spPr>
        <p:txBody>
          <a:bodyPr/>
          <a:lstStyle/>
          <a:p>
            <a:endParaRPr lang="en-US"/>
          </a:p>
        </p:txBody>
      </p:sp>
      <p:sp>
        <p:nvSpPr>
          <p:cNvPr id="7" name="Text 4"/>
          <p:cNvSpPr txBox="1"/>
          <p:nvPr/>
        </p:nvSpPr>
        <p:spPr>
          <a:xfrm>
            <a:off x="3566160" y="1371600"/>
            <a:ext cx="2011680" cy="1005840"/>
          </a:xfrm>
          <a:prstGeom prst="rect">
            <a:avLst/>
          </a:prstGeom>
          <a:noFill/>
          <a:ln/>
        </p:spPr>
        <p:txBody>
          <a:bodyPr wrap="square" lIns="0" tIns="0" rIns="0" bIns="0" rtlCol="0" anchor="ctr"/>
          <a:lstStyle/>
          <a:p>
            <a:pPr marL="0" indent="0" algn="ctr">
              <a:buNone/>
            </a:pPr>
            <a:r>
              <a:rPr lang="en-US" sz="1800" b="1" dirty="0">
                <a:solidFill>
                  <a:schemeClr val="bg1"/>
                </a:solidFill>
              </a:rPr>
              <a:t>POST /invoke</a:t>
            </a:r>
            <a:endParaRPr lang="en-US" sz="1800" dirty="0"/>
          </a:p>
        </p:txBody>
      </p:sp>
      <p:sp>
        <p:nvSpPr>
          <p:cNvPr id="8" name="box One invocation"/>
          <p:cNvSpPr/>
          <p:nvPr/>
        </p:nvSpPr>
        <p:spPr>
          <a:xfrm>
            <a:off x="6400800" y="1371600"/>
            <a:ext cx="2194560" cy="1005840"/>
          </a:xfrm>
          <a:prstGeom prst="roundRect">
            <a:avLst>
              <a:gd name="adj" fmla="val 7273"/>
            </a:avLst>
          </a:prstGeom>
          <a:solidFill>
            <a:srgbClr val="388BFD"/>
          </a:solidFill>
          <a:ln/>
        </p:spPr>
        <p:txBody>
          <a:bodyPr/>
          <a:lstStyle/>
          <a:p>
            <a:endParaRPr lang="en-US"/>
          </a:p>
        </p:txBody>
      </p:sp>
      <p:sp>
        <p:nvSpPr>
          <p:cNvPr id="9" name="Text 6"/>
          <p:cNvSpPr txBox="1"/>
          <p:nvPr/>
        </p:nvSpPr>
        <p:spPr>
          <a:xfrm>
            <a:off x="6492240" y="1371600"/>
            <a:ext cx="2011680" cy="1005840"/>
          </a:xfrm>
          <a:prstGeom prst="rect">
            <a:avLst/>
          </a:prstGeom>
          <a:noFill/>
          <a:ln/>
        </p:spPr>
        <p:txBody>
          <a:bodyPr wrap="square" lIns="0" tIns="0" rIns="0" bIns="0" rtlCol="0" anchor="ctr"/>
          <a:lstStyle/>
          <a:p>
            <a:pPr marL="0" indent="0" algn="ctr">
              <a:buNone/>
            </a:pPr>
            <a:r>
              <a:rPr lang="en-US" sz="2000" b="1" dirty="0">
                <a:solidFill>
                  <a:schemeClr val="bg1"/>
                </a:solidFill>
              </a:rPr>
              <a:t>One invocation</a:t>
            </a:r>
            <a:endParaRPr lang="en-US" sz="2000" dirty="0"/>
          </a:p>
        </p:txBody>
      </p:sp>
      <p:sp>
        <p:nvSpPr>
          <p:cNvPr id="10" name="arrow"/>
          <p:cNvSpPr/>
          <p:nvPr/>
        </p:nvSpPr>
        <p:spPr>
          <a:xfrm>
            <a:off x="2926080" y="1737360"/>
            <a:ext cx="274320" cy="292608"/>
          </a:xfrm>
          <a:prstGeom prst="rightArrow">
            <a:avLst/>
          </a:prstGeom>
          <a:solidFill>
            <a:schemeClr val="accent6"/>
          </a:solidFill>
          <a:ln/>
        </p:spPr>
        <p:txBody>
          <a:bodyPr/>
          <a:lstStyle/>
          <a:p>
            <a:endParaRPr lang="en-US"/>
          </a:p>
        </p:txBody>
      </p:sp>
      <p:sp>
        <p:nvSpPr>
          <p:cNvPr id="11" name="arrow"/>
          <p:cNvSpPr/>
          <p:nvPr/>
        </p:nvSpPr>
        <p:spPr>
          <a:xfrm>
            <a:off x="5852160" y="1737360"/>
            <a:ext cx="274320" cy="292608"/>
          </a:xfrm>
          <a:prstGeom prst="rightArrow">
            <a:avLst/>
          </a:prstGeom>
          <a:solidFill>
            <a:schemeClr val="accent6"/>
          </a:solidFill>
          <a:ln/>
        </p:spPr>
        <p:txBody>
          <a:bodyPr/>
          <a:lstStyle/>
          <a:p>
            <a:endParaRPr lang="en-US"/>
          </a:p>
        </p:txBody>
      </p:sp>
      <p:sp>
        <p:nvSpPr>
          <p:cNvPr id="12" name="statement banner"/>
          <p:cNvSpPr/>
          <p:nvPr/>
        </p:nvSpPr>
        <p:spPr>
          <a:xfrm>
            <a:off x="548640" y="2926080"/>
            <a:ext cx="8046720" cy="1371600"/>
          </a:xfrm>
          <a:prstGeom prst="roundRect">
            <a:avLst>
              <a:gd name="adj" fmla="val 5333"/>
            </a:avLst>
          </a:prstGeom>
          <a:solidFill>
            <a:schemeClr val="tx1"/>
          </a:solidFill>
          <a:ln/>
        </p:spPr>
        <p:txBody>
          <a:bodyPr/>
          <a:lstStyle/>
          <a:p>
            <a:endParaRPr lang="en-US"/>
          </a:p>
        </p:txBody>
      </p:sp>
      <p:sp>
        <p:nvSpPr>
          <p:cNvPr id="13" name="Text 10"/>
          <p:cNvSpPr txBox="1"/>
          <p:nvPr/>
        </p:nvSpPr>
        <p:spPr>
          <a:xfrm>
            <a:off x="822960" y="2926080"/>
            <a:ext cx="7498080" cy="1371600"/>
          </a:xfrm>
          <a:prstGeom prst="rect">
            <a:avLst/>
          </a:prstGeom>
          <a:noFill/>
          <a:ln/>
        </p:spPr>
        <p:txBody>
          <a:bodyPr wrap="square" lIns="0" tIns="0" rIns="0" bIns="0" rtlCol="0" anchor="ctr"/>
          <a:lstStyle/>
          <a:p>
            <a:pPr marL="0" indent="0">
              <a:buNone/>
            </a:pPr>
            <a:r>
              <a:rPr lang="en-US" sz="2800" dirty="0">
                <a:solidFill>
                  <a:schemeClr val="bg1"/>
                </a:solidFill>
              </a:rPr>
              <a:t>Each task you create is </a:t>
            </a:r>
            <a:r>
              <a:rPr lang="en-US" sz="2800" b="1" dirty="0">
                <a:solidFill>
                  <a:schemeClr val="accent1"/>
                </a:solidFill>
              </a:rPr>
              <a:t>one invocation</a:t>
            </a:r>
            <a:r>
              <a:rPr lang="en-US" sz="2800" dirty="0">
                <a:solidFill>
                  <a:schemeClr val="bg1"/>
                </a:solidFill>
              </a:rPr>
              <a:t> of our function.</a:t>
            </a:r>
            <a:endParaRPr lang="en-US" sz="2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Ready?</a:t>
            </a:r>
            <a:endParaRPr lang="en-US" sz="3400" dirty="0"/>
          </a:p>
        </p:txBody>
      </p:sp>
      <p:sp>
        <p:nvSpPr>
          <p:cNvPr id="4" name="Text 1"/>
          <p:cNvSpPr txBox="1"/>
          <p:nvPr/>
        </p:nvSpPr>
        <p:spPr>
          <a:xfrm>
            <a:off x="548640" y="1325880"/>
            <a:ext cx="8046720" cy="457200"/>
          </a:xfrm>
          <a:prstGeom prst="rect">
            <a:avLst/>
          </a:prstGeom>
          <a:noFill/>
          <a:ln/>
        </p:spPr>
        <p:txBody>
          <a:bodyPr wrap="square" lIns="0" tIns="0" rIns="0" bIns="0" rtlCol="0" anchor="t"/>
          <a:lstStyle/>
          <a:p>
            <a:pPr marL="0" indent="0">
              <a:buNone/>
            </a:pPr>
            <a:r>
              <a:rPr lang="en-US" sz="2400" dirty="0">
                <a:solidFill>
                  <a:schemeClr val="accent6"/>
                </a:solidFill>
              </a:rPr>
              <a:t>Type</a:t>
            </a:r>
            <a:endParaRPr lang="en-US" sz="2400" dirty="0"/>
          </a:p>
        </p:txBody>
      </p:sp>
      <p:sp>
        <p:nvSpPr>
          <p:cNvPr id="5" name="command panel"/>
          <p:cNvSpPr/>
          <p:nvPr/>
        </p:nvSpPr>
        <p:spPr>
          <a:xfrm>
            <a:off x="548640" y="1874520"/>
            <a:ext cx="8046720" cy="1097280"/>
          </a:xfrm>
          <a:prstGeom prst="roundRect">
            <a:avLst>
              <a:gd name="adj" fmla="val 6667"/>
            </a:avLst>
          </a:prstGeom>
          <a:solidFill>
            <a:schemeClr val="tx1"/>
          </a:solidFill>
          <a:ln/>
        </p:spPr>
        <p:txBody>
          <a:bodyPr/>
          <a:lstStyle/>
          <a:p>
            <a:endParaRPr lang="en-US"/>
          </a:p>
        </p:txBody>
      </p:sp>
      <p:sp>
        <p:nvSpPr>
          <p:cNvPr id="6" name="Text 3"/>
          <p:cNvSpPr txBox="1"/>
          <p:nvPr/>
        </p:nvSpPr>
        <p:spPr>
          <a:xfrm>
            <a:off x="822960" y="1874520"/>
            <a:ext cx="7498080" cy="1097280"/>
          </a:xfrm>
          <a:prstGeom prst="rect">
            <a:avLst/>
          </a:prstGeom>
          <a:noFill/>
          <a:ln/>
        </p:spPr>
        <p:txBody>
          <a:bodyPr wrap="square" lIns="0" tIns="0" rIns="0" bIns="0" rtlCol="0" anchor="ctr"/>
          <a:lstStyle/>
          <a:p>
            <a:pPr marL="0" indent="0">
              <a:buNone/>
            </a:pPr>
            <a:r>
              <a:rPr lang="en-US" sz="3400" dirty="0">
                <a:solidFill>
                  <a:schemeClr val="accent1"/>
                </a:solidFill>
                <a:latin typeface="Courier New" pitchFamily="34" charset="0"/>
                <a:ea typeface="Courier New" pitchFamily="34" charset="-122"/>
                <a:cs typeface="Courier New" pitchFamily="34" charset="-120"/>
              </a:rPr>
              <a:t>$ flask --version</a:t>
            </a:r>
            <a:endParaRPr lang="en-US" sz="3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curl, localhost, port</a:t>
            </a:r>
            <a:endParaRPr lang="en-US" sz="3400" dirty="0"/>
          </a:p>
        </p:txBody>
      </p:sp>
      <p:sp>
        <p:nvSpPr>
          <p:cNvPr id="4" name="card curl"/>
          <p:cNvSpPr/>
          <p:nvPr/>
        </p:nvSpPr>
        <p:spPr>
          <a:xfrm>
            <a:off x="548640" y="1371600"/>
            <a:ext cx="2560320" cy="2926080"/>
          </a:xfrm>
          <a:prstGeom prst="roundRect">
            <a:avLst>
              <a:gd name="adj" fmla="val 285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curl circle"/>
          <p:cNvSpPr/>
          <p:nvPr/>
        </p:nvSpPr>
        <p:spPr>
          <a:xfrm>
            <a:off x="822960" y="1645920"/>
            <a:ext cx="822960" cy="822960"/>
          </a:xfrm>
          <a:prstGeom prst="ellipse">
            <a:avLst/>
          </a:prstGeom>
          <a:solidFill>
            <a:srgbClr val="2EA043"/>
          </a:solidFill>
          <a:ln/>
        </p:spPr>
        <p:txBody>
          <a:bodyPr/>
          <a:lstStyle/>
          <a:p>
            <a:endParaRPr lang="en-US"/>
          </a:p>
        </p:txBody>
      </p:sp>
      <p:pic>
        <p:nvPicPr>
          <p:cNvPr id="6" name="curl image" descr="FaTerminal"/>
          <p:cNvPicPr>
            <a:picLocks noChangeAspect="1"/>
          </p:cNvPicPr>
          <p:nvPr/>
        </p:nvPicPr>
        <p:blipFill>
          <a:blip r:embed="rId3"/>
          <a:stretch>
            <a:fillRect/>
          </a:stretch>
        </p:blipFill>
        <p:spPr>
          <a:xfrm>
            <a:off x="1028700" y="1851660"/>
            <a:ext cx="411480" cy="411480"/>
          </a:xfrm>
          <a:prstGeom prst="rect">
            <a:avLst/>
          </a:prstGeom>
        </p:spPr>
      </p:pic>
      <p:sp>
        <p:nvSpPr>
          <p:cNvPr id="7" name="Text 3"/>
          <p:cNvSpPr txBox="1"/>
          <p:nvPr/>
        </p:nvSpPr>
        <p:spPr>
          <a:xfrm>
            <a:off x="822960" y="2697480"/>
            <a:ext cx="2103120" cy="502920"/>
          </a:xfrm>
          <a:prstGeom prst="rect">
            <a:avLst/>
          </a:prstGeom>
          <a:noFill/>
          <a:ln/>
        </p:spPr>
        <p:txBody>
          <a:bodyPr wrap="square" lIns="0" tIns="0" rIns="0" bIns="0" rtlCol="0" anchor="t"/>
          <a:lstStyle/>
          <a:p>
            <a:pPr marL="0" indent="0">
              <a:buNone/>
            </a:pPr>
            <a:r>
              <a:rPr lang="en-US" sz="2800" b="1" dirty="0">
                <a:solidFill>
                  <a:schemeClr val="tx1"/>
                </a:solidFill>
                <a:latin typeface="Courier New" pitchFamily="34" charset="0"/>
                <a:ea typeface="Courier New" pitchFamily="34" charset="-122"/>
                <a:cs typeface="Courier New" pitchFamily="34" charset="-120"/>
              </a:rPr>
              <a:t>curl</a:t>
            </a:r>
            <a:endParaRPr lang="en-US" sz="2800" dirty="0"/>
          </a:p>
        </p:txBody>
      </p:sp>
      <p:sp>
        <p:nvSpPr>
          <p:cNvPr id="8" name="Text 4"/>
          <p:cNvSpPr txBox="1"/>
          <p:nvPr/>
        </p:nvSpPr>
        <p:spPr>
          <a:xfrm>
            <a:off x="822960" y="3291840"/>
            <a:ext cx="2103120" cy="822960"/>
          </a:xfrm>
          <a:prstGeom prst="rect">
            <a:avLst/>
          </a:prstGeom>
          <a:noFill/>
          <a:ln/>
        </p:spPr>
        <p:txBody>
          <a:bodyPr wrap="square" lIns="0" tIns="0" rIns="0" bIns="0" rtlCol="0" anchor="t"/>
          <a:lstStyle/>
          <a:p>
            <a:pPr marL="0" indent="0">
              <a:buNone/>
            </a:pPr>
            <a:r>
              <a:rPr lang="en-US" sz="2000" dirty="0">
                <a:solidFill>
                  <a:schemeClr val="tx1"/>
                </a:solidFill>
              </a:rPr>
              <a:t>sends a request</a:t>
            </a:r>
            <a:endParaRPr lang="en-US" sz="2000" dirty="0"/>
          </a:p>
        </p:txBody>
      </p:sp>
      <p:sp>
        <p:nvSpPr>
          <p:cNvPr id="9" name="card localhost"/>
          <p:cNvSpPr/>
          <p:nvPr/>
        </p:nvSpPr>
        <p:spPr>
          <a:xfrm>
            <a:off x="3291840" y="1371600"/>
            <a:ext cx="2560320" cy="2926080"/>
          </a:xfrm>
          <a:prstGeom prst="roundRect">
            <a:avLst>
              <a:gd name="adj" fmla="val 285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 name="localhost circle"/>
          <p:cNvSpPr/>
          <p:nvPr/>
        </p:nvSpPr>
        <p:spPr>
          <a:xfrm>
            <a:off x="3566160" y="1645920"/>
            <a:ext cx="822960" cy="822960"/>
          </a:xfrm>
          <a:prstGeom prst="ellipse">
            <a:avLst/>
          </a:prstGeom>
          <a:solidFill>
            <a:srgbClr val="2EA043"/>
          </a:solidFill>
          <a:ln/>
        </p:spPr>
        <p:txBody>
          <a:bodyPr/>
          <a:lstStyle/>
          <a:p>
            <a:endParaRPr lang="en-US"/>
          </a:p>
        </p:txBody>
      </p:sp>
      <p:pic>
        <p:nvPicPr>
          <p:cNvPr id="11" name="localhost image" descr="FaServer"/>
          <p:cNvPicPr>
            <a:picLocks noChangeAspect="1"/>
          </p:cNvPicPr>
          <p:nvPr/>
        </p:nvPicPr>
        <p:blipFill>
          <a:blip r:embed="rId4"/>
          <a:stretch>
            <a:fillRect/>
          </a:stretch>
        </p:blipFill>
        <p:spPr>
          <a:xfrm>
            <a:off x="3771900" y="1851660"/>
            <a:ext cx="411480" cy="411480"/>
          </a:xfrm>
          <a:prstGeom prst="rect">
            <a:avLst/>
          </a:prstGeom>
        </p:spPr>
      </p:pic>
      <p:sp>
        <p:nvSpPr>
          <p:cNvPr id="12" name="Text 7"/>
          <p:cNvSpPr txBox="1"/>
          <p:nvPr/>
        </p:nvSpPr>
        <p:spPr>
          <a:xfrm>
            <a:off x="3566160" y="2697480"/>
            <a:ext cx="2103120" cy="502920"/>
          </a:xfrm>
          <a:prstGeom prst="rect">
            <a:avLst/>
          </a:prstGeom>
          <a:noFill/>
          <a:ln/>
        </p:spPr>
        <p:txBody>
          <a:bodyPr wrap="square" lIns="0" tIns="0" rIns="0" bIns="0" rtlCol="0" anchor="t"/>
          <a:lstStyle/>
          <a:p>
            <a:pPr marL="0" indent="0">
              <a:buNone/>
            </a:pPr>
            <a:r>
              <a:rPr lang="en-US" sz="2800" b="1" dirty="0">
                <a:solidFill>
                  <a:schemeClr val="tx1"/>
                </a:solidFill>
                <a:latin typeface="Courier New" pitchFamily="34" charset="0"/>
                <a:ea typeface="Courier New" pitchFamily="34" charset="-122"/>
                <a:cs typeface="Courier New" pitchFamily="34" charset="-120"/>
              </a:rPr>
              <a:t>localhost</a:t>
            </a:r>
            <a:endParaRPr lang="en-US" sz="2800" dirty="0"/>
          </a:p>
        </p:txBody>
      </p:sp>
      <p:sp>
        <p:nvSpPr>
          <p:cNvPr id="13" name="Text 8"/>
          <p:cNvSpPr txBox="1"/>
          <p:nvPr/>
        </p:nvSpPr>
        <p:spPr>
          <a:xfrm>
            <a:off x="3566160" y="3291840"/>
            <a:ext cx="2103120" cy="822960"/>
          </a:xfrm>
          <a:prstGeom prst="rect">
            <a:avLst/>
          </a:prstGeom>
          <a:noFill/>
          <a:ln/>
        </p:spPr>
        <p:txBody>
          <a:bodyPr wrap="square" lIns="0" tIns="0" rIns="0" bIns="0" rtlCol="0" anchor="t"/>
          <a:lstStyle/>
          <a:p>
            <a:pPr marL="0" indent="0">
              <a:buNone/>
            </a:pPr>
            <a:r>
              <a:rPr lang="en-US" sz="2000" dirty="0">
                <a:solidFill>
                  <a:schemeClr val="tx1"/>
                </a:solidFill>
              </a:rPr>
              <a:t>is this machine</a:t>
            </a:r>
            <a:endParaRPr lang="en-US" sz="2000" dirty="0"/>
          </a:p>
        </p:txBody>
      </p:sp>
      <p:sp>
        <p:nvSpPr>
          <p:cNvPr id="14" name="card port"/>
          <p:cNvSpPr/>
          <p:nvPr/>
        </p:nvSpPr>
        <p:spPr>
          <a:xfrm>
            <a:off x="6035040" y="1371600"/>
            <a:ext cx="2560320" cy="2926080"/>
          </a:xfrm>
          <a:prstGeom prst="roundRect">
            <a:avLst>
              <a:gd name="adj" fmla="val 285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5" name="port circle"/>
          <p:cNvSpPr/>
          <p:nvPr/>
        </p:nvSpPr>
        <p:spPr>
          <a:xfrm>
            <a:off x="6309360" y="1645920"/>
            <a:ext cx="822960" cy="822960"/>
          </a:xfrm>
          <a:prstGeom prst="ellipse">
            <a:avLst/>
          </a:prstGeom>
          <a:solidFill>
            <a:srgbClr val="2EA043"/>
          </a:solidFill>
          <a:ln/>
        </p:spPr>
        <p:txBody>
          <a:bodyPr/>
          <a:lstStyle/>
          <a:p>
            <a:endParaRPr lang="en-US"/>
          </a:p>
        </p:txBody>
      </p:sp>
      <p:pic>
        <p:nvPicPr>
          <p:cNvPr id="16" name="port image" descr="FaLayerGroup"/>
          <p:cNvPicPr>
            <a:picLocks noChangeAspect="1"/>
          </p:cNvPicPr>
          <p:nvPr/>
        </p:nvPicPr>
        <p:blipFill>
          <a:blip r:embed="rId5"/>
          <a:stretch>
            <a:fillRect/>
          </a:stretch>
        </p:blipFill>
        <p:spPr>
          <a:xfrm>
            <a:off x="6515100" y="1851660"/>
            <a:ext cx="411480" cy="411480"/>
          </a:xfrm>
          <a:prstGeom prst="rect">
            <a:avLst/>
          </a:prstGeom>
        </p:spPr>
      </p:pic>
      <p:sp>
        <p:nvSpPr>
          <p:cNvPr id="17" name="Text 11"/>
          <p:cNvSpPr txBox="1"/>
          <p:nvPr/>
        </p:nvSpPr>
        <p:spPr>
          <a:xfrm>
            <a:off x="6309360" y="2697480"/>
            <a:ext cx="2103120" cy="502920"/>
          </a:xfrm>
          <a:prstGeom prst="rect">
            <a:avLst/>
          </a:prstGeom>
          <a:noFill/>
          <a:ln/>
        </p:spPr>
        <p:txBody>
          <a:bodyPr wrap="square" lIns="0" tIns="0" rIns="0" bIns="0" rtlCol="0" anchor="t"/>
          <a:lstStyle/>
          <a:p>
            <a:pPr marL="0" indent="0">
              <a:buNone/>
            </a:pPr>
            <a:r>
              <a:rPr lang="en-US" sz="2800" b="1" dirty="0">
                <a:solidFill>
                  <a:schemeClr val="tx1"/>
                </a:solidFill>
                <a:latin typeface="Courier New" pitchFamily="34" charset="0"/>
                <a:ea typeface="Courier New" pitchFamily="34" charset="-122"/>
                <a:cs typeface="Courier New" pitchFamily="34" charset="-120"/>
              </a:rPr>
              <a:t>port</a:t>
            </a:r>
            <a:endParaRPr lang="en-US" sz="2800" dirty="0"/>
          </a:p>
        </p:txBody>
      </p:sp>
      <p:sp>
        <p:nvSpPr>
          <p:cNvPr id="18" name="Text 12"/>
          <p:cNvSpPr txBox="1"/>
          <p:nvPr/>
        </p:nvSpPr>
        <p:spPr>
          <a:xfrm>
            <a:off x="6309360" y="3291840"/>
            <a:ext cx="2103120" cy="822960"/>
          </a:xfrm>
          <a:prstGeom prst="rect">
            <a:avLst/>
          </a:prstGeom>
          <a:noFill/>
          <a:ln/>
        </p:spPr>
        <p:txBody>
          <a:bodyPr wrap="square" lIns="0" tIns="0" rIns="0" bIns="0" rtlCol="0" anchor="t"/>
          <a:lstStyle/>
          <a:p>
            <a:pPr marL="0" indent="0">
              <a:buNone/>
            </a:pPr>
            <a:r>
              <a:rPr lang="en-US" sz="2000" dirty="0" err="1">
                <a:solidFill>
                  <a:schemeClr val="tx1"/>
                </a:solidFill>
              </a:rPr>
              <a:t>Distinguis</a:t>
            </a:r>
            <a:r>
              <a:rPr lang="en-US" sz="2000" dirty="0">
                <a:solidFill>
                  <a:schemeClr val="tx1"/>
                </a:solidFill>
              </a:rPr>
              <a:t> between apps on same </a:t>
            </a:r>
            <a:r>
              <a:rPr lang="en-US" sz="2000" dirty="0" err="1">
                <a:solidFill>
                  <a:schemeClr val="tx1"/>
                </a:solidFill>
              </a:rPr>
              <a:t>ip</a:t>
            </a:r>
            <a:endParaRPr lang="en-US" sz="2000" dirty="0">
              <a:solidFill>
                <a:schemeClr val="tx1"/>
              </a:solidFill>
            </a:endParaRPr>
          </a:p>
          <a:p>
            <a:pPr marL="0" indent="0">
              <a:buNone/>
            </a:pP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Start both services</a:t>
            </a:r>
            <a:endParaRPr lang="en-US" sz="3400" dirty="0"/>
          </a:p>
        </p:txBody>
      </p:sp>
      <p:sp>
        <p:nvSpPr>
          <p:cNvPr id="4" name="Text 1"/>
          <p:cNvSpPr txBox="1"/>
          <p:nvPr/>
        </p:nvSpPr>
        <p:spPr>
          <a:xfrm>
            <a:off x="548640" y="1143000"/>
            <a:ext cx="3657600" cy="274320"/>
          </a:xfrm>
          <a:prstGeom prst="rect">
            <a:avLst/>
          </a:prstGeom>
          <a:noFill/>
          <a:ln/>
        </p:spPr>
        <p:txBody>
          <a:bodyPr wrap="square" lIns="0" tIns="0" rIns="0" bIns="0" rtlCol="0" anchor="t"/>
          <a:lstStyle/>
          <a:p>
            <a:pPr marL="0" indent="0">
              <a:buNone/>
            </a:pPr>
            <a:r>
              <a:rPr lang="en-US" sz="1600" b="1" dirty="0">
                <a:solidFill>
                  <a:schemeClr val="accent6"/>
                </a:solidFill>
              </a:rPr>
              <a:t>Terminal 1</a:t>
            </a:r>
            <a:endParaRPr lang="en-US" sz="1600" dirty="0"/>
          </a:p>
        </p:txBody>
      </p:sp>
      <p:sp>
        <p:nvSpPr>
          <p:cNvPr id="5" name="code panel"/>
          <p:cNvSpPr/>
          <p:nvPr/>
        </p:nvSpPr>
        <p:spPr>
          <a:xfrm>
            <a:off x="548640" y="1444752"/>
            <a:ext cx="8046720" cy="868680"/>
          </a:xfrm>
          <a:prstGeom prst="roundRect">
            <a:avLst>
              <a:gd name="adj" fmla="val 8421"/>
            </a:avLst>
          </a:prstGeom>
          <a:solidFill>
            <a:schemeClr val="tx1"/>
          </a:solidFill>
          <a:ln/>
        </p:spPr>
        <p:txBody>
          <a:bodyPr/>
          <a:lstStyle/>
          <a:p>
            <a:endParaRPr lang="en-US"/>
          </a:p>
        </p:txBody>
      </p:sp>
      <p:sp>
        <p:nvSpPr>
          <p:cNvPr id="6" name="Text 3"/>
          <p:cNvSpPr txBox="1"/>
          <p:nvPr/>
        </p:nvSpPr>
        <p:spPr>
          <a:xfrm>
            <a:off x="731520" y="1572768"/>
            <a:ext cx="7680960" cy="612648"/>
          </a:xfrm>
          <a:prstGeom prst="rect">
            <a:avLst/>
          </a:prstGeom>
          <a:noFill/>
          <a:ln/>
        </p:spPr>
        <p:txBody>
          <a:bodyPr wrap="square" lIns="0" tIns="0" rIns="0" bIns="0" rtlCol="0" anchor="t"/>
          <a:lstStyle/>
          <a:p>
            <a:pPr marL="0" indent="0">
              <a:lnSpc>
                <a:spcPts val="2240"/>
              </a:lnSpc>
              <a:buNone/>
            </a:pPr>
            <a:r>
              <a:rPr lang="en-US" sz="1600" dirty="0">
                <a:solidFill>
                  <a:schemeClr val="accent1"/>
                </a:solidFill>
                <a:latin typeface="Courier New" pitchFamily="34" charset="0"/>
                <a:ea typeface="Courier New" pitchFamily="34" charset="-122"/>
                <a:cs typeface="Courier New" pitchFamily="34" charset="-120"/>
              </a:rPr>
              <a:t>cd services/title-normalizer</a:t>
            </a:r>
            <a:endParaRPr lang="en-US" sz="1600" dirty="0"/>
          </a:p>
          <a:p>
            <a:pPr marL="0" indent="0">
              <a:lnSpc>
                <a:spcPts val="2240"/>
              </a:lnSpc>
              <a:buNone/>
            </a:pPr>
            <a:r>
              <a:rPr lang="en-US" sz="1600" dirty="0">
                <a:solidFill>
                  <a:schemeClr val="accent1"/>
                </a:solidFill>
                <a:latin typeface="Courier New" pitchFamily="34" charset="0"/>
                <a:ea typeface="Courier New" pitchFamily="34" charset="-122"/>
                <a:cs typeface="Courier New" pitchFamily="34" charset="-120"/>
              </a:rPr>
              <a:t>flask --app app:create_app run --port 5001</a:t>
            </a:r>
            <a:endParaRPr lang="en-US" sz="1600" dirty="0"/>
          </a:p>
        </p:txBody>
      </p:sp>
      <p:sp>
        <p:nvSpPr>
          <p:cNvPr id="7" name="Text 4"/>
          <p:cNvSpPr txBox="1"/>
          <p:nvPr/>
        </p:nvSpPr>
        <p:spPr>
          <a:xfrm>
            <a:off x="548640" y="2423160"/>
            <a:ext cx="3864662" cy="274320"/>
          </a:xfrm>
          <a:prstGeom prst="rect">
            <a:avLst/>
          </a:prstGeom>
          <a:noFill/>
          <a:ln/>
        </p:spPr>
        <p:txBody>
          <a:bodyPr wrap="square" lIns="0" tIns="0" rIns="0" bIns="0" rtlCol="0" anchor="t"/>
          <a:lstStyle/>
          <a:p>
            <a:r>
              <a:rPr lang="en-US" sz="1600" b="1" dirty="0">
                <a:solidFill>
                  <a:schemeClr val="accent6"/>
                </a:solidFill>
              </a:rPr>
              <a:t>Terminal 2 (</a:t>
            </a:r>
            <a:r>
              <a:rPr lang="en-US" sz="1600" b="1" dirty="0"/>
              <a:t>Click the + to add new terminal)</a:t>
            </a:r>
            <a:endParaRPr lang="en-US" sz="1600" dirty="0"/>
          </a:p>
        </p:txBody>
      </p:sp>
      <p:sp>
        <p:nvSpPr>
          <p:cNvPr id="8" name="code panel"/>
          <p:cNvSpPr/>
          <p:nvPr/>
        </p:nvSpPr>
        <p:spPr>
          <a:xfrm>
            <a:off x="548640" y="2724912"/>
            <a:ext cx="8046720" cy="868680"/>
          </a:xfrm>
          <a:prstGeom prst="roundRect">
            <a:avLst>
              <a:gd name="adj" fmla="val 8421"/>
            </a:avLst>
          </a:prstGeom>
          <a:solidFill>
            <a:schemeClr val="tx1"/>
          </a:solidFill>
          <a:ln/>
        </p:spPr>
        <p:txBody>
          <a:bodyPr/>
          <a:lstStyle/>
          <a:p>
            <a:endParaRPr lang="en-US"/>
          </a:p>
        </p:txBody>
      </p:sp>
      <p:sp>
        <p:nvSpPr>
          <p:cNvPr id="9" name="Text 6"/>
          <p:cNvSpPr txBox="1"/>
          <p:nvPr/>
        </p:nvSpPr>
        <p:spPr>
          <a:xfrm>
            <a:off x="731520" y="2852928"/>
            <a:ext cx="7680960" cy="612648"/>
          </a:xfrm>
          <a:prstGeom prst="rect">
            <a:avLst/>
          </a:prstGeom>
          <a:noFill/>
          <a:ln/>
        </p:spPr>
        <p:txBody>
          <a:bodyPr wrap="square" lIns="0" tIns="0" rIns="0" bIns="0" rtlCol="0" anchor="t"/>
          <a:lstStyle/>
          <a:p>
            <a:pPr marL="0" indent="0">
              <a:lnSpc>
                <a:spcPts val="2240"/>
              </a:lnSpc>
              <a:buNone/>
            </a:pPr>
            <a:r>
              <a:rPr lang="en-US" sz="1600" dirty="0">
                <a:solidFill>
                  <a:schemeClr val="accent1"/>
                </a:solidFill>
                <a:latin typeface="Courier New" pitchFamily="34" charset="0"/>
                <a:ea typeface="Courier New" pitchFamily="34" charset="-122"/>
                <a:cs typeface="Courier New" pitchFamily="34" charset="-120"/>
              </a:rPr>
              <a:t>cd services/tasks-api</a:t>
            </a:r>
            <a:endParaRPr lang="en-US" sz="1600" dirty="0"/>
          </a:p>
          <a:p>
            <a:pPr marL="0" indent="0">
              <a:lnSpc>
                <a:spcPts val="2240"/>
              </a:lnSpc>
              <a:buNone/>
            </a:pPr>
            <a:r>
              <a:rPr lang="en-US" sz="1600" dirty="0">
                <a:solidFill>
                  <a:schemeClr val="accent1"/>
                </a:solidFill>
                <a:latin typeface="Courier New" pitchFamily="34" charset="0"/>
                <a:ea typeface="Courier New" pitchFamily="34" charset="-122"/>
                <a:cs typeface="Courier New" pitchFamily="34" charset="-120"/>
              </a:rPr>
              <a:t>flask --app app:create_app run --port 5000</a:t>
            </a:r>
            <a:endParaRPr lang="en-US" sz="1600" dirty="0"/>
          </a:p>
        </p:txBody>
      </p:sp>
      <p:sp>
        <p:nvSpPr>
          <p:cNvPr id="10" name="goal banner"/>
          <p:cNvSpPr/>
          <p:nvPr/>
        </p:nvSpPr>
        <p:spPr>
          <a:xfrm>
            <a:off x="548640" y="3749040"/>
            <a:ext cx="8046720" cy="731520"/>
          </a:xfrm>
          <a:prstGeom prst="roundRect">
            <a:avLst>
              <a:gd name="adj" fmla="val 10000"/>
            </a:avLst>
          </a:prstGeom>
          <a:solidFill>
            <a:schemeClr val="bg2"/>
          </a:solidFill>
          <a:ln/>
        </p:spPr>
        <p:txBody>
          <a:bodyPr/>
          <a:lstStyle/>
          <a:p>
            <a:endParaRPr lang="en-US"/>
          </a:p>
        </p:txBody>
      </p:sp>
      <p:sp>
        <p:nvSpPr>
          <p:cNvPr id="11" name="Text 8"/>
          <p:cNvSpPr txBox="1"/>
          <p:nvPr/>
        </p:nvSpPr>
        <p:spPr>
          <a:xfrm>
            <a:off x="777240" y="3749040"/>
            <a:ext cx="7589520" cy="731520"/>
          </a:xfrm>
          <a:prstGeom prst="rect">
            <a:avLst/>
          </a:prstGeom>
          <a:noFill/>
          <a:ln/>
        </p:spPr>
        <p:txBody>
          <a:bodyPr wrap="square" lIns="0" tIns="0" rIns="0" bIns="0" rtlCol="0" anchor="ctr"/>
          <a:lstStyle/>
          <a:p>
            <a:pPr marL="0" indent="0">
              <a:buNone/>
            </a:pPr>
            <a:r>
              <a:rPr lang="en-US" sz="1800" b="1" dirty="0">
                <a:solidFill>
                  <a:schemeClr val="tx1"/>
                </a:solidFill>
              </a:rPr>
              <a:t>Both show </a:t>
            </a:r>
            <a:r>
              <a:rPr lang="en-US" sz="1800" b="1" dirty="0">
                <a:solidFill>
                  <a:schemeClr val="tx1"/>
                </a:solidFill>
                <a:latin typeface="Courier New" pitchFamily="34" charset="0"/>
                <a:ea typeface="Courier New" pitchFamily="34" charset="-122"/>
                <a:cs typeface="Courier New" pitchFamily="34" charset="-120"/>
              </a:rPr>
              <a:t>Running on http://127.0.0.1:5001</a:t>
            </a:r>
            <a:r>
              <a:rPr lang="en-US" sz="1800" b="1" dirty="0">
                <a:solidFill>
                  <a:schemeClr val="tx1"/>
                </a:solidFill>
              </a:rPr>
              <a:t> and </a:t>
            </a:r>
            <a:r>
              <a:rPr lang="en-US" sz="1800" b="1" dirty="0">
                <a:solidFill>
                  <a:schemeClr val="tx1"/>
                </a:solidFill>
                <a:latin typeface="Courier New" pitchFamily="34" charset="0"/>
                <a:ea typeface="Courier New" pitchFamily="34" charset="-122"/>
                <a:cs typeface="Courier New" pitchFamily="34" charset="-120"/>
              </a:rPr>
              <a:t>:5000</a:t>
            </a:r>
            <a:r>
              <a:rPr lang="en-US" sz="1800" b="1" dirty="0">
                <a:solidFill>
                  <a:schemeClr val="tx1"/>
                </a:solidFill>
              </a:rPr>
              <a:t>. Hands up.</a:t>
            </a:r>
            <a:endParaRPr lang="en-US" sz="1800" dirty="0"/>
          </a:p>
        </p:txBody>
      </p:sp>
      <p:sp>
        <p:nvSpPr>
          <p:cNvPr id="12"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3" name="Text 10"/>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instructor demo and the README in your repo  →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A third terminal for curl</a:t>
            </a:r>
            <a:endParaRPr lang="en-US" sz="3400" dirty="0"/>
          </a:p>
        </p:txBody>
      </p:sp>
      <p:sp>
        <p:nvSpPr>
          <p:cNvPr id="4" name="Text 1"/>
          <p:cNvSpPr txBox="1"/>
          <p:nvPr/>
        </p:nvSpPr>
        <p:spPr>
          <a:xfrm>
            <a:off x="548640" y="1097280"/>
            <a:ext cx="8046720" cy="365760"/>
          </a:xfrm>
          <a:prstGeom prst="rect">
            <a:avLst/>
          </a:prstGeom>
          <a:noFill/>
          <a:ln/>
        </p:spPr>
        <p:txBody>
          <a:bodyPr wrap="square" lIns="0" tIns="0" rIns="0" bIns="0" rtlCol="0" anchor="t"/>
          <a:lstStyle/>
          <a:p>
            <a:pPr marL="0" indent="0">
              <a:buNone/>
            </a:pPr>
            <a:r>
              <a:rPr lang="en-US" sz="1800" b="1" dirty="0">
                <a:solidFill>
                  <a:schemeClr val="tx1"/>
                </a:solidFill>
              </a:rPr>
              <a:t>Click the + in the terminal panel. Terminals 1 and 2 keep running.</a:t>
            </a:r>
            <a:endParaRPr lang="en-US" sz="1800" dirty="0"/>
          </a:p>
        </p:txBody>
      </p:sp>
      <p:sp>
        <p:nvSpPr>
          <p:cNvPr id="5" name="code panel"/>
          <p:cNvSpPr/>
          <p:nvPr/>
        </p:nvSpPr>
        <p:spPr>
          <a:xfrm>
            <a:off x="548640" y="1554480"/>
            <a:ext cx="8046720" cy="2103120"/>
          </a:xfrm>
          <a:prstGeom prst="roundRect">
            <a:avLst>
              <a:gd name="adj" fmla="val 3478"/>
            </a:avLst>
          </a:prstGeom>
          <a:solidFill>
            <a:schemeClr val="tx1"/>
          </a:solidFill>
          <a:ln/>
        </p:spPr>
        <p:txBody>
          <a:bodyPr/>
          <a:lstStyle/>
          <a:p>
            <a:endParaRPr lang="en-US"/>
          </a:p>
        </p:txBody>
      </p:sp>
      <p:sp>
        <p:nvSpPr>
          <p:cNvPr id="6" name="Text 3"/>
          <p:cNvSpPr txBox="1"/>
          <p:nvPr/>
        </p:nvSpPr>
        <p:spPr>
          <a:xfrm>
            <a:off x="731520" y="1682496"/>
            <a:ext cx="7680960" cy="1847088"/>
          </a:xfrm>
          <a:prstGeom prst="rect">
            <a:avLst/>
          </a:prstGeom>
          <a:noFill/>
          <a:ln/>
        </p:spPr>
        <p:txBody>
          <a:bodyPr wrap="square" lIns="0" tIns="0" rIns="0" bIns="0" rtlCol="0" anchor="t"/>
          <a:lstStyle/>
          <a:p>
            <a:pPr marL="0" indent="0">
              <a:lnSpc>
                <a:spcPts val="2160"/>
              </a:lnSpc>
              <a:buNone/>
            </a:pPr>
            <a:r>
              <a:rPr lang="en-US" sz="1800" dirty="0">
                <a:solidFill>
                  <a:schemeClr val="accent1"/>
                </a:solidFill>
                <a:latin typeface="Courier New" pitchFamily="34" charset="0"/>
                <a:ea typeface="Courier New" pitchFamily="34" charset="-122"/>
                <a:cs typeface="Courier New" pitchFamily="34" charset="-120"/>
              </a:rPr>
              <a:t>curl -X POST localhost:5000/tasks -H 'Content-Type: application/json' -d '{"title": "  buy   milk "}'</a:t>
            </a:r>
            <a:endParaRPr lang="en-US" sz="1800" dirty="0"/>
          </a:p>
          <a:p>
            <a:pPr marL="0" indent="0">
              <a:lnSpc>
                <a:spcPts val="2160"/>
              </a:lnSpc>
              <a:buNone/>
            </a:pPr>
            <a:r>
              <a:rPr lang="en-US" sz="1800" dirty="0">
                <a:solidFill>
                  <a:schemeClr val="accent1"/>
                </a:solidFill>
                <a:latin typeface="Courier New" pitchFamily="34" charset="0"/>
                <a:ea typeface="Courier New" pitchFamily="34" charset="-122"/>
                <a:cs typeface="Courier New" pitchFamily="34" charset="-120"/>
              </a:rPr>
              <a:t> </a:t>
            </a:r>
            <a:endParaRPr lang="en-US" sz="1800" dirty="0"/>
          </a:p>
          <a:p>
            <a:pPr marL="0" indent="0">
              <a:lnSpc>
                <a:spcPts val="2160"/>
              </a:lnSpc>
              <a:buNone/>
            </a:pPr>
            <a:r>
              <a:rPr lang="en-US" sz="1800" dirty="0">
                <a:solidFill>
                  <a:schemeClr val="accent1"/>
                </a:solidFill>
                <a:latin typeface="Courier New" pitchFamily="34" charset="0"/>
                <a:ea typeface="Courier New" pitchFamily="34" charset="-122"/>
                <a:cs typeface="Courier New" pitchFamily="34" charset="-120"/>
              </a:rPr>
              <a:t>curl localhost:5000/tasks</a:t>
            </a:r>
            <a:endParaRPr lang="en-US" sz="1800" dirty="0"/>
          </a:p>
        </p:txBody>
      </p:sp>
      <p:sp>
        <p:nvSpPr>
          <p:cNvPr id="7" name="expect banner"/>
          <p:cNvSpPr/>
          <p:nvPr/>
        </p:nvSpPr>
        <p:spPr>
          <a:xfrm>
            <a:off x="548640" y="3749040"/>
            <a:ext cx="8046720" cy="777240"/>
          </a:xfrm>
          <a:prstGeom prst="roundRect">
            <a:avLst>
              <a:gd name="adj" fmla="val 9412"/>
            </a:avLst>
          </a:prstGeom>
          <a:solidFill>
            <a:schemeClr val="bg2"/>
          </a:solidFill>
          <a:ln/>
        </p:spPr>
        <p:txBody>
          <a:bodyPr/>
          <a:lstStyle/>
          <a:p>
            <a:endParaRPr lang="en-US"/>
          </a:p>
        </p:txBody>
      </p:sp>
      <p:sp>
        <p:nvSpPr>
          <p:cNvPr id="8" name="Text 5"/>
          <p:cNvSpPr txBox="1"/>
          <p:nvPr/>
        </p:nvSpPr>
        <p:spPr>
          <a:xfrm>
            <a:off x="777240" y="3749040"/>
            <a:ext cx="7589520" cy="777240"/>
          </a:xfrm>
          <a:prstGeom prst="rect">
            <a:avLst/>
          </a:prstGeom>
          <a:noFill/>
          <a:ln/>
        </p:spPr>
        <p:txBody>
          <a:bodyPr wrap="square" lIns="0" tIns="0" rIns="0" bIns="0" rtlCol="0" anchor="ctr"/>
          <a:lstStyle/>
          <a:p>
            <a:pPr marL="0" indent="0">
              <a:buNone/>
            </a:pPr>
            <a:r>
              <a:rPr lang="en-US" sz="2000" b="1" dirty="0">
                <a:solidFill>
                  <a:schemeClr val="tx1"/>
                </a:solidFill>
              </a:rPr>
              <a:t>You should see the title </a:t>
            </a:r>
            <a:r>
              <a:rPr lang="en-US" sz="2000" b="1" dirty="0">
                <a:solidFill>
                  <a:schemeClr val="tx1"/>
                </a:solidFill>
                <a:latin typeface="Courier New" pitchFamily="34" charset="0"/>
                <a:ea typeface="Courier New" pitchFamily="34" charset="-122"/>
                <a:cs typeface="Courier New" pitchFamily="34" charset="-120"/>
              </a:rPr>
              <a:t>Buy milk</a:t>
            </a:r>
            <a:r>
              <a:rPr lang="en-US" sz="2000" b="1" dirty="0">
                <a:solidFill>
                  <a:schemeClr val="tx1"/>
                </a:solidFill>
              </a:rPr>
              <a:t> and </a:t>
            </a:r>
            <a:r>
              <a:rPr lang="en-US" sz="2000" b="1" dirty="0">
                <a:solidFill>
                  <a:schemeClr val="tx1"/>
                </a:solidFill>
                <a:latin typeface="Courier New" pitchFamily="34" charset="0"/>
                <a:ea typeface="Courier New" pitchFamily="34" charset="-122"/>
                <a:cs typeface="Courier New" pitchFamily="34" charset="-120"/>
              </a:rPr>
              <a:t>"normalized": true</a:t>
            </a:r>
            <a:r>
              <a:rPr lang="en-US" sz="2000" b="1" dirty="0">
                <a:solidFill>
                  <a:schemeClr val="tx1"/>
                </a:solidFill>
              </a:rPr>
              <a:t>.</a:t>
            </a:r>
            <a:endParaRPr lang="en-US" sz="2000" dirty="0"/>
          </a:p>
        </p:txBody>
      </p:sp>
      <p:sp>
        <p:nvSpPr>
          <p:cNvPr id="9"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0" name="Text 7"/>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instructor demo and the README in your repo  →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Stop the function</a:t>
            </a:r>
            <a:endParaRPr lang="en-US" sz="3400" dirty="0"/>
          </a:p>
        </p:txBody>
      </p:sp>
      <p:sp>
        <p:nvSpPr>
          <p:cNvPr id="4" name="badge 1"/>
          <p:cNvSpPr/>
          <p:nvPr/>
        </p:nvSpPr>
        <p:spPr>
          <a:xfrm>
            <a:off x="548640" y="1225296"/>
            <a:ext cx="411480" cy="411480"/>
          </a:xfrm>
          <a:prstGeom prst="ellipse">
            <a:avLst/>
          </a:prstGeom>
          <a:solidFill>
            <a:schemeClr val="accent1"/>
          </a:solidFill>
          <a:ln/>
        </p:spPr>
        <p:txBody>
          <a:bodyPr/>
          <a:lstStyle/>
          <a:p>
            <a:endParaRPr lang="en-US"/>
          </a:p>
        </p:txBody>
      </p:sp>
      <p:sp>
        <p:nvSpPr>
          <p:cNvPr id="5" name="Text 2"/>
          <p:cNvSpPr txBox="1"/>
          <p:nvPr/>
        </p:nvSpPr>
        <p:spPr>
          <a:xfrm>
            <a:off x="548640" y="1225296"/>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1</a:t>
            </a:r>
            <a:endParaRPr lang="en-US" sz="1600" dirty="0"/>
          </a:p>
        </p:txBody>
      </p:sp>
      <p:sp>
        <p:nvSpPr>
          <p:cNvPr id="6" name="Text 3"/>
          <p:cNvSpPr txBox="1"/>
          <p:nvPr/>
        </p:nvSpPr>
        <p:spPr>
          <a:xfrm>
            <a:off x="1188720" y="1188720"/>
            <a:ext cx="7406640" cy="530352"/>
          </a:xfrm>
          <a:prstGeom prst="rect">
            <a:avLst/>
          </a:prstGeom>
          <a:noFill/>
          <a:ln/>
        </p:spPr>
        <p:txBody>
          <a:bodyPr wrap="square" lIns="0" tIns="0" rIns="0" bIns="0" rtlCol="0" anchor="ctr"/>
          <a:lstStyle/>
          <a:p>
            <a:pPr marL="0" indent="0">
              <a:buNone/>
            </a:pPr>
            <a:r>
              <a:rPr lang="en-US" sz="1700" b="1" dirty="0">
                <a:solidFill>
                  <a:schemeClr val="tx1"/>
                </a:solidFill>
              </a:rPr>
              <a:t>Terminal 1: press Ctrl+C.</a:t>
            </a:r>
            <a:endParaRPr lang="en-US" sz="1700" dirty="0"/>
          </a:p>
        </p:txBody>
      </p:sp>
      <p:sp>
        <p:nvSpPr>
          <p:cNvPr id="7" name="badge 2"/>
          <p:cNvSpPr/>
          <p:nvPr/>
        </p:nvSpPr>
        <p:spPr>
          <a:xfrm>
            <a:off x="548640" y="1792224"/>
            <a:ext cx="411480" cy="411480"/>
          </a:xfrm>
          <a:prstGeom prst="ellipse">
            <a:avLst/>
          </a:prstGeom>
          <a:solidFill>
            <a:schemeClr val="accent1"/>
          </a:solidFill>
          <a:ln/>
        </p:spPr>
        <p:txBody>
          <a:bodyPr/>
          <a:lstStyle/>
          <a:p>
            <a:endParaRPr lang="en-US"/>
          </a:p>
        </p:txBody>
      </p:sp>
      <p:sp>
        <p:nvSpPr>
          <p:cNvPr id="8" name="Text 5"/>
          <p:cNvSpPr txBox="1"/>
          <p:nvPr/>
        </p:nvSpPr>
        <p:spPr>
          <a:xfrm>
            <a:off x="548640" y="1792224"/>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2</a:t>
            </a:r>
            <a:endParaRPr lang="en-US" sz="1600" dirty="0"/>
          </a:p>
        </p:txBody>
      </p:sp>
      <p:sp>
        <p:nvSpPr>
          <p:cNvPr id="9" name="Text 6"/>
          <p:cNvSpPr txBox="1"/>
          <p:nvPr/>
        </p:nvSpPr>
        <p:spPr>
          <a:xfrm>
            <a:off x="1188720" y="1755648"/>
            <a:ext cx="7406640" cy="530352"/>
          </a:xfrm>
          <a:prstGeom prst="rect">
            <a:avLst/>
          </a:prstGeom>
          <a:noFill/>
          <a:ln/>
        </p:spPr>
        <p:txBody>
          <a:bodyPr wrap="square" lIns="0" tIns="0" rIns="0" bIns="0" rtlCol="0" anchor="ctr"/>
          <a:lstStyle/>
          <a:p>
            <a:pPr marL="0" indent="0">
              <a:buNone/>
            </a:pPr>
            <a:r>
              <a:rPr lang="en-US" sz="1700" b="1" dirty="0">
                <a:solidFill>
                  <a:schemeClr val="tx1"/>
                </a:solidFill>
              </a:rPr>
              <a:t>Terminal 3: create another task.</a:t>
            </a:r>
            <a:endParaRPr lang="en-US" sz="1700" dirty="0"/>
          </a:p>
        </p:txBody>
      </p:sp>
      <p:sp>
        <p:nvSpPr>
          <p:cNvPr id="10" name="badge 3"/>
          <p:cNvSpPr/>
          <p:nvPr/>
        </p:nvSpPr>
        <p:spPr>
          <a:xfrm>
            <a:off x="548640" y="2359152"/>
            <a:ext cx="411480" cy="411480"/>
          </a:xfrm>
          <a:prstGeom prst="ellipse">
            <a:avLst/>
          </a:prstGeom>
          <a:solidFill>
            <a:schemeClr val="accent1"/>
          </a:solidFill>
          <a:ln/>
        </p:spPr>
        <p:txBody>
          <a:bodyPr/>
          <a:lstStyle/>
          <a:p>
            <a:endParaRPr lang="en-US"/>
          </a:p>
        </p:txBody>
      </p:sp>
      <p:sp>
        <p:nvSpPr>
          <p:cNvPr id="11" name="Text 8"/>
          <p:cNvSpPr txBox="1"/>
          <p:nvPr/>
        </p:nvSpPr>
        <p:spPr>
          <a:xfrm>
            <a:off x="548640" y="2359152"/>
            <a:ext cx="411480" cy="411480"/>
          </a:xfrm>
          <a:prstGeom prst="rect">
            <a:avLst/>
          </a:prstGeom>
          <a:noFill/>
          <a:ln/>
        </p:spPr>
        <p:txBody>
          <a:bodyPr wrap="square" lIns="0" tIns="0" rIns="0" bIns="0" rtlCol="0" anchor="ctr"/>
          <a:lstStyle/>
          <a:p>
            <a:pPr marL="0" indent="0" algn="ctr">
              <a:buNone/>
            </a:pPr>
            <a:r>
              <a:rPr lang="en-US" sz="1600" b="1" dirty="0">
                <a:solidFill>
                  <a:schemeClr val="bg1"/>
                </a:solidFill>
              </a:rPr>
              <a:t>3</a:t>
            </a:r>
            <a:endParaRPr lang="en-US" sz="1600" dirty="0"/>
          </a:p>
        </p:txBody>
      </p:sp>
      <p:sp>
        <p:nvSpPr>
          <p:cNvPr id="12" name="Text 9"/>
          <p:cNvSpPr txBox="1"/>
          <p:nvPr/>
        </p:nvSpPr>
        <p:spPr>
          <a:xfrm>
            <a:off x="1188720" y="2322576"/>
            <a:ext cx="7406640" cy="530352"/>
          </a:xfrm>
          <a:prstGeom prst="rect">
            <a:avLst/>
          </a:prstGeom>
          <a:noFill/>
          <a:ln/>
        </p:spPr>
        <p:txBody>
          <a:bodyPr wrap="square" lIns="0" tIns="0" rIns="0" bIns="0" rtlCol="0" anchor="ctr"/>
          <a:lstStyle/>
          <a:p>
            <a:pPr marL="0" indent="0">
              <a:buNone/>
            </a:pPr>
            <a:r>
              <a:rPr lang="en-US" sz="1700" b="1" dirty="0">
                <a:solidFill>
                  <a:schemeClr val="tx1"/>
                </a:solidFill>
              </a:rPr>
              <a:t>Read the answer. Then start the function again in terminal 1 (up arrow, Enter).</a:t>
            </a:r>
            <a:endParaRPr lang="en-US" sz="1700" dirty="0"/>
          </a:p>
        </p:txBody>
      </p:sp>
      <p:sp>
        <p:nvSpPr>
          <p:cNvPr id="13" name="code panel"/>
          <p:cNvSpPr/>
          <p:nvPr/>
        </p:nvSpPr>
        <p:spPr>
          <a:xfrm>
            <a:off x="548640" y="3017520"/>
            <a:ext cx="8046720" cy="1188720"/>
          </a:xfrm>
          <a:prstGeom prst="roundRect">
            <a:avLst>
              <a:gd name="adj" fmla="val 6154"/>
            </a:avLst>
          </a:prstGeom>
          <a:solidFill>
            <a:schemeClr val="tx1"/>
          </a:solidFill>
          <a:ln/>
        </p:spPr>
        <p:txBody>
          <a:bodyPr/>
          <a:lstStyle/>
          <a:p>
            <a:endParaRPr lang="en-US"/>
          </a:p>
        </p:txBody>
      </p:sp>
      <p:sp>
        <p:nvSpPr>
          <p:cNvPr id="14" name="Text 11"/>
          <p:cNvSpPr txBox="1"/>
          <p:nvPr/>
        </p:nvSpPr>
        <p:spPr>
          <a:xfrm>
            <a:off x="731520" y="3145536"/>
            <a:ext cx="7680960" cy="932688"/>
          </a:xfrm>
          <a:prstGeom prst="rect">
            <a:avLst/>
          </a:prstGeom>
          <a:noFill/>
          <a:ln/>
        </p:spPr>
        <p:txBody>
          <a:bodyPr wrap="square" lIns="0" tIns="0" rIns="0" bIns="0" rtlCol="0" anchor="ctr"/>
          <a:lstStyle/>
          <a:p>
            <a:pPr marL="0" indent="0">
              <a:lnSpc>
                <a:spcPts val="2080"/>
              </a:lnSpc>
              <a:buNone/>
            </a:pPr>
            <a:r>
              <a:rPr lang="en-US" sz="1600" dirty="0">
                <a:solidFill>
                  <a:schemeClr val="accent1"/>
                </a:solidFill>
                <a:latin typeface="Courier New" pitchFamily="34" charset="0"/>
                <a:ea typeface="Courier New" pitchFamily="34" charset="-122"/>
                <a:cs typeface="Courier New" pitchFamily="34" charset="-120"/>
              </a:rPr>
              <a:t>curl -X POST localhost:5000/tasks -H 'Content-Type: application/json' -d '{"title": "  buy   milk "}'</a:t>
            </a:r>
            <a:endParaRPr lang="en-US" sz="1600" dirty="0"/>
          </a:p>
        </p:txBody>
      </p:sp>
      <p:sp>
        <p:nvSpPr>
          <p:cNvPr id="15"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6" name="Text 13"/>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instructor demo and the README in your repo  →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Run both test suites</a:t>
            </a:r>
            <a:endParaRPr lang="en-US" sz="3400" dirty="0"/>
          </a:p>
        </p:txBody>
      </p:sp>
      <p:sp>
        <p:nvSpPr>
          <p:cNvPr id="4" name="code panel"/>
          <p:cNvSpPr/>
          <p:nvPr/>
        </p:nvSpPr>
        <p:spPr>
          <a:xfrm>
            <a:off x="548640" y="1280160"/>
            <a:ext cx="4754880" cy="3108960"/>
          </a:xfrm>
          <a:prstGeom prst="roundRect">
            <a:avLst>
              <a:gd name="adj" fmla="val 2353"/>
            </a:avLst>
          </a:prstGeom>
          <a:solidFill>
            <a:schemeClr val="tx1"/>
          </a:solidFill>
          <a:ln/>
        </p:spPr>
        <p:txBody>
          <a:bodyPr/>
          <a:lstStyle/>
          <a:p>
            <a:endParaRPr lang="en-US"/>
          </a:p>
        </p:txBody>
      </p:sp>
      <p:sp>
        <p:nvSpPr>
          <p:cNvPr id="5" name="Text 2"/>
          <p:cNvSpPr txBox="1"/>
          <p:nvPr/>
        </p:nvSpPr>
        <p:spPr>
          <a:xfrm>
            <a:off x="731520" y="1408176"/>
            <a:ext cx="4389120" cy="2852928"/>
          </a:xfrm>
          <a:prstGeom prst="rect">
            <a:avLst/>
          </a:prstGeom>
          <a:noFill/>
          <a:ln/>
        </p:spPr>
        <p:txBody>
          <a:bodyPr wrap="square" lIns="0" tIns="0" rIns="0" bIns="0" rtlCol="0" anchor="ctr"/>
          <a:lstStyle/>
          <a:p>
            <a:pPr marL="0" indent="0">
              <a:lnSpc>
                <a:spcPts val="2700"/>
              </a:lnSpc>
              <a:buNone/>
            </a:pPr>
            <a:r>
              <a:rPr lang="en-US" sz="1800" dirty="0">
                <a:solidFill>
                  <a:schemeClr val="accent1"/>
                </a:solidFill>
                <a:latin typeface="Courier New" pitchFamily="34" charset="0"/>
                <a:ea typeface="Courier New" pitchFamily="34" charset="-122"/>
                <a:cs typeface="Courier New" pitchFamily="34" charset="-120"/>
              </a:rPr>
              <a:t>cd services/tasks-api</a:t>
            </a:r>
            <a:endParaRPr lang="en-US" sz="1800" dirty="0"/>
          </a:p>
          <a:p>
            <a:pPr marL="0" indent="0">
              <a:lnSpc>
                <a:spcPts val="2700"/>
              </a:lnSpc>
              <a:buNone/>
            </a:pPr>
            <a:r>
              <a:rPr lang="en-US" sz="1800" dirty="0">
                <a:solidFill>
                  <a:schemeClr val="accent1"/>
                </a:solidFill>
                <a:latin typeface="Courier New" pitchFamily="34" charset="0"/>
                <a:ea typeface="Courier New" pitchFamily="34" charset="-122"/>
                <a:cs typeface="Courier New" pitchFamily="34" charset="-120"/>
              </a:rPr>
              <a:t>pytest</a:t>
            </a:r>
            <a:endParaRPr lang="en-US" sz="1800" dirty="0"/>
          </a:p>
          <a:p>
            <a:pPr marL="0" indent="0">
              <a:lnSpc>
                <a:spcPts val="2700"/>
              </a:lnSpc>
              <a:buNone/>
            </a:pPr>
            <a:r>
              <a:rPr lang="en-US" sz="1800" dirty="0">
                <a:solidFill>
                  <a:schemeClr val="accent1"/>
                </a:solidFill>
                <a:latin typeface="Courier New" pitchFamily="34" charset="0"/>
                <a:ea typeface="Courier New" pitchFamily="34" charset="-122"/>
                <a:cs typeface="Courier New" pitchFamily="34" charset="-120"/>
              </a:rPr>
              <a:t> </a:t>
            </a:r>
            <a:endParaRPr lang="en-US" sz="1800" dirty="0"/>
          </a:p>
          <a:p>
            <a:pPr marL="0" indent="0">
              <a:lnSpc>
                <a:spcPts val="2700"/>
              </a:lnSpc>
              <a:buNone/>
            </a:pPr>
            <a:r>
              <a:rPr lang="en-US" sz="1800" dirty="0">
                <a:solidFill>
                  <a:schemeClr val="accent1"/>
                </a:solidFill>
                <a:latin typeface="Courier New" pitchFamily="34" charset="0"/>
                <a:ea typeface="Courier New" pitchFamily="34" charset="-122"/>
                <a:cs typeface="Courier New" pitchFamily="34" charset="-120"/>
              </a:rPr>
              <a:t>cd ../title-normalizer</a:t>
            </a:r>
            <a:endParaRPr lang="en-US" sz="1800" dirty="0"/>
          </a:p>
          <a:p>
            <a:pPr marL="0" indent="0">
              <a:lnSpc>
                <a:spcPts val="2700"/>
              </a:lnSpc>
              <a:buNone/>
            </a:pPr>
            <a:r>
              <a:rPr lang="en-US" sz="1800" dirty="0">
                <a:solidFill>
                  <a:schemeClr val="accent1"/>
                </a:solidFill>
                <a:latin typeface="Courier New" pitchFamily="34" charset="0"/>
                <a:ea typeface="Courier New" pitchFamily="34" charset="-122"/>
                <a:cs typeface="Courier New" pitchFamily="34" charset="-120"/>
              </a:rPr>
              <a:t>pytest</a:t>
            </a:r>
            <a:endParaRPr lang="en-US" sz="1800" dirty="0"/>
          </a:p>
        </p:txBody>
      </p:sp>
      <p:sp>
        <p:nvSpPr>
          <p:cNvPr id="6" name="result tasks-api"/>
          <p:cNvSpPr/>
          <p:nvPr/>
        </p:nvSpPr>
        <p:spPr>
          <a:xfrm>
            <a:off x="5486400" y="1280160"/>
            <a:ext cx="3108960" cy="1463040"/>
          </a:xfrm>
          <a:prstGeom prst="roundRect">
            <a:avLst>
              <a:gd name="adj" fmla="val 5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7" name="Text 4"/>
          <p:cNvSpPr txBox="1"/>
          <p:nvPr/>
        </p:nvSpPr>
        <p:spPr>
          <a:xfrm>
            <a:off x="5669280" y="1463040"/>
            <a:ext cx="2743200" cy="640080"/>
          </a:xfrm>
          <a:prstGeom prst="rect">
            <a:avLst/>
          </a:prstGeom>
          <a:noFill/>
          <a:ln/>
        </p:spPr>
        <p:txBody>
          <a:bodyPr wrap="square" lIns="0" tIns="0" rIns="0" bIns="0" rtlCol="0" anchor="t"/>
          <a:lstStyle/>
          <a:p>
            <a:pPr marL="0" indent="0">
              <a:buNone/>
            </a:pPr>
            <a:r>
              <a:rPr lang="en-US" sz="3600" b="1" dirty="0">
                <a:solidFill>
                  <a:schemeClr val="accent1"/>
                </a:solidFill>
                <a:latin typeface="Courier New" pitchFamily="34" charset="0"/>
                <a:ea typeface="Courier New" pitchFamily="34" charset="-122"/>
                <a:cs typeface="Courier New" pitchFamily="34" charset="-120"/>
              </a:rPr>
              <a:t>23 passed</a:t>
            </a:r>
            <a:endParaRPr lang="en-US" sz="3600" dirty="0"/>
          </a:p>
        </p:txBody>
      </p:sp>
      <p:sp>
        <p:nvSpPr>
          <p:cNvPr id="8" name="Text 5"/>
          <p:cNvSpPr txBox="1"/>
          <p:nvPr/>
        </p:nvSpPr>
        <p:spPr>
          <a:xfrm>
            <a:off x="5669280" y="2148840"/>
            <a:ext cx="2743200" cy="365760"/>
          </a:xfrm>
          <a:prstGeom prst="rect">
            <a:avLst/>
          </a:prstGeom>
          <a:noFill/>
          <a:ln/>
        </p:spPr>
        <p:txBody>
          <a:bodyPr wrap="square" lIns="0" tIns="0" rIns="0" bIns="0" rtlCol="0" anchor="t"/>
          <a:lstStyle/>
          <a:p>
            <a:pPr marL="0" indent="0">
              <a:buNone/>
            </a:pPr>
            <a:r>
              <a:rPr lang="en-US" sz="2000" b="1" dirty="0">
                <a:solidFill>
                  <a:schemeClr val="tx1"/>
                </a:solidFill>
              </a:rPr>
              <a:t>tasks-api</a:t>
            </a:r>
            <a:endParaRPr lang="en-US" sz="2000" dirty="0"/>
          </a:p>
        </p:txBody>
      </p:sp>
      <p:sp>
        <p:nvSpPr>
          <p:cNvPr id="9" name="result title-normalizer"/>
          <p:cNvSpPr/>
          <p:nvPr/>
        </p:nvSpPr>
        <p:spPr>
          <a:xfrm>
            <a:off x="5486400" y="2926080"/>
            <a:ext cx="3108960" cy="1463040"/>
          </a:xfrm>
          <a:prstGeom prst="roundRect">
            <a:avLst>
              <a:gd name="adj" fmla="val 5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5669280" y="3108960"/>
            <a:ext cx="2743200" cy="640080"/>
          </a:xfrm>
          <a:prstGeom prst="rect">
            <a:avLst/>
          </a:prstGeom>
          <a:noFill/>
          <a:ln/>
        </p:spPr>
        <p:txBody>
          <a:bodyPr wrap="square" lIns="0" tIns="0" rIns="0" bIns="0" rtlCol="0" anchor="t"/>
          <a:lstStyle/>
          <a:p>
            <a:pPr marL="0" indent="0">
              <a:buNone/>
            </a:pPr>
            <a:r>
              <a:rPr lang="en-US" sz="3600" b="1" dirty="0">
                <a:solidFill>
                  <a:schemeClr val="accent1"/>
                </a:solidFill>
                <a:latin typeface="Courier New" pitchFamily="34" charset="0"/>
                <a:ea typeface="Courier New" pitchFamily="34" charset="-122"/>
                <a:cs typeface="Courier New" pitchFamily="34" charset="-120"/>
              </a:rPr>
              <a:t>13 passed</a:t>
            </a:r>
            <a:endParaRPr lang="en-US" sz="3600" dirty="0"/>
          </a:p>
        </p:txBody>
      </p:sp>
      <p:sp>
        <p:nvSpPr>
          <p:cNvPr id="11" name="Text 8"/>
          <p:cNvSpPr txBox="1"/>
          <p:nvPr/>
        </p:nvSpPr>
        <p:spPr>
          <a:xfrm>
            <a:off x="5669280" y="3794760"/>
            <a:ext cx="2743200" cy="365760"/>
          </a:xfrm>
          <a:prstGeom prst="rect">
            <a:avLst/>
          </a:prstGeom>
          <a:noFill/>
          <a:ln/>
        </p:spPr>
        <p:txBody>
          <a:bodyPr wrap="square" lIns="0" tIns="0" rIns="0" bIns="0" rtlCol="0" anchor="t"/>
          <a:lstStyle/>
          <a:p>
            <a:pPr marL="0" indent="0">
              <a:buNone/>
            </a:pPr>
            <a:r>
              <a:rPr lang="en-US" sz="2000" b="1" dirty="0">
                <a:solidFill>
                  <a:schemeClr val="tx1"/>
                </a:solidFill>
              </a:rPr>
              <a:t>title-normalizer</a:t>
            </a:r>
            <a:endParaRPr lang="en-US" sz="2000" dirty="0"/>
          </a:p>
        </p:txBody>
      </p:sp>
      <p:sp>
        <p:nvSpPr>
          <p:cNvPr id="12"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3" name="Text 10"/>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instructor demo and the README in your repo  →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What is lint?</a:t>
            </a:r>
            <a:endParaRPr lang="en-US" sz="3400" dirty="0"/>
          </a:p>
        </p:txBody>
      </p:sp>
      <p:sp>
        <p:nvSpPr>
          <p:cNvPr id="4" name="What is lint? circle"/>
          <p:cNvSpPr/>
          <p:nvPr/>
        </p:nvSpPr>
        <p:spPr>
          <a:xfrm>
            <a:off x="640080" y="1600200"/>
            <a:ext cx="1463040" cy="1463040"/>
          </a:xfrm>
          <a:prstGeom prst="ellipse">
            <a:avLst/>
          </a:prstGeom>
          <a:solidFill>
            <a:srgbClr val="2EA043"/>
          </a:solidFill>
          <a:ln/>
        </p:spPr>
        <p:txBody>
          <a:bodyPr/>
          <a:lstStyle/>
          <a:p>
            <a:endParaRPr lang="en-US"/>
          </a:p>
        </p:txBody>
      </p:sp>
      <p:pic>
        <p:nvPicPr>
          <p:cNvPr id="5" name="What is lint? image" descr="FaSearch"/>
          <p:cNvPicPr>
            <a:picLocks noChangeAspect="1"/>
          </p:cNvPicPr>
          <p:nvPr/>
        </p:nvPicPr>
        <p:blipFill>
          <a:blip r:embed="rId3"/>
          <a:stretch>
            <a:fillRect/>
          </a:stretch>
        </p:blipFill>
        <p:spPr>
          <a:xfrm>
            <a:off x="1005840" y="1965960"/>
            <a:ext cx="731520" cy="731520"/>
          </a:xfrm>
          <a:prstGeom prst="rect">
            <a:avLst/>
          </a:prstGeom>
        </p:spPr>
      </p:pic>
      <p:sp>
        <p:nvSpPr>
          <p:cNvPr id="6" name="Text 2"/>
          <p:cNvSpPr txBox="1"/>
          <p:nvPr/>
        </p:nvSpPr>
        <p:spPr>
          <a:xfrm>
            <a:off x="2468880" y="1280160"/>
            <a:ext cx="6126480" cy="2377440"/>
          </a:xfrm>
          <a:prstGeom prst="rect">
            <a:avLst/>
          </a:prstGeom>
          <a:noFill/>
          <a:ln/>
        </p:spPr>
        <p:txBody>
          <a:bodyPr wrap="square" lIns="0" tIns="0" rIns="0" bIns="0" rtlCol="0" anchor="ctr"/>
          <a:lstStyle/>
          <a:p>
            <a:pPr marL="0" indent="0">
              <a:buNone/>
            </a:pPr>
            <a:r>
              <a:rPr lang="en-US" sz="3000" b="1" dirty="0">
                <a:solidFill>
                  <a:schemeClr val="tx1"/>
                </a:solidFill>
              </a:rPr>
              <a:t>A tool reads code without running it and points at suspicious spots.</a:t>
            </a:r>
            <a:endParaRPr lang="en-US" sz="3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Linters that exist</a:t>
            </a:r>
            <a:endParaRPr lang="en-US" sz="3400" dirty="0"/>
          </a:p>
        </p:txBody>
      </p:sp>
      <p:sp>
        <p:nvSpPr>
          <p:cNvPr id="4" name="card ruff"/>
          <p:cNvSpPr/>
          <p:nvPr/>
        </p:nvSpPr>
        <p:spPr>
          <a:xfrm>
            <a:off x="548640" y="1371600"/>
            <a:ext cx="2560320" cy="2926080"/>
          </a:xfrm>
          <a:prstGeom prst="roundRect">
            <a:avLst>
              <a:gd name="adj" fmla="val 285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Text 2"/>
          <p:cNvSpPr txBox="1"/>
          <p:nvPr/>
        </p:nvSpPr>
        <p:spPr>
          <a:xfrm>
            <a:off x="777240" y="1600200"/>
            <a:ext cx="2103120" cy="548640"/>
          </a:xfrm>
          <a:prstGeom prst="rect">
            <a:avLst/>
          </a:prstGeom>
          <a:noFill/>
          <a:ln/>
        </p:spPr>
        <p:txBody>
          <a:bodyPr wrap="square" lIns="0" tIns="0" rIns="0" bIns="0" rtlCol="0" anchor="t"/>
          <a:lstStyle/>
          <a:p>
            <a:pPr marL="0" indent="0">
              <a:buNone/>
            </a:pPr>
            <a:r>
              <a:rPr lang="en-US" sz="3000" b="1" dirty="0">
                <a:solidFill>
                  <a:schemeClr val="accent1"/>
                </a:solidFill>
                <a:latin typeface="Courier New" pitchFamily="34" charset="0"/>
                <a:ea typeface="Courier New" pitchFamily="34" charset="-122"/>
                <a:cs typeface="Courier New" pitchFamily="34" charset="-120"/>
              </a:rPr>
              <a:t>ruff</a:t>
            </a:r>
            <a:endParaRPr lang="en-US" sz="3000" dirty="0"/>
          </a:p>
        </p:txBody>
      </p:sp>
      <p:sp>
        <p:nvSpPr>
          <p:cNvPr id="6" name="Text 3"/>
          <p:cNvSpPr txBox="1"/>
          <p:nvPr/>
        </p:nvSpPr>
        <p:spPr>
          <a:xfrm>
            <a:off x="777240" y="2377440"/>
            <a:ext cx="2103120" cy="1737360"/>
          </a:xfrm>
          <a:prstGeom prst="rect">
            <a:avLst/>
          </a:prstGeom>
          <a:noFill/>
          <a:ln/>
        </p:spPr>
        <p:txBody>
          <a:bodyPr wrap="square" lIns="0" tIns="0" rIns="0" bIns="0" rtlCol="0" anchor="t"/>
          <a:lstStyle/>
          <a:p>
            <a:pPr marL="0" indent="0">
              <a:buNone/>
            </a:pPr>
            <a:r>
              <a:rPr lang="en-US" sz="1800" dirty="0">
                <a:solidFill>
                  <a:schemeClr val="tx1"/>
                </a:solidFill>
              </a:rPr>
              <a:t>An extremely fast Python linter and code formatter, written in Rust.</a:t>
            </a:r>
            <a:endParaRPr lang="en-US" sz="1800" dirty="0"/>
          </a:p>
        </p:txBody>
      </p:sp>
      <p:sp>
        <p:nvSpPr>
          <p:cNvPr id="7" name="card flake8"/>
          <p:cNvSpPr/>
          <p:nvPr/>
        </p:nvSpPr>
        <p:spPr>
          <a:xfrm>
            <a:off x="3291840" y="1371600"/>
            <a:ext cx="2560320" cy="2926080"/>
          </a:xfrm>
          <a:prstGeom prst="roundRect">
            <a:avLst>
              <a:gd name="adj" fmla="val 285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8" name="Text 5"/>
          <p:cNvSpPr txBox="1"/>
          <p:nvPr/>
        </p:nvSpPr>
        <p:spPr>
          <a:xfrm>
            <a:off x="3520440" y="1600200"/>
            <a:ext cx="2103120" cy="548640"/>
          </a:xfrm>
          <a:prstGeom prst="rect">
            <a:avLst/>
          </a:prstGeom>
          <a:noFill/>
          <a:ln/>
        </p:spPr>
        <p:txBody>
          <a:bodyPr wrap="square" lIns="0" tIns="0" rIns="0" bIns="0" rtlCol="0" anchor="t"/>
          <a:lstStyle/>
          <a:p>
            <a:pPr marL="0" indent="0">
              <a:buNone/>
            </a:pPr>
            <a:r>
              <a:rPr lang="en-US" sz="3000" b="1" dirty="0">
                <a:solidFill>
                  <a:schemeClr val="accent1"/>
                </a:solidFill>
                <a:latin typeface="Courier New" pitchFamily="34" charset="0"/>
                <a:ea typeface="Courier New" pitchFamily="34" charset="-122"/>
                <a:cs typeface="Courier New" pitchFamily="34" charset="-120"/>
              </a:rPr>
              <a:t>flake8</a:t>
            </a:r>
            <a:endParaRPr lang="en-US" sz="3000" dirty="0"/>
          </a:p>
        </p:txBody>
      </p:sp>
      <p:sp>
        <p:nvSpPr>
          <p:cNvPr id="9" name="Text 6"/>
          <p:cNvSpPr txBox="1"/>
          <p:nvPr/>
        </p:nvSpPr>
        <p:spPr>
          <a:xfrm>
            <a:off x="3520440" y="2377440"/>
            <a:ext cx="2103120" cy="1737360"/>
          </a:xfrm>
          <a:prstGeom prst="rect">
            <a:avLst/>
          </a:prstGeom>
          <a:noFill/>
          <a:ln/>
        </p:spPr>
        <p:txBody>
          <a:bodyPr wrap="square" lIns="0" tIns="0" rIns="0" bIns="0" rtlCol="0" anchor="t"/>
          <a:lstStyle/>
          <a:p>
            <a:pPr marL="0" indent="0">
              <a:buNone/>
            </a:pPr>
            <a:r>
              <a:rPr lang="en-US" sz="1800" dirty="0">
                <a:solidFill>
                  <a:schemeClr val="tx1"/>
                </a:solidFill>
              </a:rPr>
              <a:t>A wrapper around PyFlakes, pycodestyle and the McCabe script.</a:t>
            </a:r>
            <a:endParaRPr lang="en-US" sz="1800" dirty="0"/>
          </a:p>
        </p:txBody>
      </p:sp>
      <p:sp>
        <p:nvSpPr>
          <p:cNvPr id="10" name="card pylint"/>
          <p:cNvSpPr/>
          <p:nvPr/>
        </p:nvSpPr>
        <p:spPr>
          <a:xfrm>
            <a:off x="6035040" y="1371600"/>
            <a:ext cx="2560320" cy="2926080"/>
          </a:xfrm>
          <a:prstGeom prst="roundRect">
            <a:avLst>
              <a:gd name="adj" fmla="val 285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 name="Text 8"/>
          <p:cNvSpPr txBox="1"/>
          <p:nvPr/>
        </p:nvSpPr>
        <p:spPr>
          <a:xfrm>
            <a:off x="6263640" y="1600200"/>
            <a:ext cx="2103120" cy="548640"/>
          </a:xfrm>
          <a:prstGeom prst="rect">
            <a:avLst/>
          </a:prstGeom>
          <a:noFill/>
          <a:ln/>
        </p:spPr>
        <p:txBody>
          <a:bodyPr wrap="square" lIns="0" tIns="0" rIns="0" bIns="0" rtlCol="0" anchor="t"/>
          <a:lstStyle/>
          <a:p>
            <a:pPr marL="0" indent="0">
              <a:buNone/>
            </a:pPr>
            <a:r>
              <a:rPr lang="en-US" sz="3000" b="1" dirty="0">
                <a:solidFill>
                  <a:schemeClr val="accent1"/>
                </a:solidFill>
                <a:latin typeface="Courier New" pitchFamily="34" charset="0"/>
                <a:ea typeface="Courier New" pitchFamily="34" charset="-122"/>
                <a:cs typeface="Courier New" pitchFamily="34" charset="-120"/>
              </a:rPr>
              <a:t>pylint</a:t>
            </a:r>
            <a:endParaRPr lang="en-US" sz="3000" dirty="0"/>
          </a:p>
        </p:txBody>
      </p:sp>
      <p:sp>
        <p:nvSpPr>
          <p:cNvPr id="12" name="Text 9"/>
          <p:cNvSpPr txBox="1"/>
          <p:nvPr/>
        </p:nvSpPr>
        <p:spPr>
          <a:xfrm>
            <a:off x="6263640" y="2377440"/>
            <a:ext cx="2103120" cy="1737360"/>
          </a:xfrm>
          <a:prstGeom prst="rect">
            <a:avLst/>
          </a:prstGeom>
          <a:noFill/>
          <a:ln/>
        </p:spPr>
        <p:txBody>
          <a:bodyPr wrap="square" lIns="0" tIns="0" rIns="0" bIns="0" rtlCol="0" anchor="t"/>
          <a:lstStyle/>
          <a:p>
            <a:pPr marL="0" indent="0">
              <a:buNone/>
            </a:pPr>
            <a:r>
              <a:rPr lang="en-US" sz="1800" dirty="0">
                <a:solidFill>
                  <a:schemeClr val="tx1"/>
                </a:solidFill>
              </a:rPr>
              <a:t>A static code analyser for Python.</a:t>
            </a:r>
            <a:endParaRPr lang="en-US" sz="18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Bandit, a security scanner</a:t>
            </a:r>
            <a:endParaRPr lang="en-US" sz="3400" dirty="0"/>
          </a:p>
        </p:txBody>
      </p:sp>
      <p:sp>
        <p:nvSpPr>
          <p:cNvPr id="4" name="Text 1"/>
          <p:cNvSpPr txBox="1"/>
          <p:nvPr/>
        </p:nvSpPr>
        <p:spPr>
          <a:xfrm>
            <a:off x="548640" y="1234440"/>
            <a:ext cx="8046720" cy="914400"/>
          </a:xfrm>
          <a:prstGeom prst="rect">
            <a:avLst/>
          </a:prstGeom>
          <a:noFill/>
          <a:ln/>
        </p:spPr>
        <p:txBody>
          <a:bodyPr wrap="square" lIns="0" tIns="0" rIns="0" bIns="0" rtlCol="0" anchor="ctr"/>
          <a:lstStyle/>
          <a:p>
            <a:pPr marL="0" indent="0">
              <a:buNone/>
            </a:pPr>
            <a:r>
              <a:rPr lang="en-US" sz="2800" b="1" dirty="0">
                <a:solidFill>
                  <a:schemeClr val="tx1"/>
                </a:solidFill>
              </a:rPr>
              <a:t>Bandit looks for common security issues in Python code.</a:t>
            </a:r>
            <a:endParaRPr lang="en-US" sz="2800" dirty="0"/>
          </a:p>
        </p:txBody>
      </p:sp>
      <p:sp>
        <p:nvSpPr>
          <p:cNvPr id="5" name="example B105"/>
          <p:cNvSpPr/>
          <p:nvPr/>
        </p:nvSpPr>
        <p:spPr>
          <a:xfrm>
            <a:off x="548640" y="2468880"/>
            <a:ext cx="3931920" cy="1737360"/>
          </a:xfrm>
          <a:prstGeom prst="roundRect">
            <a:avLst>
              <a:gd name="adj" fmla="val 421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6" name="Text 3"/>
          <p:cNvSpPr txBox="1"/>
          <p:nvPr/>
        </p:nvSpPr>
        <p:spPr>
          <a:xfrm>
            <a:off x="822960" y="2651760"/>
            <a:ext cx="3383280" cy="548640"/>
          </a:xfrm>
          <a:prstGeom prst="rect">
            <a:avLst/>
          </a:prstGeom>
          <a:noFill/>
          <a:ln/>
        </p:spPr>
        <p:txBody>
          <a:bodyPr wrap="square" lIns="0" tIns="0" rIns="0" bIns="0" rtlCol="0" anchor="t"/>
          <a:lstStyle/>
          <a:p>
            <a:pPr marL="0" indent="0">
              <a:buNone/>
            </a:pPr>
            <a:r>
              <a:rPr lang="en-US" sz="3200" b="1" dirty="0">
                <a:solidFill>
                  <a:schemeClr val="accent3"/>
                </a:solidFill>
                <a:latin typeface="Courier New" pitchFamily="34" charset="0"/>
                <a:ea typeface="Courier New" pitchFamily="34" charset="-122"/>
                <a:cs typeface="Courier New" pitchFamily="34" charset="-120"/>
              </a:rPr>
              <a:t>B105</a:t>
            </a:r>
            <a:endParaRPr lang="en-US" sz="3200" dirty="0"/>
          </a:p>
        </p:txBody>
      </p:sp>
      <p:sp>
        <p:nvSpPr>
          <p:cNvPr id="7" name="Text 4"/>
          <p:cNvSpPr txBox="1"/>
          <p:nvPr/>
        </p:nvSpPr>
        <p:spPr>
          <a:xfrm>
            <a:off x="822960" y="3291840"/>
            <a:ext cx="3383280" cy="731520"/>
          </a:xfrm>
          <a:prstGeom prst="rect">
            <a:avLst/>
          </a:prstGeom>
          <a:noFill/>
          <a:ln/>
        </p:spPr>
        <p:txBody>
          <a:bodyPr wrap="square" lIns="0" tIns="0" rIns="0" bIns="0" rtlCol="0" anchor="t"/>
          <a:lstStyle/>
          <a:p>
            <a:pPr marL="0" indent="0">
              <a:buNone/>
            </a:pPr>
            <a:r>
              <a:rPr lang="en-US" sz="2000" dirty="0">
                <a:solidFill>
                  <a:schemeClr val="tx1"/>
                </a:solidFill>
              </a:rPr>
              <a:t>a hard-coded password</a:t>
            </a:r>
            <a:endParaRPr lang="en-US" sz="2000" dirty="0"/>
          </a:p>
        </p:txBody>
      </p:sp>
      <p:sp>
        <p:nvSpPr>
          <p:cNvPr id="8" name="example B602"/>
          <p:cNvSpPr/>
          <p:nvPr/>
        </p:nvSpPr>
        <p:spPr>
          <a:xfrm>
            <a:off x="4663440" y="2468880"/>
            <a:ext cx="3931920" cy="1737360"/>
          </a:xfrm>
          <a:prstGeom prst="roundRect">
            <a:avLst>
              <a:gd name="adj" fmla="val 421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4937760" y="2651760"/>
            <a:ext cx="3383280" cy="548640"/>
          </a:xfrm>
          <a:prstGeom prst="rect">
            <a:avLst/>
          </a:prstGeom>
          <a:noFill/>
          <a:ln/>
        </p:spPr>
        <p:txBody>
          <a:bodyPr wrap="square" lIns="0" tIns="0" rIns="0" bIns="0" rtlCol="0" anchor="t"/>
          <a:lstStyle/>
          <a:p>
            <a:pPr marL="0" indent="0">
              <a:buNone/>
            </a:pPr>
            <a:r>
              <a:rPr lang="en-US" sz="3200" b="1" dirty="0">
                <a:solidFill>
                  <a:schemeClr val="accent3"/>
                </a:solidFill>
                <a:latin typeface="Courier New" pitchFamily="34" charset="0"/>
                <a:ea typeface="Courier New" pitchFamily="34" charset="-122"/>
                <a:cs typeface="Courier New" pitchFamily="34" charset="-120"/>
              </a:rPr>
              <a:t>B602</a:t>
            </a:r>
            <a:endParaRPr lang="en-US" sz="3200" dirty="0"/>
          </a:p>
        </p:txBody>
      </p:sp>
      <p:sp>
        <p:nvSpPr>
          <p:cNvPr id="10" name="Text 7"/>
          <p:cNvSpPr txBox="1"/>
          <p:nvPr/>
        </p:nvSpPr>
        <p:spPr>
          <a:xfrm>
            <a:off x="4937760" y="3291840"/>
            <a:ext cx="3383280" cy="731520"/>
          </a:xfrm>
          <a:prstGeom prst="rect">
            <a:avLst/>
          </a:prstGeom>
          <a:noFill/>
          <a:ln/>
        </p:spPr>
        <p:txBody>
          <a:bodyPr wrap="square" lIns="0" tIns="0" rIns="0" bIns="0" rtlCol="0" anchor="t"/>
          <a:lstStyle/>
          <a:p>
            <a:pPr marL="0" indent="0">
              <a:buNone/>
            </a:pPr>
            <a:r>
              <a:rPr lang="en-US" sz="2000" dirty="0">
                <a:solidFill>
                  <a:schemeClr val="tx1"/>
                </a:solidFill>
              </a:rPr>
              <a:t>shell=True in a subprocess call</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bg1"/>
                </a:solidFill>
              </a:rPr>
              <a:t>Break</a:t>
            </a:r>
            <a:endParaRPr lang="en-US" sz="3400" dirty="0"/>
          </a:p>
        </p:txBody>
      </p:sp>
      <p:sp>
        <p:nvSpPr>
          <p:cNvPr id="4" name="break circle"/>
          <p:cNvSpPr/>
          <p:nvPr/>
        </p:nvSpPr>
        <p:spPr>
          <a:xfrm>
            <a:off x="640080" y="1554480"/>
            <a:ext cx="1463040" cy="1463040"/>
          </a:xfrm>
          <a:prstGeom prst="ellipse">
            <a:avLst/>
          </a:prstGeom>
          <a:solidFill>
            <a:srgbClr val="2EA043"/>
          </a:solidFill>
          <a:ln/>
        </p:spPr>
        <p:txBody>
          <a:bodyPr/>
          <a:lstStyle/>
          <a:p>
            <a:endParaRPr lang="en-US"/>
          </a:p>
        </p:txBody>
      </p:sp>
      <p:pic>
        <p:nvPicPr>
          <p:cNvPr id="5" name="break image" descr="FaCoffee"/>
          <p:cNvPicPr>
            <a:picLocks noChangeAspect="1"/>
          </p:cNvPicPr>
          <p:nvPr/>
        </p:nvPicPr>
        <p:blipFill>
          <a:blip r:embed="rId3"/>
          <a:stretch>
            <a:fillRect/>
          </a:stretch>
        </p:blipFill>
        <p:spPr>
          <a:xfrm>
            <a:off x="1005840" y="1920240"/>
            <a:ext cx="731520" cy="731520"/>
          </a:xfrm>
          <a:prstGeom prst="rect">
            <a:avLst/>
          </a:prstGeom>
        </p:spPr>
      </p:pic>
      <p:sp>
        <p:nvSpPr>
          <p:cNvPr id="6" name="Text 2"/>
          <p:cNvSpPr txBox="1"/>
          <p:nvPr/>
        </p:nvSpPr>
        <p:spPr>
          <a:xfrm>
            <a:off x="2468880" y="1554480"/>
            <a:ext cx="6126480" cy="1463040"/>
          </a:xfrm>
          <a:prstGeom prst="rect">
            <a:avLst/>
          </a:prstGeom>
          <a:noFill/>
          <a:ln/>
        </p:spPr>
        <p:txBody>
          <a:bodyPr wrap="square" lIns="0" tIns="0" rIns="0" bIns="0" rtlCol="0" anchor="ctr"/>
          <a:lstStyle/>
          <a:p>
            <a:pPr marL="0" indent="0">
              <a:buNone/>
            </a:pPr>
            <a:r>
              <a:rPr lang="en-US" sz="4400" b="1" dirty="0">
                <a:solidFill>
                  <a:schemeClr val="bg1"/>
                </a:solidFill>
                <a:latin typeface="Cambria" pitchFamily="34" charset="0"/>
                <a:ea typeface="Cambria" pitchFamily="34" charset="-122"/>
                <a:cs typeface="Cambria" pitchFamily="34" charset="-120"/>
              </a:rPr>
              <a:t>Five minutes.</a:t>
            </a:r>
            <a:endParaRPr lang="en-US" sz="4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Five steps, one file</a:t>
            </a:r>
            <a:endParaRPr lang="en-US" sz="3400" dirty="0"/>
          </a:p>
        </p:txBody>
      </p:sp>
      <p:sp>
        <p:nvSpPr>
          <p:cNvPr id="5" name="step 1"/>
          <p:cNvSpPr/>
          <p:nvPr/>
        </p:nvSpPr>
        <p:spPr>
          <a:xfrm>
            <a:off x="548640" y="2194560"/>
            <a:ext cx="1463040" cy="2286000"/>
          </a:xfrm>
          <a:prstGeom prst="roundRect">
            <a:avLst>
              <a:gd name="adj" fmla="val 5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6" name="badge 1"/>
          <p:cNvSpPr/>
          <p:nvPr/>
        </p:nvSpPr>
        <p:spPr>
          <a:xfrm>
            <a:off x="1051560" y="2377440"/>
            <a:ext cx="457200" cy="457200"/>
          </a:xfrm>
          <a:prstGeom prst="ellipse">
            <a:avLst/>
          </a:prstGeom>
          <a:solidFill>
            <a:schemeClr val="accent1"/>
          </a:solidFill>
          <a:ln/>
        </p:spPr>
        <p:txBody>
          <a:bodyPr/>
          <a:lstStyle/>
          <a:p>
            <a:endParaRPr lang="en-US"/>
          </a:p>
        </p:txBody>
      </p:sp>
      <p:sp>
        <p:nvSpPr>
          <p:cNvPr id="7" name="Text 4"/>
          <p:cNvSpPr txBox="1"/>
          <p:nvPr/>
        </p:nvSpPr>
        <p:spPr>
          <a:xfrm>
            <a:off x="1051560" y="237744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8" name="Text 5"/>
          <p:cNvSpPr txBox="1"/>
          <p:nvPr/>
        </p:nvSpPr>
        <p:spPr>
          <a:xfrm>
            <a:off x="658368" y="3017520"/>
            <a:ext cx="1243584" cy="1371600"/>
          </a:xfrm>
          <a:prstGeom prst="rect">
            <a:avLst/>
          </a:prstGeom>
          <a:noFill/>
          <a:ln/>
        </p:spPr>
        <p:txBody>
          <a:bodyPr wrap="square" lIns="0" tIns="0" rIns="0" bIns="0" rtlCol="0" anchor="t"/>
          <a:lstStyle/>
          <a:p>
            <a:pPr marL="0" indent="0" algn="ctr">
              <a:buNone/>
            </a:pPr>
            <a:r>
              <a:rPr lang="en-US" sz="1600" b="1" dirty="0">
                <a:solidFill>
                  <a:schemeClr val="tx1"/>
                </a:solidFill>
              </a:rPr>
              <a:t>The file and checkout</a:t>
            </a:r>
            <a:endParaRPr lang="en-US" sz="1600" dirty="0"/>
          </a:p>
        </p:txBody>
      </p:sp>
      <p:sp>
        <p:nvSpPr>
          <p:cNvPr id="9" name="step 2"/>
          <p:cNvSpPr/>
          <p:nvPr/>
        </p:nvSpPr>
        <p:spPr>
          <a:xfrm>
            <a:off x="2194560" y="2194560"/>
            <a:ext cx="1463040" cy="2286000"/>
          </a:xfrm>
          <a:prstGeom prst="roundRect">
            <a:avLst>
              <a:gd name="adj" fmla="val 5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 name="badge 2"/>
          <p:cNvSpPr/>
          <p:nvPr/>
        </p:nvSpPr>
        <p:spPr>
          <a:xfrm>
            <a:off x="2697480" y="2377440"/>
            <a:ext cx="457200" cy="457200"/>
          </a:xfrm>
          <a:prstGeom prst="ellipse">
            <a:avLst/>
          </a:prstGeom>
          <a:solidFill>
            <a:schemeClr val="accent1"/>
          </a:solidFill>
          <a:ln/>
        </p:spPr>
        <p:txBody>
          <a:bodyPr/>
          <a:lstStyle/>
          <a:p>
            <a:endParaRPr lang="en-US"/>
          </a:p>
        </p:txBody>
      </p:sp>
      <p:sp>
        <p:nvSpPr>
          <p:cNvPr id="11" name="Text 8"/>
          <p:cNvSpPr txBox="1"/>
          <p:nvPr/>
        </p:nvSpPr>
        <p:spPr>
          <a:xfrm>
            <a:off x="2697480" y="237744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2" name="Text 9"/>
          <p:cNvSpPr txBox="1"/>
          <p:nvPr/>
        </p:nvSpPr>
        <p:spPr>
          <a:xfrm>
            <a:off x="2304288" y="3017520"/>
            <a:ext cx="1243584" cy="1371600"/>
          </a:xfrm>
          <a:prstGeom prst="rect">
            <a:avLst/>
          </a:prstGeom>
          <a:noFill/>
          <a:ln/>
        </p:spPr>
        <p:txBody>
          <a:bodyPr wrap="square" lIns="0" tIns="0" rIns="0" bIns="0" rtlCol="0" anchor="t"/>
          <a:lstStyle/>
          <a:p>
            <a:pPr marL="0" indent="0" algn="ctr">
              <a:buNone/>
            </a:pPr>
            <a:r>
              <a:rPr lang="en-US" sz="1600" b="1" dirty="0">
                <a:solidFill>
                  <a:schemeClr val="tx1"/>
                </a:solidFill>
              </a:rPr>
              <a:t>Python and tests for one service</a:t>
            </a:r>
            <a:endParaRPr lang="en-US" sz="1600" dirty="0"/>
          </a:p>
        </p:txBody>
      </p:sp>
      <p:sp>
        <p:nvSpPr>
          <p:cNvPr id="13" name="step 3"/>
          <p:cNvSpPr/>
          <p:nvPr/>
        </p:nvSpPr>
        <p:spPr>
          <a:xfrm>
            <a:off x="3840480" y="2194560"/>
            <a:ext cx="1463040" cy="2286000"/>
          </a:xfrm>
          <a:prstGeom prst="roundRect">
            <a:avLst>
              <a:gd name="adj" fmla="val 5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4" name="badge 3"/>
          <p:cNvSpPr/>
          <p:nvPr/>
        </p:nvSpPr>
        <p:spPr>
          <a:xfrm>
            <a:off x="4343400" y="2377440"/>
            <a:ext cx="457200" cy="457200"/>
          </a:xfrm>
          <a:prstGeom prst="ellipse">
            <a:avLst/>
          </a:prstGeom>
          <a:solidFill>
            <a:schemeClr val="accent1"/>
          </a:solidFill>
          <a:ln/>
        </p:spPr>
        <p:txBody>
          <a:bodyPr/>
          <a:lstStyle/>
          <a:p>
            <a:endParaRPr lang="en-US"/>
          </a:p>
        </p:txBody>
      </p:sp>
      <p:sp>
        <p:nvSpPr>
          <p:cNvPr id="15" name="Text 12"/>
          <p:cNvSpPr txBox="1"/>
          <p:nvPr/>
        </p:nvSpPr>
        <p:spPr>
          <a:xfrm>
            <a:off x="4343400" y="237744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6" name="Text 13"/>
          <p:cNvSpPr txBox="1"/>
          <p:nvPr/>
        </p:nvSpPr>
        <p:spPr>
          <a:xfrm>
            <a:off x="3950208" y="3017520"/>
            <a:ext cx="1243584" cy="1371600"/>
          </a:xfrm>
          <a:prstGeom prst="rect">
            <a:avLst/>
          </a:prstGeom>
          <a:noFill/>
          <a:ln/>
        </p:spPr>
        <p:txBody>
          <a:bodyPr wrap="square" lIns="0" tIns="0" rIns="0" bIns="0" rtlCol="0" anchor="t"/>
          <a:lstStyle/>
          <a:p>
            <a:pPr marL="0" indent="0" algn="ctr">
              <a:buNone/>
            </a:pPr>
            <a:r>
              <a:rPr lang="en-US" sz="1600" b="1" dirty="0">
                <a:solidFill>
                  <a:schemeClr val="tx1"/>
                </a:solidFill>
              </a:rPr>
              <a:t>Both services with a matrix</a:t>
            </a:r>
            <a:endParaRPr lang="en-US" sz="1600" dirty="0"/>
          </a:p>
        </p:txBody>
      </p:sp>
      <p:sp>
        <p:nvSpPr>
          <p:cNvPr id="17" name="step 4"/>
          <p:cNvSpPr/>
          <p:nvPr/>
        </p:nvSpPr>
        <p:spPr>
          <a:xfrm>
            <a:off x="5486400" y="2194560"/>
            <a:ext cx="1463040" cy="2286000"/>
          </a:xfrm>
          <a:prstGeom prst="roundRect">
            <a:avLst>
              <a:gd name="adj" fmla="val 5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8" name="badge 4"/>
          <p:cNvSpPr/>
          <p:nvPr/>
        </p:nvSpPr>
        <p:spPr>
          <a:xfrm>
            <a:off x="5989320" y="2377440"/>
            <a:ext cx="457200" cy="457200"/>
          </a:xfrm>
          <a:prstGeom prst="ellipse">
            <a:avLst/>
          </a:prstGeom>
          <a:solidFill>
            <a:schemeClr val="accent1"/>
          </a:solidFill>
          <a:ln/>
        </p:spPr>
        <p:txBody>
          <a:bodyPr/>
          <a:lstStyle/>
          <a:p>
            <a:endParaRPr lang="en-US"/>
          </a:p>
        </p:txBody>
      </p:sp>
      <p:sp>
        <p:nvSpPr>
          <p:cNvPr id="19" name="Text 16"/>
          <p:cNvSpPr txBox="1"/>
          <p:nvPr/>
        </p:nvSpPr>
        <p:spPr>
          <a:xfrm>
            <a:off x="5989320" y="237744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4</a:t>
            </a:r>
            <a:endParaRPr lang="en-US" sz="2000" dirty="0"/>
          </a:p>
        </p:txBody>
      </p:sp>
      <p:sp>
        <p:nvSpPr>
          <p:cNvPr id="20" name="Text 17"/>
          <p:cNvSpPr txBox="1"/>
          <p:nvPr/>
        </p:nvSpPr>
        <p:spPr>
          <a:xfrm>
            <a:off x="5596128" y="3017520"/>
            <a:ext cx="1243584" cy="1371600"/>
          </a:xfrm>
          <a:prstGeom prst="rect">
            <a:avLst/>
          </a:prstGeom>
          <a:noFill/>
          <a:ln/>
        </p:spPr>
        <p:txBody>
          <a:bodyPr wrap="square" lIns="0" tIns="0" rIns="0" bIns="0" rtlCol="0" anchor="t"/>
          <a:lstStyle/>
          <a:p>
            <a:pPr marL="0" indent="0" algn="ctr">
              <a:buNone/>
            </a:pPr>
            <a:r>
              <a:rPr lang="en-US" sz="1600" b="1" dirty="0">
                <a:solidFill>
                  <a:schemeClr val="tx1"/>
                </a:solidFill>
              </a:rPr>
              <a:t>Save the test report</a:t>
            </a:r>
            <a:endParaRPr lang="en-US" sz="1600" dirty="0"/>
          </a:p>
        </p:txBody>
      </p:sp>
      <p:sp>
        <p:nvSpPr>
          <p:cNvPr id="21" name="step 5"/>
          <p:cNvSpPr/>
          <p:nvPr/>
        </p:nvSpPr>
        <p:spPr>
          <a:xfrm>
            <a:off x="7132320" y="2194560"/>
            <a:ext cx="1463040" cy="2286000"/>
          </a:xfrm>
          <a:prstGeom prst="roundRect">
            <a:avLst>
              <a:gd name="adj" fmla="val 5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22" name="badge 5"/>
          <p:cNvSpPr/>
          <p:nvPr/>
        </p:nvSpPr>
        <p:spPr>
          <a:xfrm>
            <a:off x="7635240" y="2377440"/>
            <a:ext cx="457200" cy="457200"/>
          </a:xfrm>
          <a:prstGeom prst="ellipse">
            <a:avLst/>
          </a:prstGeom>
          <a:solidFill>
            <a:schemeClr val="accent1"/>
          </a:solidFill>
          <a:ln/>
        </p:spPr>
        <p:txBody>
          <a:bodyPr/>
          <a:lstStyle/>
          <a:p>
            <a:endParaRPr lang="en-US"/>
          </a:p>
        </p:txBody>
      </p:sp>
      <p:sp>
        <p:nvSpPr>
          <p:cNvPr id="23" name="Text 20"/>
          <p:cNvSpPr txBox="1"/>
          <p:nvPr/>
        </p:nvSpPr>
        <p:spPr>
          <a:xfrm>
            <a:off x="7635240" y="237744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5</a:t>
            </a:r>
            <a:endParaRPr lang="en-US" sz="2000" dirty="0"/>
          </a:p>
        </p:txBody>
      </p:sp>
      <p:sp>
        <p:nvSpPr>
          <p:cNvPr id="24" name="Text 21"/>
          <p:cNvSpPr txBox="1"/>
          <p:nvPr/>
        </p:nvSpPr>
        <p:spPr>
          <a:xfrm>
            <a:off x="7242048" y="3017520"/>
            <a:ext cx="1243584" cy="1371600"/>
          </a:xfrm>
          <a:prstGeom prst="rect">
            <a:avLst/>
          </a:prstGeom>
          <a:noFill/>
          <a:ln/>
        </p:spPr>
        <p:txBody>
          <a:bodyPr wrap="square" lIns="0" tIns="0" rIns="0" bIns="0" rtlCol="0" anchor="t"/>
          <a:lstStyle/>
          <a:p>
            <a:pPr marL="0" indent="0" algn="ctr">
              <a:buNone/>
            </a:pPr>
            <a:r>
              <a:rPr lang="en-US" sz="1600" b="1" dirty="0">
                <a:solidFill>
                  <a:schemeClr val="tx1"/>
                </a:solidFill>
              </a:rPr>
              <a:t>Scan with Bandit</a:t>
            </a:r>
            <a:endParaRPr lang="en-US" sz="1600" dirty="0"/>
          </a:p>
        </p:txBody>
      </p:sp>
      <p:sp>
        <p:nvSpPr>
          <p:cNvPr id="25"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26" name="Text 23"/>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3"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Where to look</a:t>
            </a:r>
            <a:endParaRPr lang="en-US" sz="3400" dirty="0"/>
          </a:p>
        </p:txBody>
      </p:sp>
      <p:sp>
        <p:nvSpPr>
          <p:cNvPr id="4" name="box Your own earlier steps"/>
          <p:cNvSpPr/>
          <p:nvPr/>
        </p:nvSpPr>
        <p:spPr>
          <a:xfrm>
            <a:off x="548640" y="1554480"/>
            <a:ext cx="2468880" cy="1280160"/>
          </a:xfrm>
          <a:prstGeom prst="roundRect">
            <a:avLst>
              <a:gd name="adj" fmla="val 5714"/>
            </a:avLst>
          </a:prstGeom>
          <a:solidFill>
            <a:srgbClr val="2EA043"/>
          </a:solidFill>
          <a:ln/>
        </p:spPr>
        <p:txBody>
          <a:bodyPr/>
          <a:lstStyle/>
          <a:p>
            <a:endParaRPr lang="en-US"/>
          </a:p>
        </p:txBody>
      </p:sp>
      <p:sp>
        <p:nvSpPr>
          <p:cNvPr id="5" name="Text 2"/>
          <p:cNvSpPr txBox="1"/>
          <p:nvPr/>
        </p:nvSpPr>
        <p:spPr>
          <a:xfrm>
            <a:off x="640080" y="1554480"/>
            <a:ext cx="2286000" cy="1280160"/>
          </a:xfrm>
          <a:prstGeom prst="rect">
            <a:avLst/>
          </a:prstGeom>
          <a:noFill/>
          <a:ln/>
        </p:spPr>
        <p:txBody>
          <a:bodyPr wrap="square" lIns="0" tIns="0" rIns="0" bIns="0" rtlCol="0" anchor="ctr"/>
          <a:lstStyle/>
          <a:p>
            <a:pPr marL="0" indent="0" algn="ctr">
              <a:buNone/>
            </a:pPr>
            <a:r>
              <a:rPr lang="en-US" sz="2200" b="1" dirty="0">
                <a:solidFill>
                  <a:schemeClr val="bg1"/>
                </a:solidFill>
              </a:rPr>
              <a:t>Your own earlier steps</a:t>
            </a:r>
            <a:endParaRPr lang="en-US" sz="2200" dirty="0"/>
          </a:p>
        </p:txBody>
      </p:sp>
      <p:sp>
        <p:nvSpPr>
          <p:cNvPr id="6" name="arrow"/>
          <p:cNvSpPr/>
          <p:nvPr/>
        </p:nvSpPr>
        <p:spPr>
          <a:xfrm>
            <a:off x="3054096" y="2066544"/>
            <a:ext cx="274320" cy="292608"/>
          </a:xfrm>
          <a:prstGeom prst="rightArrow">
            <a:avLst/>
          </a:prstGeom>
          <a:solidFill>
            <a:schemeClr val="accent6"/>
          </a:solidFill>
          <a:ln/>
        </p:spPr>
        <p:txBody>
          <a:bodyPr/>
          <a:lstStyle/>
          <a:p>
            <a:endParaRPr lang="en-US"/>
          </a:p>
        </p:txBody>
      </p:sp>
      <p:sp>
        <p:nvSpPr>
          <p:cNvPr id="7" name="box GitHub Docs"/>
          <p:cNvSpPr/>
          <p:nvPr/>
        </p:nvSpPr>
        <p:spPr>
          <a:xfrm>
            <a:off x="3337560" y="1554480"/>
            <a:ext cx="2468880" cy="1280160"/>
          </a:xfrm>
          <a:prstGeom prst="roundRect">
            <a:avLst>
              <a:gd name="adj" fmla="val 5714"/>
            </a:avLst>
          </a:prstGeom>
          <a:solidFill>
            <a:srgbClr val="2EA043"/>
          </a:solidFill>
          <a:ln/>
        </p:spPr>
        <p:txBody>
          <a:bodyPr/>
          <a:lstStyle/>
          <a:p>
            <a:endParaRPr lang="en-US"/>
          </a:p>
        </p:txBody>
      </p:sp>
      <p:sp>
        <p:nvSpPr>
          <p:cNvPr id="8" name="Text 5"/>
          <p:cNvSpPr txBox="1"/>
          <p:nvPr/>
        </p:nvSpPr>
        <p:spPr>
          <a:xfrm>
            <a:off x="3429000" y="1554480"/>
            <a:ext cx="2286000" cy="1280160"/>
          </a:xfrm>
          <a:prstGeom prst="rect">
            <a:avLst/>
          </a:prstGeom>
          <a:noFill/>
          <a:ln/>
        </p:spPr>
        <p:txBody>
          <a:bodyPr wrap="square" lIns="0" tIns="0" rIns="0" bIns="0" rtlCol="0" anchor="ctr"/>
          <a:lstStyle/>
          <a:p>
            <a:pPr marL="0" indent="0" algn="ctr">
              <a:buNone/>
            </a:pPr>
            <a:r>
              <a:rPr lang="en-US" sz="2200" b="1" dirty="0">
                <a:solidFill>
                  <a:schemeClr val="bg1"/>
                </a:solidFill>
              </a:rPr>
              <a:t>GitHub Docs</a:t>
            </a:r>
            <a:endParaRPr lang="en-US" sz="2200" dirty="0"/>
          </a:p>
        </p:txBody>
      </p:sp>
      <p:sp>
        <p:nvSpPr>
          <p:cNvPr id="9" name="arrow"/>
          <p:cNvSpPr/>
          <p:nvPr/>
        </p:nvSpPr>
        <p:spPr>
          <a:xfrm>
            <a:off x="5843016" y="2066544"/>
            <a:ext cx="274320" cy="292608"/>
          </a:xfrm>
          <a:prstGeom prst="rightArrow">
            <a:avLst/>
          </a:prstGeom>
          <a:solidFill>
            <a:schemeClr val="accent6"/>
          </a:solidFill>
          <a:ln/>
        </p:spPr>
        <p:txBody>
          <a:bodyPr/>
          <a:lstStyle/>
          <a:p>
            <a:endParaRPr lang="en-US"/>
          </a:p>
        </p:txBody>
      </p:sp>
      <p:sp>
        <p:nvSpPr>
          <p:cNvPr id="10" name="box Raise your hand"/>
          <p:cNvSpPr/>
          <p:nvPr/>
        </p:nvSpPr>
        <p:spPr>
          <a:xfrm>
            <a:off x="6126480" y="1554480"/>
            <a:ext cx="2468880" cy="1280160"/>
          </a:xfrm>
          <a:prstGeom prst="roundRect">
            <a:avLst>
              <a:gd name="adj" fmla="val 5714"/>
            </a:avLst>
          </a:prstGeom>
          <a:solidFill>
            <a:schemeClr val="accent2"/>
          </a:solidFill>
          <a:ln/>
        </p:spPr>
        <p:txBody>
          <a:bodyPr/>
          <a:lstStyle/>
          <a:p>
            <a:endParaRPr lang="en-US"/>
          </a:p>
        </p:txBody>
      </p:sp>
      <p:sp>
        <p:nvSpPr>
          <p:cNvPr id="11" name="Text 8"/>
          <p:cNvSpPr txBox="1"/>
          <p:nvPr/>
        </p:nvSpPr>
        <p:spPr>
          <a:xfrm>
            <a:off x="6217920" y="1554480"/>
            <a:ext cx="2286000" cy="1280160"/>
          </a:xfrm>
          <a:prstGeom prst="rect">
            <a:avLst/>
          </a:prstGeom>
          <a:noFill/>
          <a:ln/>
        </p:spPr>
        <p:txBody>
          <a:bodyPr wrap="square" lIns="0" tIns="0" rIns="0" bIns="0" rtlCol="0" anchor="ctr"/>
          <a:lstStyle/>
          <a:p>
            <a:pPr marL="0" indent="0" algn="ctr">
              <a:buNone/>
            </a:pPr>
            <a:r>
              <a:rPr lang="en-US" sz="2200" b="1" dirty="0">
                <a:solidFill>
                  <a:schemeClr val="bg1"/>
                </a:solidFill>
              </a:rPr>
              <a:t>Raise your hand</a:t>
            </a:r>
            <a:endParaRPr lang="en-US" sz="2200" dirty="0"/>
          </a:p>
        </p:txBody>
      </p:sp>
      <p:sp>
        <p:nvSpPr>
          <p:cNvPr id="12" name="Text 9"/>
          <p:cNvSpPr txBox="1"/>
          <p:nvPr/>
        </p:nvSpPr>
        <p:spPr>
          <a:xfrm>
            <a:off x="548640" y="3017520"/>
            <a:ext cx="8046720" cy="457200"/>
          </a:xfrm>
          <a:prstGeom prst="rect">
            <a:avLst/>
          </a:prstGeom>
          <a:noFill/>
          <a:ln/>
        </p:spPr>
        <p:txBody>
          <a:bodyPr wrap="square" lIns="0" tIns="0" rIns="0" bIns="0" rtlCol="0" anchor="ctr"/>
          <a:lstStyle/>
          <a:p>
            <a:pPr marL="0" indent="0">
              <a:buNone/>
            </a:pPr>
            <a:r>
              <a:rPr lang="en-US" sz="2400" b="1" dirty="0">
                <a:solidFill>
                  <a:schemeClr val="accent6"/>
                </a:solidFill>
              </a:rPr>
              <a:t>GitHub Docs: </a:t>
            </a:r>
            <a:r>
              <a:rPr lang="en-US" sz="2400" b="1" dirty="0">
                <a:solidFill>
                  <a:schemeClr val="tx1"/>
                </a:solidFill>
              </a:rPr>
              <a:t>Workflow syntax for GitHub Actions</a:t>
            </a:r>
            <a:endParaRPr lang="en-US" sz="2400" dirty="0"/>
          </a:p>
        </p:txBody>
      </p:sp>
      <p:sp>
        <p:nvSpPr>
          <p:cNvPr id="13" name="Text 10"/>
          <p:cNvSpPr txBox="1"/>
          <p:nvPr/>
        </p:nvSpPr>
        <p:spPr>
          <a:xfrm>
            <a:off x="548640" y="3657600"/>
            <a:ext cx="8046720" cy="731520"/>
          </a:xfrm>
          <a:prstGeom prst="rect">
            <a:avLst/>
          </a:prstGeom>
          <a:noFill/>
          <a:ln/>
        </p:spPr>
        <p:txBody>
          <a:bodyPr wrap="square" lIns="0" tIns="0" rIns="0" bIns="0" rtlCol="0" anchor="ctr"/>
          <a:lstStyle/>
          <a:p>
            <a:pPr marL="0" indent="0">
              <a:buNone/>
            </a:pPr>
            <a:r>
              <a:rPr lang="en-US" sz="2200" dirty="0">
                <a:solidFill>
                  <a:schemeClr val="accent6"/>
                </a:solidFill>
              </a:rPr>
              <a:t>The answer slide appears at the mark of each step, not before.</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A red run is information</a:t>
            </a:r>
            <a:endParaRPr lang="en-US" sz="3400" dirty="0"/>
          </a:p>
        </p:txBody>
      </p:sp>
      <p:sp>
        <p:nvSpPr>
          <p:cNvPr id="4" name="Text 1"/>
          <p:cNvSpPr txBox="1"/>
          <p:nvPr/>
        </p:nvSpPr>
        <p:spPr>
          <a:xfrm>
            <a:off x="548640" y="1188720"/>
            <a:ext cx="8046720" cy="548640"/>
          </a:xfrm>
          <a:prstGeom prst="rect">
            <a:avLst/>
          </a:prstGeom>
          <a:noFill/>
          <a:ln/>
        </p:spPr>
        <p:txBody>
          <a:bodyPr wrap="square" lIns="0" tIns="0" rIns="0" bIns="0" rtlCol="0" anchor="ctr"/>
          <a:lstStyle/>
          <a:p>
            <a:pPr marL="0" indent="0">
              <a:buNone/>
            </a:pPr>
            <a:r>
              <a:rPr lang="en-US" sz="2800" b="1" dirty="0">
                <a:solidFill>
                  <a:schemeClr val="tx1"/>
                </a:solidFill>
              </a:rPr>
              <a:t>Read the log before you change anything.</a:t>
            </a:r>
            <a:endParaRPr lang="en-US" sz="2800" dirty="0"/>
          </a:p>
        </p:txBody>
      </p:sp>
      <p:sp>
        <p:nvSpPr>
          <p:cNvPr id="5" name="Text 2"/>
          <p:cNvSpPr txBox="1"/>
          <p:nvPr/>
        </p:nvSpPr>
        <p:spPr>
          <a:xfrm>
            <a:off x="548640" y="1783080"/>
            <a:ext cx="8046720" cy="548640"/>
          </a:xfrm>
          <a:prstGeom prst="rect">
            <a:avLst/>
          </a:prstGeom>
          <a:noFill/>
          <a:ln/>
        </p:spPr>
        <p:txBody>
          <a:bodyPr wrap="square" lIns="0" tIns="0" rIns="0" bIns="0" rtlCol="0" anchor="ctr"/>
          <a:lstStyle/>
          <a:p>
            <a:pPr marL="0" indent="0">
              <a:buNone/>
            </a:pPr>
            <a:r>
              <a:rPr lang="en-US" sz="2800" b="1" dirty="0">
                <a:solidFill>
                  <a:schemeClr val="accent2"/>
                </a:solidFill>
              </a:rPr>
              <a:t>Change one thing at a time.</a:t>
            </a:r>
            <a:endParaRPr lang="en-US" sz="2800" dirty="0"/>
          </a:p>
        </p:txBody>
      </p:sp>
      <p:sp>
        <p:nvSpPr>
          <p:cNvPr id="6" name="box Save"/>
          <p:cNvSpPr/>
          <p:nvPr/>
        </p:nvSpPr>
        <p:spPr>
          <a:xfrm>
            <a:off x="548640" y="2926080"/>
            <a:ext cx="1737360" cy="1005840"/>
          </a:xfrm>
          <a:prstGeom prst="roundRect">
            <a:avLst>
              <a:gd name="adj" fmla="val 7273"/>
            </a:avLst>
          </a:prstGeom>
          <a:solidFill>
            <a:srgbClr val="2EA043"/>
          </a:solidFill>
          <a:ln/>
        </p:spPr>
        <p:txBody>
          <a:bodyPr/>
          <a:lstStyle/>
          <a:p>
            <a:endParaRPr lang="en-US"/>
          </a:p>
        </p:txBody>
      </p:sp>
      <p:sp>
        <p:nvSpPr>
          <p:cNvPr id="7" name="Text 4"/>
          <p:cNvSpPr txBox="1"/>
          <p:nvPr/>
        </p:nvSpPr>
        <p:spPr>
          <a:xfrm>
            <a:off x="640080" y="2926080"/>
            <a:ext cx="1554480" cy="1005840"/>
          </a:xfrm>
          <a:prstGeom prst="rect">
            <a:avLst/>
          </a:prstGeom>
          <a:noFill/>
          <a:ln/>
        </p:spPr>
        <p:txBody>
          <a:bodyPr wrap="square" lIns="0" tIns="0" rIns="0" bIns="0" rtlCol="0" anchor="ctr"/>
          <a:lstStyle/>
          <a:p>
            <a:pPr marL="0" indent="0" algn="ctr">
              <a:buNone/>
            </a:pPr>
            <a:r>
              <a:rPr lang="en-US" sz="2000" b="1" dirty="0">
                <a:solidFill>
                  <a:schemeClr val="bg1"/>
                </a:solidFill>
              </a:rPr>
              <a:t>Save</a:t>
            </a:r>
            <a:endParaRPr lang="en-US" sz="2000" dirty="0"/>
          </a:p>
        </p:txBody>
      </p:sp>
      <p:sp>
        <p:nvSpPr>
          <p:cNvPr id="8" name="arrow"/>
          <p:cNvSpPr/>
          <p:nvPr/>
        </p:nvSpPr>
        <p:spPr>
          <a:xfrm>
            <a:off x="2313432" y="3291840"/>
            <a:ext cx="274320" cy="292608"/>
          </a:xfrm>
          <a:prstGeom prst="rightArrow">
            <a:avLst/>
          </a:prstGeom>
          <a:solidFill>
            <a:schemeClr val="accent6"/>
          </a:solidFill>
          <a:ln/>
        </p:spPr>
        <p:txBody>
          <a:bodyPr/>
          <a:lstStyle/>
          <a:p>
            <a:endParaRPr lang="en-US"/>
          </a:p>
        </p:txBody>
      </p:sp>
      <p:sp>
        <p:nvSpPr>
          <p:cNvPr id="9" name="box Commit"/>
          <p:cNvSpPr/>
          <p:nvPr/>
        </p:nvSpPr>
        <p:spPr>
          <a:xfrm>
            <a:off x="2606040" y="2926080"/>
            <a:ext cx="1737360" cy="1005840"/>
          </a:xfrm>
          <a:prstGeom prst="roundRect">
            <a:avLst>
              <a:gd name="adj" fmla="val 7273"/>
            </a:avLst>
          </a:prstGeom>
          <a:solidFill>
            <a:srgbClr val="2EA043"/>
          </a:solidFill>
          <a:ln/>
        </p:spPr>
        <p:txBody>
          <a:bodyPr/>
          <a:lstStyle/>
          <a:p>
            <a:endParaRPr lang="en-US"/>
          </a:p>
        </p:txBody>
      </p:sp>
      <p:sp>
        <p:nvSpPr>
          <p:cNvPr id="10" name="Text 7"/>
          <p:cNvSpPr txBox="1"/>
          <p:nvPr/>
        </p:nvSpPr>
        <p:spPr>
          <a:xfrm>
            <a:off x="2697480" y="2926080"/>
            <a:ext cx="1554480" cy="1005840"/>
          </a:xfrm>
          <a:prstGeom prst="rect">
            <a:avLst/>
          </a:prstGeom>
          <a:noFill/>
          <a:ln/>
        </p:spPr>
        <p:txBody>
          <a:bodyPr wrap="square" lIns="0" tIns="0" rIns="0" bIns="0" rtlCol="0" anchor="ctr"/>
          <a:lstStyle/>
          <a:p>
            <a:pPr marL="0" indent="0" algn="ctr">
              <a:buNone/>
            </a:pPr>
            <a:r>
              <a:rPr lang="en-US" sz="2000" b="1" dirty="0">
                <a:solidFill>
                  <a:schemeClr val="bg1"/>
                </a:solidFill>
              </a:rPr>
              <a:t>Commit</a:t>
            </a:r>
            <a:endParaRPr lang="en-US" sz="2000" dirty="0"/>
          </a:p>
        </p:txBody>
      </p:sp>
      <p:sp>
        <p:nvSpPr>
          <p:cNvPr id="11" name="arrow"/>
          <p:cNvSpPr/>
          <p:nvPr/>
        </p:nvSpPr>
        <p:spPr>
          <a:xfrm>
            <a:off x="4370832" y="3291840"/>
            <a:ext cx="274320" cy="292608"/>
          </a:xfrm>
          <a:prstGeom prst="rightArrow">
            <a:avLst/>
          </a:prstGeom>
          <a:solidFill>
            <a:schemeClr val="accent6"/>
          </a:solidFill>
          <a:ln/>
        </p:spPr>
        <p:txBody>
          <a:bodyPr/>
          <a:lstStyle/>
          <a:p>
            <a:endParaRPr lang="en-US"/>
          </a:p>
        </p:txBody>
      </p:sp>
      <p:sp>
        <p:nvSpPr>
          <p:cNvPr id="12" name="box Push to main"/>
          <p:cNvSpPr/>
          <p:nvPr/>
        </p:nvSpPr>
        <p:spPr>
          <a:xfrm>
            <a:off x="4663440" y="2926080"/>
            <a:ext cx="1737360" cy="1005840"/>
          </a:xfrm>
          <a:prstGeom prst="roundRect">
            <a:avLst>
              <a:gd name="adj" fmla="val 7273"/>
            </a:avLst>
          </a:prstGeom>
          <a:solidFill>
            <a:srgbClr val="2EA043"/>
          </a:solidFill>
          <a:ln/>
        </p:spPr>
        <p:txBody>
          <a:bodyPr/>
          <a:lstStyle/>
          <a:p>
            <a:endParaRPr lang="en-US"/>
          </a:p>
        </p:txBody>
      </p:sp>
      <p:sp>
        <p:nvSpPr>
          <p:cNvPr id="13" name="Text 10"/>
          <p:cNvSpPr txBox="1"/>
          <p:nvPr/>
        </p:nvSpPr>
        <p:spPr>
          <a:xfrm>
            <a:off x="4754880" y="2926080"/>
            <a:ext cx="1554480" cy="1005840"/>
          </a:xfrm>
          <a:prstGeom prst="rect">
            <a:avLst/>
          </a:prstGeom>
          <a:noFill/>
          <a:ln/>
        </p:spPr>
        <p:txBody>
          <a:bodyPr wrap="square" lIns="0" tIns="0" rIns="0" bIns="0" rtlCol="0" anchor="ctr"/>
          <a:lstStyle/>
          <a:p>
            <a:pPr marL="0" indent="0" algn="ctr">
              <a:buNone/>
            </a:pPr>
            <a:r>
              <a:rPr lang="en-US" sz="2000" b="1" dirty="0">
                <a:solidFill>
                  <a:schemeClr val="bg1"/>
                </a:solidFill>
              </a:rPr>
              <a:t>Push to main</a:t>
            </a:r>
            <a:endParaRPr lang="en-US" sz="2000" dirty="0"/>
          </a:p>
        </p:txBody>
      </p:sp>
      <p:sp>
        <p:nvSpPr>
          <p:cNvPr id="14" name="arrow"/>
          <p:cNvSpPr/>
          <p:nvPr/>
        </p:nvSpPr>
        <p:spPr>
          <a:xfrm>
            <a:off x="6428232" y="3291840"/>
            <a:ext cx="274320" cy="292608"/>
          </a:xfrm>
          <a:prstGeom prst="rightArrow">
            <a:avLst/>
          </a:prstGeom>
          <a:solidFill>
            <a:schemeClr val="accent6"/>
          </a:solidFill>
          <a:ln/>
        </p:spPr>
        <p:txBody>
          <a:bodyPr/>
          <a:lstStyle/>
          <a:p>
            <a:endParaRPr lang="en-US"/>
          </a:p>
        </p:txBody>
      </p:sp>
      <p:sp>
        <p:nvSpPr>
          <p:cNvPr id="15" name="box Actions tab"/>
          <p:cNvSpPr/>
          <p:nvPr/>
        </p:nvSpPr>
        <p:spPr>
          <a:xfrm>
            <a:off x="6720840" y="2926080"/>
            <a:ext cx="1737360" cy="1005840"/>
          </a:xfrm>
          <a:prstGeom prst="roundRect">
            <a:avLst>
              <a:gd name="adj" fmla="val 7273"/>
            </a:avLst>
          </a:prstGeom>
          <a:solidFill>
            <a:srgbClr val="30363D"/>
          </a:solidFill>
          <a:ln/>
        </p:spPr>
        <p:txBody>
          <a:bodyPr/>
          <a:lstStyle/>
          <a:p>
            <a:endParaRPr lang="en-US"/>
          </a:p>
        </p:txBody>
      </p:sp>
      <p:sp>
        <p:nvSpPr>
          <p:cNvPr id="16" name="Text 13"/>
          <p:cNvSpPr txBox="1"/>
          <p:nvPr/>
        </p:nvSpPr>
        <p:spPr>
          <a:xfrm>
            <a:off x="6812280" y="2926080"/>
            <a:ext cx="1554480" cy="1005840"/>
          </a:xfrm>
          <a:prstGeom prst="rect">
            <a:avLst/>
          </a:prstGeom>
          <a:noFill/>
          <a:ln/>
        </p:spPr>
        <p:txBody>
          <a:bodyPr wrap="square" lIns="0" tIns="0" rIns="0" bIns="0" rtlCol="0" anchor="ctr"/>
          <a:lstStyle/>
          <a:p>
            <a:pPr marL="0" indent="0" algn="ctr">
              <a:buNone/>
            </a:pPr>
            <a:r>
              <a:rPr lang="en-US" sz="2000" b="1" dirty="0">
                <a:solidFill>
                  <a:schemeClr val="bg1"/>
                </a:solidFill>
              </a:rPr>
              <a:t>Actions tab</a:t>
            </a:r>
            <a:endParaRPr lang="en-US" sz="2000" dirty="0"/>
          </a:p>
        </p:txBody>
      </p:sp>
      <p:sp>
        <p:nvSpPr>
          <p:cNvPr id="1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8" name="Text 1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1: the workflow</a:t>
            </a:r>
            <a:endParaRPr lang="en-US" sz="3400" dirty="0"/>
          </a:p>
        </p:txBody>
      </p:sp>
      <p:sp>
        <p:nvSpPr>
          <p:cNvPr id="4" name="requirement"/>
          <p:cNvSpPr/>
          <p:nvPr/>
        </p:nvSpPr>
        <p:spPr>
          <a:xfrm>
            <a:off x="548640" y="1280160"/>
            <a:ext cx="8046720" cy="2743200"/>
          </a:xfrm>
          <a:prstGeom prst="roundRect">
            <a:avLst>
              <a:gd name="adj" fmla="val 266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requirement bar"/>
          <p:cNvSpPr/>
          <p:nvPr/>
        </p:nvSpPr>
        <p:spPr>
          <a:xfrm>
            <a:off x="548640" y="1280160"/>
            <a:ext cx="91440" cy="2743200"/>
          </a:xfrm>
          <a:prstGeom prst="rect">
            <a:avLst/>
          </a:prstGeom>
          <a:solidFill>
            <a:schemeClr val="accent1"/>
          </a:solidFill>
          <a:ln/>
        </p:spPr>
        <p:txBody>
          <a:bodyPr/>
          <a:lstStyle/>
          <a:p>
            <a:endParaRPr lang="en-US"/>
          </a:p>
        </p:txBody>
      </p:sp>
      <p:sp>
        <p:nvSpPr>
          <p:cNvPr id="6" name="Text 3"/>
          <p:cNvSpPr txBox="1"/>
          <p:nvPr/>
        </p:nvSpPr>
        <p:spPr>
          <a:xfrm>
            <a:off x="914400" y="1371600"/>
            <a:ext cx="7498080" cy="2560320"/>
          </a:xfrm>
          <a:prstGeom prst="rect">
            <a:avLst/>
          </a:prstGeom>
          <a:noFill/>
          <a:ln/>
        </p:spPr>
        <p:txBody>
          <a:bodyPr wrap="square" lIns="0" tIns="0" rIns="0" bIns="0" rtlCol="0" anchor="ctr"/>
          <a:lstStyle/>
          <a:p>
            <a:pPr marL="0" indent="0">
              <a:buNone/>
            </a:pPr>
            <a:r>
              <a:rPr lang="en-US" sz="2200" dirty="0">
                <a:solidFill>
                  <a:schemeClr val="tx1"/>
                </a:solidFill>
              </a:rPr>
              <a:t>Step 1. A workflow in </a:t>
            </a:r>
            <a:r>
              <a:rPr lang="en-US" sz="2200" dirty="0">
                <a:solidFill>
                  <a:schemeClr val="tx1"/>
                </a:solidFill>
                <a:latin typeface="Courier New" pitchFamily="34" charset="0"/>
                <a:ea typeface="Courier New" pitchFamily="34" charset="-122"/>
                <a:cs typeface="Courier New" pitchFamily="34" charset="-120"/>
              </a:rPr>
              <a:t>.github/workflows/&lt;name&gt;.yml</a:t>
            </a:r>
            <a:r>
              <a:rPr lang="en-US" sz="2200" dirty="0">
                <a:solidFill>
                  <a:schemeClr val="tx1"/>
                </a:solidFill>
              </a:rPr>
              <a:t> that runs on every push to </a:t>
            </a:r>
            <a:r>
              <a:rPr lang="en-US" sz="2200" dirty="0">
                <a:solidFill>
                  <a:schemeClr val="tx1"/>
                </a:solidFill>
                <a:latin typeface="Courier New" pitchFamily="34" charset="0"/>
                <a:ea typeface="Courier New" pitchFamily="34" charset="-122"/>
                <a:cs typeface="Courier New" pitchFamily="34" charset="-120"/>
              </a:rPr>
              <a:t>main</a:t>
            </a:r>
            <a:r>
              <a:rPr lang="en-US" sz="2200" dirty="0">
                <a:solidFill>
                  <a:schemeClr val="tx1"/>
                </a:solidFill>
              </a:rPr>
              <a:t>, checks out your code, and may only read the repo. Name it for what it does: it tests and it scans.</a:t>
            </a:r>
            <a:endParaRPr lang="en-US" sz="22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1: the skeleton</a:t>
            </a:r>
            <a:endParaRPr lang="en-US" sz="3400" dirty="0"/>
          </a:p>
        </p:txBody>
      </p:sp>
      <p:sp>
        <p:nvSpPr>
          <p:cNvPr id="4" name="code panel"/>
          <p:cNvSpPr/>
          <p:nvPr/>
        </p:nvSpPr>
        <p:spPr>
          <a:xfrm>
            <a:off x="548640" y="1188720"/>
            <a:ext cx="8046720" cy="3337560"/>
          </a:xfrm>
          <a:prstGeom prst="roundRect">
            <a:avLst>
              <a:gd name="adj" fmla="val 2192"/>
            </a:avLst>
          </a:prstGeom>
          <a:solidFill>
            <a:schemeClr val="tx1"/>
          </a:solidFill>
          <a:ln/>
        </p:spPr>
        <p:txBody>
          <a:bodyPr/>
          <a:lstStyle/>
          <a:p>
            <a:endParaRPr lang="en-US"/>
          </a:p>
        </p:txBody>
      </p:sp>
      <p:sp>
        <p:nvSpPr>
          <p:cNvPr id="5" name="Text 2"/>
          <p:cNvSpPr txBox="1"/>
          <p:nvPr/>
        </p:nvSpPr>
        <p:spPr>
          <a:xfrm>
            <a:off x="731520" y="1316736"/>
            <a:ext cx="7680960" cy="3081528"/>
          </a:xfrm>
          <a:prstGeom prst="rect">
            <a:avLst/>
          </a:prstGeom>
          <a:noFill/>
          <a:ln/>
        </p:spPr>
        <p:txBody>
          <a:bodyPr wrap="square" lIns="0" tIns="0" rIns="0" bIns="0" rtlCol="0" anchor="ctr"/>
          <a:lstStyle/>
          <a:p>
            <a:pPr marL="0" indent="0">
              <a:lnSpc>
                <a:spcPts val="2520"/>
              </a:lnSpc>
              <a:buNone/>
            </a:pPr>
            <a:r>
              <a:rPr lang="en-US" sz="1800" b="1" dirty="0">
                <a:solidFill>
                  <a:schemeClr val="accent2"/>
                </a:solidFill>
                <a:latin typeface="Courier New" pitchFamily="34" charset="0"/>
                <a:ea typeface="Courier New" pitchFamily="34" charset="-122"/>
                <a:cs typeface="Courier New" pitchFamily="34" charset="-120"/>
              </a:rPr>
              <a:t>.github/workflows/&lt;name&gt;.yml</a:t>
            </a:r>
            <a:endParaRPr lang="en-US" sz="1800" dirty="0"/>
          </a:p>
          <a:p>
            <a:pPr marL="0" indent="0">
              <a:lnSpc>
                <a:spcPts val="2520"/>
              </a:lnSpc>
              <a:buNone/>
            </a:pPr>
            <a:r>
              <a:rPr lang="en-US" sz="1800" dirty="0">
                <a:solidFill>
                  <a:srgbClr val="9DA7B3"/>
                </a:solidFill>
                <a:latin typeface="Courier New" pitchFamily="34" charset="0"/>
                <a:ea typeface="Courier New" pitchFamily="34" charset="-122"/>
                <a:cs typeface="Courier New" pitchFamily="34" charset="-120"/>
              </a:rPr>
              <a:t> </a:t>
            </a:r>
            <a:endParaRPr lang="en-US" sz="1800" dirty="0"/>
          </a:p>
          <a:p>
            <a:pPr marL="0" indent="0">
              <a:lnSpc>
                <a:spcPts val="2520"/>
              </a:lnSpc>
              <a:buNone/>
            </a:pPr>
            <a:r>
              <a:rPr lang="en-US" sz="1800" dirty="0">
                <a:solidFill>
                  <a:srgbClr val="9DA7B3"/>
                </a:solidFill>
                <a:latin typeface="Courier New" pitchFamily="34" charset="0"/>
                <a:ea typeface="Courier New" pitchFamily="34" charset="-122"/>
                <a:cs typeface="Courier New" pitchFamily="34" charset="-120"/>
              </a:rPr>
              <a:t>name:</a:t>
            </a:r>
            <a:endParaRPr lang="en-US" sz="1800" dirty="0"/>
          </a:p>
          <a:p>
            <a:pPr marL="0" indent="0">
              <a:lnSpc>
                <a:spcPts val="2520"/>
              </a:lnSpc>
              <a:buNone/>
            </a:pPr>
            <a:r>
              <a:rPr lang="en-US" sz="1800" dirty="0">
                <a:solidFill>
                  <a:srgbClr val="9DA7B3"/>
                </a:solidFill>
                <a:latin typeface="Courier New" pitchFamily="34" charset="0"/>
                <a:ea typeface="Courier New" pitchFamily="34" charset="-122"/>
                <a:cs typeface="Courier New" pitchFamily="34" charset="-120"/>
              </a:rPr>
              <a:t>on:</a:t>
            </a:r>
            <a:endParaRPr lang="en-US" sz="1800" dirty="0"/>
          </a:p>
          <a:p>
            <a:pPr marL="0" indent="0">
              <a:lnSpc>
                <a:spcPts val="2520"/>
              </a:lnSpc>
              <a:buNone/>
            </a:pPr>
            <a:r>
              <a:rPr lang="en-US" sz="1800" dirty="0">
                <a:solidFill>
                  <a:srgbClr val="9DA7B3"/>
                </a:solidFill>
                <a:latin typeface="Courier New" pitchFamily="34" charset="0"/>
                <a:ea typeface="Courier New" pitchFamily="34" charset="-122"/>
                <a:cs typeface="Courier New" pitchFamily="34" charset="-120"/>
              </a:rPr>
              <a:t>permissions:</a:t>
            </a:r>
            <a:endParaRPr lang="en-US" sz="1800" dirty="0"/>
          </a:p>
          <a:p>
            <a:pPr marL="0" indent="0">
              <a:lnSpc>
                <a:spcPts val="2520"/>
              </a:lnSpc>
              <a:buNone/>
            </a:pPr>
            <a:r>
              <a:rPr lang="en-US" sz="1800" dirty="0">
                <a:solidFill>
                  <a:srgbClr val="9DA7B3"/>
                </a:solidFill>
                <a:latin typeface="Courier New" pitchFamily="34" charset="0"/>
                <a:ea typeface="Courier New" pitchFamily="34" charset="-122"/>
                <a:cs typeface="Courier New" pitchFamily="34" charset="-120"/>
              </a:rPr>
              <a:t>jobs:</a:t>
            </a:r>
            <a:endParaRPr lang="en-US" sz="1800" dirty="0"/>
          </a:p>
          <a:p>
            <a:pPr marL="0" indent="0">
              <a:lnSpc>
                <a:spcPts val="2520"/>
              </a:lnSpc>
              <a:buNone/>
            </a:pPr>
            <a:r>
              <a:rPr lang="en-US" sz="1800" dirty="0">
                <a:solidFill>
                  <a:srgbClr val="9DA7B3"/>
                </a:solidFill>
                <a:latin typeface="Courier New" pitchFamily="34" charset="0"/>
                <a:ea typeface="Courier New" pitchFamily="34" charset="-122"/>
                <a:cs typeface="Courier New" pitchFamily="34" charset="-120"/>
              </a:rPr>
              <a:t>  &lt;job id&gt;:</a:t>
            </a:r>
            <a:endParaRPr lang="en-US" sz="1800" dirty="0"/>
          </a:p>
          <a:p>
            <a:pPr marL="0" indent="0">
              <a:lnSpc>
                <a:spcPts val="2520"/>
              </a:lnSpc>
              <a:buNone/>
            </a:pPr>
            <a:r>
              <a:rPr lang="en-US" sz="1800" dirty="0">
                <a:solidFill>
                  <a:srgbClr val="9DA7B3"/>
                </a:solidFill>
                <a:latin typeface="Courier New" pitchFamily="34" charset="0"/>
                <a:ea typeface="Courier New" pitchFamily="34" charset="-122"/>
                <a:cs typeface="Courier New" pitchFamily="34" charset="-120"/>
              </a:rPr>
              <a:t>    runs-on:</a:t>
            </a:r>
            <a:endParaRPr lang="en-US" sz="1800" dirty="0"/>
          </a:p>
          <a:p>
            <a:pPr marL="0" indent="0">
              <a:lnSpc>
                <a:spcPts val="2520"/>
              </a:lnSpc>
              <a:buNone/>
            </a:pPr>
            <a:r>
              <a:rPr lang="en-US" sz="1800" dirty="0">
                <a:solidFill>
                  <a:srgbClr val="9DA7B3"/>
                </a:solidFill>
                <a:latin typeface="Courier New" pitchFamily="34" charset="0"/>
                <a:ea typeface="Courier New" pitchFamily="34" charset="-122"/>
                <a:cs typeface="Courier New" pitchFamily="34" charset="-120"/>
              </a:rPr>
              <a:t>    steps:</a:t>
            </a:r>
            <a:endParaRPr lang="en-US" sz="1800" dirty="0"/>
          </a:p>
        </p:txBody>
      </p:sp>
      <p:sp>
        <p:nvSpPr>
          <p:cNvPr id="6"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7" name="Text 4"/>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1: stuck?</a:t>
            </a:r>
            <a:endParaRPr lang="en-US" sz="3400" dirty="0"/>
          </a:p>
        </p:txBody>
      </p:sp>
      <p:sp>
        <p:nvSpPr>
          <p:cNvPr id="4" name="requirement line"/>
          <p:cNvSpPr/>
          <p:nvPr/>
        </p:nvSpPr>
        <p:spPr>
          <a:xfrm>
            <a:off x="548640" y="1097280"/>
            <a:ext cx="8046720" cy="548640"/>
          </a:xfrm>
          <a:prstGeom prst="roundRect">
            <a:avLst>
              <a:gd name="adj" fmla="val 13333"/>
            </a:avLst>
          </a:prstGeom>
          <a:solidFill>
            <a:schemeClr val="tx1"/>
          </a:solidFill>
          <a:ln/>
        </p:spPr>
        <p:txBody>
          <a:bodyPr/>
          <a:lstStyle/>
          <a:p>
            <a:endParaRPr lang="en-US"/>
          </a:p>
        </p:txBody>
      </p:sp>
      <p:sp>
        <p:nvSpPr>
          <p:cNvPr id="5" name="Text 2"/>
          <p:cNvSpPr txBox="1"/>
          <p:nvPr/>
        </p:nvSpPr>
        <p:spPr>
          <a:xfrm>
            <a:off x="777240" y="1097280"/>
            <a:ext cx="7589520" cy="548640"/>
          </a:xfrm>
          <a:prstGeom prst="rect">
            <a:avLst/>
          </a:prstGeom>
          <a:noFill/>
          <a:ln/>
        </p:spPr>
        <p:txBody>
          <a:bodyPr wrap="square" lIns="0" tIns="0" rIns="0" bIns="0" rtlCol="0" anchor="ctr"/>
          <a:lstStyle/>
          <a:p>
            <a:pPr marL="0" indent="0">
              <a:buNone/>
            </a:pPr>
            <a:r>
              <a:rPr lang="en-US" sz="1600" b="1" dirty="0">
                <a:solidFill>
                  <a:schemeClr val="bg1"/>
                </a:solidFill>
              </a:rPr>
              <a:t>Run on every push to </a:t>
            </a:r>
            <a:r>
              <a:rPr lang="en-US" sz="1600" b="1" dirty="0">
                <a:solidFill>
                  <a:schemeClr val="bg1"/>
                </a:solidFill>
                <a:latin typeface="Courier New" pitchFamily="34" charset="0"/>
                <a:ea typeface="Courier New" pitchFamily="34" charset="-122"/>
                <a:cs typeface="Courier New" pitchFamily="34" charset="-120"/>
              </a:rPr>
              <a:t>main</a:t>
            </a:r>
            <a:r>
              <a:rPr lang="en-US" sz="1600" b="1" dirty="0">
                <a:solidFill>
                  <a:schemeClr val="bg1"/>
                </a:solidFill>
              </a:rPr>
              <a:t>, check out the code, read-only access.</a:t>
            </a:r>
            <a:endParaRPr lang="en-US" sz="1600" dirty="0"/>
          </a:p>
        </p:txBody>
      </p:sp>
      <p:sp>
        <p:nvSpPr>
          <p:cNvPr id="6" name="hint 1"/>
          <p:cNvSpPr/>
          <p:nvPr/>
        </p:nvSpPr>
        <p:spPr>
          <a:xfrm>
            <a:off x="548640" y="1783080"/>
            <a:ext cx="48463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7" name="badge a"/>
          <p:cNvSpPr/>
          <p:nvPr/>
        </p:nvSpPr>
        <p:spPr>
          <a:xfrm>
            <a:off x="713232" y="1988820"/>
            <a:ext cx="457200" cy="457200"/>
          </a:xfrm>
          <a:prstGeom prst="ellipse">
            <a:avLst/>
          </a:prstGeom>
          <a:solidFill>
            <a:schemeClr val="accent2"/>
          </a:solidFill>
          <a:ln/>
        </p:spPr>
        <p:txBody>
          <a:bodyPr/>
          <a:lstStyle/>
          <a:p>
            <a:endParaRPr lang="en-US"/>
          </a:p>
        </p:txBody>
      </p:sp>
      <p:sp>
        <p:nvSpPr>
          <p:cNvPr id="8" name="Text 5"/>
          <p:cNvSpPr txBox="1"/>
          <p:nvPr/>
        </p:nvSpPr>
        <p:spPr>
          <a:xfrm>
            <a:off x="713232" y="198882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9" name="Text 6"/>
          <p:cNvSpPr txBox="1"/>
          <p:nvPr/>
        </p:nvSpPr>
        <p:spPr>
          <a:xfrm>
            <a:off x="1307592" y="1819656"/>
            <a:ext cx="3931920" cy="795528"/>
          </a:xfrm>
          <a:prstGeom prst="rect">
            <a:avLst/>
          </a:prstGeom>
          <a:noFill/>
          <a:ln/>
        </p:spPr>
        <p:txBody>
          <a:bodyPr wrap="square" lIns="0" tIns="0" rIns="0" bIns="0" rtlCol="0" anchor="ctr"/>
          <a:lstStyle/>
          <a:p>
            <a:pPr marL="0" indent="0">
              <a:buNone/>
            </a:pPr>
            <a:r>
              <a:rPr lang="en-US" sz="1600" dirty="0">
                <a:solidFill>
                  <a:schemeClr val="tx1"/>
                </a:solidFill>
              </a:rPr>
              <a:t>Which event starts it, and on which branch?</a:t>
            </a:r>
            <a:endParaRPr lang="en-US" sz="1600" dirty="0"/>
          </a:p>
        </p:txBody>
      </p:sp>
      <p:sp>
        <p:nvSpPr>
          <p:cNvPr id="10" name="hint 2"/>
          <p:cNvSpPr/>
          <p:nvPr/>
        </p:nvSpPr>
        <p:spPr>
          <a:xfrm>
            <a:off x="548640" y="2743200"/>
            <a:ext cx="48463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 name="badge b"/>
          <p:cNvSpPr/>
          <p:nvPr/>
        </p:nvSpPr>
        <p:spPr>
          <a:xfrm>
            <a:off x="713232" y="2948940"/>
            <a:ext cx="457200" cy="457200"/>
          </a:xfrm>
          <a:prstGeom prst="ellipse">
            <a:avLst/>
          </a:prstGeom>
          <a:solidFill>
            <a:schemeClr val="accent2"/>
          </a:solidFill>
          <a:ln/>
        </p:spPr>
        <p:txBody>
          <a:bodyPr/>
          <a:lstStyle/>
          <a:p>
            <a:endParaRPr lang="en-US"/>
          </a:p>
        </p:txBody>
      </p:sp>
      <p:sp>
        <p:nvSpPr>
          <p:cNvPr id="12" name="Text 9"/>
          <p:cNvSpPr txBox="1"/>
          <p:nvPr/>
        </p:nvSpPr>
        <p:spPr>
          <a:xfrm>
            <a:off x="713232" y="294894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b</a:t>
            </a:r>
            <a:endParaRPr lang="en-US" sz="2000" dirty="0"/>
          </a:p>
        </p:txBody>
      </p:sp>
      <p:sp>
        <p:nvSpPr>
          <p:cNvPr id="13" name="Text 10"/>
          <p:cNvSpPr txBox="1"/>
          <p:nvPr/>
        </p:nvSpPr>
        <p:spPr>
          <a:xfrm>
            <a:off x="1307592" y="2779776"/>
            <a:ext cx="3931920" cy="795528"/>
          </a:xfrm>
          <a:prstGeom prst="rect">
            <a:avLst/>
          </a:prstGeom>
          <a:noFill/>
          <a:ln/>
        </p:spPr>
        <p:txBody>
          <a:bodyPr wrap="square" lIns="0" tIns="0" rIns="0" bIns="0" rtlCol="0" anchor="ctr"/>
          <a:lstStyle/>
          <a:p>
            <a:pPr marL="0" indent="0">
              <a:buNone/>
            </a:pPr>
            <a:r>
              <a:rPr lang="en-US" sz="1600" dirty="0">
                <a:solidFill>
                  <a:schemeClr val="tx1"/>
                </a:solidFill>
              </a:rPr>
              <a:t>The machine starts empty. What fetches your code? Look at </a:t>
            </a:r>
            <a:r>
              <a:rPr lang="en-US" sz="1600" dirty="0">
                <a:solidFill>
                  <a:schemeClr val="tx1"/>
                </a:solidFill>
                <a:latin typeface="Courier New" pitchFamily="34" charset="0"/>
                <a:ea typeface="Courier New" pitchFamily="34" charset="-122"/>
                <a:cs typeface="Courier New" pitchFamily="34" charset="-120"/>
              </a:rPr>
              <a:t>actions/checkout</a:t>
            </a:r>
            <a:r>
              <a:rPr lang="en-US" sz="1600" dirty="0">
                <a:solidFill>
                  <a:schemeClr val="tx1"/>
                </a:solidFill>
              </a:rPr>
              <a:t>, major v7.</a:t>
            </a:r>
            <a:endParaRPr lang="en-US" sz="1600" dirty="0"/>
          </a:p>
        </p:txBody>
      </p:sp>
      <p:sp>
        <p:nvSpPr>
          <p:cNvPr id="14" name="hint 3"/>
          <p:cNvSpPr/>
          <p:nvPr/>
        </p:nvSpPr>
        <p:spPr>
          <a:xfrm>
            <a:off x="548640" y="3703320"/>
            <a:ext cx="48463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5" name="badge c"/>
          <p:cNvSpPr/>
          <p:nvPr/>
        </p:nvSpPr>
        <p:spPr>
          <a:xfrm>
            <a:off x="713232" y="3909060"/>
            <a:ext cx="457200" cy="457200"/>
          </a:xfrm>
          <a:prstGeom prst="ellipse">
            <a:avLst/>
          </a:prstGeom>
          <a:solidFill>
            <a:schemeClr val="accent2"/>
          </a:solidFill>
          <a:ln/>
        </p:spPr>
        <p:txBody>
          <a:bodyPr/>
          <a:lstStyle/>
          <a:p>
            <a:endParaRPr lang="en-US"/>
          </a:p>
        </p:txBody>
      </p:sp>
      <p:sp>
        <p:nvSpPr>
          <p:cNvPr id="16" name="Text 13"/>
          <p:cNvSpPr txBox="1"/>
          <p:nvPr/>
        </p:nvSpPr>
        <p:spPr>
          <a:xfrm>
            <a:off x="713232" y="390906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c</a:t>
            </a:r>
            <a:endParaRPr lang="en-US" sz="2000" dirty="0"/>
          </a:p>
        </p:txBody>
      </p:sp>
      <p:sp>
        <p:nvSpPr>
          <p:cNvPr id="17" name="Text 14"/>
          <p:cNvSpPr txBox="1"/>
          <p:nvPr/>
        </p:nvSpPr>
        <p:spPr>
          <a:xfrm>
            <a:off x="1307592" y="3739896"/>
            <a:ext cx="3931920" cy="795528"/>
          </a:xfrm>
          <a:prstGeom prst="rect">
            <a:avLst/>
          </a:prstGeom>
          <a:noFill/>
          <a:ln/>
        </p:spPr>
        <p:txBody>
          <a:bodyPr wrap="square" lIns="0" tIns="0" rIns="0" bIns="0" rtlCol="0" anchor="ctr"/>
          <a:lstStyle/>
          <a:p>
            <a:pPr marL="0" indent="0">
              <a:buNone/>
            </a:pPr>
            <a:r>
              <a:rPr lang="en-US" sz="1600" dirty="0">
                <a:solidFill>
                  <a:schemeClr val="tx1"/>
                </a:solidFill>
              </a:rPr>
              <a:t>What is the least access the job needs?</a:t>
            </a:r>
            <a:endParaRPr lang="en-US" sz="1600" dirty="0"/>
          </a:p>
        </p:txBody>
      </p:sp>
      <p:sp>
        <p:nvSpPr>
          <p:cNvPr id="18" name="keys panel"/>
          <p:cNvSpPr/>
          <p:nvPr/>
        </p:nvSpPr>
        <p:spPr>
          <a:xfrm>
            <a:off x="5577840" y="1783080"/>
            <a:ext cx="3017520" cy="2788920"/>
          </a:xfrm>
          <a:prstGeom prst="roundRect">
            <a:avLst>
              <a:gd name="adj" fmla="val 2623"/>
            </a:avLst>
          </a:prstGeom>
          <a:solidFill>
            <a:schemeClr val="tx1"/>
          </a:solidFill>
          <a:ln/>
        </p:spPr>
        <p:txBody>
          <a:bodyPr/>
          <a:lstStyle/>
          <a:p>
            <a:endParaRPr lang="en-US"/>
          </a:p>
        </p:txBody>
      </p:sp>
      <p:sp>
        <p:nvSpPr>
          <p:cNvPr id="19" name="Text 16"/>
          <p:cNvSpPr txBox="1"/>
          <p:nvPr/>
        </p:nvSpPr>
        <p:spPr>
          <a:xfrm>
            <a:off x="5760720" y="1874520"/>
            <a:ext cx="2651760" cy="274320"/>
          </a:xfrm>
          <a:prstGeom prst="rect">
            <a:avLst/>
          </a:prstGeom>
          <a:noFill/>
          <a:ln/>
        </p:spPr>
        <p:txBody>
          <a:bodyPr wrap="square" lIns="0" tIns="0" rIns="0" bIns="0" rtlCol="0" anchor="t"/>
          <a:lstStyle/>
          <a:p>
            <a:pPr marL="0" indent="0">
              <a:buNone/>
            </a:pPr>
            <a:r>
              <a:rPr lang="en-US" sz="1400" b="1" dirty="0">
                <a:solidFill>
                  <a:schemeClr val="accent2"/>
                </a:solidFill>
              </a:rPr>
              <a:t>Keys</a:t>
            </a:r>
            <a:endParaRPr lang="en-US" sz="1400" dirty="0"/>
          </a:p>
        </p:txBody>
      </p:sp>
      <p:sp>
        <p:nvSpPr>
          <p:cNvPr id="20" name="Text 17"/>
          <p:cNvSpPr txBox="1"/>
          <p:nvPr/>
        </p:nvSpPr>
        <p:spPr>
          <a:xfrm>
            <a:off x="5760720" y="2240280"/>
            <a:ext cx="2651760" cy="2240280"/>
          </a:xfrm>
          <a:prstGeom prst="rect">
            <a:avLst/>
          </a:prstGeom>
          <a:noFill/>
          <a:ln/>
        </p:spPr>
        <p:txBody>
          <a:bodyPr wrap="square" lIns="0" tIns="0" rIns="0" bIns="0" rtlCol="0" anchor="t"/>
          <a:lstStyle/>
          <a:p>
            <a:pPr marL="0" indent="0">
              <a:spcAft>
                <a:spcPts val="600"/>
              </a:spcAft>
              <a:buNone/>
            </a:pPr>
            <a:r>
              <a:rPr lang="en-US" sz="1800" dirty="0">
                <a:solidFill>
                  <a:schemeClr val="accent1"/>
                </a:solidFill>
                <a:latin typeface="Courier New" pitchFamily="34" charset="0"/>
                <a:ea typeface="Courier New" pitchFamily="34" charset="-122"/>
                <a:cs typeface="Courier New" pitchFamily="34" charset="-120"/>
              </a:rPr>
              <a:t>name</a:t>
            </a:r>
            <a:endParaRPr lang="en-US" sz="1800" dirty="0"/>
          </a:p>
          <a:p>
            <a:pPr marL="0" indent="0">
              <a:spcAft>
                <a:spcPts val="600"/>
              </a:spcAft>
              <a:buNone/>
            </a:pPr>
            <a:r>
              <a:rPr lang="en-US" sz="1800" dirty="0">
                <a:solidFill>
                  <a:schemeClr val="accent1"/>
                </a:solidFill>
                <a:latin typeface="Courier New" pitchFamily="34" charset="0"/>
                <a:ea typeface="Courier New" pitchFamily="34" charset="-122"/>
                <a:cs typeface="Courier New" pitchFamily="34" charset="-120"/>
              </a:rPr>
              <a:t>on</a:t>
            </a:r>
            <a:endParaRPr lang="en-US" sz="1800" dirty="0"/>
          </a:p>
          <a:p>
            <a:pPr marL="0" indent="0">
              <a:spcAft>
                <a:spcPts val="600"/>
              </a:spcAft>
              <a:buNone/>
            </a:pPr>
            <a:r>
              <a:rPr lang="en-US" sz="1800" dirty="0">
                <a:solidFill>
                  <a:schemeClr val="accent1"/>
                </a:solidFill>
                <a:latin typeface="Courier New" pitchFamily="34" charset="0"/>
                <a:ea typeface="Courier New" pitchFamily="34" charset="-122"/>
                <a:cs typeface="Courier New" pitchFamily="34" charset="-120"/>
              </a:rPr>
              <a:t>permissions</a:t>
            </a:r>
            <a:endParaRPr lang="en-US" sz="1800" dirty="0"/>
          </a:p>
          <a:p>
            <a:pPr marL="0" indent="0">
              <a:spcAft>
                <a:spcPts val="600"/>
              </a:spcAft>
              <a:buNone/>
            </a:pPr>
            <a:r>
              <a:rPr lang="en-US" sz="1800" dirty="0">
                <a:solidFill>
                  <a:schemeClr val="accent1"/>
                </a:solidFill>
                <a:latin typeface="Courier New" pitchFamily="34" charset="0"/>
                <a:ea typeface="Courier New" pitchFamily="34" charset="-122"/>
                <a:cs typeface="Courier New" pitchFamily="34" charset="-120"/>
              </a:rPr>
              <a:t>jobs</a:t>
            </a:r>
            <a:endParaRPr lang="en-US" sz="1800" dirty="0"/>
          </a:p>
          <a:p>
            <a:pPr marL="0" indent="0">
              <a:spcAft>
                <a:spcPts val="600"/>
              </a:spcAft>
              <a:buNone/>
            </a:pPr>
            <a:r>
              <a:rPr lang="en-US" sz="1800" dirty="0">
                <a:solidFill>
                  <a:schemeClr val="accent1"/>
                </a:solidFill>
                <a:latin typeface="Courier New" pitchFamily="34" charset="0"/>
                <a:ea typeface="Courier New" pitchFamily="34" charset="-122"/>
                <a:cs typeface="Courier New" pitchFamily="34" charset="-120"/>
              </a:rPr>
              <a:t>runs-on</a:t>
            </a:r>
            <a:endParaRPr lang="en-US" sz="1800" dirty="0"/>
          </a:p>
          <a:p>
            <a:pPr marL="0" indent="0">
              <a:spcAft>
                <a:spcPts val="600"/>
              </a:spcAft>
              <a:buNone/>
            </a:pPr>
            <a:r>
              <a:rPr lang="en-US" sz="1800" dirty="0">
                <a:solidFill>
                  <a:schemeClr val="accent1"/>
                </a:solidFill>
                <a:latin typeface="Courier New" pitchFamily="34" charset="0"/>
                <a:ea typeface="Courier New" pitchFamily="34" charset="-122"/>
                <a:cs typeface="Courier New" pitchFamily="34" charset="-120"/>
              </a:rPr>
              <a:t>steps</a:t>
            </a:r>
            <a:endParaRPr lang="en-US" sz="1800" dirty="0"/>
          </a:p>
        </p:txBody>
      </p:sp>
      <p:sp>
        <p:nvSpPr>
          <p:cNvPr id="21"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22" name="Text 19"/>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1: answer</a:t>
            </a:r>
            <a:endParaRPr lang="en-US" sz="3400" dirty="0"/>
          </a:p>
        </p:txBody>
      </p:sp>
      <p:sp>
        <p:nvSpPr>
          <p:cNvPr id="4" name="code panel"/>
          <p:cNvSpPr/>
          <p:nvPr/>
        </p:nvSpPr>
        <p:spPr>
          <a:xfrm>
            <a:off x="274320" y="1143000"/>
            <a:ext cx="8595360" cy="3154680"/>
          </a:xfrm>
          <a:prstGeom prst="roundRect">
            <a:avLst>
              <a:gd name="adj" fmla="val 2319"/>
            </a:avLst>
          </a:prstGeom>
          <a:solidFill>
            <a:schemeClr val="tx1"/>
          </a:solidFill>
          <a:ln/>
        </p:spPr>
        <p:txBody>
          <a:bodyPr/>
          <a:lstStyle/>
          <a:p>
            <a:endParaRPr lang="en-US"/>
          </a:p>
        </p:txBody>
      </p:sp>
      <p:sp>
        <p:nvSpPr>
          <p:cNvPr id="5" name="Text 2"/>
          <p:cNvSpPr txBox="1"/>
          <p:nvPr/>
        </p:nvSpPr>
        <p:spPr>
          <a:xfrm>
            <a:off x="457200" y="1271016"/>
            <a:ext cx="8229600" cy="2898648"/>
          </a:xfrm>
          <a:prstGeom prst="rect">
            <a:avLst/>
          </a:prstGeom>
          <a:noFill/>
          <a:ln/>
        </p:spPr>
        <p:txBody>
          <a:bodyPr wrap="square" lIns="0" tIns="0" rIns="0" bIns="0" rtlCol="0" anchor="t"/>
          <a:lstStyle/>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name: Test and Scan</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on:</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  push:</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    branches: [main]</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permissions:</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  contents: read</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jobs:</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  run_tests:</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    runs-on: ubuntu-latest</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    steps:</a:t>
            </a:r>
            <a:endParaRPr lang="en-US" sz="1400" dirty="0"/>
          </a:p>
          <a:p>
            <a:pPr marL="0" indent="0">
              <a:lnSpc>
                <a:spcPts val="2075"/>
              </a:lnSpc>
              <a:buNone/>
            </a:pPr>
            <a:r>
              <a:rPr lang="en-US" sz="1400" dirty="0">
                <a:solidFill>
                  <a:schemeClr val="bg2"/>
                </a:solidFill>
                <a:latin typeface="Courier New" pitchFamily="34" charset="0"/>
                <a:ea typeface="Courier New" pitchFamily="34" charset="-122"/>
                <a:cs typeface="Courier New" pitchFamily="34" charset="-120"/>
              </a:rPr>
              <a:t>      - uses: actions/checkout@v7</a:t>
            </a:r>
            <a:endParaRPr lang="en-US" sz="1400" dirty="0"/>
          </a:p>
        </p:txBody>
      </p:sp>
      <p:sp>
        <p:nvSpPr>
          <p:cNvPr id="6"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7" name="Text 4"/>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2: tests for one service</a:t>
            </a:r>
            <a:endParaRPr lang="en-US" sz="3400" dirty="0"/>
          </a:p>
        </p:txBody>
      </p:sp>
      <p:sp>
        <p:nvSpPr>
          <p:cNvPr id="4" name="requirement"/>
          <p:cNvSpPr/>
          <p:nvPr/>
        </p:nvSpPr>
        <p:spPr>
          <a:xfrm>
            <a:off x="548640" y="1280160"/>
            <a:ext cx="8046720" cy="2743200"/>
          </a:xfrm>
          <a:prstGeom prst="roundRect">
            <a:avLst>
              <a:gd name="adj" fmla="val 266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requirement bar"/>
          <p:cNvSpPr/>
          <p:nvPr/>
        </p:nvSpPr>
        <p:spPr>
          <a:xfrm>
            <a:off x="548640" y="1280160"/>
            <a:ext cx="91440" cy="2743200"/>
          </a:xfrm>
          <a:prstGeom prst="rect">
            <a:avLst/>
          </a:prstGeom>
          <a:solidFill>
            <a:schemeClr val="accent1"/>
          </a:solidFill>
          <a:ln/>
        </p:spPr>
        <p:txBody>
          <a:bodyPr/>
          <a:lstStyle/>
          <a:p>
            <a:endParaRPr lang="en-US"/>
          </a:p>
        </p:txBody>
      </p:sp>
      <p:sp>
        <p:nvSpPr>
          <p:cNvPr id="6" name="Text 3"/>
          <p:cNvSpPr txBox="1"/>
          <p:nvPr/>
        </p:nvSpPr>
        <p:spPr>
          <a:xfrm>
            <a:off x="914400" y="1371600"/>
            <a:ext cx="7498080" cy="2560320"/>
          </a:xfrm>
          <a:prstGeom prst="rect">
            <a:avLst/>
          </a:prstGeom>
          <a:noFill/>
          <a:ln/>
        </p:spPr>
        <p:txBody>
          <a:bodyPr wrap="square" lIns="0" tIns="0" rIns="0" bIns="0" rtlCol="0" anchor="ctr"/>
          <a:lstStyle/>
          <a:p>
            <a:pPr marL="0" indent="0">
              <a:buNone/>
            </a:pPr>
            <a:r>
              <a:rPr lang="en-US" sz="2000" dirty="0">
                <a:solidFill>
                  <a:schemeClr val="tx1"/>
                </a:solidFill>
              </a:rPr>
              <a:t>Step 2. Add Python 3.12, install the dependencies of </a:t>
            </a:r>
            <a:r>
              <a:rPr lang="en-US" sz="2000" dirty="0">
                <a:solidFill>
                  <a:schemeClr val="tx1"/>
                </a:solidFill>
                <a:latin typeface="Courier New" pitchFamily="34" charset="0"/>
                <a:ea typeface="Courier New" pitchFamily="34" charset="-122"/>
                <a:cs typeface="Courier New" pitchFamily="34" charset="-120"/>
              </a:rPr>
              <a:t>tasks-api</a:t>
            </a:r>
            <a:r>
              <a:rPr lang="en-US" sz="2000" dirty="0">
                <a:solidFill>
                  <a:schemeClr val="tx1"/>
                </a:solidFill>
              </a:rPr>
              <a:t>, and run its tests. Run </a:t>
            </a:r>
            <a:r>
              <a:rPr lang="en-US" sz="2000" dirty="0">
                <a:solidFill>
                  <a:schemeClr val="tx1"/>
                </a:solidFill>
                <a:latin typeface="Courier New" pitchFamily="34" charset="0"/>
                <a:ea typeface="Courier New" pitchFamily="34" charset="-122"/>
                <a:cs typeface="Courier New" pitchFamily="34" charset="-120"/>
              </a:rPr>
              <a:t>pytest</a:t>
            </a:r>
            <a:r>
              <a:rPr lang="en-US" sz="2000" dirty="0">
                <a:solidFill>
                  <a:schemeClr val="tx1"/>
                </a:solidFill>
              </a:rPr>
              <a:t> from the repo root with the service path as the argument.</a:t>
            </a:r>
            <a:endParaRPr lang="en-US" sz="20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2: stuck?</a:t>
            </a:r>
            <a:endParaRPr lang="en-US" sz="3400" dirty="0"/>
          </a:p>
        </p:txBody>
      </p:sp>
      <p:sp>
        <p:nvSpPr>
          <p:cNvPr id="4" name="requirement line"/>
          <p:cNvSpPr/>
          <p:nvPr/>
        </p:nvSpPr>
        <p:spPr>
          <a:xfrm>
            <a:off x="548640" y="1097280"/>
            <a:ext cx="8046720" cy="548640"/>
          </a:xfrm>
          <a:prstGeom prst="roundRect">
            <a:avLst>
              <a:gd name="adj" fmla="val 13333"/>
            </a:avLst>
          </a:prstGeom>
          <a:solidFill>
            <a:schemeClr val="tx1"/>
          </a:solidFill>
          <a:ln/>
        </p:spPr>
        <p:txBody>
          <a:bodyPr/>
          <a:lstStyle/>
          <a:p>
            <a:endParaRPr lang="en-US"/>
          </a:p>
        </p:txBody>
      </p:sp>
      <p:sp>
        <p:nvSpPr>
          <p:cNvPr id="5" name="Text 2"/>
          <p:cNvSpPr txBox="1"/>
          <p:nvPr/>
        </p:nvSpPr>
        <p:spPr>
          <a:xfrm>
            <a:off x="777240" y="1097280"/>
            <a:ext cx="7589520" cy="548640"/>
          </a:xfrm>
          <a:prstGeom prst="rect">
            <a:avLst/>
          </a:prstGeom>
          <a:noFill/>
          <a:ln/>
        </p:spPr>
        <p:txBody>
          <a:bodyPr wrap="square" lIns="0" tIns="0" rIns="0" bIns="0" rtlCol="0" anchor="ctr"/>
          <a:lstStyle/>
          <a:p>
            <a:pPr marL="0" indent="0">
              <a:buNone/>
            </a:pPr>
            <a:r>
              <a:rPr lang="en-US" sz="1600" b="1" dirty="0">
                <a:solidFill>
                  <a:schemeClr val="bg1"/>
                </a:solidFill>
              </a:rPr>
              <a:t>Python 3.12, install the service's dependencies, run its tests from the repo root.</a:t>
            </a:r>
            <a:endParaRPr lang="en-US" sz="1600" dirty="0"/>
          </a:p>
        </p:txBody>
      </p:sp>
      <p:sp>
        <p:nvSpPr>
          <p:cNvPr id="6" name="hint 1"/>
          <p:cNvSpPr/>
          <p:nvPr/>
        </p:nvSpPr>
        <p:spPr>
          <a:xfrm>
            <a:off x="548640" y="1783080"/>
            <a:ext cx="80467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7" name="badge a"/>
          <p:cNvSpPr/>
          <p:nvPr/>
        </p:nvSpPr>
        <p:spPr>
          <a:xfrm>
            <a:off x="713232" y="1988820"/>
            <a:ext cx="457200" cy="457200"/>
          </a:xfrm>
          <a:prstGeom prst="ellipse">
            <a:avLst/>
          </a:prstGeom>
          <a:solidFill>
            <a:schemeClr val="accent2"/>
          </a:solidFill>
          <a:ln/>
        </p:spPr>
        <p:txBody>
          <a:bodyPr/>
          <a:lstStyle/>
          <a:p>
            <a:endParaRPr lang="en-US"/>
          </a:p>
        </p:txBody>
      </p:sp>
      <p:sp>
        <p:nvSpPr>
          <p:cNvPr id="8" name="Text 5"/>
          <p:cNvSpPr txBox="1"/>
          <p:nvPr/>
        </p:nvSpPr>
        <p:spPr>
          <a:xfrm>
            <a:off x="713232" y="198882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9" name="Text 6"/>
          <p:cNvSpPr txBox="1"/>
          <p:nvPr/>
        </p:nvSpPr>
        <p:spPr>
          <a:xfrm>
            <a:off x="1307592" y="1819656"/>
            <a:ext cx="7132320" cy="795528"/>
          </a:xfrm>
          <a:prstGeom prst="rect">
            <a:avLst/>
          </a:prstGeom>
          <a:noFill/>
          <a:ln/>
        </p:spPr>
        <p:txBody>
          <a:bodyPr wrap="square" lIns="0" tIns="0" rIns="0" bIns="0" rtlCol="0" anchor="ctr"/>
          <a:lstStyle/>
          <a:p>
            <a:pPr marL="0" indent="0">
              <a:buNone/>
            </a:pPr>
            <a:r>
              <a:rPr lang="en-US" sz="1800" dirty="0">
                <a:solidFill>
                  <a:schemeClr val="tx1"/>
                </a:solidFill>
              </a:rPr>
              <a:t>What does a fresh Ubuntu machine not have?</a:t>
            </a:r>
            <a:endParaRPr lang="en-US" sz="1800" dirty="0"/>
          </a:p>
          <a:p>
            <a:pPr marL="0" indent="0">
              <a:buNone/>
            </a:pPr>
            <a:r>
              <a:rPr lang="en-US" sz="1800" dirty="0">
                <a:solidFill>
                  <a:schemeClr val="tx1"/>
                </a:solidFill>
              </a:rPr>
              <a:t>Look at </a:t>
            </a:r>
            <a:r>
              <a:rPr lang="en-US" sz="1800" dirty="0">
                <a:solidFill>
                  <a:schemeClr val="tx1"/>
                </a:solidFill>
                <a:latin typeface="Courier New" pitchFamily="34" charset="0"/>
                <a:ea typeface="Courier New" pitchFamily="34" charset="-122"/>
                <a:cs typeface="Courier New" pitchFamily="34" charset="-120"/>
              </a:rPr>
              <a:t>actions/setup-python</a:t>
            </a:r>
            <a:r>
              <a:rPr lang="en-US" sz="1800" dirty="0">
                <a:solidFill>
                  <a:schemeClr val="tx1"/>
                </a:solidFill>
              </a:rPr>
              <a:t>, major v7.</a:t>
            </a:r>
            <a:endParaRPr lang="en-US" sz="1800" dirty="0"/>
          </a:p>
        </p:txBody>
      </p:sp>
      <p:sp>
        <p:nvSpPr>
          <p:cNvPr id="10" name="hint 2"/>
          <p:cNvSpPr/>
          <p:nvPr/>
        </p:nvSpPr>
        <p:spPr>
          <a:xfrm>
            <a:off x="548640" y="2743200"/>
            <a:ext cx="80467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 name="badge b"/>
          <p:cNvSpPr/>
          <p:nvPr/>
        </p:nvSpPr>
        <p:spPr>
          <a:xfrm>
            <a:off x="713232" y="2948940"/>
            <a:ext cx="457200" cy="457200"/>
          </a:xfrm>
          <a:prstGeom prst="ellipse">
            <a:avLst/>
          </a:prstGeom>
          <a:solidFill>
            <a:schemeClr val="accent2"/>
          </a:solidFill>
          <a:ln/>
        </p:spPr>
        <p:txBody>
          <a:bodyPr/>
          <a:lstStyle/>
          <a:p>
            <a:endParaRPr lang="en-US"/>
          </a:p>
        </p:txBody>
      </p:sp>
      <p:sp>
        <p:nvSpPr>
          <p:cNvPr id="12" name="Text 9"/>
          <p:cNvSpPr txBox="1"/>
          <p:nvPr/>
        </p:nvSpPr>
        <p:spPr>
          <a:xfrm>
            <a:off x="713232" y="294894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b</a:t>
            </a:r>
            <a:endParaRPr lang="en-US" sz="2000" dirty="0"/>
          </a:p>
        </p:txBody>
      </p:sp>
      <p:sp>
        <p:nvSpPr>
          <p:cNvPr id="13" name="Text 10"/>
          <p:cNvSpPr txBox="1"/>
          <p:nvPr/>
        </p:nvSpPr>
        <p:spPr>
          <a:xfrm>
            <a:off x="1307592" y="2779776"/>
            <a:ext cx="7132320" cy="795528"/>
          </a:xfrm>
          <a:prstGeom prst="rect">
            <a:avLst/>
          </a:prstGeom>
          <a:noFill/>
          <a:ln/>
        </p:spPr>
        <p:txBody>
          <a:bodyPr wrap="square" lIns="0" tIns="0" rIns="0" bIns="0" rtlCol="0" anchor="ctr"/>
          <a:lstStyle/>
          <a:p>
            <a:pPr marL="0" indent="0">
              <a:buNone/>
            </a:pPr>
            <a:r>
              <a:rPr lang="en-US" sz="1800" dirty="0">
                <a:solidFill>
                  <a:schemeClr val="tx1"/>
                </a:solidFill>
              </a:rPr>
              <a:t>Install what the service lists in its own </a:t>
            </a:r>
            <a:r>
              <a:rPr lang="en-US" sz="1800" dirty="0">
                <a:solidFill>
                  <a:schemeClr val="tx1"/>
                </a:solidFill>
                <a:latin typeface="Courier New" pitchFamily="34" charset="0"/>
                <a:ea typeface="Courier New" pitchFamily="34" charset="-122"/>
                <a:cs typeface="Courier New" pitchFamily="34" charset="-120"/>
              </a:rPr>
              <a:t>requirements.txt</a:t>
            </a:r>
            <a:r>
              <a:rPr lang="en-US" sz="1800" dirty="0">
                <a:solidFill>
                  <a:schemeClr val="tx1"/>
                </a:solidFill>
              </a:rPr>
              <a:t>.</a:t>
            </a:r>
            <a:endParaRPr lang="en-US" sz="1800" dirty="0"/>
          </a:p>
        </p:txBody>
      </p:sp>
      <p:sp>
        <p:nvSpPr>
          <p:cNvPr id="14" name="hint 3"/>
          <p:cNvSpPr/>
          <p:nvPr/>
        </p:nvSpPr>
        <p:spPr>
          <a:xfrm>
            <a:off x="548640" y="3703320"/>
            <a:ext cx="80467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5" name="badge c"/>
          <p:cNvSpPr/>
          <p:nvPr/>
        </p:nvSpPr>
        <p:spPr>
          <a:xfrm>
            <a:off x="713232" y="3909060"/>
            <a:ext cx="457200" cy="457200"/>
          </a:xfrm>
          <a:prstGeom prst="ellipse">
            <a:avLst/>
          </a:prstGeom>
          <a:solidFill>
            <a:schemeClr val="accent2"/>
          </a:solidFill>
          <a:ln/>
        </p:spPr>
        <p:txBody>
          <a:bodyPr/>
          <a:lstStyle/>
          <a:p>
            <a:endParaRPr lang="en-US"/>
          </a:p>
        </p:txBody>
      </p:sp>
      <p:sp>
        <p:nvSpPr>
          <p:cNvPr id="16" name="Text 13"/>
          <p:cNvSpPr txBox="1"/>
          <p:nvPr/>
        </p:nvSpPr>
        <p:spPr>
          <a:xfrm>
            <a:off x="713232" y="390906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c</a:t>
            </a:r>
            <a:endParaRPr lang="en-US" sz="2000" dirty="0"/>
          </a:p>
        </p:txBody>
      </p:sp>
      <p:sp>
        <p:nvSpPr>
          <p:cNvPr id="17" name="Text 14"/>
          <p:cNvSpPr txBox="1"/>
          <p:nvPr/>
        </p:nvSpPr>
        <p:spPr>
          <a:xfrm>
            <a:off x="1307592" y="3739896"/>
            <a:ext cx="7132320" cy="795528"/>
          </a:xfrm>
          <a:prstGeom prst="rect">
            <a:avLst/>
          </a:prstGeom>
          <a:noFill/>
          <a:ln/>
        </p:spPr>
        <p:txBody>
          <a:bodyPr wrap="square" lIns="0" tIns="0" rIns="0" bIns="0" rtlCol="0" anchor="ctr"/>
          <a:lstStyle/>
          <a:p>
            <a:pPr marL="0" indent="0">
              <a:buNone/>
            </a:pPr>
            <a:r>
              <a:rPr lang="en-US" sz="1800" dirty="0">
                <a:solidFill>
                  <a:schemeClr val="tx1"/>
                </a:solidFill>
              </a:rPr>
              <a:t>Which argument tells </a:t>
            </a:r>
            <a:r>
              <a:rPr lang="en-US" sz="1800" dirty="0">
                <a:solidFill>
                  <a:schemeClr val="tx1"/>
                </a:solidFill>
                <a:latin typeface="Courier New" pitchFamily="34" charset="0"/>
                <a:ea typeface="Courier New" pitchFamily="34" charset="-122"/>
                <a:cs typeface="Courier New" pitchFamily="34" charset="-120"/>
              </a:rPr>
              <a:t>pytest</a:t>
            </a:r>
            <a:r>
              <a:rPr lang="en-US" sz="1800" dirty="0">
                <a:solidFill>
                  <a:schemeClr val="tx1"/>
                </a:solidFill>
              </a:rPr>
              <a:t> where the tests are?</a:t>
            </a:r>
            <a:endParaRPr lang="en-US" sz="1800" dirty="0"/>
          </a:p>
        </p:txBody>
      </p:sp>
      <p:sp>
        <p:nvSpPr>
          <p:cNvPr id="18"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9" name="Text 16"/>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2: answer</a:t>
            </a:r>
            <a:endParaRPr lang="en-US" sz="3400" dirty="0"/>
          </a:p>
        </p:txBody>
      </p:sp>
      <p:sp>
        <p:nvSpPr>
          <p:cNvPr id="4" name="code panel"/>
          <p:cNvSpPr/>
          <p:nvPr/>
        </p:nvSpPr>
        <p:spPr>
          <a:xfrm>
            <a:off x="274320" y="1143000"/>
            <a:ext cx="8595360" cy="3154680"/>
          </a:xfrm>
          <a:prstGeom prst="roundRect">
            <a:avLst>
              <a:gd name="adj" fmla="val 2319"/>
            </a:avLst>
          </a:prstGeom>
          <a:solidFill>
            <a:schemeClr val="tx1"/>
          </a:solidFill>
          <a:ln/>
        </p:spPr>
        <p:txBody>
          <a:bodyPr/>
          <a:lstStyle/>
          <a:p>
            <a:endParaRPr lang="en-US"/>
          </a:p>
        </p:txBody>
      </p:sp>
      <p:sp>
        <p:nvSpPr>
          <p:cNvPr id="5" name="Text 2"/>
          <p:cNvSpPr txBox="1"/>
          <p:nvPr/>
        </p:nvSpPr>
        <p:spPr>
          <a:xfrm>
            <a:off x="457200" y="1271016"/>
            <a:ext cx="8229600" cy="2898648"/>
          </a:xfrm>
          <a:prstGeom prst="rect">
            <a:avLst/>
          </a:prstGeom>
          <a:noFill/>
          <a:ln/>
        </p:spPr>
        <p:txBody>
          <a:bodyPr wrap="square" lIns="0" tIns="0" rIns="0" bIns="0" rtlCol="0" anchor="t"/>
          <a:lstStyle/>
          <a:p>
            <a:pPr marL="0" indent="0">
              <a:lnSpc>
                <a:spcPts val="2100"/>
              </a:lnSpc>
              <a:buNone/>
            </a:pPr>
            <a:r>
              <a:rPr lang="en-US" sz="1400" dirty="0">
                <a:solidFill>
                  <a:srgbClr val="9DA7B3"/>
                </a:solidFill>
                <a:latin typeface="Courier New" pitchFamily="34" charset="0"/>
                <a:ea typeface="Courier New" pitchFamily="34" charset="-122"/>
                <a:cs typeface="Courier New" pitchFamily="34" charset="-120"/>
              </a:rPr>
              <a:t>    steps:</a:t>
            </a:r>
            <a:endParaRPr lang="en-US" sz="1400" dirty="0"/>
          </a:p>
          <a:p>
            <a:pPr marL="0" indent="0">
              <a:lnSpc>
                <a:spcPts val="2100"/>
              </a:lnSpc>
              <a:buNone/>
            </a:pPr>
            <a:r>
              <a:rPr lang="en-US" sz="1400" dirty="0">
                <a:solidFill>
                  <a:srgbClr val="9DA7B3"/>
                </a:solidFill>
                <a:latin typeface="Courier New" pitchFamily="34" charset="0"/>
                <a:ea typeface="Courier New" pitchFamily="34" charset="-122"/>
                <a:cs typeface="Courier New" pitchFamily="34" charset="-120"/>
              </a:rPr>
              <a:t>      - uses: actions/checkout@v7</a:t>
            </a:r>
            <a:endParaRPr lang="en-US" sz="1400" dirty="0"/>
          </a:p>
          <a:p>
            <a:pPr marL="0" indent="0">
              <a:lnSpc>
                <a:spcPts val="2100"/>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 uses: actions/setup-python@v7</a:t>
            </a:r>
            <a:endParaRPr lang="en-US" sz="1400" dirty="0"/>
          </a:p>
          <a:p>
            <a:pPr marL="0" indent="0">
              <a:lnSpc>
                <a:spcPts val="2100"/>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with:</a:t>
            </a:r>
            <a:endParaRPr lang="en-US" sz="1400" dirty="0"/>
          </a:p>
          <a:p>
            <a:pPr marL="0" indent="0">
              <a:lnSpc>
                <a:spcPts val="2100"/>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python-version: "3.12"</a:t>
            </a:r>
            <a:endParaRPr lang="en-US" sz="1400" dirty="0"/>
          </a:p>
          <a:p>
            <a:pPr marL="0" indent="0">
              <a:lnSpc>
                <a:spcPts val="2100"/>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 run: pip install -r services/tasks-api/requirements.txt</a:t>
            </a:r>
            <a:endParaRPr lang="en-US" sz="1400" dirty="0"/>
          </a:p>
          <a:p>
            <a:pPr marL="0" indent="0">
              <a:lnSpc>
                <a:spcPts val="2100"/>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 run: pytest services/tasks-api</a:t>
            </a:r>
            <a:endParaRPr lang="en-US" sz="1400" dirty="0"/>
          </a:p>
        </p:txBody>
      </p:sp>
      <p:sp>
        <p:nvSpPr>
          <p:cNvPr id="6" name="Text 3"/>
          <p:cNvSpPr txBox="1"/>
          <p:nvPr/>
        </p:nvSpPr>
        <p:spPr>
          <a:xfrm>
            <a:off x="548640" y="4334256"/>
            <a:ext cx="5486400" cy="256032"/>
          </a:xfrm>
          <a:prstGeom prst="rect">
            <a:avLst/>
          </a:prstGeom>
          <a:noFill/>
          <a:ln/>
        </p:spPr>
        <p:txBody>
          <a:bodyPr wrap="square" lIns="0" tIns="0" rIns="0" bIns="0" rtlCol="0" anchor="t"/>
          <a:lstStyle/>
          <a:p>
            <a:pPr marL="0" indent="0">
              <a:buNone/>
            </a:pPr>
            <a:r>
              <a:rPr lang="en-US" sz="1300" b="1" dirty="0">
                <a:solidFill>
                  <a:schemeClr val="accent1"/>
                </a:solidFill>
              </a:rPr>
              <a:t>Green lines are new or changed.</a:t>
            </a:r>
            <a:endParaRPr lang="en-US" sz="13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Same job, one value changes</a:t>
            </a:r>
            <a:endParaRPr lang="en-US" sz="3400" dirty="0"/>
          </a:p>
        </p:txBody>
      </p:sp>
      <p:sp>
        <p:nvSpPr>
          <p:cNvPr id="4" name="Text 1"/>
          <p:cNvSpPr txBox="1"/>
          <p:nvPr/>
        </p:nvSpPr>
        <p:spPr>
          <a:xfrm>
            <a:off x="548640" y="1143000"/>
            <a:ext cx="8046720" cy="914400"/>
          </a:xfrm>
          <a:prstGeom prst="rect">
            <a:avLst/>
          </a:prstGeom>
          <a:noFill/>
          <a:ln/>
        </p:spPr>
        <p:txBody>
          <a:bodyPr wrap="square" lIns="0" tIns="0" rIns="0" bIns="0" rtlCol="0" anchor="ctr"/>
          <a:lstStyle/>
          <a:p>
            <a:pPr marL="0" indent="0">
              <a:buNone/>
            </a:pPr>
            <a:r>
              <a:rPr lang="en-US" sz="2200" b="1" dirty="0">
                <a:solidFill>
                  <a:schemeClr val="tx1"/>
                </a:solidFill>
              </a:rPr>
              <a:t>A matrix runs the same job once per value. Each leg is its own job on its own machine.</a:t>
            </a:r>
            <a:endParaRPr lang="en-US" sz="2200" dirty="0"/>
          </a:p>
        </p:txBody>
      </p:sp>
      <p:sp>
        <p:nvSpPr>
          <p:cNvPr id="5" name="leg tasks-api"/>
          <p:cNvSpPr/>
          <p:nvPr/>
        </p:nvSpPr>
        <p:spPr>
          <a:xfrm>
            <a:off x="548640" y="2286000"/>
            <a:ext cx="3931920" cy="1371600"/>
          </a:xfrm>
          <a:prstGeom prst="roundRect">
            <a:avLst>
              <a:gd name="adj" fmla="val 5333"/>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6" name="Text 3"/>
          <p:cNvSpPr txBox="1"/>
          <p:nvPr/>
        </p:nvSpPr>
        <p:spPr>
          <a:xfrm>
            <a:off x="822960" y="2377440"/>
            <a:ext cx="3383280" cy="274320"/>
          </a:xfrm>
          <a:prstGeom prst="rect">
            <a:avLst/>
          </a:prstGeom>
          <a:noFill/>
          <a:ln/>
        </p:spPr>
        <p:txBody>
          <a:bodyPr wrap="square" lIns="0" tIns="0" rIns="0" bIns="0" rtlCol="0" anchor="t"/>
          <a:lstStyle/>
          <a:p>
            <a:pPr marL="0" indent="0">
              <a:buNone/>
            </a:pPr>
            <a:r>
              <a:rPr lang="en-US" sz="1400" dirty="0">
                <a:solidFill>
                  <a:schemeClr val="accent6"/>
                </a:solidFill>
              </a:rPr>
              <a:t>leg</a:t>
            </a:r>
            <a:endParaRPr lang="en-US" sz="1400" dirty="0"/>
          </a:p>
        </p:txBody>
      </p:sp>
      <p:sp>
        <p:nvSpPr>
          <p:cNvPr id="7" name="Text 4"/>
          <p:cNvSpPr txBox="1"/>
          <p:nvPr/>
        </p:nvSpPr>
        <p:spPr>
          <a:xfrm>
            <a:off x="822960" y="2697480"/>
            <a:ext cx="3383280" cy="45720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service: tasks-api</a:t>
            </a:r>
            <a:endParaRPr lang="en-US" sz="1600" dirty="0"/>
          </a:p>
        </p:txBody>
      </p:sp>
      <p:sp>
        <p:nvSpPr>
          <p:cNvPr id="8" name="Text 5"/>
          <p:cNvSpPr txBox="1"/>
          <p:nvPr/>
        </p:nvSpPr>
        <p:spPr>
          <a:xfrm>
            <a:off x="822960" y="3200400"/>
            <a:ext cx="3383280" cy="320040"/>
          </a:xfrm>
          <a:prstGeom prst="rect">
            <a:avLst/>
          </a:prstGeom>
          <a:noFill/>
          <a:ln/>
        </p:spPr>
        <p:txBody>
          <a:bodyPr wrap="square" lIns="0" tIns="0" rIns="0" bIns="0" rtlCol="0" anchor="t"/>
          <a:lstStyle/>
          <a:p>
            <a:pPr marL="0" indent="0">
              <a:buNone/>
            </a:pPr>
            <a:r>
              <a:rPr lang="en-US" sz="1600" dirty="0">
                <a:solidFill>
                  <a:schemeClr val="tx1"/>
                </a:solidFill>
              </a:rPr>
              <a:t>own machine, own filesystem</a:t>
            </a:r>
            <a:endParaRPr lang="en-US" sz="1600" dirty="0"/>
          </a:p>
        </p:txBody>
      </p:sp>
      <p:sp>
        <p:nvSpPr>
          <p:cNvPr id="9" name="leg title-normalizer"/>
          <p:cNvSpPr/>
          <p:nvPr/>
        </p:nvSpPr>
        <p:spPr>
          <a:xfrm>
            <a:off x="4663440" y="2286000"/>
            <a:ext cx="3931920" cy="1371600"/>
          </a:xfrm>
          <a:prstGeom prst="roundRect">
            <a:avLst>
              <a:gd name="adj" fmla="val 5333"/>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4937760" y="2377440"/>
            <a:ext cx="3383280" cy="274320"/>
          </a:xfrm>
          <a:prstGeom prst="rect">
            <a:avLst/>
          </a:prstGeom>
          <a:noFill/>
          <a:ln/>
        </p:spPr>
        <p:txBody>
          <a:bodyPr wrap="square" lIns="0" tIns="0" rIns="0" bIns="0" rtlCol="0" anchor="t"/>
          <a:lstStyle/>
          <a:p>
            <a:pPr marL="0" indent="0">
              <a:buNone/>
            </a:pPr>
            <a:r>
              <a:rPr lang="en-US" sz="1400" dirty="0">
                <a:solidFill>
                  <a:schemeClr val="accent6"/>
                </a:solidFill>
              </a:rPr>
              <a:t>leg</a:t>
            </a:r>
            <a:endParaRPr lang="en-US" sz="1400" dirty="0"/>
          </a:p>
        </p:txBody>
      </p:sp>
      <p:sp>
        <p:nvSpPr>
          <p:cNvPr id="11" name="Text 8"/>
          <p:cNvSpPr txBox="1"/>
          <p:nvPr/>
        </p:nvSpPr>
        <p:spPr>
          <a:xfrm>
            <a:off x="4937760" y="2697480"/>
            <a:ext cx="3383280" cy="457200"/>
          </a:xfrm>
          <a:prstGeom prst="rect">
            <a:avLst/>
          </a:prstGeom>
          <a:noFill/>
          <a:ln/>
        </p:spPr>
        <p:txBody>
          <a:bodyPr wrap="square" lIns="0" tIns="0" rIns="0" bIns="0" rtlCol="0" anchor="t"/>
          <a:lstStyle/>
          <a:p>
            <a:pPr marL="0" indent="0">
              <a:buNone/>
            </a:pPr>
            <a:r>
              <a:rPr lang="en-US" sz="1600" b="1" dirty="0">
                <a:solidFill>
                  <a:schemeClr val="accent1"/>
                </a:solidFill>
                <a:latin typeface="Courier New" pitchFamily="34" charset="0"/>
                <a:ea typeface="Courier New" pitchFamily="34" charset="-122"/>
                <a:cs typeface="Courier New" pitchFamily="34" charset="-120"/>
              </a:rPr>
              <a:t>service: title-normalizer</a:t>
            </a:r>
            <a:endParaRPr lang="en-US" sz="1600" dirty="0"/>
          </a:p>
        </p:txBody>
      </p:sp>
      <p:sp>
        <p:nvSpPr>
          <p:cNvPr id="12" name="Text 9"/>
          <p:cNvSpPr txBox="1"/>
          <p:nvPr/>
        </p:nvSpPr>
        <p:spPr>
          <a:xfrm>
            <a:off x="4937760" y="3200400"/>
            <a:ext cx="3383280" cy="320040"/>
          </a:xfrm>
          <a:prstGeom prst="rect">
            <a:avLst/>
          </a:prstGeom>
          <a:noFill/>
          <a:ln/>
        </p:spPr>
        <p:txBody>
          <a:bodyPr wrap="square" lIns="0" tIns="0" rIns="0" bIns="0" rtlCol="0" anchor="t"/>
          <a:lstStyle/>
          <a:p>
            <a:pPr marL="0" indent="0">
              <a:buNone/>
            </a:pPr>
            <a:r>
              <a:rPr lang="en-US" sz="1600" dirty="0">
                <a:solidFill>
                  <a:schemeClr val="tx1"/>
                </a:solidFill>
              </a:rPr>
              <a:t>own machine, own filesystem</a:t>
            </a:r>
            <a:endParaRPr lang="en-US" sz="1600" dirty="0"/>
          </a:p>
        </p:txBody>
      </p:sp>
      <p:sp>
        <p:nvSpPr>
          <p:cNvPr id="13" name="question banner"/>
          <p:cNvSpPr/>
          <p:nvPr/>
        </p:nvSpPr>
        <p:spPr>
          <a:xfrm>
            <a:off x="548640" y="3840480"/>
            <a:ext cx="8046720" cy="640080"/>
          </a:xfrm>
          <a:prstGeom prst="roundRect">
            <a:avLst>
              <a:gd name="adj" fmla="val 11429"/>
            </a:avLst>
          </a:prstGeom>
          <a:solidFill>
            <a:schemeClr val="tx1"/>
          </a:solidFill>
          <a:ln/>
        </p:spPr>
        <p:txBody>
          <a:bodyPr/>
          <a:lstStyle/>
          <a:p>
            <a:endParaRPr lang="en-US"/>
          </a:p>
        </p:txBody>
      </p:sp>
      <p:sp>
        <p:nvSpPr>
          <p:cNvPr id="14" name="Text 11"/>
          <p:cNvSpPr txBox="1"/>
          <p:nvPr/>
        </p:nvSpPr>
        <p:spPr>
          <a:xfrm>
            <a:off x="822960" y="3840480"/>
            <a:ext cx="7498080" cy="640080"/>
          </a:xfrm>
          <a:prstGeom prst="rect">
            <a:avLst/>
          </a:prstGeom>
          <a:noFill/>
          <a:ln/>
        </p:spPr>
        <p:txBody>
          <a:bodyPr wrap="square" lIns="0" tIns="0" rIns="0" bIns="0" rtlCol="0" anchor="ctr"/>
          <a:lstStyle/>
          <a:p>
            <a:pPr marL="0" indent="0">
              <a:buNone/>
            </a:pPr>
            <a:r>
              <a:rPr lang="en-US" sz="2200" b="1" dirty="0">
                <a:solidFill>
                  <a:schemeClr val="accent2"/>
                </a:solidFill>
              </a:rPr>
              <a:t>Which values change between the two runs?</a:t>
            </a:r>
            <a:endParaRPr lang="en-US" sz="2200" dirty="0"/>
          </a:p>
        </p:txBody>
      </p:sp>
      <p:sp>
        <p:nvSpPr>
          <p:cNvPr id="15"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6" name="Text 13"/>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The name is replaced as text</a:t>
            </a:r>
            <a:endParaRPr lang="en-US" sz="3400" dirty="0"/>
          </a:p>
        </p:txBody>
      </p:sp>
      <p:sp>
        <p:nvSpPr>
          <p:cNvPr id="4" name="Text 1"/>
          <p:cNvSpPr txBox="1"/>
          <p:nvPr/>
        </p:nvSpPr>
        <p:spPr>
          <a:xfrm>
            <a:off x="548640" y="1188720"/>
            <a:ext cx="8046720" cy="274320"/>
          </a:xfrm>
          <a:prstGeom prst="rect">
            <a:avLst/>
          </a:prstGeom>
          <a:noFill/>
          <a:ln/>
        </p:spPr>
        <p:txBody>
          <a:bodyPr wrap="square" lIns="0" tIns="0" rIns="0" bIns="0" rtlCol="0" anchor="t"/>
          <a:lstStyle/>
          <a:p>
            <a:pPr marL="0" indent="0">
              <a:buNone/>
            </a:pPr>
            <a:r>
              <a:rPr lang="en-US" sz="1600" b="1" dirty="0">
                <a:solidFill>
                  <a:schemeClr val="accent6"/>
                </a:solidFill>
              </a:rPr>
              <a:t>You write</a:t>
            </a:r>
            <a:endParaRPr lang="en-US" sz="1600" dirty="0"/>
          </a:p>
        </p:txBody>
      </p:sp>
      <p:sp>
        <p:nvSpPr>
          <p:cNvPr id="5" name="code panel"/>
          <p:cNvSpPr/>
          <p:nvPr/>
        </p:nvSpPr>
        <p:spPr>
          <a:xfrm>
            <a:off x="548640" y="1481328"/>
            <a:ext cx="8046720" cy="777240"/>
          </a:xfrm>
          <a:prstGeom prst="roundRect">
            <a:avLst>
              <a:gd name="adj" fmla="val 9412"/>
            </a:avLst>
          </a:prstGeom>
          <a:solidFill>
            <a:schemeClr val="tx1"/>
          </a:solidFill>
          <a:ln/>
        </p:spPr>
        <p:txBody>
          <a:bodyPr/>
          <a:lstStyle/>
          <a:p>
            <a:endParaRPr lang="en-US"/>
          </a:p>
        </p:txBody>
      </p:sp>
      <p:sp>
        <p:nvSpPr>
          <p:cNvPr id="6" name="Text 3"/>
          <p:cNvSpPr txBox="1"/>
          <p:nvPr/>
        </p:nvSpPr>
        <p:spPr>
          <a:xfrm>
            <a:off x="731520" y="1609344"/>
            <a:ext cx="7680960" cy="521208"/>
          </a:xfrm>
          <a:prstGeom prst="rect">
            <a:avLst/>
          </a:prstGeom>
          <a:noFill/>
          <a:ln/>
        </p:spPr>
        <p:txBody>
          <a:bodyPr wrap="square" lIns="0" tIns="0" rIns="0" bIns="0" rtlCol="0" anchor="ctr"/>
          <a:lstStyle/>
          <a:p>
            <a:pPr marL="0" indent="0">
              <a:lnSpc>
                <a:spcPts val="3300"/>
              </a:lnSpc>
              <a:buNone/>
            </a:pPr>
            <a:r>
              <a:rPr lang="en-US" sz="2200" dirty="0">
                <a:solidFill>
                  <a:schemeClr val="bg2"/>
                </a:solidFill>
                <a:latin typeface="Courier New" pitchFamily="34" charset="0"/>
                <a:ea typeface="Courier New" pitchFamily="34" charset="-122"/>
                <a:cs typeface="Courier New" pitchFamily="34" charset="-120"/>
              </a:rPr>
              <a:t>pytest services/${{ matrix.service }}</a:t>
            </a:r>
            <a:endParaRPr lang="en-US" sz="2200" dirty="0"/>
          </a:p>
        </p:txBody>
      </p:sp>
      <p:sp>
        <p:nvSpPr>
          <p:cNvPr id="7" name="Text 4"/>
          <p:cNvSpPr txBox="1"/>
          <p:nvPr/>
        </p:nvSpPr>
        <p:spPr>
          <a:xfrm>
            <a:off x="548640" y="2377440"/>
            <a:ext cx="8046720" cy="457200"/>
          </a:xfrm>
          <a:prstGeom prst="rect">
            <a:avLst/>
          </a:prstGeom>
          <a:noFill/>
          <a:ln/>
        </p:spPr>
        <p:txBody>
          <a:bodyPr wrap="square" lIns="0" tIns="0" rIns="0" bIns="0" rtlCol="0" anchor="ctr"/>
          <a:lstStyle/>
          <a:p>
            <a:pPr marL="0" indent="0" algn="ctr">
              <a:buNone/>
            </a:pPr>
            <a:r>
              <a:rPr lang="en-US" sz="2000" b="1" dirty="0">
                <a:solidFill>
                  <a:schemeClr val="accent2"/>
                </a:solidFill>
              </a:rPr>
              <a:t>GitHub replaces the text before the shell sees it</a:t>
            </a:r>
            <a:endParaRPr lang="en-US" sz="2000" dirty="0"/>
          </a:p>
        </p:txBody>
      </p:sp>
      <p:sp>
        <p:nvSpPr>
          <p:cNvPr id="8" name="Text 5"/>
          <p:cNvSpPr txBox="1"/>
          <p:nvPr/>
        </p:nvSpPr>
        <p:spPr>
          <a:xfrm>
            <a:off x="548640" y="2926080"/>
            <a:ext cx="8046720" cy="274320"/>
          </a:xfrm>
          <a:prstGeom prst="rect">
            <a:avLst/>
          </a:prstGeom>
          <a:noFill/>
          <a:ln/>
        </p:spPr>
        <p:txBody>
          <a:bodyPr wrap="square" lIns="0" tIns="0" rIns="0" bIns="0" rtlCol="0" anchor="t"/>
          <a:lstStyle/>
          <a:p>
            <a:pPr marL="0" indent="0">
              <a:buNone/>
            </a:pPr>
            <a:r>
              <a:rPr lang="en-US" sz="1600" b="1" dirty="0">
                <a:solidFill>
                  <a:schemeClr val="accent6"/>
                </a:solidFill>
              </a:rPr>
              <a:t>The shell sees</a:t>
            </a:r>
            <a:endParaRPr lang="en-US" sz="1600" dirty="0"/>
          </a:p>
        </p:txBody>
      </p:sp>
      <p:sp>
        <p:nvSpPr>
          <p:cNvPr id="9" name="code panel"/>
          <p:cNvSpPr/>
          <p:nvPr/>
        </p:nvSpPr>
        <p:spPr>
          <a:xfrm>
            <a:off x="548640" y="3218688"/>
            <a:ext cx="8046720" cy="777240"/>
          </a:xfrm>
          <a:prstGeom prst="roundRect">
            <a:avLst>
              <a:gd name="adj" fmla="val 9412"/>
            </a:avLst>
          </a:prstGeom>
          <a:solidFill>
            <a:schemeClr val="tx1"/>
          </a:solidFill>
          <a:ln/>
        </p:spPr>
        <p:txBody>
          <a:bodyPr/>
          <a:lstStyle/>
          <a:p>
            <a:endParaRPr lang="en-US"/>
          </a:p>
        </p:txBody>
      </p:sp>
      <p:sp>
        <p:nvSpPr>
          <p:cNvPr id="10" name="Text 7"/>
          <p:cNvSpPr txBox="1"/>
          <p:nvPr/>
        </p:nvSpPr>
        <p:spPr>
          <a:xfrm>
            <a:off x="731520" y="3346704"/>
            <a:ext cx="7680960" cy="521208"/>
          </a:xfrm>
          <a:prstGeom prst="rect">
            <a:avLst/>
          </a:prstGeom>
          <a:noFill/>
          <a:ln/>
        </p:spPr>
        <p:txBody>
          <a:bodyPr wrap="square" lIns="0" tIns="0" rIns="0" bIns="0" rtlCol="0" anchor="ctr"/>
          <a:lstStyle/>
          <a:p>
            <a:pPr marL="0" indent="0">
              <a:lnSpc>
                <a:spcPts val="3300"/>
              </a:lnSpc>
              <a:buNone/>
            </a:pPr>
            <a:r>
              <a:rPr lang="en-US" sz="2200" dirty="0">
                <a:solidFill>
                  <a:schemeClr val="accent1"/>
                </a:solidFill>
                <a:latin typeface="Courier New" pitchFamily="34" charset="0"/>
                <a:ea typeface="Courier New" pitchFamily="34" charset="-122"/>
                <a:cs typeface="Courier New" pitchFamily="34" charset="-120"/>
              </a:rPr>
              <a:t>pytest services/tasks-api</a:t>
            </a:r>
            <a:endParaRPr lang="en-US" sz="2200" dirty="0"/>
          </a:p>
        </p:txBody>
      </p:sp>
      <p:sp>
        <p:nvSpPr>
          <p:cNvPr id="11"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2" name="Text 9"/>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Docs lookup: matrix</a:t>
            </a:r>
            <a:endParaRPr lang="en-US" sz="3400" dirty="0"/>
          </a:p>
        </p:txBody>
      </p:sp>
      <p:sp>
        <p:nvSpPr>
          <p:cNvPr id="4" name="docs card"/>
          <p:cNvSpPr/>
          <p:nvPr/>
        </p:nvSpPr>
        <p:spPr>
          <a:xfrm>
            <a:off x="548640" y="1280160"/>
            <a:ext cx="8046720" cy="3200400"/>
          </a:xfrm>
          <a:prstGeom prst="roundRect">
            <a:avLst>
              <a:gd name="adj" fmla="val 2286"/>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docs circle"/>
          <p:cNvSpPr/>
          <p:nvPr/>
        </p:nvSpPr>
        <p:spPr>
          <a:xfrm>
            <a:off x="822960" y="1554480"/>
            <a:ext cx="731520" cy="731520"/>
          </a:xfrm>
          <a:prstGeom prst="ellipse">
            <a:avLst/>
          </a:prstGeom>
          <a:solidFill>
            <a:srgbClr val="2EA043"/>
          </a:solidFill>
          <a:ln/>
        </p:spPr>
        <p:txBody>
          <a:bodyPr/>
          <a:lstStyle/>
          <a:p>
            <a:endParaRPr lang="en-US"/>
          </a:p>
        </p:txBody>
      </p:sp>
      <p:pic>
        <p:nvPicPr>
          <p:cNvPr id="6" name="docs image" descr="FaBook"/>
          <p:cNvPicPr>
            <a:picLocks noChangeAspect="1"/>
          </p:cNvPicPr>
          <p:nvPr/>
        </p:nvPicPr>
        <p:blipFill>
          <a:blip r:embed="rId3"/>
          <a:stretch>
            <a:fillRect/>
          </a:stretch>
        </p:blipFill>
        <p:spPr>
          <a:xfrm>
            <a:off x="1005840" y="1737360"/>
            <a:ext cx="365760" cy="365760"/>
          </a:xfrm>
          <a:prstGeom prst="rect">
            <a:avLst/>
          </a:prstGeom>
        </p:spPr>
      </p:pic>
      <p:sp>
        <p:nvSpPr>
          <p:cNvPr id="7" name="Text 3"/>
          <p:cNvSpPr txBox="1"/>
          <p:nvPr/>
        </p:nvSpPr>
        <p:spPr>
          <a:xfrm>
            <a:off x="1783080" y="1554480"/>
            <a:ext cx="6400800" cy="731520"/>
          </a:xfrm>
          <a:prstGeom prst="rect">
            <a:avLst/>
          </a:prstGeom>
          <a:noFill/>
          <a:ln/>
        </p:spPr>
        <p:txBody>
          <a:bodyPr wrap="square" lIns="0" tIns="0" rIns="0" bIns="0" rtlCol="0" anchor="ctr"/>
          <a:lstStyle/>
          <a:p>
            <a:pPr marL="0" indent="0">
              <a:buNone/>
            </a:pPr>
            <a:r>
              <a:rPr lang="en-US" sz="2000" b="1" dirty="0">
                <a:solidFill>
                  <a:schemeClr val="accent6"/>
                </a:solidFill>
              </a:rPr>
              <a:t>GitHub Docs</a:t>
            </a:r>
            <a:endParaRPr lang="en-US" sz="2000" dirty="0"/>
          </a:p>
        </p:txBody>
      </p:sp>
      <p:sp>
        <p:nvSpPr>
          <p:cNvPr id="8" name="Text 4"/>
          <p:cNvSpPr txBox="1"/>
          <p:nvPr/>
        </p:nvSpPr>
        <p:spPr>
          <a:xfrm>
            <a:off x="822960" y="2377440"/>
            <a:ext cx="7498080" cy="914400"/>
          </a:xfrm>
          <a:prstGeom prst="rect">
            <a:avLst/>
          </a:prstGeom>
          <a:noFill/>
          <a:ln/>
        </p:spPr>
        <p:txBody>
          <a:bodyPr wrap="square" lIns="0" tIns="0" rIns="0" bIns="0" rtlCol="0" anchor="ctr"/>
          <a:lstStyle/>
          <a:p>
            <a:pPr marL="0" indent="0">
              <a:buNone/>
            </a:pPr>
            <a:r>
              <a:rPr lang="en-US" sz="2800" b="1" dirty="0">
                <a:solidFill>
                  <a:schemeClr val="tx1"/>
                </a:solidFill>
              </a:rPr>
              <a:t>Running variations of jobs in a workflow</a:t>
            </a:r>
            <a:endParaRPr lang="en-US" sz="2800" dirty="0"/>
          </a:p>
        </p:txBody>
      </p:sp>
      <p:sp>
        <p:nvSpPr>
          <p:cNvPr id="9" name="Text 5"/>
          <p:cNvSpPr txBox="1"/>
          <p:nvPr/>
        </p:nvSpPr>
        <p:spPr>
          <a:xfrm>
            <a:off x="822960" y="3337560"/>
            <a:ext cx="7498080" cy="502920"/>
          </a:xfrm>
          <a:prstGeom prst="rect">
            <a:avLst/>
          </a:prstGeom>
          <a:noFill/>
          <a:ln/>
        </p:spPr>
        <p:txBody>
          <a:bodyPr wrap="square" lIns="0" tIns="0" rIns="0" bIns="0" rtlCol="0" anchor="t"/>
          <a:lstStyle/>
          <a:p>
            <a:pPr marL="0" indent="0">
              <a:buNone/>
            </a:pPr>
            <a:r>
              <a:rPr lang="en-US" sz="1300" dirty="0">
                <a:solidFill>
                  <a:schemeClr val="accent6"/>
                </a:solidFill>
                <a:latin typeface="Courier New" pitchFamily="34" charset="0"/>
                <a:ea typeface="Courier New" pitchFamily="34" charset="-122"/>
                <a:cs typeface="Courier New" pitchFamily="34" charset="-120"/>
              </a:rPr>
              <a:t>docs.github.com/en/actions/how-tos/write-workflows/choose-what-workflows-do/run-job-variations</a:t>
            </a:r>
            <a:endParaRPr lang="en-US" sz="1300" dirty="0"/>
          </a:p>
        </p:txBody>
      </p:sp>
      <p:sp>
        <p:nvSpPr>
          <p:cNvPr id="10" name="Text 6"/>
          <p:cNvSpPr txBox="1"/>
          <p:nvPr/>
        </p:nvSpPr>
        <p:spPr>
          <a:xfrm>
            <a:off x="822960" y="3931920"/>
            <a:ext cx="7498080" cy="457200"/>
          </a:xfrm>
          <a:prstGeom prst="rect">
            <a:avLst/>
          </a:prstGeom>
          <a:noFill/>
          <a:ln/>
        </p:spPr>
        <p:txBody>
          <a:bodyPr wrap="square" lIns="0" tIns="0" rIns="0" bIns="0" rtlCol="0" anchor="t"/>
          <a:lstStyle/>
          <a:p>
            <a:pPr marL="0" indent="0">
              <a:buNone/>
            </a:pPr>
            <a:r>
              <a:rPr lang="en-US" sz="2400" b="1" dirty="0">
                <a:solidFill>
                  <a:schemeClr val="accent1"/>
                </a:solidFill>
              </a:rPr>
              <a:t>Find: </a:t>
            </a:r>
            <a:r>
              <a:rPr lang="en-US" sz="2400" b="1" dirty="0">
                <a:solidFill>
                  <a:schemeClr val="accent1"/>
                </a:solidFill>
                <a:latin typeface="Courier New" pitchFamily="34" charset="0"/>
                <a:ea typeface="Courier New" pitchFamily="34" charset="-122"/>
                <a:cs typeface="Courier New" pitchFamily="34" charset="-120"/>
              </a:rPr>
              <a:t>matrix</a:t>
            </a:r>
            <a:endParaRPr lang="en-US" sz="2400" dirty="0"/>
          </a:p>
        </p:txBody>
      </p:sp>
      <p:sp>
        <p:nvSpPr>
          <p:cNvPr id="11"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2" name="Text 8"/>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3: both services</a:t>
            </a:r>
            <a:endParaRPr lang="en-US" sz="3400" dirty="0"/>
          </a:p>
        </p:txBody>
      </p:sp>
      <p:sp>
        <p:nvSpPr>
          <p:cNvPr id="4" name="requirement"/>
          <p:cNvSpPr/>
          <p:nvPr/>
        </p:nvSpPr>
        <p:spPr>
          <a:xfrm>
            <a:off x="548640" y="1280160"/>
            <a:ext cx="8046720" cy="2194560"/>
          </a:xfrm>
          <a:prstGeom prst="roundRect">
            <a:avLst>
              <a:gd name="adj" fmla="val 3333"/>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requirement bar"/>
          <p:cNvSpPr/>
          <p:nvPr/>
        </p:nvSpPr>
        <p:spPr>
          <a:xfrm>
            <a:off x="548640" y="1280160"/>
            <a:ext cx="91440" cy="2194560"/>
          </a:xfrm>
          <a:prstGeom prst="rect">
            <a:avLst/>
          </a:prstGeom>
          <a:solidFill>
            <a:schemeClr val="accent1"/>
          </a:solidFill>
          <a:ln/>
        </p:spPr>
        <p:txBody>
          <a:bodyPr/>
          <a:lstStyle/>
          <a:p>
            <a:endParaRPr lang="en-US"/>
          </a:p>
        </p:txBody>
      </p:sp>
      <p:sp>
        <p:nvSpPr>
          <p:cNvPr id="6" name="Text 3"/>
          <p:cNvSpPr txBox="1"/>
          <p:nvPr/>
        </p:nvSpPr>
        <p:spPr>
          <a:xfrm>
            <a:off x="914400" y="1371600"/>
            <a:ext cx="7498080" cy="2011680"/>
          </a:xfrm>
          <a:prstGeom prst="rect">
            <a:avLst/>
          </a:prstGeom>
          <a:noFill/>
          <a:ln/>
        </p:spPr>
        <p:txBody>
          <a:bodyPr wrap="square" lIns="0" tIns="0" rIns="0" bIns="0" rtlCol="0" anchor="ctr"/>
          <a:lstStyle/>
          <a:p>
            <a:pPr marL="0" indent="0">
              <a:buNone/>
            </a:pPr>
            <a:r>
              <a:rPr lang="en-US" sz="2800" dirty="0">
                <a:solidFill>
                  <a:schemeClr val="tx1"/>
                </a:solidFill>
              </a:rPr>
              <a:t>Step 3. Run the same job for BOTH services, </a:t>
            </a:r>
            <a:r>
              <a:rPr lang="en-US" sz="2800" dirty="0">
                <a:solidFill>
                  <a:schemeClr val="tx1"/>
                </a:solidFill>
                <a:latin typeface="Courier New" pitchFamily="34" charset="0"/>
                <a:ea typeface="Courier New" pitchFamily="34" charset="-122"/>
                <a:cs typeface="Courier New" pitchFamily="34" charset="-120"/>
              </a:rPr>
              <a:t>tasks-api</a:t>
            </a:r>
            <a:r>
              <a:rPr lang="en-US" sz="2800" dirty="0">
                <a:solidFill>
                  <a:schemeClr val="tx1"/>
                </a:solidFill>
              </a:rPr>
              <a:t> and </a:t>
            </a:r>
            <a:r>
              <a:rPr lang="en-US" sz="2800" dirty="0">
                <a:solidFill>
                  <a:schemeClr val="tx1"/>
                </a:solidFill>
                <a:latin typeface="Courier New" pitchFamily="34" charset="0"/>
                <a:ea typeface="Courier New" pitchFamily="34" charset="-122"/>
                <a:cs typeface="Courier New" pitchFamily="34" charset="-120"/>
              </a:rPr>
              <a:t>title-normalizer</a:t>
            </a:r>
            <a:r>
              <a:rPr lang="en-US" sz="2800" dirty="0">
                <a:solidFill>
                  <a:schemeClr val="tx1"/>
                </a:solidFill>
              </a:rPr>
              <a:t>, with a matrix.</a:t>
            </a:r>
            <a:endParaRPr lang="en-US" sz="28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3: stuck?</a:t>
            </a:r>
            <a:endParaRPr lang="en-US" sz="3400" dirty="0"/>
          </a:p>
        </p:txBody>
      </p:sp>
      <p:sp>
        <p:nvSpPr>
          <p:cNvPr id="4" name="requirement line"/>
          <p:cNvSpPr/>
          <p:nvPr/>
        </p:nvSpPr>
        <p:spPr>
          <a:xfrm>
            <a:off x="548640" y="1097280"/>
            <a:ext cx="8046720" cy="548640"/>
          </a:xfrm>
          <a:prstGeom prst="roundRect">
            <a:avLst>
              <a:gd name="adj" fmla="val 13333"/>
            </a:avLst>
          </a:prstGeom>
          <a:solidFill>
            <a:schemeClr val="tx1"/>
          </a:solidFill>
          <a:ln/>
        </p:spPr>
        <p:txBody>
          <a:bodyPr/>
          <a:lstStyle/>
          <a:p>
            <a:endParaRPr lang="en-US"/>
          </a:p>
        </p:txBody>
      </p:sp>
      <p:sp>
        <p:nvSpPr>
          <p:cNvPr id="5" name="Text 2"/>
          <p:cNvSpPr txBox="1"/>
          <p:nvPr/>
        </p:nvSpPr>
        <p:spPr>
          <a:xfrm>
            <a:off x="777240" y="1097280"/>
            <a:ext cx="7589520" cy="548640"/>
          </a:xfrm>
          <a:prstGeom prst="rect">
            <a:avLst/>
          </a:prstGeom>
          <a:noFill/>
          <a:ln/>
        </p:spPr>
        <p:txBody>
          <a:bodyPr wrap="square" lIns="0" tIns="0" rIns="0" bIns="0" rtlCol="0" anchor="ctr"/>
          <a:lstStyle/>
          <a:p>
            <a:pPr marL="0" indent="0">
              <a:buNone/>
            </a:pPr>
            <a:r>
              <a:rPr lang="en-US" sz="1600" b="1" dirty="0">
                <a:solidFill>
                  <a:schemeClr val="bg1"/>
                </a:solidFill>
              </a:rPr>
              <a:t>Run the same job for </a:t>
            </a:r>
            <a:r>
              <a:rPr lang="en-US" sz="1600" b="1" dirty="0">
                <a:solidFill>
                  <a:schemeClr val="bg1"/>
                </a:solidFill>
                <a:latin typeface="Courier New" pitchFamily="34" charset="0"/>
                <a:ea typeface="Courier New" pitchFamily="34" charset="-122"/>
                <a:cs typeface="Courier New" pitchFamily="34" charset="-120"/>
              </a:rPr>
              <a:t>tasks-api</a:t>
            </a:r>
            <a:r>
              <a:rPr lang="en-US" sz="1600" b="1" dirty="0">
                <a:solidFill>
                  <a:schemeClr val="bg1"/>
                </a:solidFill>
              </a:rPr>
              <a:t> and </a:t>
            </a:r>
            <a:r>
              <a:rPr lang="en-US" sz="1600" b="1" dirty="0">
                <a:solidFill>
                  <a:schemeClr val="bg1"/>
                </a:solidFill>
                <a:latin typeface="Courier New" pitchFamily="34" charset="0"/>
                <a:ea typeface="Courier New" pitchFamily="34" charset="-122"/>
                <a:cs typeface="Courier New" pitchFamily="34" charset="-120"/>
              </a:rPr>
              <a:t>title-normalizer</a:t>
            </a:r>
            <a:r>
              <a:rPr lang="en-US" sz="1600" b="1" dirty="0">
                <a:solidFill>
                  <a:schemeClr val="bg1"/>
                </a:solidFill>
              </a:rPr>
              <a:t> with a matrix.</a:t>
            </a:r>
            <a:endParaRPr lang="en-US" sz="1600" dirty="0"/>
          </a:p>
        </p:txBody>
      </p:sp>
      <p:sp>
        <p:nvSpPr>
          <p:cNvPr id="6" name="hint 1"/>
          <p:cNvSpPr/>
          <p:nvPr/>
        </p:nvSpPr>
        <p:spPr>
          <a:xfrm>
            <a:off x="548640" y="1783080"/>
            <a:ext cx="80467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7" name="badge a"/>
          <p:cNvSpPr/>
          <p:nvPr/>
        </p:nvSpPr>
        <p:spPr>
          <a:xfrm>
            <a:off x="713232" y="1988820"/>
            <a:ext cx="457200" cy="457200"/>
          </a:xfrm>
          <a:prstGeom prst="ellipse">
            <a:avLst/>
          </a:prstGeom>
          <a:solidFill>
            <a:schemeClr val="accent2"/>
          </a:solidFill>
          <a:ln/>
        </p:spPr>
        <p:txBody>
          <a:bodyPr/>
          <a:lstStyle/>
          <a:p>
            <a:endParaRPr lang="en-US"/>
          </a:p>
        </p:txBody>
      </p:sp>
      <p:sp>
        <p:nvSpPr>
          <p:cNvPr id="8" name="Text 5"/>
          <p:cNvSpPr txBox="1"/>
          <p:nvPr/>
        </p:nvSpPr>
        <p:spPr>
          <a:xfrm>
            <a:off x="713232" y="198882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9" name="Text 6"/>
          <p:cNvSpPr txBox="1"/>
          <p:nvPr/>
        </p:nvSpPr>
        <p:spPr>
          <a:xfrm>
            <a:off x="1307592" y="1819656"/>
            <a:ext cx="7132320" cy="795528"/>
          </a:xfrm>
          <a:prstGeom prst="rect">
            <a:avLst/>
          </a:prstGeom>
          <a:noFill/>
          <a:ln/>
        </p:spPr>
        <p:txBody>
          <a:bodyPr wrap="square" lIns="0" tIns="0" rIns="0" bIns="0" rtlCol="0" anchor="ctr"/>
          <a:lstStyle/>
          <a:p>
            <a:pPr marL="0" indent="0">
              <a:buNone/>
            </a:pPr>
            <a:r>
              <a:rPr lang="en-US" sz="1800" dirty="0">
                <a:solidFill>
                  <a:schemeClr val="tx1"/>
                </a:solidFill>
              </a:rPr>
              <a:t>What differs between the two runs? Only the service name.</a:t>
            </a:r>
            <a:endParaRPr lang="en-US" sz="1800" dirty="0"/>
          </a:p>
        </p:txBody>
      </p:sp>
      <p:sp>
        <p:nvSpPr>
          <p:cNvPr id="10" name="hint 2"/>
          <p:cNvSpPr/>
          <p:nvPr/>
        </p:nvSpPr>
        <p:spPr>
          <a:xfrm>
            <a:off x="548640" y="2743200"/>
            <a:ext cx="80467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 name="badge b"/>
          <p:cNvSpPr/>
          <p:nvPr/>
        </p:nvSpPr>
        <p:spPr>
          <a:xfrm>
            <a:off x="713232" y="2948940"/>
            <a:ext cx="457200" cy="457200"/>
          </a:xfrm>
          <a:prstGeom prst="ellipse">
            <a:avLst/>
          </a:prstGeom>
          <a:solidFill>
            <a:schemeClr val="accent2"/>
          </a:solidFill>
          <a:ln/>
        </p:spPr>
        <p:txBody>
          <a:bodyPr/>
          <a:lstStyle/>
          <a:p>
            <a:endParaRPr lang="en-US"/>
          </a:p>
        </p:txBody>
      </p:sp>
      <p:sp>
        <p:nvSpPr>
          <p:cNvPr id="12" name="Text 9"/>
          <p:cNvSpPr txBox="1"/>
          <p:nvPr/>
        </p:nvSpPr>
        <p:spPr>
          <a:xfrm>
            <a:off x="713232" y="294894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b</a:t>
            </a:r>
            <a:endParaRPr lang="en-US" sz="2000" dirty="0"/>
          </a:p>
        </p:txBody>
      </p:sp>
      <p:sp>
        <p:nvSpPr>
          <p:cNvPr id="13" name="Text 10"/>
          <p:cNvSpPr txBox="1"/>
          <p:nvPr/>
        </p:nvSpPr>
        <p:spPr>
          <a:xfrm>
            <a:off x="1307592" y="2779776"/>
            <a:ext cx="7132320" cy="795528"/>
          </a:xfrm>
          <a:prstGeom prst="rect">
            <a:avLst/>
          </a:prstGeom>
          <a:noFill/>
          <a:ln/>
        </p:spPr>
        <p:txBody>
          <a:bodyPr wrap="square" lIns="0" tIns="0" rIns="0" bIns="0" rtlCol="0" anchor="ctr"/>
          <a:lstStyle/>
          <a:p>
            <a:pPr marL="0" indent="0">
              <a:buNone/>
            </a:pPr>
            <a:r>
              <a:rPr lang="en-US" sz="1800" dirty="0">
                <a:solidFill>
                  <a:schemeClr val="tx1"/>
                </a:solidFill>
              </a:rPr>
              <a:t>Write the name once as a list, use it where the name appears.</a:t>
            </a:r>
            <a:endParaRPr lang="en-US" sz="1800" dirty="0"/>
          </a:p>
        </p:txBody>
      </p:sp>
      <p:sp>
        <p:nvSpPr>
          <p:cNvPr id="14" name="hint 3"/>
          <p:cNvSpPr/>
          <p:nvPr/>
        </p:nvSpPr>
        <p:spPr>
          <a:xfrm>
            <a:off x="548640" y="3703320"/>
            <a:ext cx="8046720" cy="868680"/>
          </a:xfrm>
          <a:prstGeom prst="roundRect">
            <a:avLst>
              <a:gd name="adj" fmla="val 8421"/>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5" name="badge c"/>
          <p:cNvSpPr/>
          <p:nvPr/>
        </p:nvSpPr>
        <p:spPr>
          <a:xfrm>
            <a:off x="713232" y="3909060"/>
            <a:ext cx="457200" cy="457200"/>
          </a:xfrm>
          <a:prstGeom prst="ellipse">
            <a:avLst/>
          </a:prstGeom>
          <a:solidFill>
            <a:schemeClr val="accent2"/>
          </a:solidFill>
          <a:ln/>
        </p:spPr>
        <p:txBody>
          <a:bodyPr/>
          <a:lstStyle/>
          <a:p>
            <a:endParaRPr lang="en-US"/>
          </a:p>
        </p:txBody>
      </p:sp>
      <p:sp>
        <p:nvSpPr>
          <p:cNvPr id="16" name="Text 13"/>
          <p:cNvSpPr txBox="1"/>
          <p:nvPr/>
        </p:nvSpPr>
        <p:spPr>
          <a:xfrm>
            <a:off x="713232" y="3909060"/>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c</a:t>
            </a:r>
            <a:endParaRPr lang="en-US" sz="2000" dirty="0"/>
          </a:p>
        </p:txBody>
      </p:sp>
      <p:sp>
        <p:nvSpPr>
          <p:cNvPr id="17" name="Text 14"/>
          <p:cNvSpPr txBox="1"/>
          <p:nvPr/>
        </p:nvSpPr>
        <p:spPr>
          <a:xfrm>
            <a:off x="1307592" y="3739896"/>
            <a:ext cx="7132320" cy="795528"/>
          </a:xfrm>
          <a:prstGeom prst="rect">
            <a:avLst/>
          </a:prstGeom>
          <a:noFill/>
          <a:ln/>
        </p:spPr>
        <p:txBody>
          <a:bodyPr wrap="square" lIns="0" tIns="0" rIns="0" bIns="0" rtlCol="0" anchor="ctr"/>
          <a:lstStyle/>
          <a:p>
            <a:pPr marL="0" indent="0">
              <a:buNone/>
            </a:pPr>
            <a:r>
              <a:rPr lang="en-US" sz="1800" dirty="0">
                <a:solidFill>
                  <a:schemeClr val="tx1"/>
                </a:solidFill>
              </a:rPr>
              <a:t>Open the Docs page on matrix strategies ("Running variations of jobs in a workflow").</a:t>
            </a:r>
            <a:endParaRPr lang="en-US" sz="1800" dirty="0"/>
          </a:p>
        </p:txBody>
      </p:sp>
      <p:sp>
        <p:nvSpPr>
          <p:cNvPr id="18"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9" name="Text 16"/>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3: answer</a:t>
            </a:r>
            <a:endParaRPr lang="en-US" sz="3400" dirty="0"/>
          </a:p>
        </p:txBody>
      </p:sp>
      <p:sp>
        <p:nvSpPr>
          <p:cNvPr id="4" name="code panel"/>
          <p:cNvSpPr/>
          <p:nvPr/>
        </p:nvSpPr>
        <p:spPr>
          <a:xfrm>
            <a:off x="274320" y="1143000"/>
            <a:ext cx="8595360" cy="3154680"/>
          </a:xfrm>
          <a:prstGeom prst="roundRect">
            <a:avLst>
              <a:gd name="adj" fmla="val 2319"/>
            </a:avLst>
          </a:prstGeom>
          <a:solidFill>
            <a:schemeClr val="tx1"/>
          </a:solidFill>
          <a:ln/>
        </p:spPr>
        <p:txBody>
          <a:bodyPr/>
          <a:lstStyle/>
          <a:p>
            <a:endParaRPr lang="en-US"/>
          </a:p>
        </p:txBody>
      </p:sp>
      <p:sp>
        <p:nvSpPr>
          <p:cNvPr id="5" name="Text 2"/>
          <p:cNvSpPr txBox="1"/>
          <p:nvPr/>
        </p:nvSpPr>
        <p:spPr>
          <a:xfrm>
            <a:off x="457200" y="1271016"/>
            <a:ext cx="8229600" cy="2898648"/>
          </a:xfrm>
          <a:prstGeom prst="rect">
            <a:avLst/>
          </a:prstGeom>
          <a:noFill/>
          <a:ln/>
        </p:spPr>
        <p:txBody>
          <a:bodyPr wrap="square" lIns="0" tIns="0" rIns="0" bIns="0" rtlCol="0" anchor="t"/>
          <a:lstStyle/>
          <a:p>
            <a:pPr marL="0" indent="0">
              <a:lnSpc>
                <a:spcPts val="1756"/>
              </a:lnSpc>
              <a:buNone/>
            </a:pPr>
            <a:r>
              <a:rPr lang="en-US" sz="1400" dirty="0">
                <a:solidFill>
                  <a:srgbClr val="9DA7B3"/>
                </a:solidFill>
                <a:latin typeface="Courier New" pitchFamily="34" charset="0"/>
                <a:ea typeface="Courier New" pitchFamily="34" charset="-122"/>
                <a:cs typeface="Courier New" pitchFamily="34" charset="-120"/>
              </a:rPr>
              <a:t>jobs:</a:t>
            </a:r>
            <a:endParaRPr lang="en-US" sz="1400" dirty="0"/>
          </a:p>
          <a:p>
            <a:pPr marL="0" indent="0">
              <a:lnSpc>
                <a:spcPts val="1756"/>
              </a:lnSpc>
              <a:buNone/>
            </a:pPr>
            <a:r>
              <a:rPr lang="en-US" sz="1400" dirty="0">
                <a:solidFill>
                  <a:srgbClr val="9DA7B3"/>
                </a:solidFill>
                <a:latin typeface="Courier New" pitchFamily="34" charset="0"/>
                <a:ea typeface="Courier New" pitchFamily="34" charset="-122"/>
                <a:cs typeface="Courier New" pitchFamily="34" charset="-120"/>
              </a:rPr>
              <a:t>  run_tests:</a:t>
            </a:r>
            <a:endParaRPr lang="en-US" sz="1400" dirty="0"/>
          </a:p>
          <a:p>
            <a:pPr marL="0" indent="0">
              <a:lnSpc>
                <a:spcPts val="1756"/>
              </a:lnSpc>
              <a:buNone/>
            </a:pPr>
            <a:r>
              <a:rPr lang="en-US" sz="1400" dirty="0">
                <a:solidFill>
                  <a:srgbClr val="9DA7B3"/>
                </a:solidFill>
                <a:latin typeface="Courier New" pitchFamily="34" charset="0"/>
                <a:ea typeface="Courier New" pitchFamily="34" charset="-122"/>
                <a:cs typeface="Courier New" pitchFamily="34" charset="-120"/>
              </a:rPr>
              <a:t>    runs-on: ubuntu-latest</a:t>
            </a:r>
            <a:endParaRPr lang="en-US" sz="1400" dirty="0"/>
          </a:p>
          <a:p>
            <a:pPr marL="0" indent="0">
              <a:lnSpc>
                <a:spcPts val="1756"/>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strategy:</a:t>
            </a:r>
            <a:endParaRPr lang="en-US" sz="1400" dirty="0"/>
          </a:p>
          <a:p>
            <a:pPr marL="0" indent="0">
              <a:lnSpc>
                <a:spcPts val="1756"/>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matrix:</a:t>
            </a:r>
            <a:endParaRPr lang="en-US" sz="1400" dirty="0"/>
          </a:p>
          <a:p>
            <a:pPr marL="0" indent="0">
              <a:lnSpc>
                <a:spcPts val="1756"/>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service: [tasks-api, title-normalizer]</a:t>
            </a:r>
            <a:endParaRPr lang="en-US" sz="1400" dirty="0"/>
          </a:p>
          <a:p>
            <a:pPr marL="0" indent="0">
              <a:lnSpc>
                <a:spcPts val="1756"/>
              </a:lnSpc>
              <a:buNone/>
            </a:pPr>
            <a:r>
              <a:rPr lang="en-US" sz="1400" dirty="0">
                <a:solidFill>
                  <a:srgbClr val="9DA7B3"/>
                </a:solidFill>
                <a:latin typeface="Courier New" pitchFamily="34" charset="0"/>
                <a:ea typeface="Courier New" pitchFamily="34" charset="-122"/>
                <a:cs typeface="Courier New" pitchFamily="34" charset="-120"/>
              </a:rPr>
              <a:t>    steps:</a:t>
            </a:r>
            <a:endParaRPr lang="en-US" sz="1400" dirty="0"/>
          </a:p>
          <a:p>
            <a:pPr marL="0" indent="0">
              <a:lnSpc>
                <a:spcPts val="1756"/>
              </a:lnSpc>
              <a:buNone/>
            </a:pPr>
            <a:r>
              <a:rPr lang="en-US" sz="1400" dirty="0">
                <a:solidFill>
                  <a:srgbClr val="9DA7B3"/>
                </a:solidFill>
                <a:latin typeface="Courier New" pitchFamily="34" charset="0"/>
                <a:ea typeface="Courier New" pitchFamily="34" charset="-122"/>
                <a:cs typeface="Courier New" pitchFamily="34" charset="-120"/>
              </a:rPr>
              <a:t>      - uses: actions/checkout@v7</a:t>
            </a:r>
            <a:endParaRPr lang="en-US" sz="1400" dirty="0"/>
          </a:p>
          <a:p>
            <a:pPr marL="0" indent="0">
              <a:lnSpc>
                <a:spcPts val="1756"/>
              </a:lnSpc>
              <a:buNone/>
            </a:pPr>
            <a:r>
              <a:rPr lang="en-US" sz="1400" dirty="0">
                <a:solidFill>
                  <a:srgbClr val="9DA7B3"/>
                </a:solidFill>
                <a:latin typeface="Courier New" pitchFamily="34" charset="0"/>
                <a:ea typeface="Courier New" pitchFamily="34" charset="-122"/>
                <a:cs typeface="Courier New" pitchFamily="34" charset="-120"/>
              </a:rPr>
              <a:t>      - uses: actions/setup-python@v7</a:t>
            </a:r>
            <a:endParaRPr lang="en-US" sz="1400" dirty="0"/>
          </a:p>
          <a:p>
            <a:pPr marL="0" indent="0">
              <a:lnSpc>
                <a:spcPts val="1756"/>
              </a:lnSpc>
              <a:buNone/>
            </a:pPr>
            <a:r>
              <a:rPr lang="en-US" sz="1400" dirty="0">
                <a:solidFill>
                  <a:srgbClr val="9DA7B3"/>
                </a:solidFill>
                <a:latin typeface="Courier New" pitchFamily="34" charset="0"/>
                <a:ea typeface="Courier New" pitchFamily="34" charset="-122"/>
                <a:cs typeface="Courier New" pitchFamily="34" charset="-120"/>
              </a:rPr>
              <a:t>        with:</a:t>
            </a:r>
            <a:endParaRPr lang="en-US" sz="1400" dirty="0"/>
          </a:p>
          <a:p>
            <a:pPr marL="0" indent="0">
              <a:lnSpc>
                <a:spcPts val="1756"/>
              </a:lnSpc>
              <a:buNone/>
            </a:pPr>
            <a:r>
              <a:rPr lang="en-US" sz="1400" dirty="0">
                <a:solidFill>
                  <a:srgbClr val="9DA7B3"/>
                </a:solidFill>
                <a:latin typeface="Courier New" pitchFamily="34" charset="0"/>
                <a:ea typeface="Courier New" pitchFamily="34" charset="-122"/>
                <a:cs typeface="Courier New" pitchFamily="34" charset="-120"/>
              </a:rPr>
              <a:t>          python-version: "3.12"</a:t>
            </a:r>
            <a:endParaRPr lang="en-US" sz="1400" dirty="0"/>
          </a:p>
          <a:p>
            <a:pPr marL="0" indent="0">
              <a:lnSpc>
                <a:spcPts val="1756"/>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 run: pip install -r services/${{ matrix.service }}/requirements.txt</a:t>
            </a:r>
            <a:endParaRPr lang="en-US" sz="1400" dirty="0"/>
          </a:p>
          <a:p>
            <a:pPr marL="0" indent="0">
              <a:lnSpc>
                <a:spcPts val="1756"/>
              </a:lnSpc>
              <a:buNone/>
            </a:pPr>
            <a:r>
              <a:rPr lang="en-US" sz="1400" b="1" dirty="0">
                <a:solidFill>
                  <a:schemeClr val="accent1"/>
                </a:solidFill>
                <a:highlight>
                  <a:srgbClr val="1B3A28"/>
                </a:highlight>
                <a:latin typeface="Courier New" pitchFamily="34" charset="0"/>
                <a:ea typeface="Courier New" pitchFamily="34" charset="-122"/>
                <a:cs typeface="Courier New" pitchFamily="34" charset="-120"/>
              </a:rPr>
              <a:t>      - run: pytest services/${{ matrix.service }}</a:t>
            </a:r>
            <a:endParaRPr lang="en-US" sz="1400" dirty="0"/>
          </a:p>
        </p:txBody>
      </p:sp>
      <p:sp>
        <p:nvSpPr>
          <p:cNvPr id="6" name="Text 3"/>
          <p:cNvSpPr txBox="1"/>
          <p:nvPr/>
        </p:nvSpPr>
        <p:spPr>
          <a:xfrm>
            <a:off x="548640" y="4334256"/>
            <a:ext cx="5486400" cy="256032"/>
          </a:xfrm>
          <a:prstGeom prst="rect">
            <a:avLst/>
          </a:prstGeom>
          <a:noFill/>
          <a:ln/>
        </p:spPr>
        <p:txBody>
          <a:bodyPr wrap="square" lIns="0" tIns="0" rIns="0" bIns="0" rtlCol="0" anchor="t"/>
          <a:lstStyle/>
          <a:p>
            <a:pPr marL="0" indent="0">
              <a:buNone/>
            </a:pPr>
            <a:r>
              <a:rPr lang="en-US" sz="1300" b="1" dirty="0">
                <a:solidFill>
                  <a:schemeClr val="accent1"/>
                </a:solidFill>
              </a:rPr>
              <a:t>Green lines are new or changed.</a:t>
            </a:r>
            <a:endParaRPr lang="en-US" sz="13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What is an artifact?</a:t>
            </a:r>
            <a:endParaRPr lang="en-US" sz="3400" dirty="0"/>
          </a:p>
        </p:txBody>
      </p:sp>
      <p:sp>
        <p:nvSpPr>
          <p:cNvPr id="4" name="Text 1"/>
          <p:cNvSpPr txBox="1"/>
          <p:nvPr/>
        </p:nvSpPr>
        <p:spPr>
          <a:xfrm>
            <a:off x="548640" y="1188720"/>
            <a:ext cx="8046720" cy="731520"/>
          </a:xfrm>
          <a:prstGeom prst="rect">
            <a:avLst/>
          </a:prstGeom>
          <a:noFill/>
          <a:ln/>
        </p:spPr>
        <p:txBody>
          <a:bodyPr wrap="square" lIns="0" tIns="0" rIns="0" bIns="0" rtlCol="0" anchor="ctr"/>
          <a:lstStyle/>
          <a:p>
            <a:pPr marL="0" indent="0">
              <a:buNone/>
            </a:pPr>
            <a:r>
              <a:rPr lang="en-US" sz="2800" b="1" dirty="0">
                <a:solidFill>
                  <a:schemeClr val="tx1"/>
                </a:solidFill>
              </a:rPr>
              <a:t>A file GitHub keeps on the workflow run.</a:t>
            </a:r>
            <a:endParaRPr lang="en-US" sz="2800" dirty="0"/>
          </a:p>
        </p:txBody>
      </p:sp>
      <p:sp>
        <p:nvSpPr>
          <p:cNvPr id="5" name="Kept on the run"/>
          <p:cNvSpPr/>
          <p:nvPr/>
        </p:nvSpPr>
        <p:spPr>
          <a:xfrm>
            <a:off x="548640" y="2194560"/>
            <a:ext cx="2560320" cy="2194560"/>
          </a:xfrm>
          <a:prstGeom prst="roundRect">
            <a:avLst>
              <a:gd name="adj" fmla="val 3333"/>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6" name="Kept on the run circle"/>
          <p:cNvSpPr/>
          <p:nvPr/>
        </p:nvSpPr>
        <p:spPr>
          <a:xfrm>
            <a:off x="822960" y="2468880"/>
            <a:ext cx="731520" cy="731520"/>
          </a:xfrm>
          <a:prstGeom prst="ellipse">
            <a:avLst/>
          </a:prstGeom>
          <a:solidFill>
            <a:srgbClr val="2EA043"/>
          </a:solidFill>
          <a:ln/>
        </p:spPr>
        <p:txBody>
          <a:bodyPr/>
          <a:lstStyle/>
          <a:p>
            <a:endParaRPr lang="en-US"/>
          </a:p>
        </p:txBody>
      </p:sp>
      <p:pic>
        <p:nvPicPr>
          <p:cNvPr id="7" name="Kept on the run image" descr="FaGithub"/>
          <p:cNvPicPr>
            <a:picLocks noChangeAspect="1"/>
          </p:cNvPicPr>
          <p:nvPr/>
        </p:nvPicPr>
        <p:blipFill>
          <a:blip r:embed="rId3"/>
          <a:stretch>
            <a:fillRect/>
          </a:stretch>
        </p:blipFill>
        <p:spPr>
          <a:xfrm>
            <a:off x="1005840" y="2651760"/>
            <a:ext cx="365760" cy="365760"/>
          </a:xfrm>
          <a:prstGeom prst="rect">
            <a:avLst/>
          </a:prstGeom>
        </p:spPr>
      </p:pic>
      <p:sp>
        <p:nvSpPr>
          <p:cNvPr id="8" name="Text 4"/>
          <p:cNvSpPr txBox="1"/>
          <p:nvPr/>
        </p:nvSpPr>
        <p:spPr>
          <a:xfrm>
            <a:off x="822960" y="3383280"/>
            <a:ext cx="2103120" cy="822960"/>
          </a:xfrm>
          <a:prstGeom prst="rect">
            <a:avLst/>
          </a:prstGeom>
          <a:noFill/>
          <a:ln/>
        </p:spPr>
        <p:txBody>
          <a:bodyPr wrap="square" lIns="0" tIns="0" rIns="0" bIns="0" rtlCol="0" anchor="t"/>
          <a:lstStyle/>
          <a:p>
            <a:pPr marL="0" indent="0">
              <a:buNone/>
            </a:pPr>
            <a:r>
              <a:rPr lang="en-US" sz="2200" b="1" dirty="0">
                <a:solidFill>
                  <a:schemeClr val="tx1"/>
                </a:solidFill>
              </a:rPr>
              <a:t>Kept on the run</a:t>
            </a:r>
            <a:endParaRPr lang="en-US" sz="2200" dirty="0"/>
          </a:p>
        </p:txBody>
      </p:sp>
      <p:sp>
        <p:nvSpPr>
          <p:cNvPr id="9" name="Downloadable as a zip"/>
          <p:cNvSpPr/>
          <p:nvPr/>
        </p:nvSpPr>
        <p:spPr>
          <a:xfrm>
            <a:off x="3291840" y="2194560"/>
            <a:ext cx="2560320" cy="2194560"/>
          </a:xfrm>
          <a:prstGeom prst="roundRect">
            <a:avLst>
              <a:gd name="adj" fmla="val 3333"/>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 name="Downloadable as a zip circle"/>
          <p:cNvSpPr/>
          <p:nvPr/>
        </p:nvSpPr>
        <p:spPr>
          <a:xfrm>
            <a:off x="3566160" y="2468880"/>
            <a:ext cx="731520" cy="731520"/>
          </a:xfrm>
          <a:prstGeom prst="ellipse">
            <a:avLst/>
          </a:prstGeom>
          <a:solidFill>
            <a:srgbClr val="2EA043"/>
          </a:solidFill>
          <a:ln/>
        </p:spPr>
        <p:txBody>
          <a:bodyPr/>
          <a:lstStyle/>
          <a:p>
            <a:endParaRPr lang="en-US"/>
          </a:p>
        </p:txBody>
      </p:sp>
      <p:pic>
        <p:nvPicPr>
          <p:cNvPr id="11" name="Downloadable as a zip image" descr="FaDownload"/>
          <p:cNvPicPr>
            <a:picLocks noChangeAspect="1"/>
          </p:cNvPicPr>
          <p:nvPr/>
        </p:nvPicPr>
        <p:blipFill>
          <a:blip r:embed="rId4"/>
          <a:stretch>
            <a:fillRect/>
          </a:stretch>
        </p:blipFill>
        <p:spPr>
          <a:xfrm>
            <a:off x="3749040" y="2651760"/>
            <a:ext cx="365760" cy="365760"/>
          </a:xfrm>
          <a:prstGeom prst="rect">
            <a:avLst/>
          </a:prstGeom>
        </p:spPr>
      </p:pic>
      <p:sp>
        <p:nvSpPr>
          <p:cNvPr id="12" name="Text 7"/>
          <p:cNvSpPr txBox="1"/>
          <p:nvPr/>
        </p:nvSpPr>
        <p:spPr>
          <a:xfrm>
            <a:off x="3566160" y="3383280"/>
            <a:ext cx="2103120" cy="822960"/>
          </a:xfrm>
          <a:prstGeom prst="rect">
            <a:avLst/>
          </a:prstGeom>
          <a:noFill/>
          <a:ln/>
        </p:spPr>
        <p:txBody>
          <a:bodyPr wrap="square" lIns="0" tIns="0" rIns="0" bIns="0" rtlCol="0" anchor="t"/>
          <a:lstStyle/>
          <a:p>
            <a:pPr marL="0" indent="0">
              <a:buNone/>
            </a:pPr>
            <a:r>
              <a:rPr lang="en-US" sz="2200" b="1" dirty="0">
                <a:solidFill>
                  <a:schemeClr val="tx1"/>
                </a:solidFill>
              </a:rPr>
              <a:t>Downloadable as a zip</a:t>
            </a:r>
            <a:endParaRPr lang="en-US" sz="2200" dirty="0"/>
          </a:p>
        </p:txBody>
      </p:sp>
      <p:sp>
        <p:nvSpPr>
          <p:cNvPr id="13" name="Not in the repo"/>
          <p:cNvSpPr/>
          <p:nvPr/>
        </p:nvSpPr>
        <p:spPr>
          <a:xfrm>
            <a:off x="6035040" y="2194560"/>
            <a:ext cx="2560320" cy="2194560"/>
          </a:xfrm>
          <a:prstGeom prst="roundRect">
            <a:avLst>
              <a:gd name="adj" fmla="val 3333"/>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4" name="Not in the repo circle"/>
          <p:cNvSpPr/>
          <p:nvPr/>
        </p:nvSpPr>
        <p:spPr>
          <a:xfrm>
            <a:off x="6309360" y="2468880"/>
            <a:ext cx="731520" cy="731520"/>
          </a:xfrm>
          <a:prstGeom prst="ellipse">
            <a:avLst/>
          </a:prstGeom>
          <a:solidFill>
            <a:srgbClr val="2EA043"/>
          </a:solidFill>
          <a:ln/>
        </p:spPr>
        <p:txBody>
          <a:bodyPr/>
          <a:lstStyle/>
          <a:p>
            <a:endParaRPr lang="en-US"/>
          </a:p>
        </p:txBody>
      </p:sp>
      <p:pic>
        <p:nvPicPr>
          <p:cNvPr id="15" name="Not in the repo image" descr="FaCodeBranch"/>
          <p:cNvPicPr>
            <a:picLocks noChangeAspect="1"/>
          </p:cNvPicPr>
          <p:nvPr/>
        </p:nvPicPr>
        <p:blipFill>
          <a:blip r:embed="rId5"/>
          <a:stretch>
            <a:fillRect/>
          </a:stretch>
        </p:blipFill>
        <p:spPr>
          <a:xfrm>
            <a:off x="6492240" y="2651760"/>
            <a:ext cx="365760" cy="365760"/>
          </a:xfrm>
          <a:prstGeom prst="rect">
            <a:avLst/>
          </a:prstGeom>
        </p:spPr>
      </p:pic>
      <p:sp>
        <p:nvSpPr>
          <p:cNvPr id="16" name="Text 10"/>
          <p:cNvSpPr txBox="1"/>
          <p:nvPr/>
        </p:nvSpPr>
        <p:spPr>
          <a:xfrm>
            <a:off x="6309360" y="3383280"/>
            <a:ext cx="2103120" cy="822960"/>
          </a:xfrm>
          <a:prstGeom prst="rect">
            <a:avLst/>
          </a:prstGeom>
          <a:noFill/>
          <a:ln/>
        </p:spPr>
        <p:txBody>
          <a:bodyPr wrap="square" lIns="0" tIns="0" rIns="0" bIns="0" rtlCol="0" anchor="t"/>
          <a:lstStyle/>
          <a:p>
            <a:pPr marL="0" indent="0">
              <a:buNone/>
            </a:pPr>
            <a:r>
              <a:rPr lang="en-US" sz="2200" b="1" dirty="0">
                <a:solidFill>
                  <a:schemeClr val="tx1"/>
                </a:solidFill>
              </a:rPr>
              <a:t>Not in the repo</a:t>
            </a:r>
            <a:endParaRPr lang="en-US" sz="2200" dirty="0"/>
          </a:p>
        </p:txBody>
      </p:sp>
      <p:sp>
        <p:nvSpPr>
          <p:cNvPr id="1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8" name="Text 12"/>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One artifact per leg</a:t>
            </a:r>
            <a:endParaRPr lang="en-US" sz="3400" dirty="0"/>
          </a:p>
        </p:txBody>
      </p:sp>
      <p:sp>
        <p:nvSpPr>
          <p:cNvPr id="4" name="Text 1"/>
          <p:cNvSpPr txBox="1"/>
          <p:nvPr/>
        </p:nvSpPr>
        <p:spPr>
          <a:xfrm>
            <a:off x="548640" y="1188720"/>
            <a:ext cx="8046720" cy="822960"/>
          </a:xfrm>
          <a:prstGeom prst="rect">
            <a:avLst/>
          </a:prstGeom>
          <a:noFill/>
          <a:ln/>
        </p:spPr>
        <p:txBody>
          <a:bodyPr wrap="square" lIns="0" tIns="0" rIns="0" bIns="0" rtlCol="0" anchor="ctr"/>
          <a:lstStyle/>
          <a:p>
            <a:pPr marL="0" indent="0">
              <a:buNone/>
            </a:pPr>
            <a:r>
              <a:rPr lang="en-US" sz="2400" b="1" dirty="0">
                <a:solidFill>
                  <a:schemeClr val="tx1"/>
                </a:solidFill>
              </a:rPr>
              <a:t>Name each artifact by service. Two legs cannot upload under the same name.</a:t>
            </a:r>
            <a:endParaRPr lang="en-US" sz="2400" dirty="0"/>
          </a:p>
        </p:txBody>
      </p:sp>
      <p:sp>
        <p:nvSpPr>
          <p:cNvPr id="5" name="box leg"/>
          <p:cNvSpPr/>
          <p:nvPr/>
        </p:nvSpPr>
        <p:spPr>
          <a:xfrm>
            <a:off x="548640" y="2240280"/>
            <a:ext cx="2377440" cy="914400"/>
          </a:xfrm>
          <a:prstGeom prst="roundRect">
            <a:avLst>
              <a:gd name="adj" fmla="val 8000"/>
            </a:avLst>
          </a:prstGeom>
          <a:solidFill>
            <a:srgbClr val="2EA043"/>
          </a:solidFill>
          <a:ln/>
        </p:spPr>
        <p:txBody>
          <a:bodyPr/>
          <a:lstStyle/>
          <a:p>
            <a:endParaRPr lang="en-US"/>
          </a:p>
        </p:txBody>
      </p:sp>
      <p:sp>
        <p:nvSpPr>
          <p:cNvPr id="6" name="Text 3"/>
          <p:cNvSpPr txBox="1"/>
          <p:nvPr/>
        </p:nvSpPr>
        <p:spPr>
          <a:xfrm>
            <a:off x="640080" y="2350008"/>
            <a:ext cx="2194560" cy="457200"/>
          </a:xfrm>
          <a:prstGeom prst="rect">
            <a:avLst/>
          </a:prstGeom>
          <a:noFill/>
          <a:ln/>
        </p:spPr>
        <p:txBody>
          <a:bodyPr wrap="square" lIns="0" tIns="0" rIns="0" bIns="0" rtlCol="0" anchor="b"/>
          <a:lstStyle/>
          <a:p>
            <a:pPr marL="0" indent="0" algn="ctr">
              <a:buNone/>
            </a:pPr>
            <a:r>
              <a:rPr lang="en-US" sz="1800" b="1" dirty="0">
                <a:solidFill>
                  <a:schemeClr val="bg1"/>
                </a:solidFill>
              </a:rPr>
              <a:t>leg</a:t>
            </a:r>
            <a:endParaRPr lang="en-US" sz="1800" dirty="0"/>
          </a:p>
        </p:txBody>
      </p:sp>
      <p:sp>
        <p:nvSpPr>
          <p:cNvPr id="7" name="Text 4"/>
          <p:cNvSpPr txBox="1"/>
          <p:nvPr/>
        </p:nvSpPr>
        <p:spPr>
          <a:xfrm>
            <a:off x="640080" y="2743200"/>
            <a:ext cx="2194560" cy="365760"/>
          </a:xfrm>
          <a:prstGeom prst="rect">
            <a:avLst/>
          </a:prstGeom>
          <a:noFill/>
          <a:ln/>
        </p:spPr>
        <p:txBody>
          <a:bodyPr wrap="square" lIns="0" tIns="0" rIns="0" bIns="0" rtlCol="0" anchor="t"/>
          <a:lstStyle/>
          <a:p>
            <a:pPr marL="0" indent="0" algn="ctr">
              <a:buNone/>
            </a:pPr>
            <a:r>
              <a:rPr lang="en-US" sz="1400" dirty="0">
                <a:solidFill>
                  <a:schemeClr val="bg2"/>
                </a:solidFill>
              </a:rPr>
              <a:t>tasks-api</a:t>
            </a:r>
            <a:endParaRPr lang="en-US" sz="1400" dirty="0"/>
          </a:p>
        </p:txBody>
      </p:sp>
      <p:sp>
        <p:nvSpPr>
          <p:cNvPr id="8" name="arrow"/>
          <p:cNvSpPr/>
          <p:nvPr/>
        </p:nvSpPr>
        <p:spPr>
          <a:xfrm>
            <a:off x="3063240" y="2551176"/>
            <a:ext cx="274320" cy="292608"/>
          </a:xfrm>
          <a:prstGeom prst="rightArrow">
            <a:avLst/>
          </a:prstGeom>
          <a:solidFill>
            <a:schemeClr val="accent6"/>
          </a:solidFill>
          <a:ln/>
        </p:spPr>
        <p:txBody>
          <a:bodyPr/>
          <a:lstStyle/>
          <a:p>
            <a:endParaRPr lang="en-US"/>
          </a:p>
        </p:txBody>
      </p:sp>
      <p:sp>
        <p:nvSpPr>
          <p:cNvPr id="9" name="artifact tasks-api-test-report"/>
          <p:cNvSpPr/>
          <p:nvPr/>
        </p:nvSpPr>
        <p:spPr>
          <a:xfrm>
            <a:off x="3520440" y="2240280"/>
            <a:ext cx="5074920" cy="914400"/>
          </a:xfrm>
          <a:prstGeom prst="roundRect">
            <a:avLst>
              <a:gd name="adj" fmla="val 8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3703320" y="2240280"/>
            <a:ext cx="4754880" cy="914400"/>
          </a:xfrm>
          <a:prstGeom prst="rect">
            <a:avLst/>
          </a:prstGeom>
          <a:noFill/>
          <a:ln/>
        </p:spPr>
        <p:txBody>
          <a:bodyPr wrap="square" lIns="0" tIns="0" rIns="0" bIns="0" rtlCol="0" anchor="ctr"/>
          <a:lstStyle/>
          <a:p>
            <a:pPr marL="0" indent="0">
              <a:buNone/>
            </a:pPr>
            <a:r>
              <a:rPr lang="en-US" sz="1800" b="1" dirty="0">
                <a:solidFill>
                  <a:schemeClr val="tx1"/>
                </a:solidFill>
                <a:latin typeface="Courier New" pitchFamily="34" charset="0"/>
                <a:ea typeface="Courier New" pitchFamily="34" charset="-122"/>
                <a:cs typeface="Courier New" pitchFamily="34" charset="-120"/>
              </a:rPr>
              <a:t>tasks-api-test-report</a:t>
            </a:r>
            <a:endParaRPr lang="en-US" sz="1800" dirty="0"/>
          </a:p>
        </p:txBody>
      </p:sp>
      <p:sp>
        <p:nvSpPr>
          <p:cNvPr id="11" name="box leg"/>
          <p:cNvSpPr/>
          <p:nvPr/>
        </p:nvSpPr>
        <p:spPr>
          <a:xfrm>
            <a:off x="548640" y="3383280"/>
            <a:ext cx="2377440" cy="914400"/>
          </a:xfrm>
          <a:prstGeom prst="roundRect">
            <a:avLst>
              <a:gd name="adj" fmla="val 8000"/>
            </a:avLst>
          </a:prstGeom>
          <a:solidFill>
            <a:srgbClr val="2EA043"/>
          </a:solidFill>
          <a:ln/>
        </p:spPr>
        <p:txBody>
          <a:bodyPr/>
          <a:lstStyle/>
          <a:p>
            <a:endParaRPr lang="en-US"/>
          </a:p>
        </p:txBody>
      </p:sp>
      <p:sp>
        <p:nvSpPr>
          <p:cNvPr id="12" name="Text 9"/>
          <p:cNvSpPr txBox="1"/>
          <p:nvPr/>
        </p:nvSpPr>
        <p:spPr>
          <a:xfrm>
            <a:off x="640080" y="3493008"/>
            <a:ext cx="2194560" cy="457200"/>
          </a:xfrm>
          <a:prstGeom prst="rect">
            <a:avLst/>
          </a:prstGeom>
          <a:noFill/>
          <a:ln/>
        </p:spPr>
        <p:txBody>
          <a:bodyPr wrap="square" lIns="0" tIns="0" rIns="0" bIns="0" rtlCol="0" anchor="b"/>
          <a:lstStyle/>
          <a:p>
            <a:pPr marL="0" indent="0" algn="ctr">
              <a:buNone/>
            </a:pPr>
            <a:r>
              <a:rPr lang="en-US" sz="1800" b="1" dirty="0">
                <a:solidFill>
                  <a:schemeClr val="bg1"/>
                </a:solidFill>
              </a:rPr>
              <a:t>leg</a:t>
            </a:r>
            <a:endParaRPr lang="en-US" sz="1800" dirty="0"/>
          </a:p>
        </p:txBody>
      </p:sp>
      <p:sp>
        <p:nvSpPr>
          <p:cNvPr id="13" name="Text 10"/>
          <p:cNvSpPr txBox="1"/>
          <p:nvPr/>
        </p:nvSpPr>
        <p:spPr>
          <a:xfrm>
            <a:off x="640080" y="3886200"/>
            <a:ext cx="2194560" cy="365760"/>
          </a:xfrm>
          <a:prstGeom prst="rect">
            <a:avLst/>
          </a:prstGeom>
          <a:noFill/>
          <a:ln/>
        </p:spPr>
        <p:txBody>
          <a:bodyPr wrap="square" lIns="0" tIns="0" rIns="0" bIns="0" rtlCol="0" anchor="t"/>
          <a:lstStyle/>
          <a:p>
            <a:pPr marL="0" indent="0" algn="ctr">
              <a:buNone/>
            </a:pPr>
            <a:r>
              <a:rPr lang="en-US" sz="1400" dirty="0">
                <a:solidFill>
                  <a:schemeClr val="bg2"/>
                </a:solidFill>
              </a:rPr>
              <a:t>title-normalizer</a:t>
            </a:r>
            <a:endParaRPr lang="en-US" sz="1400" dirty="0"/>
          </a:p>
        </p:txBody>
      </p:sp>
      <p:sp>
        <p:nvSpPr>
          <p:cNvPr id="14" name="arrow"/>
          <p:cNvSpPr/>
          <p:nvPr/>
        </p:nvSpPr>
        <p:spPr>
          <a:xfrm>
            <a:off x="3063240" y="3694176"/>
            <a:ext cx="274320" cy="292608"/>
          </a:xfrm>
          <a:prstGeom prst="rightArrow">
            <a:avLst/>
          </a:prstGeom>
          <a:solidFill>
            <a:schemeClr val="accent6"/>
          </a:solidFill>
          <a:ln/>
        </p:spPr>
        <p:txBody>
          <a:bodyPr/>
          <a:lstStyle/>
          <a:p>
            <a:endParaRPr lang="en-US"/>
          </a:p>
        </p:txBody>
      </p:sp>
      <p:sp>
        <p:nvSpPr>
          <p:cNvPr id="15" name="artifact title-normalizer-test-report"/>
          <p:cNvSpPr/>
          <p:nvPr/>
        </p:nvSpPr>
        <p:spPr>
          <a:xfrm>
            <a:off x="3520440" y="3383280"/>
            <a:ext cx="5074920" cy="914400"/>
          </a:xfrm>
          <a:prstGeom prst="roundRect">
            <a:avLst>
              <a:gd name="adj" fmla="val 8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6" name="Text 13"/>
          <p:cNvSpPr txBox="1"/>
          <p:nvPr/>
        </p:nvSpPr>
        <p:spPr>
          <a:xfrm>
            <a:off x="3703320" y="3383280"/>
            <a:ext cx="4754880" cy="914400"/>
          </a:xfrm>
          <a:prstGeom prst="rect">
            <a:avLst/>
          </a:prstGeom>
          <a:noFill/>
          <a:ln/>
        </p:spPr>
        <p:txBody>
          <a:bodyPr wrap="square" lIns="0" tIns="0" rIns="0" bIns="0" rtlCol="0" anchor="ctr"/>
          <a:lstStyle/>
          <a:p>
            <a:pPr marL="0" indent="0">
              <a:buNone/>
            </a:pPr>
            <a:r>
              <a:rPr lang="en-US" sz="1800" b="1" dirty="0">
                <a:solidFill>
                  <a:schemeClr val="tx1"/>
                </a:solidFill>
                <a:latin typeface="Courier New" pitchFamily="34" charset="0"/>
                <a:ea typeface="Courier New" pitchFamily="34" charset="-122"/>
                <a:cs typeface="Courier New" pitchFamily="34" charset="-120"/>
              </a:rPr>
              <a:t>title-normalizer-test-report</a:t>
            </a:r>
            <a:endParaRPr lang="en-US" sz="1800" dirty="0"/>
          </a:p>
        </p:txBody>
      </p:sp>
      <p:sp>
        <p:nvSpPr>
          <p:cNvPr id="1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8" name="Text 1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4: save the test report</a:t>
            </a:r>
            <a:endParaRPr lang="en-US" sz="3400" dirty="0"/>
          </a:p>
        </p:txBody>
      </p:sp>
      <p:sp>
        <p:nvSpPr>
          <p:cNvPr id="4" name="requirement"/>
          <p:cNvSpPr/>
          <p:nvPr/>
        </p:nvSpPr>
        <p:spPr>
          <a:xfrm>
            <a:off x="548640" y="1280160"/>
            <a:ext cx="8046720" cy="2011680"/>
          </a:xfrm>
          <a:prstGeom prst="roundRect">
            <a:avLst>
              <a:gd name="adj" fmla="val 3636"/>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requirement bar"/>
          <p:cNvSpPr/>
          <p:nvPr/>
        </p:nvSpPr>
        <p:spPr>
          <a:xfrm>
            <a:off x="548640" y="1280160"/>
            <a:ext cx="91440" cy="2011680"/>
          </a:xfrm>
          <a:prstGeom prst="rect">
            <a:avLst/>
          </a:prstGeom>
          <a:solidFill>
            <a:schemeClr val="accent1"/>
          </a:solidFill>
          <a:ln/>
        </p:spPr>
        <p:txBody>
          <a:bodyPr/>
          <a:lstStyle/>
          <a:p>
            <a:endParaRPr lang="en-US"/>
          </a:p>
        </p:txBody>
      </p:sp>
      <p:sp>
        <p:nvSpPr>
          <p:cNvPr id="6" name="Text 3"/>
          <p:cNvSpPr txBox="1"/>
          <p:nvPr/>
        </p:nvSpPr>
        <p:spPr>
          <a:xfrm>
            <a:off x="914400" y="1371600"/>
            <a:ext cx="7498080" cy="1828800"/>
          </a:xfrm>
          <a:prstGeom prst="rect">
            <a:avLst/>
          </a:prstGeom>
          <a:noFill/>
          <a:ln/>
        </p:spPr>
        <p:txBody>
          <a:bodyPr wrap="square" lIns="0" tIns="0" rIns="0" bIns="0" rtlCol="0" anchor="ctr"/>
          <a:lstStyle/>
          <a:p>
            <a:pPr marL="0" indent="0">
              <a:buNone/>
            </a:pPr>
            <a:r>
              <a:rPr lang="en-US" sz="2400" dirty="0">
                <a:solidFill>
                  <a:schemeClr val="tx1"/>
                </a:solidFill>
              </a:rPr>
              <a:t>Step 4. Save the test report as an artifact, ONE PER MATRIX LEG, named by service (for example </a:t>
            </a:r>
            <a:r>
              <a:rPr lang="en-US" sz="2400" dirty="0">
                <a:solidFill>
                  <a:schemeClr val="tx1"/>
                </a:solidFill>
                <a:latin typeface="Courier New" pitchFamily="34" charset="0"/>
                <a:ea typeface="Courier New" pitchFamily="34" charset="-122"/>
                <a:cs typeface="Courier New" pitchFamily="34" charset="-120"/>
              </a:rPr>
              <a:t>&lt;service&gt;-test-report</a:t>
            </a:r>
            <a:r>
              <a:rPr lang="en-US" sz="2400" dirty="0">
                <a:solidFill>
                  <a:schemeClr val="tx1"/>
                </a:solidFill>
              </a:rPr>
              <a:t>), even if the tests fail.</a:t>
            </a:r>
            <a:endParaRPr lang="en-US" sz="24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9" name="Text 6"/>
          <p:cNvSpPr txBox="1"/>
          <p:nvPr/>
        </p:nvSpPr>
        <p:spPr>
          <a:xfrm>
            <a:off x="548640" y="3429000"/>
            <a:ext cx="2743200" cy="274320"/>
          </a:xfrm>
          <a:prstGeom prst="rect">
            <a:avLst/>
          </a:prstGeom>
          <a:noFill/>
          <a:ln/>
        </p:spPr>
        <p:txBody>
          <a:bodyPr wrap="square" lIns="0" tIns="0" rIns="0" bIns="0" rtlCol="0" anchor="t"/>
          <a:lstStyle/>
          <a:p>
            <a:pPr marL="0" indent="0">
              <a:buNone/>
            </a:pPr>
            <a:r>
              <a:rPr lang="en-US" sz="1600" b="1" dirty="0">
                <a:solidFill>
                  <a:schemeClr val="accent2"/>
                </a:solidFill>
              </a:rPr>
              <a:t>Clue</a:t>
            </a:r>
            <a:endParaRPr lang="en-US" sz="1600" dirty="0"/>
          </a:p>
        </p:txBody>
      </p:sp>
      <p:sp>
        <p:nvSpPr>
          <p:cNvPr id="10" name="code panel"/>
          <p:cNvSpPr/>
          <p:nvPr/>
        </p:nvSpPr>
        <p:spPr>
          <a:xfrm>
            <a:off x="548640" y="3749040"/>
            <a:ext cx="8046720" cy="731520"/>
          </a:xfrm>
          <a:prstGeom prst="roundRect">
            <a:avLst>
              <a:gd name="adj" fmla="val 10000"/>
            </a:avLst>
          </a:prstGeom>
          <a:solidFill>
            <a:schemeClr val="tx1"/>
          </a:solidFill>
          <a:ln/>
        </p:spPr>
        <p:txBody>
          <a:bodyPr/>
          <a:lstStyle/>
          <a:p>
            <a:endParaRPr lang="en-US"/>
          </a:p>
        </p:txBody>
      </p:sp>
      <p:sp>
        <p:nvSpPr>
          <p:cNvPr id="11" name="Text 8"/>
          <p:cNvSpPr txBox="1"/>
          <p:nvPr/>
        </p:nvSpPr>
        <p:spPr>
          <a:xfrm>
            <a:off x="731520" y="3877056"/>
            <a:ext cx="7680960" cy="475488"/>
          </a:xfrm>
          <a:prstGeom prst="rect">
            <a:avLst/>
          </a:prstGeom>
          <a:noFill/>
          <a:ln/>
        </p:spPr>
        <p:txBody>
          <a:bodyPr wrap="square" lIns="0" tIns="0" rIns="0" bIns="0" rtlCol="0" anchor="ctr"/>
          <a:lstStyle/>
          <a:p>
            <a:pPr marL="0" indent="0">
              <a:lnSpc>
                <a:spcPts val="3300"/>
              </a:lnSpc>
              <a:buNone/>
            </a:pPr>
            <a:r>
              <a:rPr lang="en-US" sz="2200" dirty="0">
                <a:solidFill>
                  <a:schemeClr val="accent1"/>
                </a:solidFill>
                <a:latin typeface="Courier New" pitchFamily="34" charset="0"/>
                <a:ea typeface="Courier New" pitchFamily="34" charset="-122"/>
                <a:cs typeface="Courier New" pitchFamily="34" charset="-120"/>
              </a:rPr>
              <a:t>pytest ... | tee &lt;file&gt;</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4: stuck?</a:t>
            </a:r>
            <a:endParaRPr lang="en-US" sz="3400" dirty="0"/>
          </a:p>
        </p:txBody>
      </p:sp>
      <p:sp>
        <p:nvSpPr>
          <p:cNvPr id="4" name="requirement line"/>
          <p:cNvSpPr/>
          <p:nvPr/>
        </p:nvSpPr>
        <p:spPr>
          <a:xfrm>
            <a:off x="548640" y="1097280"/>
            <a:ext cx="8046720" cy="548640"/>
          </a:xfrm>
          <a:prstGeom prst="roundRect">
            <a:avLst>
              <a:gd name="adj" fmla="val 13333"/>
            </a:avLst>
          </a:prstGeom>
          <a:solidFill>
            <a:schemeClr val="tx1"/>
          </a:solidFill>
          <a:ln/>
        </p:spPr>
        <p:txBody>
          <a:bodyPr/>
          <a:lstStyle/>
          <a:p>
            <a:endParaRPr lang="en-US"/>
          </a:p>
        </p:txBody>
      </p:sp>
      <p:sp>
        <p:nvSpPr>
          <p:cNvPr id="5" name="Text 2"/>
          <p:cNvSpPr txBox="1"/>
          <p:nvPr/>
        </p:nvSpPr>
        <p:spPr>
          <a:xfrm>
            <a:off x="777240" y="1097280"/>
            <a:ext cx="7589520" cy="548640"/>
          </a:xfrm>
          <a:prstGeom prst="rect">
            <a:avLst/>
          </a:prstGeom>
          <a:noFill/>
          <a:ln/>
        </p:spPr>
        <p:txBody>
          <a:bodyPr wrap="square" lIns="0" tIns="0" rIns="0" bIns="0" rtlCol="0" anchor="ctr"/>
          <a:lstStyle/>
          <a:p>
            <a:pPr marL="0" indent="0">
              <a:buNone/>
            </a:pPr>
            <a:r>
              <a:rPr lang="en-US" sz="1600" b="1" dirty="0">
                <a:solidFill>
                  <a:schemeClr val="bg1"/>
                </a:solidFill>
              </a:rPr>
              <a:t>One artifact per leg, named by service, even if the tests fail.</a:t>
            </a:r>
            <a:endParaRPr lang="en-US" sz="1600" dirty="0"/>
          </a:p>
        </p:txBody>
      </p:sp>
      <p:sp>
        <p:nvSpPr>
          <p:cNvPr id="6" name="hint 1"/>
          <p:cNvSpPr/>
          <p:nvPr/>
        </p:nvSpPr>
        <p:spPr>
          <a:xfrm>
            <a:off x="548640" y="1783080"/>
            <a:ext cx="8046720" cy="513893"/>
          </a:xfrm>
          <a:prstGeom prst="roundRect">
            <a:avLst>
              <a:gd name="adj" fmla="val 14235"/>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7" name="badge a"/>
          <p:cNvSpPr/>
          <p:nvPr/>
        </p:nvSpPr>
        <p:spPr>
          <a:xfrm>
            <a:off x="713232" y="1847088"/>
            <a:ext cx="385877" cy="385877"/>
          </a:xfrm>
          <a:prstGeom prst="ellipse">
            <a:avLst/>
          </a:prstGeom>
          <a:solidFill>
            <a:schemeClr val="accent2"/>
          </a:solidFill>
          <a:ln/>
        </p:spPr>
        <p:txBody>
          <a:bodyPr/>
          <a:lstStyle/>
          <a:p>
            <a:endParaRPr lang="en-US"/>
          </a:p>
        </p:txBody>
      </p:sp>
      <p:sp>
        <p:nvSpPr>
          <p:cNvPr id="8" name="Text 5"/>
          <p:cNvSpPr txBox="1"/>
          <p:nvPr/>
        </p:nvSpPr>
        <p:spPr>
          <a:xfrm>
            <a:off x="713232" y="1847088"/>
            <a:ext cx="385877" cy="385877"/>
          </a:xfrm>
          <a:prstGeom prst="rect">
            <a:avLst/>
          </a:prstGeom>
          <a:noFill/>
          <a:ln/>
        </p:spPr>
        <p:txBody>
          <a:bodyPr wrap="square" lIns="0" tIns="0" rIns="0" bIns="0" rtlCol="0" anchor="ctr"/>
          <a:lstStyle/>
          <a:p>
            <a:pPr marL="0" indent="0" algn="ctr">
              <a:buNone/>
            </a:pPr>
            <a:r>
              <a:rPr lang="en-US" sz="1400" b="1" dirty="0">
                <a:solidFill>
                  <a:schemeClr val="bg1"/>
                </a:solidFill>
              </a:rPr>
              <a:t>a</a:t>
            </a:r>
            <a:endParaRPr lang="en-US" sz="1400" dirty="0"/>
          </a:p>
        </p:txBody>
      </p:sp>
      <p:sp>
        <p:nvSpPr>
          <p:cNvPr id="9" name="Text 6"/>
          <p:cNvSpPr txBox="1"/>
          <p:nvPr/>
        </p:nvSpPr>
        <p:spPr>
          <a:xfrm>
            <a:off x="1236269" y="1819656"/>
            <a:ext cx="7203643" cy="440741"/>
          </a:xfrm>
          <a:prstGeom prst="rect">
            <a:avLst/>
          </a:prstGeom>
          <a:noFill/>
          <a:ln/>
        </p:spPr>
        <p:txBody>
          <a:bodyPr wrap="square" lIns="0" tIns="0" rIns="0" bIns="0" rtlCol="0" anchor="ctr"/>
          <a:lstStyle/>
          <a:p>
            <a:pPr marL="0" indent="0">
              <a:buNone/>
            </a:pPr>
            <a:r>
              <a:rPr lang="en-US" sz="1400" dirty="0">
                <a:solidFill>
                  <a:schemeClr val="tx1"/>
                </a:solidFill>
              </a:rPr>
              <a:t>Where does the report go if you do not save it?</a:t>
            </a:r>
            <a:endParaRPr lang="en-US" sz="1400" dirty="0"/>
          </a:p>
        </p:txBody>
      </p:sp>
      <p:sp>
        <p:nvSpPr>
          <p:cNvPr id="10" name="hint 2"/>
          <p:cNvSpPr/>
          <p:nvPr/>
        </p:nvSpPr>
        <p:spPr>
          <a:xfrm>
            <a:off x="548640" y="2351837"/>
            <a:ext cx="8046720" cy="513893"/>
          </a:xfrm>
          <a:prstGeom prst="roundRect">
            <a:avLst>
              <a:gd name="adj" fmla="val 14235"/>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 name="badge b"/>
          <p:cNvSpPr/>
          <p:nvPr/>
        </p:nvSpPr>
        <p:spPr>
          <a:xfrm>
            <a:off x="713232" y="2415845"/>
            <a:ext cx="385877" cy="385877"/>
          </a:xfrm>
          <a:prstGeom prst="ellipse">
            <a:avLst/>
          </a:prstGeom>
          <a:solidFill>
            <a:schemeClr val="accent2"/>
          </a:solidFill>
          <a:ln/>
        </p:spPr>
        <p:txBody>
          <a:bodyPr/>
          <a:lstStyle/>
          <a:p>
            <a:endParaRPr lang="en-US"/>
          </a:p>
        </p:txBody>
      </p:sp>
      <p:sp>
        <p:nvSpPr>
          <p:cNvPr id="12" name="Text 9"/>
          <p:cNvSpPr txBox="1"/>
          <p:nvPr/>
        </p:nvSpPr>
        <p:spPr>
          <a:xfrm>
            <a:off x="713232" y="2415845"/>
            <a:ext cx="385877" cy="385877"/>
          </a:xfrm>
          <a:prstGeom prst="rect">
            <a:avLst/>
          </a:prstGeom>
          <a:noFill/>
          <a:ln/>
        </p:spPr>
        <p:txBody>
          <a:bodyPr wrap="square" lIns="0" tIns="0" rIns="0" bIns="0" rtlCol="0" anchor="ctr"/>
          <a:lstStyle/>
          <a:p>
            <a:pPr marL="0" indent="0" algn="ctr">
              <a:buNone/>
            </a:pPr>
            <a:r>
              <a:rPr lang="en-US" sz="1400" b="1" dirty="0">
                <a:solidFill>
                  <a:schemeClr val="bg1"/>
                </a:solidFill>
              </a:rPr>
              <a:t>b</a:t>
            </a:r>
            <a:endParaRPr lang="en-US" sz="1400" dirty="0"/>
          </a:p>
        </p:txBody>
      </p:sp>
      <p:sp>
        <p:nvSpPr>
          <p:cNvPr id="13" name="Text 10"/>
          <p:cNvSpPr txBox="1"/>
          <p:nvPr/>
        </p:nvSpPr>
        <p:spPr>
          <a:xfrm>
            <a:off x="1236269" y="2388413"/>
            <a:ext cx="7203643" cy="440741"/>
          </a:xfrm>
          <a:prstGeom prst="rect">
            <a:avLst/>
          </a:prstGeom>
          <a:noFill/>
          <a:ln/>
        </p:spPr>
        <p:txBody>
          <a:bodyPr wrap="square" lIns="0" tIns="0" rIns="0" bIns="0" rtlCol="0" anchor="ctr"/>
          <a:lstStyle/>
          <a:p>
            <a:pPr marL="0" indent="0">
              <a:buNone/>
            </a:pPr>
            <a:r>
              <a:rPr lang="en-US" sz="1400" dirty="0">
                <a:solidFill>
                  <a:schemeClr val="tx1"/>
                </a:solidFill>
              </a:rPr>
              <a:t>Write the output to a file, then hand the file to </a:t>
            </a:r>
            <a:r>
              <a:rPr lang="en-US" sz="1400" dirty="0">
                <a:solidFill>
                  <a:schemeClr val="tx1"/>
                </a:solidFill>
                <a:latin typeface="Courier New" pitchFamily="34" charset="0"/>
                <a:ea typeface="Courier New" pitchFamily="34" charset="-122"/>
                <a:cs typeface="Courier New" pitchFamily="34" charset="-120"/>
              </a:rPr>
              <a:t>actions/upload-artifact</a:t>
            </a:r>
            <a:r>
              <a:rPr lang="en-US" sz="1400" dirty="0">
                <a:solidFill>
                  <a:schemeClr val="tx1"/>
                </a:solidFill>
              </a:rPr>
              <a:t>, major v7.</a:t>
            </a:r>
            <a:endParaRPr lang="en-US" sz="1400" dirty="0"/>
          </a:p>
        </p:txBody>
      </p:sp>
      <p:sp>
        <p:nvSpPr>
          <p:cNvPr id="14" name="hint 3"/>
          <p:cNvSpPr/>
          <p:nvPr/>
        </p:nvSpPr>
        <p:spPr>
          <a:xfrm>
            <a:off x="548640" y="2920594"/>
            <a:ext cx="8046720" cy="513893"/>
          </a:xfrm>
          <a:prstGeom prst="roundRect">
            <a:avLst>
              <a:gd name="adj" fmla="val 14235"/>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5" name="badge c"/>
          <p:cNvSpPr/>
          <p:nvPr/>
        </p:nvSpPr>
        <p:spPr>
          <a:xfrm>
            <a:off x="713232" y="2984602"/>
            <a:ext cx="385877" cy="385877"/>
          </a:xfrm>
          <a:prstGeom prst="ellipse">
            <a:avLst/>
          </a:prstGeom>
          <a:solidFill>
            <a:schemeClr val="accent2"/>
          </a:solidFill>
          <a:ln/>
        </p:spPr>
        <p:txBody>
          <a:bodyPr/>
          <a:lstStyle/>
          <a:p>
            <a:endParaRPr lang="en-US"/>
          </a:p>
        </p:txBody>
      </p:sp>
      <p:sp>
        <p:nvSpPr>
          <p:cNvPr id="16" name="Text 13"/>
          <p:cNvSpPr txBox="1"/>
          <p:nvPr/>
        </p:nvSpPr>
        <p:spPr>
          <a:xfrm>
            <a:off x="713232" y="2984602"/>
            <a:ext cx="385877" cy="385877"/>
          </a:xfrm>
          <a:prstGeom prst="rect">
            <a:avLst/>
          </a:prstGeom>
          <a:noFill/>
          <a:ln/>
        </p:spPr>
        <p:txBody>
          <a:bodyPr wrap="square" lIns="0" tIns="0" rIns="0" bIns="0" rtlCol="0" anchor="ctr"/>
          <a:lstStyle/>
          <a:p>
            <a:pPr marL="0" indent="0" algn="ctr">
              <a:buNone/>
            </a:pPr>
            <a:r>
              <a:rPr lang="en-US" sz="1400" b="1" dirty="0">
                <a:solidFill>
                  <a:schemeClr val="bg1"/>
                </a:solidFill>
              </a:rPr>
              <a:t>c</a:t>
            </a:r>
            <a:endParaRPr lang="en-US" sz="1400" dirty="0"/>
          </a:p>
        </p:txBody>
      </p:sp>
      <p:sp>
        <p:nvSpPr>
          <p:cNvPr id="17" name="Text 14"/>
          <p:cNvSpPr txBox="1"/>
          <p:nvPr/>
        </p:nvSpPr>
        <p:spPr>
          <a:xfrm>
            <a:off x="1236269" y="2957170"/>
            <a:ext cx="7203643" cy="440741"/>
          </a:xfrm>
          <a:prstGeom prst="rect">
            <a:avLst/>
          </a:prstGeom>
          <a:noFill/>
          <a:ln/>
        </p:spPr>
        <p:txBody>
          <a:bodyPr wrap="square" lIns="0" tIns="0" rIns="0" bIns="0" rtlCol="0" anchor="ctr"/>
          <a:lstStyle/>
          <a:p>
            <a:pPr marL="0" indent="0">
              <a:buNone/>
            </a:pPr>
            <a:r>
              <a:rPr lang="en-US" sz="1400" dirty="0">
                <a:solidFill>
                  <a:schemeClr val="tx1"/>
                </a:solidFill>
              </a:rPr>
              <a:t>Two legs, one artifact name: what breaks? Name it by service.</a:t>
            </a:r>
            <a:endParaRPr lang="en-US" sz="1400" dirty="0"/>
          </a:p>
        </p:txBody>
      </p:sp>
      <p:sp>
        <p:nvSpPr>
          <p:cNvPr id="18" name="hint 4"/>
          <p:cNvSpPr/>
          <p:nvPr/>
        </p:nvSpPr>
        <p:spPr>
          <a:xfrm>
            <a:off x="548640" y="3489350"/>
            <a:ext cx="8046720" cy="513893"/>
          </a:xfrm>
          <a:prstGeom prst="roundRect">
            <a:avLst>
              <a:gd name="adj" fmla="val 14235"/>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9" name="badge d"/>
          <p:cNvSpPr/>
          <p:nvPr/>
        </p:nvSpPr>
        <p:spPr>
          <a:xfrm>
            <a:off x="713232" y="3553358"/>
            <a:ext cx="385877" cy="385877"/>
          </a:xfrm>
          <a:prstGeom prst="ellipse">
            <a:avLst/>
          </a:prstGeom>
          <a:solidFill>
            <a:schemeClr val="accent2"/>
          </a:solidFill>
          <a:ln/>
        </p:spPr>
        <p:txBody>
          <a:bodyPr/>
          <a:lstStyle/>
          <a:p>
            <a:endParaRPr lang="en-US"/>
          </a:p>
        </p:txBody>
      </p:sp>
      <p:sp>
        <p:nvSpPr>
          <p:cNvPr id="20" name="Text 17"/>
          <p:cNvSpPr txBox="1"/>
          <p:nvPr/>
        </p:nvSpPr>
        <p:spPr>
          <a:xfrm>
            <a:off x="713232" y="3553358"/>
            <a:ext cx="385877" cy="385877"/>
          </a:xfrm>
          <a:prstGeom prst="rect">
            <a:avLst/>
          </a:prstGeom>
          <a:noFill/>
          <a:ln/>
        </p:spPr>
        <p:txBody>
          <a:bodyPr wrap="square" lIns="0" tIns="0" rIns="0" bIns="0" rtlCol="0" anchor="ctr"/>
          <a:lstStyle/>
          <a:p>
            <a:pPr marL="0" indent="0" algn="ctr">
              <a:buNone/>
            </a:pPr>
            <a:r>
              <a:rPr lang="en-US" sz="1400" b="1" dirty="0">
                <a:solidFill>
                  <a:schemeClr val="bg1"/>
                </a:solidFill>
              </a:rPr>
              <a:t>d</a:t>
            </a:r>
            <a:endParaRPr lang="en-US" sz="1400" dirty="0"/>
          </a:p>
        </p:txBody>
      </p:sp>
      <p:sp>
        <p:nvSpPr>
          <p:cNvPr id="21" name="Text 18"/>
          <p:cNvSpPr txBox="1"/>
          <p:nvPr/>
        </p:nvSpPr>
        <p:spPr>
          <a:xfrm>
            <a:off x="1236269" y="3525926"/>
            <a:ext cx="7203643" cy="440741"/>
          </a:xfrm>
          <a:prstGeom prst="rect">
            <a:avLst/>
          </a:prstGeom>
          <a:noFill/>
          <a:ln/>
        </p:spPr>
        <p:txBody>
          <a:bodyPr wrap="square" lIns="0" tIns="0" rIns="0" bIns="0" rtlCol="0" anchor="ctr"/>
          <a:lstStyle/>
          <a:p>
            <a:pPr marL="0" indent="0">
              <a:buNone/>
            </a:pPr>
            <a:r>
              <a:rPr lang="en-US" sz="1400" dirty="0">
                <a:solidFill>
                  <a:schemeClr val="tx1"/>
                </a:solidFill>
              </a:rPr>
              <a:t>Does the upload step run after a failed step?</a:t>
            </a:r>
            <a:endParaRPr lang="en-US" sz="1400" dirty="0"/>
          </a:p>
        </p:txBody>
      </p:sp>
      <p:sp>
        <p:nvSpPr>
          <p:cNvPr id="22" name="hint 5"/>
          <p:cNvSpPr/>
          <p:nvPr/>
        </p:nvSpPr>
        <p:spPr>
          <a:xfrm>
            <a:off x="548640" y="4058107"/>
            <a:ext cx="8046720" cy="513893"/>
          </a:xfrm>
          <a:prstGeom prst="roundRect">
            <a:avLst>
              <a:gd name="adj" fmla="val 14235"/>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23" name="badge e"/>
          <p:cNvSpPr/>
          <p:nvPr/>
        </p:nvSpPr>
        <p:spPr>
          <a:xfrm>
            <a:off x="713232" y="4122115"/>
            <a:ext cx="385877" cy="385877"/>
          </a:xfrm>
          <a:prstGeom prst="ellipse">
            <a:avLst/>
          </a:prstGeom>
          <a:solidFill>
            <a:schemeClr val="accent2"/>
          </a:solidFill>
          <a:ln/>
        </p:spPr>
        <p:txBody>
          <a:bodyPr/>
          <a:lstStyle/>
          <a:p>
            <a:endParaRPr lang="en-US"/>
          </a:p>
        </p:txBody>
      </p:sp>
      <p:sp>
        <p:nvSpPr>
          <p:cNvPr id="24" name="Text 21"/>
          <p:cNvSpPr txBox="1"/>
          <p:nvPr/>
        </p:nvSpPr>
        <p:spPr>
          <a:xfrm>
            <a:off x="713232" y="4122115"/>
            <a:ext cx="385877" cy="385877"/>
          </a:xfrm>
          <a:prstGeom prst="rect">
            <a:avLst/>
          </a:prstGeom>
          <a:noFill/>
          <a:ln/>
        </p:spPr>
        <p:txBody>
          <a:bodyPr wrap="square" lIns="0" tIns="0" rIns="0" bIns="0" rtlCol="0" anchor="ctr"/>
          <a:lstStyle/>
          <a:p>
            <a:pPr marL="0" indent="0" algn="ctr">
              <a:buNone/>
            </a:pPr>
            <a:r>
              <a:rPr lang="en-US" sz="1400" b="1" dirty="0">
                <a:solidFill>
                  <a:schemeClr val="bg1"/>
                </a:solidFill>
              </a:rPr>
              <a:t>e</a:t>
            </a:r>
            <a:endParaRPr lang="en-US" sz="1400" dirty="0"/>
          </a:p>
        </p:txBody>
      </p:sp>
      <p:sp>
        <p:nvSpPr>
          <p:cNvPr id="25" name="Text 22"/>
          <p:cNvSpPr txBox="1"/>
          <p:nvPr/>
        </p:nvSpPr>
        <p:spPr>
          <a:xfrm>
            <a:off x="1236269" y="4094683"/>
            <a:ext cx="7203643" cy="440741"/>
          </a:xfrm>
          <a:prstGeom prst="rect">
            <a:avLst/>
          </a:prstGeom>
          <a:noFill/>
          <a:ln/>
        </p:spPr>
        <p:txBody>
          <a:bodyPr wrap="square" lIns="0" tIns="0" rIns="0" bIns="0" rtlCol="0" anchor="ctr"/>
          <a:lstStyle/>
          <a:p>
            <a:pPr marL="0" indent="0">
              <a:buNone/>
            </a:pPr>
            <a:r>
              <a:rPr lang="en-US" sz="1400" dirty="0">
                <a:solidFill>
                  <a:schemeClr val="tx1"/>
                </a:solidFill>
              </a:rPr>
              <a:t>What happens to the other leg when one leg fails? Look up the </a:t>
            </a:r>
            <a:r>
              <a:rPr lang="en-US" sz="1400" dirty="0">
                <a:solidFill>
                  <a:schemeClr val="tx1"/>
                </a:solidFill>
                <a:latin typeface="Courier New" pitchFamily="34" charset="0"/>
                <a:ea typeface="Courier New" pitchFamily="34" charset="-122"/>
                <a:cs typeface="Courier New" pitchFamily="34" charset="-120"/>
              </a:rPr>
              <a:t>strategy</a:t>
            </a:r>
            <a:r>
              <a:rPr lang="en-US" sz="1400" dirty="0">
                <a:solidFill>
                  <a:schemeClr val="tx1"/>
                </a:solidFill>
              </a:rPr>
              <a:t> options.</a:t>
            </a:r>
            <a:endParaRPr lang="en-US" sz="1400" dirty="0"/>
          </a:p>
        </p:txBody>
      </p:sp>
      <p:sp>
        <p:nvSpPr>
          <p:cNvPr id="26"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27" name="Text 24"/>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3"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4: answer</a:t>
            </a:r>
            <a:endParaRPr lang="en-US" sz="3400" dirty="0"/>
          </a:p>
        </p:txBody>
      </p:sp>
      <p:sp>
        <p:nvSpPr>
          <p:cNvPr id="4" name="code panel"/>
          <p:cNvSpPr/>
          <p:nvPr/>
        </p:nvSpPr>
        <p:spPr>
          <a:xfrm>
            <a:off x="274320" y="1143000"/>
            <a:ext cx="8595360" cy="3154680"/>
          </a:xfrm>
          <a:prstGeom prst="roundRect">
            <a:avLst>
              <a:gd name="adj" fmla="val 2319"/>
            </a:avLst>
          </a:prstGeom>
          <a:solidFill>
            <a:schemeClr val="tx1"/>
          </a:solidFill>
          <a:ln/>
        </p:spPr>
        <p:txBody>
          <a:bodyPr/>
          <a:lstStyle/>
          <a:p>
            <a:endParaRPr lang="en-US"/>
          </a:p>
        </p:txBody>
      </p:sp>
      <p:sp>
        <p:nvSpPr>
          <p:cNvPr id="5" name="Text 2"/>
          <p:cNvSpPr txBox="1"/>
          <p:nvPr/>
        </p:nvSpPr>
        <p:spPr>
          <a:xfrm>
            <a:off x="457200" y="1271016"/>
            <a:ext cx="8229600" cy="2898648"/>
          </a:xfrm>
          <a:prstGeom prst="rect">
            <a:avLst/>
          </a:prstGeom>
          <a:noFill/>
          <a:ln/>
        </p:spPr>
        <p:txBody>
          <a:bodyPr wrap="square" lIns="0" tIns="0" rIns="0" bIns="0" rtlCol="0" anchor="t"/>
          <a:lstStyle/>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strategy:</a:t>
            </a:r>
            <a:endParaRPr lang="en-US" sz="1100" dirty="0"/>
          </a:p>
          <a:p>
            <a:pPr marL="0" indent="0">
              <a:lnSpc>
                <a:spcPts val="1343"/>
              </a:lnSpc>
              <a:buNone/>
            </a:pPr>
            <a:r>
              <a:rPr lang="en-US" sz="1100" b="1" dirty="0">
                <a:solidFill>
                  <a:schemeClr val="accent1"/>
                </a:solidFill>
                <a:highlight>
                  <a:srgbClr val="1B3A28"/>
                </a:highlight>
                <a:latin typeface="Courier New" pitchFamily="34" charset="0"/>
                <a:ea typeface="Courier New" pitchFamily="34" charset="-122"/>
                <a:cs typeface="Courier New" pitchFamily="34" charset="-120"/>
              </a:rPr>
              <a:t>      fail-fast: false</a:t>
            </a:r>
            <a:endParaRPr lang="en-US" sz="1100" dirty="0"/>
          </a:p>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matrix:</a:t>
            </a:r>
            <a:endParaRPr lang="en-US" sz="1100" dirty="0"/>
          </a:p>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service: [tasks-api, title-normalizer]</a:t>
            </a:r>
            <a:endParaRPr lang="en-US" sz="1100" dirty="0"/>
          </a:p>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steps:</a:t>
            </a:r>
            <a:endParaRPr lang="en-US" sz="1100" dirty="0"/>
          </a:p>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 uses: actions/checkout@v7</a:t>
            </a:r>
            <a:endParaRPr lang="en-US" sz="1100" dirty="0"/>
          </a:p>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 uses: actions/setup-python@v7</a:t>
            </a:r>
            <a:endParaRPr lang="en-US" sz="1100" dirty="0"/>
          </a:p>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with:</a:t>
            </a:r>
            <a:endParaRPr lang="en-US" sz="1100" dirty="0"/>
          </a:p>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python-version: "3.12"</a:t>
            </a:r>
            <a:endParaRPr lang="en-US" sz="1100" dirty="0"/>
          </a:p>
          <a:p>
            <a:pPr marL="0" indent="0">
              <a:lnSpc>
                <a:spcPts val="1343"/>
              </a:lnSpc>
              <a:buNone/>
            </a:pPr>
            <a:r>
              <a:rPr lang="en-US" sz="1100" dirty="0">
                <a:solidFill>
                  <a:srgbClr val="9DA7B3"/>
                </a:solidFill>
                <a:latin typeface="Courier New" pitchFamily="34" charset="0"/>
                <a:ea typeface="Courier New" pitchFamily="34" charset="-122"/>
                <a:cs typeface="Courier New" pitchFamily="34" charset="-120"/>
              </a:rPr>
              <a:t>      - run: pip install -r services/${{ matrix.service }}/requirements.txt</a:t>
            </a:r>
            <a:endParaRPr lang="en-US" sz="1100" dirty="0"/>
          </a:p>
          <a:p>
            <a:pPr marL="0" indent="0">
              <a:lnSpc>
                <a:spcPts val="1343"/>
              </a:lnSpc>
              <a:buNone/>
            </a:pPr>
            <a:r>
              <a:rPr lang="en-US" sz="1100" b="1" dirty="0">
                <a:solidFill>
                  <a:schemeClr val="accent1"/>
                </a:solidFill>
                <a:highlight>
                  <a:srgbClr val="1B3A28"/>
                </a:highlight>
                <a:latin typeface="Courier New" pitchFamily="34" charset="0"/>
                <a:ea typeface="Courier New" pitchFamily="34" charset="-122"/>
                <a:cs typeface="Courier New" pitchFamily="34" charset="-120"/>
              </a:rPr>
              <a:t>      - shell: bash</a:t>
            </a:r>
            <a:endParaRPr lang="en-US" sz="1100" dirty="0"/>
          </a:p>
          <a:p>
            <a:pPr marL="0" indent="0">
              <a:lnSpc>
                <a:spcPts val="1343"/>
              </a:lnSpc>
              <a:buNone/>
            </a:pPr>
            <a:r>
              <a:rPr lang="en-US" sz="1100" b="1" dirty="0">
                <a:solidFill>
                  <a:schemeClr val="accent1"/>
                </a:solidFill>
                <a:highlight>
                  <a:srgbClr val="1B3A28"/>
                </a:highlight>
                <a:latin typeface="Courier New" pitchFamily="34" charset="0"/>
                <a:ea typeface="Courier New" pitchFamily="34" charset="-122"/>
                <a:cs typeface="Courier New" pitchFamily="34" charset="-120"/>
              </a:rPr>
              <a:t>        run: pytest -rA services/${{ matrix.service }} | tee ${{ matrix.service }}-test-</a:t>
            </a:r>
            <a:r>
              <a:rPr lang="en-US" sz="1100" b="1" dirty="0" err="1">
                <a:solidFill>
                  <a:schemeClr val="accent1"/>
                </a:solidFill>
                <a:highlight>
                  <a:srgbClr val="1B3A28"/>
                </a:highlight>
                <a:latin typeface="Courier New" pitchFamily="34" charset="0"/>
                <a:ea typeface="Courier New" pitchFamily="34" charset="-122"/>
                <a:cs typeface="Courier New" pitchFamily="34" charset="-120"/>
              </a:rPr>
              <a:t>report.txt</a:t>
            </a:r>
            <a:endParaRPr lang="en-US" sz="1100" dirty="0"/>
          </a:p>
          <a:p>
            <a:pPr marL="0" indent="0">
              <a:lnSpc>
                <a:spcPts val="1343"/>
              </a:lnSpc>
              <a:buNone/>
            </a:pPr>
            <a:r>
              <a:rPr lang="en-US" sz="1100" b="1" dirty="0">
                <a:solidFill>
                  <a:schemeClr val="accent1"/>
                </a:solidFill>
                <a:highlight>
                  <a:srgbClr val="1B3A28"/>
                </a:highlight>
                <a:latin typeface="Courier New" pitchFamily="34" charset="0"/>
                <a:ea typeface="Courier New" pitchFamily="34" charset="-122"/>
                <a:cs typeface="Courier New" pitchFamily="34" charset="-120"/>
              </a:rPr>
              <a:t>      - uses: actions/upload-artifact@v7</a:t>
            </a:r>
            <a:endParaRPr lang="en-US" sz="1100" dirty="0"/>
          </a:p>
          <a:p>
            <a:pPr marL="0" indent="0">
              <a:lnSpc>
                <a:spcPts val="1343"/>
              </a:lnSpc>
              <a:buNone/>
            </a:pPr>
            <a:r>
              <a:rPr lang="en-US" sz="1100" b="1" dirty="0">
                <a:solidFill>
                  <a:schemeClr val="accent1"/>
                </a:solidFill>
                <a:highlight>
                  <a:srgbClr val="1B3A28"/>
                </a:highlight>
                <a:latin typeface="Courier New" pitchFamily="34" charset="0"/>
                <a:ea typeface="Courier New" pitchFamily="34" charset="-122"/>
                <a:cs typeface="Courier New" pitchFamily="34" charset="-120"/>
              </a:rPr>
              <a:t>        if: always()</a:t>
            </a:r>
            <a:endParaRPr lang="en-US" sz="1100" dirty="0"/>
          </a:p>
          <a:p>
            <a:pPr marL="0" indent="0">
              <a:lnSpc>
                <a:spcPts val="1343"/>
              </a:lnSpc>
              <a:buNone/>
            </a:pPr>
            <a:r>
              <a:rPr lang="en-US" sz="1100" b="1" dirty="0">
                <a:solidFill>
                  <a:schemeClr val="accent1"/>
                </a:solidFill>
                <a:highlight>
                  <a:srgbClr val="1B3A28"/>
                </a:highlight>
                <a:latin typeface="Courier New" pitchFamily="34" charset="0"/>
                <a:ea typeface="Courier New" pitchFamily="34" charset="-122"/>
                <a:cs typeface="Courier New" pitchFamily="34" charset="-120"/>
              </a:rPr>
              <a:t>        with:</a:t>
            </a:r>
            <a:endParaRPr lang="en-US" sz="1100" dirty="0"/>
          </a:p>
          <a:p>
            <a:pPr marL="0" indent="0">
              <a:lnSpc>
                <a:spcPts val="1343"/>
              </a:lnSpc>
              <a:buNone/>
            </a:pPr>
            <a:r>
              <a:rPr lang="en-US" sz="1100" b="1" dirty="0">
                <a:solidFill>
                  <a:schemeClr val="accent1"/>
                </a:solidFill>
                <a:highlight>
                  <a:srgbClr val="1B3A28"/>
                </a:highlight>
                <a:latin typeface="Courier New" pitchFamily="34" charset="0"/>
                <a:ea typeface="Courier New" pitchFamily="34" charset="-122"/>
                <a:cs typeface="Courier New" pitchFamily="34" charset="-120"/>
              </a:rPr>
              <a:t>          name: ${{ matrix.service }}-test-report</a:t>
            </a:r>
            <a:endParaRPr lang="en-US" sz="1100" dirty="0"/>
          </a:p>
          <a:p>
            <a:pPr marL="0" indent="0">
              <a:lnSpc>
                <a:spcPts val="1343"/>
              </a:lnSpc>
              <a:buNone/>
            </a:pPr>
            <a:r>
              <a:rPr lang="en-US" sz="1100" b="1" dirty="0">
                <a:solidFill>
                  <a:schemeClr val="accent1"/>
                </a:solidFill>
                <a:highlight>
                  <a:srgbClr val="1B3A28"/>
                </a:highlight>
                <a:latin typeface="Courier New" pitchFamily="34" charset="0"/>
                <a:ea typeface="Courier New" pitchFamily="34" charset="-122"/>
                <a:cs typeface="Courier New" pitchFamily="34" charset="-120"/>
              </a:rPr>
              <a:t>          path: ${{ matrix.service }}-test-report.txt</a:t>
            </a:r>
            <a:endParaRPr lang="en-US" sz="1100" dirty="0"/>
          </a:p>
        </p:txBody>
      </p:sp>
      <p:sp>
        <p:nvSpPr>
          <p:cNvPr id="6" name="Text 3"/>
          <p:cNvSpPr txBox="1"/>
          <p:nvPr/>
        </p:nvSpPr>
        <p:spPr>
          <a:xfrm>
            <a:off x="548640" y="4334256"/>
            <a:ext cx="5486400" cy="256032"/>
          </a:xfrm>
          <a:prstGeom prst="rect">
            <a:avLst/>
          </a:prstGeom>
          <a:noFill/>
          <a:ln/>
        </p:spPr>
        <p:txBody>
          <a:bodyPr wrap="square" lIns="0" tIns="0" rIns="0" bIns="0" rtlCol="0" anchor="t"/>
          <a:lstStyle/>
          <a:p>
            <a:pPr marL="0" indent="0">
              <a:buNone/>
            </a:pPr>
            <a:r>
              <a:rPr lang="en-US" sz="1300" b="1" dirty="0">
                <a:solidFill>
                  <a:schemeClr val="accent1"/>
                </a:solidFill>
              </a:rPr>
              <a:t>Green lines are new or changed.</a:t>
            </a:r>
            <a:endParaRPr lang="en-US" sz="13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Why shell: bash</a:t>
            </a:r>
            <a:endParaRPr lang="en-US" sz="3400" dirty="0"/>
          </a:p>
        </p:txBody>
      </p:sp>
      <p:sp>
        <p:nvSpPr>
          <p:cNvPr id="4" name="Text 1"/>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2200" b="1" dirty="0">
                <a:solidFill>
                  <a:schemeClr val="tx1"/>
                </a:solidFill>
              </a:rPr>
              <a:t>A plain </a:t>
            </a:r>
            <a:r>
              <a:rPr lang="en-US" sz="2200" b="1" dirty="0">
                <a:solidFill>
                  <a:schemeClr val="tx1"/>
                </a:solidFill>
                <a:latin typeface="Courier New" pitchFamily="34" charset="0"/>
                <a:ea typeface="Courier New" pitchFamily="34" charset="-122"/>
                <a:cs typeface="Courier New" pitchFamily="34" charset="-120"/>
              </a:rPr>
              <a:t>run</a:t>
            </a:r>
            <a:r>
              <a:rPr lang="en-US" sz="2200" b="1" dirty="0">
                <a:solidFill>
                  <a:schemeClr val="tx1"/>
                </a:solidFill>
              </a:rPr>
              <a:t> step uses default shell flags. </a:t>
            </a:r>
            <a:r>
              <a:rPr lang="en-US" sz="2200" b="1" dirty="0">
                <a:solidFill>
                  <a:schemeClr val="tx1"/>
                </a:solidFill>
                <a:latin typeface="Courier New" pitchFamily="34" charset="0"/>
                <a:ea typeface="Courier New" pitchFamily="34" charset="-122"/>
                <a:cs typeface="Courier New" pitchFamily="34" charset="-120"/>
              </a:rPr>
              <a:t>shell: bash</a:t>
            </a:r>
            <a:r>
              <a:rPr lang="en-US" sz="2200" b="1" dirty="0">
                <a:solidFill>
                  <a:schemeClr val="tx1"/>
                </a:solidFill>
              </a:rPr>
              <a:t> adds </a:t>
            </a:r>
            <a:r>
              <a:rPr lang="en-US" sz="2200" b="1" dirty="0">
                <a:solidFill>
                  <a:schemeClr val="tx1"/>
                </a:solidFill>
                <a:latin typeface="Courier New" pitchFamily="34" charset="0"/>
                <a:ea typeface="Courier New" pitchFamily="34" charset="-122"/>
                <a:cs typeface="Courier New" pitchFamily="34" charset="-120"/>
              </a:rPr>
              <a:t>-o pipefail</a:t>
            </a:r>
            <a:r>
              <a:rPr lang="en-US" sz="2200" b="1" dirty="0">
                <a:solidFill>
                  <a:schemeClr val="tx1"/>
                </a:solidFill>
              </a:rPr>
              <a:t>.</a:t>
            </a:r>
            <a:endParaRPr lang="en-US" sz="2200" dirty="0"/>
          </a:p>
        </p:txBody>
      </p:sp>
      <p:sp>
        <p:nvSpPr>
          <p:cNvPr id="5" name="run: ..."/>
          <p:cNvSpPr/>
          <p:nvPr/>
        </p:nvSpPr>
        <p:spPr>
          <a:xfrm>
            <a:off x="548640" y="2286000"/>
            <a:ext cx="3931920" cy="1280160"/>
          </a:xfrm>
          <a:prstGeom prst="roundRect">
            <a:avLst>
              <a:gd name="adj" fmla="val 5714"/>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6" name="Text 3"/>
          <p:cNvSpPr txBox="1"/>
          <p:nvPr/>
        </p:nvSpPr>
        <p:spPr>
          <a:xfrm>
            <a:off x="822960" y="2377440"/>
            <a:ext cx="3383280" cy="411480"/>
          </a:xfrm>
          <a:prstGeom prst="rect">
            <a:avLst/>
          </a:prstGeom>
          <a:noFill/>
          <a:ln/>
        </p:spPr>
        <p:txBody>
          <a:bodyPr wrap="square" lIns="0" tIns="0" rIns="0" bIns="0" rtlCol="0" anchor="t"/>
          <a:lstStyle/>
          <a:p>
            <a:pPr marL="0" indent="0">
              <a:buNone/>
            </a:pPr>
            <a:r>
              <a:rPr lang="en-US" sz="2000" b="1" dirty="0">
                <a:solidFill>
                  <a:schemeClr val="accent6"/>
                </a:solidFill>
                <a:latin typeface="Courier New" pitchFamily="34" charset="0"/>
                <a:ea typeface="Courier New" pitchFamily="34" charset="-122"/>
                <a:cs typeface="Courier New" pitchFamily="34" charset="-120"/>
              </a:rPr>
              <a:t>run: ...</a:t>
            </a:r>
            <a:endParaRPr lang="en-US" sz="2000" dirty="0"/>
          </a:p>
        </p:txBody>
      </p:sp>
      <p:sp>
        <p:nvSpPr>
          <p:cNvPr id="7" name="Text 4"/>
          <p:cNvSpPr txBox="1"/>
          <p:nvPr/>
        </p:nvSpPr>
        <p:spPr>
          <a:xfrm>
            <a:off x="822960" y="2880360"/>
            <a:ext cx="3383280" cy="457200"/>
          </a:xfrm>
          <a:prstGeom prst="rect">
            <a:avLst/>
          </a:prstGeom>
          <a:noFill/>
          <a:ln/>
        </p:spPr>
        <p:txBody>
          <a:bodyPr wrap="square" lIns="0" tIns="0" rIns="0" bIns="0" rtlCol="0" anchor="t"/>
          <a:lstStyle/>
          <a:p>
            <a:pPr marL="0" indent="0">
              <a:buNone/>
            </a:pPr>
            <a:r>
              <a:rPr lang="en-US" sz="2400" dirty="0">
                <a:solidFill>
                  <a:schemeClr val="tx1"/>
                </a:solidFill>
                <a:latin typeface="Courier New" pitchFamily="34" charset="0"/>
                <a:ea typeface="Courier New" pitchFamily="34" charset="-122"/>
                <a:cs typeface="Courier New" pitchFamily="34" charset="-120"/>
              </a:rPr>
              <a:t>bash -e</a:t>
            </a:r>
            <a:endParaRPr lang="en-US" sz="2400" dirty="0"/>
          </a:p>
        </p:txBody>
      </p:sp>
      <p:sp>
        <p:nvSpPr>
          <p:cNvPr id="8" name="shell: bash"/>
          <p:cNvSpPr/>
          <p:nvPr/>
        </p:nvSpPr>
        <p:spPr>
          <a:xfrm>
            <a:off x="4663440" y="2286000"/>
            <a:ext cx="3931920" cy="1280160"/>
          </a:xfrm>
          <a:prstGeom prst="roundRect">
            <a:avLst>
              <a:gd name="adj" fmla="val 5714"/>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4937760" y="2377440"/>
            <a:ext cx="3383280" cy="411480"/>
          </a:xfrm>
          <a:prstGeom prst="rect">
            <a:avLst/>
          </a:prstGeom>
          <a:noFill/>
          <a:ln/>
        </p:spPr>
        <p:txBody>
          <a:bodyPr wrap="square" lIns="0" tIns="0" rIns="0" bIns="0" rtlCol="0" anchor="t"/>
          <a:lstStyle/>
          <a:p>
            <a:pPr marL="0" indent="0">
              <a:buNone/>
            </a:pPr>
            <a:r>
              <a:rPr lang="en-US" sz="2000" b="1" dirty="0">
                <a:solidFill>
                  <a:srgbClr val="2EA043"/>
                </a:solidFill>
                <a:latin typeface="Courier New" pitchFamily="34" charset="0"/>
                <a:ea typeface="Courier New" pitchFamily="34" charset="-122"/>
                <a:cs typeface="Courier New" pitchFamily="34" charset="-120"/>
              </a:rPr>
              <a:t>shell: bash</a:t>
            </a:r>
            <a:endParaRPr lang="en-US" sz="2000" dirty="0"/>
          </a:p>
        </p:txBody>
      </p:sp>
      <p:sp>
        <p:nvSpPr>
          <p:cNvPr id="10" name="Text 7"/>
          <p:cNvSpPr txBox="1"/>
          <p:nvPr/>
        </p:nvSpPr>
        <p:spPr>
          <a:xfrm>
            <a:off x="4937760" y="2880360"/>
            <a:ext cx="3383280" cy="457200"/>
          </a:xfrm>
          <a:prstGeom prst="rect">
            <a:avLst/>
          </a:prstGeom>
          <a:noFill/>
          <a:ln/>
        </p:spPr>
        <p:txBody>
          <a:bodyPr wrap="square" lIns="0" tIns="0" rIns="0" bIns="0" rtlCol="0" anchor="t"/>
          <a:lstStyle/>
          <a:p>
            <a:pPr marL="0" indent="0">
              <a:buNone/>
            </a:pPr>
            <a:r>
              <a:rPr lang="en-US" sz="2400" dirty="0">
                <a:solidFill>
                  <a:schemeClr val="tx1"/>
                </a:solidFill>
                <a:latin typeface="Courier New" pitchFamily="34" charset="0"/>
                <a:ea typeface="Courier New" pitchFamily="34" charset="-122"/>
                <a:cs typeface="Courier New" pitchFamily="34" charset="-120"/>
              </a:rPr>
              <a:t>bash -eo pipefail</a:t>
            </a:r>
            <a:endParaRPr lang="en-US" sz="2400" dirty="0"/>
          </a:p>
        </p:txBody>
      </p:sp>
      <p:sp>
        <p:nvSpPr>
          <p:cNvPr id="11" name="Text 8"/>
          <p:cNvSpPr txBox="1"/>
          <p:nvPr/>
        </p:nvSpPr>
        <p:spPr>
          <a:xfrm>
            <a:off x="548640" y="3749040"/>
            <a:ext cx="8046720" cy="731520"/>
          </a:xfrm>
          <a:prstGeom prst="rect">
            <a:avLst/>
          </a:prstGeom>
          <a:noFill/>
          <a:ln/>
        </p:spPr>
        <p:txBody>
          <a:bodyPr wrap="square" lIns="0" tIns="0" rIns="0" bIns="0" rtlCol="0" anchor="ctr"/>
          <a:lstStyle/>
          <a:p>
            <a:pPr marL="0" indent="0">
              <a:buNone/>
            </a:pPr>
            <a:r>
              <a:rPr lang="en-US" sz="2000" dirty="0">
                <a:solidFill>
                  <a:schemeClr val="tx1"/>
                </a:solidFill>
              </a:rPr>
              <a:t>Without </a:t>
            </a:r>
            <a:r>
              <a:rPr lang="en-US" sz="2000" dirty="0">
                <a:solidFill>
                  <a:schemeClr val="tx1"/>
                </a:solidFill>
                <a:latin typeface="Courier New" pitchFamily="34" charset="0"/>
                <a:ea typeface="Courier New" pitchFamily="34" charset="-122"/>
                <a:cs typeface="Courier New" pitchFamily="34" charset="-120"/>
              </a:rPr>
              <a:t>pipefail</a:t>
            </a:r>
            <a:r>
              <a:rPr lang="en-US" sz="2000" dirty="0">
                <a:solidFill>
                  <a:schemeClr val="tx1"/>
                </a:solidFill>
              </a:rPr>
              <a:t>, </a:t>
            </a:r>
            <a:r>
              <a:rPr lang="en-US" sz="2000" dirty="0">
                <a:solidFill>
                  <a:schemeClr val="tx1"/>
                </a:solidFill>
                <a:latin typeface="Courier New" pitchFamily="34" charset="0"/>
                <a:ea typeface="Courier New" pitchFamily="34" charset="-122"/>
                <a:cs typeface="Courier New" pitchFamily="34" charset="-120"/>
              </a:rPr>
              <a:t>pytest | tee</a:t>
            </a:r>
            <a:r>
              <a:rPr lang="en-US" sz="2000" dirty="0">
                <a:solidFill>
                  <a:schemeClr val="tx1"/>
                </a:solidFill>
              </a:rPr>
              <a:t> ends with the exit code of </a:t>
            </a:r>
            <a:r>
              <a:rPr lang="en-US" sz="2000" dirty="0">
                <a:solidFill>
                  <a:schemeClr val="tx1"/>
                </a:solidFill>
                <a:latin typeface="Courier New" pitchFamily="34" charset="0"/>
                <a:ea typeface="Courier New" pitchFamily="34" charset="-122"/>
                <a:cs typeface="Courier New" pitchFamily="34" charset="-120"/>
              </a:rPr>
              <a:t>tee</a:t>
            </a:r>
            <a:r>
              <a:rPr lang="en-US" sz="2000" dirty="0">
                <a:solidFill>
                  <a:schemeClr val="tx1"/>
                </a:solidFill>
              </a:rPr>
              <a:t>.</a:t>
            </a:r>
            <a:endParaRPr lang="en-US" sz="2000" dirty="0"/>
          </a:p>
        </p:txBody>
      </p:sp>
      <p:sp>
        <p:nvSpPr>
          <p:cNvPr id="12"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3" name="Text 10"/>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Why fail-fast: false</a:t>
            </a:r>
            <a:endParaRPr lang="en-US" sz="3400" dirty="0"/>
          </a:p>
        </p:txBody>
      </p:sp>
      <p:sp>
        <p:nvSpPr>
          <p:cNvPr id="4" name="Text 1"/>
          <p:cNvSpPr txBox="1"/>
          <p:nvPr/>
        </p:nvSpPr>
        <p:spPr>
          <a:xfrm>
            <a:off x="548640" y="1188720"/>
            <a:ext cx="8046720" cy="914400"/>
          </a:xfrm>
          <a:prstGeom prst="rect">
            <a:avLst/>
          </a:prstGeom>
          <a:noFill/>
          <a:ln/>
        </p:spPr>
        <p:txBody>
          <a:bodyPr wrap="square" lIns="0" tIns="0" rIns="0" bIns="0" rtlCol="0" anchor="ctr"/>
          <a:lstStyle/>
          <a:p>
            <a:pPr marL="0" indent="0">
              <a:buNone/>
            </a:pPr>
            <a:r>
              <a:rPr lang="en-US" sz="2400" b="1" dirty="0">
                <a:solidFill>
                  <a:schemeClr val="tx1"/>
                </a:solidFill>
              </a:rPr>
              <a:t>By default one failing leg cancels the other legs still running or queued.</a:t>
            </a:r>
            <a:endParaRPr lang="en-US" sz="2400" dirty="0"/>
          </a:p>
        </p:txBody>
      </p:sp>
      <p:sp>
        <p:nvSpPr>
          <p:cNvPr id="5" name="fail-fast: true"/>
          <p:cNvSpPr/>
          <p:nvPr/>
        </p:nvSpPr>
        <p:spPr>
          <a:xfrm>
            <a:off x="548640" y="2286000"/>
            <a:ext cx="3931920" cy="2103120"/>
          </a:xfrm>
          <a:prstGeom prst="roundRect">
            <a:avLst>
              <a:gd name="adj" fmla="val 3478"/>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6" name="Text 3"/>
          <p:cNvSpPr txBox="1"/>
          <p:nvPr/>
        </p:nvSpPr>
        <p:spPr>
          <a:xfrm>
            <a:off x="822960" y="2423160"/>
            <a:ext cx="3383280" cy="457200"/>
          </a:xfrm>
          <a:prstGeom prst="rect">
            <a:avLst/>
          </a:prstGeom>
          <a:noFill/>
          <a:ln/>
        </p:spPr>
        <p:txBody>
          <a:bodyPr wrap="square" lIns="0" tIns="0" rIns="0" bIns="0" rtlCol="0" anchor="t"/>
          <a:lstStyle/>
          <a:p>
            <a:pPr marL="0" indent="0">
              <a:buNone/>
            </a:pPr>
            <a:r>
              <a:rPr lang="en-US" sz="2200" b="1" dirty="0">
                <a:solidFill>
                  <a:srgbClr val="D1242F"/>
                </a:solidFill>
                <a:latin typeface="Courier New" pitchFamily="34" charset="0"/>
                <a:ea typeface="Courier New" pitchFamily="34" charset="-122"/>
                <a:cs typeface="Courier New" pitchFamily="34" charset="-120"/>
              </a:rPr>
              <a:t>fail-fast: true</a:t>
            </a:r>
            <a:endParaRPr lang="en-US" sz="2200" dirty="0"/>
          </a:p>
        </p:txBody>
      </p:sp>
      <p:sp>
        <p:nvSpPr>
          <p:cNvPr id="7" name="Text 4"/>
          <p:cNvSpPr txBox="1"/>
          <p:nvPr/>
        </p:nvSpPr>
        <p:spPr>
          <a:xfrm>
            <a:off x="822960" y="2880360"/>
            <a:ext cx="3383280" cy="274320"/>
          </a:xfrm>
          <a:prstGeom prst="rect">
            <a:avLst/>
          </a:prstGeom>
          <a:noFill/>
          <a:ln/>
        </p:spPr>
        <p:txBody>
          <a:bodyPr wrap="square" lIns="0" tIns="0" rIns="0" bIns="0" rtlCol="0" anchor="t"/>
          <a:lstStyle/>
          <a:p>
            <a:pPr marL="0" indent="0">
              <a:buNone/>
            </a:pPr>
            <a:r>
              <a:rPr lang="en-US" sz="1400" dirty="0">
                <a:solidFill>
                  <a:schemeClr val="accent6"/>
                </a:solidFill>
              </a:rPr>
              <a:t>default</a:t>
            </a:r>
            <a:endParaRPr lang="en-US" sz="1400" dirty="0"/>
          </a:p>
        </p:txBody>
      </p:sp>
      <p:sp>
        <p:nvSpPr>
          <p:cNvPr id="8" name="Text 5"/>
          <p:cNvSpPr txBox="1"/>
          <p:nvPr/>
        </p:nvSpPr>
        <p:spPr>
          <a:xfrm>
            <a:off x="822960" y="3246120"/>
            <a:ext cx="3383280" cy="1005840"/>
          </a:xfrm>
          <a:prstGeom prst="rect">
            <a:avLst/>
          </a:prstGeom>
          <a:noFill/>
          <a:ln/>
        </p:spPr>
        <p:txBody>
          <a:bodyPr wrap="square" lIns="0" tIns="0" rIns="0" bIns="0" rtlCol="0" anchor="t"/>
          <a:lstStyle/>
          <a:p>
            <a:pPr marL="0" indent="0">
              <a:buNone/>
            </a:pPr>
            <a:r>
              <a:rPr lang="en-US" sz="2000" dirty="0">
                <a:solidFill>
                  <a:schemeClr val="tx1"/>
                </a:solidFill>
              </a:rPr>
              <a:t>One leg fails: the others still running or queued are cancelled.</a:t>
            </a:r>
            <a:endParaRPr lang="en-US" sz="2000" dirty="0"/>
          </a:p>
        </p:txBody>
      </p:sp>
      <p:sp>
        <p:nvSpPr>
          <p:cNvPr id="9" name="fail-fast: false"/>
          <p:cNvSpPr/>
          <p:nvPr/>
        </p:nvSpPr>
        <p:spPr>
          <a:xfrm>
            <a:off x="4663440" y="2286000"/>
            <a:ext cx="3931920" cy="2103120"/>
          </a:xfrm>
          <a:prstGeom prst="roundRect">
            <a:avLst>
              <a:gd name="adj" fmla="val 3478"/>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0" name="Text 7"/>
          <p:cNvSpPr txBox="1"/>
          <p:nvPr/>
        </p:nvSpPr>
        <p:spPr>
          <a:xfrm>
            <a:off x="4937760" y="2423160"/>
            <a:ext cx="3383280" cy="457200"/>
          </a:xfrm>
          <a:prstGeom prst="rect">
            <a:avLst/>
          </a:prstGeom>
          <a:noFill/>
          <a:ln/>
        </p:spPr>
        <p:txBody>
          <a:bodyPr wrap="square" lIns="0" tIns="0" rIns="0" bIns="0" rtlCol="0" anchor="t"/>
          <a:lstStyle/>
          <a:p>
            <a:pPr marL="0" indent="0">
              <a:buNone/>
            </a:pPr>
            <a:r>
              <a:rPr lang="en-US" sz="2200" b="1" dirty="0">
                <a:solidFill>
                  <a:srgbClr val="2EA043"/>
                </a:solidFill>
                <a:latin typeface="Courier New" pitchFamily="34" charset="0"/>
                <a:ea typeface="Courier New" pitchFamily="34" charset="-122"/>
                <a:cs typeface="Courier New" pitchFamily="34" charset="-120"/>
              </a:rPr>
              <a:t>fail-fast: false</a:t>
            </a:r>
            <a:endParaRPr lang="en-US" sz="2200" dirty="0"/>
          </a:p>
        </p:txBody>
      </p:sp>
      <p:sp>
        <p:nvSpPr>
          <p:cNvPr id="11" name="Text 8"/>
          <p:cNvSpPr txBox="1"/>
          <p:nvPr/>
        </p:nvSpPr>
        <p:spPr>
          <a:xfrm>
            <a:off x="4937760" y="3246120"/>
            <a:ext cx="3383280" cy="1005840"/>
          </a:xfrm>
          <a:prstGeom prst="rect">
            <a:avLst/>
          </a:prstGeom>
          <a:noFill/>
          <a:ln/>
        </p:spPr>
        <p:txBody>
          <a:bodyPr wrap="square" lIns="0" tIns="0" rIns="0" bIns="0" rtlCol="0" anchor="t"/>
          <a:lstStyle/>
          <a:p>
            <a:pPr marL="0" indent="0">
              <a:buNone/>
            </a:pPr>
            <a:r>
              <a:rPr lang="en-US" sz="2000" dirty="0">
                <a:solidFill>
                  <a:schemeClr val="tx1"/>
                </a:solidFill>
              </a:rPr>
              <a:t>Other legs are not cancelled.</a:t>
            </a:r>
            <a:endParaRPr lang="en-US" sz="2000" dirty="0"/>
          </a:p>
        </p:txBody>
      </p:sp>
      <p:sp>
        <p:nvSpPr>
          <p:cNvPr id="12"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3" name="Text 10"/>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Break a test</a:t>
            </a:r>
            <a:endParaRPr lang="en-US" sz="3400" dirty="0"/>
          </a:p>
        </p:txBody>
      </p:sp>
      <p:sp>
        <p:nvSpPr>
          <p:cNvPr id="4" name="badge 1"/>
          <p:cNvSpPr/>
          <p:nvPr/>
        </p:nvSpPr>
        <p:spPr>
          <a:xfrm>
            <a:off x="548640" y="1280160"/>
            <a:ext cx="502920" cy="502920"/>
          </a:xfrm>
          <a:prstGeom prst="ellipse">
            <a:avLst/>
          </a:prstGeom>
          <a:solidFill>
            <a:schemeClr val="accent1"/>
          </a:solidFill>
          <a:ln/>
        </p:spPr>
        <p:txBody>
          <a:bodyPr/>
          <a:lstStyle/>
          <a:p>
            <a:endParaRPr lang="en-US"/>
          </a:p>
        </p:txBody>
      </p:sp>
      <p:sp>
        <p:nvSpPr>
          <p:cNvPr id="5" name="Text 2"/>
          <p:cNvSpPr txBox="1"/>
          <p:nvPr/>
        </p:nvSpPr>
        <p:spPr>
          <a:xfrm>
            <a:off x="548640" y="12801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6" name="Text 3"/>
          <p:cNvSpPr txBox="1"/>
          <p:nvPr/>
        </p:nvSpPr>
        <p:spPr>
          <a:xfrm>
            <a:off x="1280160" y="1234440"/>
            <a:ext cx="7315200" cy="640080"/>
          </a:xfrm>
          <a:prstGeom prst="rect">
            <a:avLst/>
          </a:prstGeom>
          <a:noFill/>
          <a:ln/>
        </p:spPr>
        <p:txBody>
          <a:bodyPr wrap="square" lIns="0" tIns="0" rIns="0" bIns="0" rtlCol="0" anchor="ctr"/>
          <a:lstStyle/>
          <a:p>
            <a:pPr marL="0" indent="0">
              <a:buNone/>
            </a:pPr>
            <a:r>
              <a:rPr lang="en-US" sz="1800" b="1" dirty="0">
                <a:solidFill>
                  <a:schemeClr val="tx1"/>
                </a:solidFill>
              </a:rPr>
              <a:t>Break one test: change one expected value in a test file under </a:t>
            </a:r>
            <a:r>
              <a:rPr lang="en-US" sz="1800" b="1" dirty="0">
                <a:solidFill>
                  <a:schemeClr val="tx1"/>
                </a:solidFill>
                <a:latin typeface="Courier New" pitchFamily="34" charset="0"/>
                <a:ea typeface="Courier New" pitchFamily="34" charset="-122"/>
                <a:cs typeface="Courier New" pitchFamily="34" charset="-120"/>
              </a:rPr>
              <a:t>services/tasks-api/tests/</a:t>
            </a:r>
            <a:r>
              <a:rPr lang="en-US" sz="1800" b="1" dirty="0">
                <a:solidFill>
                  <a:schemeClr val="tx1"/>
                </a:solidFill>
              </a:rPr>
              <a:t>.</a:t>
            </a:r>
            <a:endParaRPr lang="en-US" sz="1800" dirty="0"/>
          </a:p>
        </p:txBody>
      </p:sp>
      <p:sp>
        <p:nvSpPr>
          <p:cNvPr id="7" name="badge 2"/>
          <p:cNvSpPr/>
          <p:nvPr/>
        </p:nvSpPr>
        <p:spPr>
          <a:xfrm>
            <a:off x="548640" y="1965960"/>
            <a:ext cx="502920" cy="502920"/>
          </a:xfrm>
          <a:prstGeom prst="ellipse">
            <a:avLst/>
          </a:prstGeom>
          <a:solidFill>
            <a:schemeClr val="accent1"/>
          </a:solidFill>
          <a:ln/>
        </p:spPr>
        <p:txBody>
          <a:bodyPr/>
          <a:lstStyle/>
          <a:p>
            <a:endParaRPr lang="en-US"/>
          </a:p>
        </p:txBody>
      </p:sp>
      <p:sp>
        <p:nvSpPr>
          <p:cNvPr id="8" name="Text 5"/>
          <p:cNvSpPr txBox="1"/>
          <p:nvPr/>
        </p:nvSpPr>
        <p:spPr>
          <a:xfrm>
            <a:off x="548640" y="19659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9" name="Text 6"/>
          <p:cNvSpPr txBox="1"/>
          <p:nvPr/>
        </p:nvSpPr>
        <p:spPr>
          <a:xfrm>
            <a:off x="1280160" y="1920240"/>
            <a:ext cx="7315200" cy="640080"/>
          </a:xfrm>
          <a:prstGeom prst="rect">
            <a:avLst/>
          </a:prstGeom>
          <a:noFill/>
          <a:ln/>
        </p:spPr>
        <p:txBody>
          <a:bodyPr wrap="square" lIns="0" tIns="0" rIns="0" bIns="0" rtlCol="0" anchor="ctr"/>
          <a:lstStyle/>
          <a:p>
            <a:pPr marL="0" indent="0">
              <a:buNone/>
            </a:pPr>
            <a:r>
              <a:rPr lang="en-US" sz="1800" b="1" dirty="0">
                <a:solidFill>
                  <a:schemeClr val="tx1"/>
                </a:solidFill>
              </a:rPr>
              <a:t>Push.</a:t>
            </a:r>
            <a:endParaRPr lang="en-US" sz="1800" dirty="0"/>
          </a:p>
        </p:txBody>
      </p:sp>
      <p:sp>
        <p:nvSpPr>
          <p:cNvPr id="10" name="badge 3"/>
          <p:cNvSpPr/>
          <p:nvPr/>
        </p:nvSpPr>
        <p:spPr>
          <a:xfrm>
            <a:off x="548640" y="2651760"/>
            <a:ext cx="502920" cy="502920"/>
          </a:xfrm>
          <a:prstGeom prst="ellipse">
            <a:avLst/>
          </a:prstGeom>
          <a:solidFill>
            <a:schemeClr val="accent1"/>
          </a:solidFill>
          <a:ln/>
        </p:spPr>
        <p:txBody>
          <a:bodyPr/>
          <a:lstStyle/>
          <a:p>
            <a:endParaRPr lang="en-US"/>
          </a:p>
        </p:txBody>
      </p:sp>
      <p:sp>
        <p:nvSpPr>
          <p:cNvPr id="11" name="Text 8"/>
          <p:cNvSpPr txBox="1"/>
          <p:nvPr/>
        </p:nvSpPr>
        <p:spPr>
          <a:xfrm>
            <a:off x="548640" y="2651760"/>
            <a:ext cx="502920" cy="50292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2" name="Text 9"/>
          <p:cNvSpPr txBox="1"/>
          <p:nvPr/>
        </p:nvSpPr>
        <p:spPr>
          <a:xfrm>
            <a:off x="1280160" y="2606040"/>
            <a:ext cx="7315200" cy="640080"/>
          </a:xfrm>
          <a:prstGeom prst="rect">
            <a:avLst/>
          </a:prstGeom>
          <a:noFill/>
          <a:ln/>
        </p:spPr>
        <p:txBody>
          <a:bodyPr wrap="square" lIns="0" tIns="0" rIns="0" bIns="0" rtlCol="0" anchor="ctr"/>
          <a:lstStyle/>
          <a:p>
            <a:pPr marL="0" indent="0">
              <a:buNone/>
            </a:pPr>
            <a:r>
              <a:rPr lang="en-US" sz="1800" b="1" dirty="0">
                <a:solidFill>
                  <a:schemeClr val="tx1"/>
                </a:solidFill>
              </a:rPr>
              <a:t>Look at the run and at the Artifacts.</a:t>
            </a:r>
            <a:endParaRPr lang="en-US" sz="1800" dirty="0"/>
          </a:p>
        </p:txBody>
      </p:sp>
      <p:sp>
        <p:nvSpPr>
          <p:cNvPr id="13" name="fix banner"/>
          <p:cNvSpPr/>
          <p:nvPr/>
        </p:nvSpPr>
        <p:spPr>
          <a:xfrm>
            <a:off x="548640" y="3429000"/>
            <a:ext cx="8046720" cy="1051560"/>
          </a:xfrm>
          <a:prstGeom prst="roundRect">
            <a:avLst>
              <a:gd name="adj" fmla="val 6957"/>
            </a:avLst>
          </a:prstGeom>
          <a:solidFill>
            <a:schemeClr val="tx1"/>
          </a:solidFill>
          <a:ln/>
        </p:spPr>
        <p:txBody>
          <a:bodyPr/>
          <a:lstStyle/>
          <a:p>
            <a:endParaRPr lang="en-US"/>
          </a:p>
        </p:txBody>
      </p:sp>
      <p:sp>
        <p:nvSpPr>
          <p:cNvPr id="14" name="Text 11"/>
          <p:cNvSpPr txBox="1"/>
          <p:nvPr/>
        </p:nvSpPr>
        <p:spPr>
          <a:xfrm>
            <a:off x="822960" y="3429000"/>
            <a:ext cx="7498080" cy="1051560"/>
          </a:xfrm>
          <a:prstGeom prst="rect">
            <a:avLst/>
          </a:prstGeom>
          <a:noFill/>
          <a:ln/>
        </p:spPr>
        <p:txBody>
          <a:bodyPr wrap="square" lIns="0" tIns="0" rIns="0" bIns="0" rtlCol="0" anchor="ctr"/>
          <a:lstStyle/>
          <a:p>
            <a:pPr marL="0" indent="0">
              <a:buNone/>
            </a:pPr>
            <a:r>
              <a:rPr lang="en-US" sz="2600" b="1" dirty="0">
                <a:solidFill>
                  <a:schemeClr val="accent2"/>
                </a:solidFill>
              </a:rPr>
              <a:t>Fix the test and push. </a:t>
            </a:r>
            <a:r>
              <a:rPr lang="en-US" sz="2600" dirty="0">
                <a:solidFill>
                  <a:schemeClr val="bg1"/>
                </a:solidFill>
              </a:rPr>
              <a:t>Step 5 needs a green pytest.</a:t>
            </a:r>
            <a:endParaRPr lang="en-US" sz="2600" dirty="0"/>
          </a:p>
        </p:txBody>
      </p:sp>
      <p:sp>
        <p:nvSpPr>
          <p:cNvPr id="15"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16" name="Text 13"/>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5: scan with Bandit</a:t>
            </a:r>
            <a:endParaRPr lang="en-US" sz="3400" dirty="0"/>
          </a:p>
        </p:txBody>
      </p:sp>
      <p:sp>
        <p:nvSpPr>
          <p:cNvPr id="4" name="requirement"/>
          <p:cNvSpPr/>
          <p:nvPr/>
        </p:nvSpPr>
        <p:spPr>
          <a:xfrm>
            <a:off x="548640" y="1280160"/>
            <a:ext cx="8046720" cy="2743200"/>
          </a:xfrm>
          <a:prstGeom prst="roundRect">
            <a:avLst>
              <a:gd name="adj" fmla="val 2667"/>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requirement bar"/>
          <p:cNvSpPr/>
          <p:nvPr/>
        </p:nvSpPr>
        <p:spPr>
          <a:xfrm>
            <a:off x="548640" y="1280160"/>
            <a:ext cx="91440" cy="2743200"/>
          </a:xfrm>
          <a:prstGeom prst="rect">
            <a:avLst/>
          </a:prstGeom>
          <a:solidFill>
            <a:schemeClr val="accent1"/>
          </a:solidFill>
          <a:ln/>
        </p:spPr>
        <p:txBody>
          <a:bodyPr/>
          <a:lstStyle/>
          <a:p>
            <a:endParaRPr lang="en-US"/>
          </a:p>
        </p:txBody>
      </p:sp>
      <p:sp>
        <p:nvSpPr>
          <p:cNvPr id="6" name="Text 3"/>
          <p:cNvSpPr txBox="1"/>
          <p:nvPr/>
        </p:nvSpPr>
        <p:spPr>
          <a:xfrm>
            <a:off x="914400" y="1371600"/>
            <a:ext cx="7498080" cy="2560320"/>
          </a:xfrm>
          <a:prstGeom prst="rect">
            <a:avLst/>
          </a:prstGeom>
          <a:noFill/>
          <a:ln/>
        </p:spPr>
        <p:txBody>
          <a:bodyPr wrap="square" lIns="0" tIns="0" rIns="0" bIns="0" rtlCol="0" anchor="ctr"/>
          <a:lstStyle/>
          <a:p>
            <a:pPr marL="0" indent="0">
              <a:buNone/>
            </a:pPr>
            <a:r>
              <a:rPr lang="en-US" sz="2200" dirty="0">
                <a:solidFill>
                  <a:schemeClr val="tx1"/>
                </a:solidFill>
              </a:rPr>
              <a:t>Step 5. Scan each service with Bandit and write an HTML report. Upload it as an artifact with a per-leg name, the same pattern as step 4. The scan must not fail the job.</a:t>
            </a:r>
            <a:endParaRPr lang="en-US" sz="22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Clue: the Bandit command</a:t>
            </a:r>
            <a:endParaRPr lang="en-US" sz="3400" dirty="0"/>
          </a:p>
        </p:txBody>
      </p:sp>
      <p:sp>
        <p:nvSpPr>
          <p:cNvPr id="4" name="code panel"/>
          <p:cNvSpPr/>
          <p:nvPr/>
        </p:nvSpPr>
        <p:spPr>
          <a:xfrm>
            <a:off x="548640" y="1463040"/>
            <a:ext cx="8046720" cy="1371600"/>
          </a:xfrm>
          <a:prstGeom prst="roundRect">
            <a:avLst>
              <a:gd name="adj" fmla="val 5333"/>
            </a:avLst>
          </a:prstGeom>
          <a:solidFill>
            <a:schemeClr val="tx1"/>
          </a:solidFill>
          <a:ln/>
        </p:spPr>
        <p:txBody>
          <a:bodyPr/>
          <a:lstStyle/>
          <a:p>
            <a:endParaRPr lang="en-US"/>
          </a:p>
        </p:txBody>
      </p:sp>
      <p:sp>
        <p:nvSpPr>
          <p:cNvPr id="5" name="Text 2"/>
          <p:cNvSpPr txBox="1"/>
          <p:nvPr/>
        </p:nvSpPr>
        <p:spPr>
          <a:xfrm>
            <a:off x="731520" y="1591056"/>
            <a:ext cx="7680960" cy="1115568"/>
          </a:xfrm>
          <a:prstGeom prst="rect">
            <a:avLst/>
          </a:prstGeom>
          <a:noFill/>
          <a:ln/>
        </p:spPr>
        <p:txBody>
          <a:bodyPr wrap="square" lIns="0" tIns="0" rIns="0" bIns="0" rtlCol="0" anchor="ctr"/>
          <a:lstStyle/>
          <a:p>
            <a:pPr marL="0" indent="0">
              <a:lnSpc>
                <a:spcPts val="3900"/>
              </a:lnSpc>
              <a:buNone/>
            </a:pPr>
            <a:r>
              <a:rPr lang="en-US" sz="2600" dirty="0">
                <a:solidFill>
                  <a:schemeClr val="accent1"/>
                </a:solidFill>
                <a:latin typeface="Courier New" pitchFamily="34" charset="0"/>
                <a:ea typeface="Courier New" pitchFamily="34" charset="-122"/>
                <a:cs typeface="Courier New" pitchFamily="34" charset="-120"/>
              </a:rPr>
              <a:t>bandit -r &lt;path&gt; -f html -o &lt;file&gt;</a:t>
            </a:r>
            <a:endParaRPr lang="en-US" sz="2600" dirty="0"/>
          </a:p>
        </p:txBody>
      </p:sp>
      <p:sp>
        <p:nvSpPr>
          <p:cNvPr id="6" name="Text 3"/>
          <p:cNvSpPr txBox="1"/>
          <p:nvPr/>
        </p:nvSpPr>
        <p:spPr>
          <a:xfrm>
            <a:off x="548640" y="3200400"/>
            <a:ext cx="8046720" cy="731520"/>
          </a:xfrm>
          <a:prstGeom prst="rect">
            <a:avLst/>
          </a:prstGeom>
          <a:noFill/>
          <a:ln/>
        </p:spPr>
        <p:txBody>
          <a:bodyPr wrap="square" lIns="0" tIns="0" rIns="0" bIns="0" rtlCol="0" anchor="ctr"/>
          <a:lstStyle/>
          <a:p>
            <a:pPr marL="0" indent="0">
              <a:buNone/>
            </a:pPr>
            <a:r>
              <a:rPr lang="en-US" sz="2800" b="1" dirty="0">
                <a:solidFill>
                  <a:schemeClr val="tx1"/>
                </a:solidFill>
              </a:rPr>
              <a:t>Bandit is a pip package.</a:t>
            </a:r>
            <a:endParaRPr lang="en-US" sz="28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5: stuck?</a:t>
            </a:r>
            <a:endParaRPr lang="en-US" sz="3400" dirty="0"/>
          </a:p>
        </p:txBody>
      </p:sp>
      <p:sp>
        <p:nvSpPr>
          <p:cNvPr id="4" name="requirement line"/>
          <p:cNvSpPr/>
          <p:nvPr/>
        </p:nvSpPr>
        <p:spPr>
          <a:xfrm>
            <a:off x="548640" y="1097280"/>
            <a:ext cx="8046720" cy="548640"/>
          </a:xfrm>
          <a:prstGeom prst="roundRect">
            <a:avLst>
              <a:gd name="adj" fmla="val 13333"/>
            </a:avLst>
          </a:prstGeom>
          <a:solidFill>
            <a:schemeClr val="tx1"/>
          </a:solidFill>
          <a:ln/>
        </p:spPr>
        <p:txBody>
          <a:bodyPr/>
          <a:lstStyle/>
          <a:p>
            <a:endParaRPr lang="en-US"/>
          </a:p>
        </p:txBody>
      </p:sp>
      <p:sp>
        <p:nvSpPr>
          <p:cNvPr id="5" name="Text 2"/>
          <p:cNvSpPr txBox="1"/>
          <p:nvPr/>
        </p:nvSpPr>
        <p:spPr>
          <a:xfrm>
            <a:off x="777240" y="1097280"/>
            <a:ext cx="7589520" cy="548640"/>
          </a:xfrm>
          <a:prstGeom prst="rect">
            <a:avLst/>
          </a:prstGeom>
          <a:noFill/>
          <a:ln/>
        </p:spPr>
        <p:txBody>
          <a:bodyPr wrap="square" lIns="0" tIns="0" rIns="0" bIns="0" rtlCol="0" anchor="ctr"/>
          <a:lstStyle/>
          <a:p>
            <a:pPr marL="0" indent="0">
              <a:buNone/>
            </a:pPr>
            <a:r>
              <a:rPr lang="en-US" sz="1600" b="1" dirty="0">
                <a:solidFill>
                  <a:schemeClr val="bg1"/>
                </a:solidFill>
              </a:rPr>
              <a:t>Run Bandit per service, upload the HTML report per leg, the scan must not fail the job.</a:t>
            </a:r>
            <a:endParaRPr lang="en-US" sz="1600" dirty="0"/>
          </a:p>
        </p:txBody>
      </p:sp>
      <p:sp>
        <p:nvSpPr>
          <p:cNvPr id="6" name="hint 1"/>
          <p:cNvSpPr/>
          <p:nvPr/>
        </p:nvSpPr>
        <p:spPr>
          <a:xfrm>
            <a:off x="548640" y="1783080"/>
            <a:ext cx="8046720" cy="628650"/>
          </a:xfrm>
          <a:prstGeom prst="roundRect">
            <a:avLst>
              <a:gd name="adj" fmla="val 11636"/>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7" name="badge a"/>
          <p:cNvSpPr/>
          <p:nvPr/>
        </p:nvSpPr>
        <p:spPr>
          <a:xfrm>
            <a:off x="713232" y="1868805"/>
            <a:ext cx="457200" cy="457200"/>
          </a:xfrm>
          <a:prstGeom prst="ellipse">
            <a:avLst/>
          </a:prstGeom>
          <a:solidFill>
            <a:schemeClr val="accent2"/>
          </a:solidFill>
          <a:ln/>
        </p:spPr>
        <p:txBody>
          <a:bodyPr/>
          <a:lstStyle/>
          <a:p>
            <a:endParaRPr lang="en-US"/>
          </a:p>
        </p:txBody>
      </p:sp>
      <p:sp>
        <p:nvSpPr>
          <p:cNvPr id="8" name="Text 5"/>
          <p:cNvSpPr txBox="1"/>
          <p:nvPr/>
        </p:nvSpPr>
        <p:spPr>
          <a:xfrm>
            <a:off x="713232" y="1868805"/>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a</a:t>
            </a:r>
            <a:endParaRPr lang="en-US" sz="2000" dirty="0"/>
          </a:p>
        </p:txBody>
      </p:sp>
      <p:sp>
        <p:nvSpPr>
          <p:cNvPr id="9" name="Text 6"/>
          <p:cNvSpPr txBox="1"/>
          <p:nvPr/>
        </p:nvSpPr>
        <p:spPr>
          <a:xfrm>
            <a:off x="1307592" y="1819656"/>
            <a:ext cx="7132320" cy="555498"/>
          </a:xfrm>
          <a:prstGeom prst="rect">
            <a:avLst/>
          </a:prstGeom>
          <a:noFill/>
          <a:ln/>
        </p:spPr>
        <p:txBody>
          <a:bodyPr wrap="square" lIns="0" tIns="0" rIns="0" bIns="0" rtlCol="0" anchor="ctr"/>
          <a:lstStyle/>
          <a:p>
            <a:pPr marL="0" indent="0">
              <a:buNone/>
            </a:pPr>
            <a:r>
              <a:rPr lang="en-US" sz="1600" dirty="0">
                <a:solidFill>
                  <a:schemeClr val="tx1"/>
                </a:solidFill>
              </a:rPr>
              <a:t>Bandit is a pip package: read </a:t>
            </a:r>
            <a:r>
              <a:rPr lang="en-US" sz="1600" dirty="0">
                <a:solidFill>
                  <a:schemeClr val="tx1"/>
                </a:solidFill>
                <a:latin typeface="Courier New" pitchFamily="34" charset="0"/>
                <a:ea typeface="Courier New" pitchFamily="34" charset="-122"/>
                <a:cs typeface="Courier New" pitchFamily="34" charset="-120"/>
              </a:rPr>
              <a:t>bandit --help</a:t>
            </a:r>
            <a:r>
              <a:rPr lang="en-US" sz="1600" dirty="0">
                <a:solidFill>
                  <a:schemeClr val="tx1"/>
                </a:solidFill>
              </a:rPr>
              <a:t> or its docs.</a:t>
            </a:r>
            <a:endParaRPr lang="en-US" sz="1600" dirty="0"/>
          </a:p>
        </p:txBody>
      </p:sp>
      <p:sp>
        <p:nvSpPr>
          <p:cNvPr id="10" name="hint 2"/>
          <p:cNvSpPr/>
          <p:nvPr/>
        </p:nvSpPr>
        <p:spPr>
          <a:xfrm>
            <a:off x="548640" y="2503170"/>
            <a:ext cx="8046720" cy="628650"/>
          </a:xfrm>
          <a:prstGeom prst="roundRect">
            <a:avLst>
              <a:gd name="adj" fmla="val 11636"/>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1" name="badge b"/>
          <p:cNvSpPr/>
          <p:nvPr/>
        </p:nvSpPr>
        <p:spPr>
          <a:xfrm>
            <a:off x="713232" y="2588895"/>
            <a:ext cx="457200" cy="457200"/>
          </a:xfrm>
          <a:prstGeom prst="ellipse">
            <a:avLst/>
          </a:prstGeom>
          <a:solidFill>
            <a:schemeClr val="accent2"/>
          </a:solidFill>
          <a:ln/>
        </p:spPr>
        <p:txBody>
          <a:bodyPr/>
          <a:lstStyle/>
          <a:p>
            <a:endParaRPr lang="en-US"/>
          </a:p>
        </p:txBody>
      </p:sp>
      <p:sp>
        <p:nvSpPr>
          <p:cNvPr id="12" name="Text 9"/>
          <p:cNvSpPr txBox="1"/>
          <p:nvPr/>
        </p:nvSpPr>
        <p:spPr>
          <a:xfrm>
            <a:off x="713232" y="2588895"/>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b</a:t>
            </a:r>
            <a:endParaRPr lang="en-US" sz="2000" dirty="0"/>
          </a:p>
        </p:txBody>
      </p:sp>
      <p:sp>
        <p:nvSpPr>
          <p:cNvPr id="13" name="Text 10"/>
          <p:cNvSpPr txBox="1"/>
          <p:nvPr/>
        </p:nvSpPr>
        <p:spPr>
          <a:xfrm>
            <a:off x="1307592" y="2539746"/>
            <a:ext cx="7132320" cy="555498"/>
          </a:xfrm>
          <a:prstGeom prst="rect">
            <a:avLst/>
          </a:prstGeom>
          <a:noFill/>
          <a:ln/>
        </p:spPr>
        <p:txBody>
          <a:bodyPr wrap="square" lIns="0" tIns="0" rIns="0" bIns="0" rtlCol="0" anchor="ctr"/>
          <a:lstStyle/>
          <a:p>
            <a:pPr marL="0" indent="0">
              <a:buNone/>
            </a:pPr>
            <a:r>
              <a:rPr lang="en-US" sz="1600" dirty="0">
                <a:solidFill>
                  <a:schemeClr val="tx1"/>
                </a:solidFill>
              </a:rPr>
              <a:t>The flag shape: </a:t>
            </a:r>
            <a:r>
              <a:rPr lang="en-US" sz="1600" dirty="0">
                <a:solidFill>
                  <a:schemeClr val="tx1"/>
                </a:solidFill>
                <a:latin typeface="Courier New" pitchFamily="34" charset="0"/>
                <a:ea typeface="Courier New" pitchFamily="34" charset="-122"/>
                <a:cs typeface="Courier New" pitchFamily="34" charset="-120"/>
              </a:rPr>
              <a:t>-r</a:t>
            </a:r>
            <a:r>
              <a:rPr lang="en-US" sz="1600" dirty="0">
                <a:solidFill>
                  <a:schemeClr val="tx1"/>
                </a:solidFill>
              </a:rPr>
              <a:t> path, </a:t>
            </a:r>
            <a:r>
              <a:rPr lang="en-US" sz="1600" dirty="0">
                <a:solidFill>
                  <a:schemeClr val="tx1"/>
                </a:solidFill>
                <a:latin typeface="Courier New" pitchFamily="34" charset="0"/>
                <a:ea typeface="Courier New" pitchFamily="34" charset="-122"/>
                <a:cs typeface="Courier New" pitchFamily="34" charset="-120"/>
              </a:rPr>
              <a:t>-f html</a:t>
            </a:r>
            <a:r>
              <a:rPr lang="en-US" sz="1600" dirty="0">
                <a:solidFill>
                  <a:schemeClr val="tx1"/>
                </a:solidFill>
              </a:rPr>
              <a:t>, </a:t>
            </a:r>
            <a:r>
              <a:rPr lang="en-US" sz="1600" dirty="0">
                <a:solidFill>
                  <a:schemeClr val="tx1"/>
                </a:solidFill>
                <a:latin typeface="Courier New" pitchFamily="34" charset="0"/>
                <a:ea typeface="Courier New" pitchFamily="34" charset="-122"/>
                <a:cs typeface="Courier New" pitchFamily="34" charset="-120"/>
              </a:rPr>
              <a:t>-o</a:t>
            </a:r>
            <a:r>
              <a:rPr lang="en-US" sz="1600" dirty="0">
                <a:solidFill>
                  <a:schemeClr val="tx1"/>
                </a:solidFill>
              </a:rPr>
              <a:t> file.</a:t>
            </a:r>
            <a:endParaRPr lang="en-US" sz="1600" dirty="0"/>
          </a:p>
        </p:txBody>
      </p:sp>
      <p:sp>
        <p:nvSpPr>
          <p:cNvPr id="14" name="hint 3"/>
          <p:cNvSpPr/>
          <p:nvPr/>
        </p:nvSpPr>
        <p:spPr>
          <a:xfrm>
            <a:off x="548640" y="3223260"/>
            <a:ext cx="8046720" cy="628650"/>
          </a:xfrm>
          <a:prstGeom prst="roundRect">
            <a:avLst>
              <a:gd name="adj" fmla="val 11636"/>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5" name="badge c"/>
          <p:cNvSpPr/>
          <p:nvPr/>
        </p:nvSpPr>
        <p:spPr>
          <a:xfrm>
            <a:off x="713232" y="3308985"/>
            <a:ext cx="457200" cy="457200"/>
          </a:xfrm>
          <a:prstGeom prst="ellipse">
            <a:avLst/>
          </a:prstGeom>
          <a:solidFill>
            <a:schemeClr val="accent2"/>
          </a:solidFill>
          <a:ln/>
        </p:spPr>
        <p:txBody>
          <a:bodyPr/>
          <a:lstStyle/>
          <a:p>
            <a:endParaRPr lang="en-US"/>
          </a:p>
        </p:txBody>
      </p:sp>
      <p:sp>
        <p:nvSpPr>
          <p:cNvPr id="16" name="Text 13"/>
          <p:cNvSpPr txBox="1"/>
          <p:nvPr/>
        </p:nvSpPr>
        <p:spPr>
          <a:xfrm>
            <a:off x="713232" y="3308985"/>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c</a:t>
            </a:r>
            <a:endParaRPr lang="en-US" sz="2000" dirty="0"/>
          </a:p>
        </p:txBody>
      </p:sp>
      <p:sp>
        <p:nvSpPr>
          <p:cNvPr id="17" name="Text 14"/>
          <p:cNvSpPr txBox="1"/>
          <p:nvPr/>
        </p:nvSpPr>
        <p:spPr>
          <a:xfrm>
            <a:off x="1307592" y="3259836"/>
            <a:ext cx="7132320" cy="555498"/>
          </a:xfrm>
          <a:prstGeom prst="rect">
            <a:avLst/>
          </a:prstGeom>
          <a:noFill/>
          <a:ln/>
        </p:spPr>
        <p:txBody>
          <a:bodyPr wrap="square" lIns="0" tIns="0" rIns="0" bIns="0" rtlCol="0" anchor="ctr"/>
          <a:lstStyle/>
          <a:p>
            <a:pPr marL="0" indent="0">
              <a:buNone/>
            </a:pPr>
            <a:r>
              <a:rPr lang="en-US" sz="1600" dirty="0">
                <a:solidFill>
                  <a:schemeClr val="tx1"/>
                </a:solidFill>
              </a:rPr>
              <a:t>What does Bandit exit with when it finds something? Which step setting lets a step fail without failing the job?</a:t>
            </a:r>
            <a:endParaRPr lang="en-US" sz="1600" dirty="0"/>
          </a:p>
        </p:txBody>
      </p:sp>
      <p:sp>
        <p:nvSpPr>
          <p:cNvPr id="18" name="hint 4"/>
          <p:cNvSpPr/>
          <p:nvPr/>
        </p:nvSpPr>
        <p:spPr>
          <a:xfrm>
            <a:off x="548640" y="3943350"/>
            <a:ext cx="8046720" cy="628650"/>
          </a:xfrm>
          <a:prstGeom prst="roundRect">
            <a:avLst>
              <a:gd name="adj" fmla="val 11636"/>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9" name="badge d"/>
          <p:cNvSpPr/>
          <p:nvPr/>
        </p:nvSpPr>
        <p:spPr>
          <a:xfrm>
            <a:off x="713232" y="4029075"/>
            <a:ext cx="457200" cy="457200"/>
          </a:xfrm>
          <a:prstGeom prst="ellipse">
            <a:avLst/>
          </a:prstGeom>
          <a:solidFill>
            <a:schemeClr val="accent2"/>
          </a:solidFill>
          <a:ln/>
        </p:spPr>
        <p:txBody>
          <a:bodyPr/>
          <a:lstStyle/>
          <a:p>
            <a:endParaRPr lang="en-US"/>
          </a:p>
        </p:txBody>
      </p:sp>
      <p:sp>
        <p:nvSpPr>
          <p:cNvPr id="20" name="Text 17"/>
          <p:cNvSpPr txBox="1"/>
          <p:nvPr/>
        </p:nvSpPr>
        <p:spPr>
          <a:xfrm>
            <a:off x="713232" y="4029075"/>
            <a:ext cx="457200" cy="457200"/>
          </a:xfrm>
          <a:prstGeom prst="rect">
            <a:avLst/>
          </a:prstGeom>
          <a:noFill/>
          <a:ln/>
        </p:spPr>
        <p:txBody>
          <a:bodyPr wrap="square" lIns="0" tIns="0" rIns="0" bIns="0" rtlCol="0" anchor="ctr"/>
          <a:lstStyle/>
          <a:p>
            <a:pPr marL="0" indent="0" algn="ctr">
              <a:buNone/>
            </a:pPr>
            <a:r>
              <a:rPr lang="en-US" sz="2000" b="1" dirty="0">
                <a:solidFill>
                  <a:schemeClr val="bg1"/>
                </a:solidFill>
              </a:rPr>
              <a:t>d</a:t>
            </a:r>
            <a:endParaRPr lang="en-US" sz="2000" dirty="0"/>
          </a:p>
        </p:txBody>
      </p:sp>
      <p:sp>
        <p:nvSpPr>
          <p:cNvPr id="21" name="Text 18"/>
          <p:cNvSpPr txBox="1"/>
          <p:nvPr/>
        </p:nvSpPr>
        <p:spPr>
          <a:xfrm>
            <a:off x="1307592" y="3979926"/>
            <a:ext cx="7132320" cy="555498"/>
          </a:xfrm>
          <a:prstGeom prst="rect">
            <a:avLst/>
          </a:prstGeom>
          <a:noFill/>
          <a:ln/>
        </p:spPr>
        <p:txBody>
          <a:bodyPr wrap="square" lIns="0" tIns="0" rIns="0" bIns="0" rtlCol="0" anchor="ctr"/>
          <a:lstStyle/>
          <a:p>
            <a:pPr marL="0" indent="0">
              <a:buNone/>
            </a:pPr>
            <a:r>
              <a:rPr lang="en-US" sz="1600" dirty="0">
                <a:solidFill>
                  <a:schemeClr val="tx1"/>
                </a:solidFill>
              </a:rPr>
              <a:t>Same upload pattern as step 4, with a different name.</a:t>
            </a:r>
            <a:endParaRPr lang="en-US" sz="1600" dirty="0"/>
          </a:p>
        </p:txBody>
      </p:sp>
      <p:sp>
        <p:nvSpPr>
          <p:cNvPr id="22"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23" name="Text 20"/>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Step 5: answer</a:t>
            </a:r>
            <a:endParaRPr lang="en-US" sz="3400" dirty="0"/>
          </a:p>
        </p:txBody>
      </p:sp>
      <p:sp>
        <p:nvSpPr>
          <p:cNvPr id="4" name="code panel"/>
          <p:cNvSpPr/>
          <p:nvPr/>
        </p:nvSpPr>
        <p:spPr>
          <a:xfrm>
            <a:off x="274320" y="1143000"/>
            <a:ext cx="8595360" cy="3154680"/>
          </a:xfrm>
          <a:prstGeom prst="roundRect">
            <a:avLst>
              <a:gd name="adj" fmla="val 2319"/>
            </a:avLst>
          </a:prstGeom>
          <a:solidFill>
            <a:schemeClr val="tx1"/>
          </a:solidFill>
          <a:ln/>
        </p:spPr>
        <p:txBody>
          <a:bodyPr/>
          <a:lstStyle/>
          <a:p>
            <a:endParaRPr lang="en-US"/>
          </a:p>
        </p:txBody>
      </p:sp>
      <p:sp>
        <p:nvSpPr>
          <p:cNvPr id="5" name="Text 2"/>
          <p:cNvSpPr txBox="1"/>
          <p:nvPr/>
        </p:nvSpPr>
        <p:spPr>
          <a:xfrm>
            <a:off x="457200" y="1271016"/>
            <a:ext cx="8229600" cy="2898648"/>
          </a:xfrm>
          <a:prstGeom prst="rect">
            <a:avLst/>
          </a:prstGeom>
          <a:noFill/>
          <a:ln/>
        </p:spPr>
        <p:txBody>
          <a:bodyPr wrap="square" lIns="0" tIns="0" rIns="0" bIns="0" rtlCol="0" anchor="t"/>
          <a:lstStyle/>
          <a:p>
            <a:pPr marL="0" indent="0">
              <a:lnSpc>
                <a:spcPts val="1500"/>
              </a:lnSpc>
              <a:buNone/>
            </a:pPr>
            <a:r>
              <a:rPr lang="en-US" sz="1000" dirty="0">
                <a:solidFill>
                  <a:srgbClr val="9DA7B3"/>
                </a:solidFill>
                <a:latin typeface="Courier New" pitchFamily="34" charset="0"/>
                <a:ea typeface="Courier New" pitchFamily="34" charset="-122"/>
                <a:cs typeface="Courier New" pitchFamily="34" charset="-120"/>
              </a:rPr>
              <a:t>      - shell: bash</a:t>
            </a:r>
            <a:endParaRPr lang="en-US" sz="1000" dirty="0"/>
          </a:p>
          <a:p>
            <a:pPr marL="0" indent="0">
              <a:lnSpc>
                <a:spcPts val="1500"/>
              </a:lnSpc>
              <a:buNone/>
            </a:pPr>
            <a:r>
              <a:rPr lang="en-US" sz="1000" dirty="0">
                <a:solidFill>
                  <a:srgbClr val="9DA7B3"/>
                </a:solidFill>
                <a:latin typeface="Courier New" pitchFamily="34" charset="0"/>
                <a:ea typeface="Courier New" pitchFamily="34" charset="-122"/>
                <a:cs typeface="Courier New" pitchFamily="34" charset="-120"/>
              </a:rPr>
              <a:t>        run: pytest -rA services/${{ matrix.service }} | tee ${{ matrix.service }}-test-report.txt</a:t>
            </a:r>
            <a:endParaRPr lang="en-US" sz="1000" dirty="0"/>
          </a:p>
          <a:p>
            <a:pPr marL="0" indent="0">
              <a:lnSpc>
                <a:spcPts val="1500"/>
              </a:lnSpc>
              <a:buNone/>
            </a:pPr>
            <a:r>
              <a:rPr lang="en-US" sz="1000" dirty="0">
                <a:solidFill>
                  <a:srgbClr val="9DA7B3"/>
                </a:solidFill>
                <a:latin typeface="Courier New" pitchFamily="34" charset="0"/>
                <a:ea typeface="Courier New" pitchFamily="34" charset="-122"/>
                <a:cs typeface="Courier New" pitchFamily="34" charset="-120"/>
              </a:rPr>
              <a:t>      - uses: actions/upload-artifact@v7</a:t>
            </a:r>
            <a:endParaRPr lang="en-US" sz="1000" dirty="0"/>
          </a:p>
          <a:p>
            <a:pPr marL="0" indent="0">
              <a:lnSpc>
                <a:spcPts val="1500"/>
              </a:lnSpc>
              <a:buNone/>
            </a:pPr>
            <a:r>
              <a:rPr lang="en-US" sz="1000" dirty="0">
                <a:solidFill>
                  <a:srgbClr val="9DA7B3"/>
                </a:solidFill>
                <a:latin typeface="Courier New" pitchFamily="34" charset="0"/>
                <a:ea typeface="Courier New" pitchFamily="34" charset="-122"/>
                <a:cs typeface="Courier New" pitchFamily="34" charset="-120"/>
              </a:rPr>
              <a:t>        if: always()</a:t>
            </a:r>
            <a:endParaRPr lang="en-US" sz="1000" dirty="0"/>
          </a:p>
          <a:p>
            <a:pPr marL="0" indent="0">
              <a:lnSpc>
                <a:spcPts val="1500"/>
              </a:lnSpc>
              <a:buNone/>
            </a:pPr>
            <a:r>
              <a:rPr lang="en-US" sz="1000" dirty="0">
                <a:solidFill>
                  <a:srgbClr val="9DA7B3"/>
                </a:solidFill>
                <a:latin typeface="Courier New" pitchFamily="34" charset="0"/>
                <a:ea typeface="Courier New" pitchFamily="34" charset="-122"/>
                <a:cs typeface="Courier New" pitchFamily="34" charset="-120"/>
              </a:rPr>
              <a:t>        with:</a:t>
            </a:r>
            <a:endParaRPr lang="en-US" sz="1000" dirty="0"/>
          </a:p>
          <a:p>
            <a:pPr marL="0" indent="0">
              <a:lnSpc>
                <a:spcPts val="1500"/>
              </a:lnSpc>
              <a:buNone/>
            </a:pPr>
            <a:r>
              <a:rPr lang="en-US" sz="1000" dirty="0">
                <a:solidFill>
                  <a:srgbClr val="9DA7B3"/>
                </a:solidFill>
                <a:latin typeface="Courier New" pitchFamily="34" charset="0"/>
                <a:ea typeface="Courier New" pitchFamily="34" charset="-122"/>
                <a:cs typeface="Courier New" pitchFamily="34" charset="-120"/>
              </a:rPr>
              <a:t>          name: ${{ matrix.service }}-test-report</a:t>
            </a:r>
            <a:endParaRPr lang="en-US" sz="1000" dirty="0"/>
          </a:p>
          <a:p>
            <a:pPr marL="0" indent="0">
              <a:lnSpc>
                <a:spcPts val="1500"/>
              </a:lnSpc>
              <a:buNone/>
            </a:pPr>
            <a:r>
              <a:rPr lang="en-US" sz="1000" dirty="0">
                <a:solidFill>
                  <a:srgbClr val="9DA7B3"/>
                </a:solidFill>
                <a:latin typeface="Courier New" pitchFamily="34" charset="0"/>
                <a:ea typeface="Courier New" pitchFamily="34" charset="-122"/>
                <a:cs typeface="Courier New" pitchFamily="34" charset="-120"/>
              </a:rPr>
              <a:t>          path: ${{ matrix.service }}-test-report.txt</a:t>
            </a:r>
            <a:endParaRPr lang="en-US" sz="1000" dirty="0"/>
          </a:p>
          <a:p>
            <a:pPr marL="0" indent="0">
              <a:lnSpc>
                <a:spcPts val="1500"/>
              </a:lnSpc>
              <a:buNone/>
            </a:pPr>
            <a:r>
              <a:rPr lang="en-US" sz="1000" b="1" dirty="0">
                <a:solidFill>
                  <a:schemeClr val="accent1"/>
                </a:solidFill>
                <a:highlight>
                  <a:srgbClr val="1B3A28"/>
                </a:highlight>
                <a:latin typeface="Courier New" pitchFamily="34" charset="0"/>
                <a:ea typeface="Courier New" pitchFamily="34" charset="-122"/>
                <a:cs typeface="Courier New" pitchFamily="34" charset="-120"/>
              </a:rPr>
              <a:t>      - run: pip install bandit</a:t>
            </a:r>
            <a:endParaRPr lang="en-US" sz="1000" dirty="0"/>
          </a:p>
          <a:p>
            <a:pPr marL="0" indent="0">
              <a:lnSpc>
                <a:spcPts val="1500"/>
              </a:lnSpc>
              <a:buNone/>
            </a:pPr>
            <a:r>
              <a:rPr lang="en-US" sz="1000" b="1" dirty="0">
                <a:solidFill>
                  <a:schemeClr val="accent1"/>
                </a:solidFill>
                <a:highlight>
                  <a:srgbClr val="1B3A28"/>
                </a:highlight>
                <a:latin typeface="Courier New" pitchFamily="34" charset="0"/>
                <a:ea typeface="Courier New" pitchFamily="34" charset="-122"/>
                <a:cs typeface="Courier New" pitchFamily="34" charset="-120"/>
              </a:rPr>
              <a:t>      - run: bandit -r services/${{ matrix.service }} -f html -o ${{ matrix.service }}-bandit-report.html</a:t>
            </a:r>
            <a:endParaRPr lang="en-US" sz="1000" dirty="0"/>
          </a:p>
          <a:p>
            <a:pPr marL="0" indent="0">
              <a:lnSpc>
                <a:spcPts val="1500"/>
              </a:lnSpc>
              <a:buNone/>
            </a:pPr>
            <a:r>
              <a:rPr lang="en-US" sz="1000" b="1" dirty="0">
                <a:solidFill>
                  <a:schemeClr val="accent1"/>
                </a:solidFill>
                <a:highlight>
                  <a:srgbClr val="1B3A28"/>
                </a:highlight>
                <a:latin typeface="Courier New" pitchFamily="34" charset="0"/>
                <a:ea typeface="Courier New" pitchFamily="34" charset="-122"/>
                <a:cs typeface="Courier New" pitchFamily="34" charset="-120"/>
              </a:rPr>
              <a:t>        continue-on-error: true</a:t>
            </a:r>
            <a:endParaRPr lang="en-US" sz="1000" dirty="0"/>
          </a:p>
          <a:p>
            <a:pPr marL="0" indent="0">
              <a:lnSpc>
                <a:spcPts val="1500"/>
              </a:lnSpc>
              <a:buNone/>
            </a:pPr>
            <a:r>
              <a:rPr lang="en-US" sz="1000" b="1" dirty="0">
                <a:solidFill>
                  <a:schemeClr val="accent1"/>
                </a:solidFill>
                <a:highlight>
                  <a:srgbClr val="1B3A28"/>
                </a:highlight>
                <a:latin typeface="Courier New" pitchFamily="34" charset="0"/>
                <a:ea typeface="Courier New" pitchFamily="34" charset="-122"/>
                <a:cs typeface="Courier New" pitchFamily="34" charset="-120"/>
              </a:rPr>
              <a:t>      - uses: actions/upload-artifact@v7</a:t>
            </a:r>
            <a:endParaRPr lang="en-US" sz="1000" dirty="0"/>
          </a:p>
          <a:p>
            <a:pPr marL="0" indent="0">
              <a:lnSpc>
                <a:spcPts val="1500"/>
              </a:lnSpc>
              <a:buNone/>
            </a:pPr>
            <a:r>
              <a:rPr lang="en-US" sz="1000" b="1" dirty="0">
                <a:solidFill>
                  <a:schemeClr val="accent1"/>
                </a:solidFill>
                <a:highlight>
                  <a:srgbClr val="1B3A28"/>
                </a:highlight>
                <a:latin typeface="Courier New" pitchFamily="34" charset="0"/>
                <a:ea typeface="Courier New" pitchFamily="34" charset="-122"/>
                <a:cs typeface="Courier New" pitchFamily="34" charset="-120"/>
              </a:rPr>
              <a:t>        with:</a:t>
            </a:r>
            <a:endParaRPr lang="en-US" sz="1000" dirty="0"/>
          </a:p>
          <a:p>
            <a:pPr marL="0" indent="0">
              <a:lnSpc>
                <a:spcPts val="1500"/>
              </a:lnSpc>
              <a:buNone/>
            </a:pPr>
            <a:r>
              <a:rPr lang="en-US" sz="1000" b="1" dirty="0">
                <a:solidFill>
                  <a:schemeClr val="accent1"/>
                </a:solidFill>
                <a:highlight>
                  <a:srgbClr val="1B3A28"/>
                </a:highlight>
                <a:latin typeface="Courier New" pitchFamily="34" charset="0"/>
                <a:ea typeface="Courier New" pitchFamily="34" charset="-122"/>
                <a:cs typeface="Courier New" pitchFamily="34" charset="-120"/>
              </a:rPr>
              <a:t>          name: ${{ matrix.service }}-bandit-report</a:t>
            </a:r>
            <a:endParaRPr lang="en-US" sz="1000" dirty="0"/>
          </a:p>
          <a:p>
            <a:pPr marL="0" indent="0">
              <a:lnSpc>
                <a:spcPts val="1500"/>
              </a:lnSpc>
              <a:buNone/>
            </a:pPr>
            <a:r>
              <a:rPr lang="en-US" sz="1000" b="1" dirty="0">
                <a:solidFill>
                  <a:schemeClr val="accent1"/>
                </a:solidFill>
                <a:highlight>
                  <a:srgbClr val="1B3A28"/>
                </a:highlight>
                <a:latin typeface="Courier New" pitchFamily="34" charset="0"/>
                <a:ea typeface="Courier New" pitchFamily="34" charset="-122"/>
                <a:cs typeface="Courier New" pitchFamily="34" charset="-120"/>
              </a:rPr>
              <a:t>          path: ${{ matrix.service }}-bandit-report.html</a:t>
            </a:r>
            <a:endParaRPr lang="en-US" sz="1000" dirty="0"/>
          </a:p>
        </p:txBody>
      </p:sp>
      <p:sp>
        <p:nvSpPr>
          <p:cNvPr id="6" name="Text 3"/>
          <p:cNvSpPr txBox="1"/>
          <p:nvPr/>
        </p:nvSpPr>
        <p:spPr>
          <a:xfrm>
            <a:off x="548640" y="4334256"/>
            <a:ext cx="5486400" cy="256032"/>
          </a:xfrm>
          <a:prstGeom prst="rect">
            <a:avLst/>
          </a:prstGeom>
          <a:noFill/>
          <a:ln/>
        </p:spPr>
        <p:txBody>
          <a:bodyPr wrap="square" lIns="0" tIns="0" rIns="0" bIns="0" rtlCol="0" anchor="t"/>
          <a:lstStyle/>
          <a:p>
            <a:pPr marL="0" indent="0">
              <a:buNone/>
            </a:pPr>
            <a:r>
              <a:rPr lang="en-US" sz="1300" b="1" dirty="0">
                <a:solidFill>
                  <a:schemeClr val="accent1"/>
                </a:solidFill>
              </a:rPr>
              <a:t>Green lines are new or changed.</a:t>
            </a:r>
            <a:endParaRPr lang="en-US" sz="1300" dirty="0"/>
          </a:p>
        </p:txBody>
      </p:sp>
      <p:sp>
        <p:nvSpPr>
          <p:cNvPr id="7" name="help rule"/>
          <p:cNvSpPr/>
          <p:nvPr/>
        </p:nvSpPr>
        <p:spPr>
          <a:xfrm>
            <a:off x="548640" y="4645152"/>
            <a:ext cx="7680960" cy="329184"/>
          </a:xfrm>
          <a:prstGeom prst="roundRect">
            <a:avLst>
              <a:gd name="adj" fmla="val 22222"/>
            </a:avLst>
          </a:prstGeom>
          <a:solidFill>
            <a:schemeClr val="bg2"/>
          </a:solidFill>
          <a:ln/>
        </p:spPr>
        <p:txBody>
          <a:bodyPr/>
          <a:lstStyle/>
          <a:p>
            <a:endParaRPr lang="en-US"/>
          </a:p>
        </p:txBody>
      </p:sp>
      <p:sp>
        <p:nvSpPr>
          <p:cNvPr id="8" name="Text 5"/>
          <p:cNvSpPr txBox="1"/>
          <p:nvPr/>
        </p:nvSpPr>
        <p:spPr>
          <a:xfrm>
            <a:off x="731520" y="4645152"/>
            <a:ext cx="7315200" cy="329184"/>
          </a:xfrm>
          <a:prstGeom prst="rect">
            <a:avLst/>
          </a:prstGeom>
          <a:noFill/>
          <a:ln/>
        </p:spPr>
        <p:txBody>
          <a:bodyPr wrap="square" lIns="0" tIns="0" rIns="0" bIns="0" rtlCol="0" anchor="ctr"/>
          <a:lstStyle/>
          <a:p>
            <a:pPr marL="0" indent="0">
              <a:buNone/>
            </a:pPr>
            <a:r>
              <a:rPr lang="en-US" sz="1400" b="1" dirty="0">
                <a:solidFill>
                  <a:schemeClr val="accent6"/>
                </a:solidFill>
              </a:rPr>
              <a:t>Need help?  </a:t>
            </a:r>
            <a:r>
              <a:rPr lang="en-US" sz="1400" b="1" dirty="0">
                <a:solidFill>
                  <a:schemeClr val="tx1"/>
                </a:solidFill>
              </a:rPr>
              <a:t>your own earlier steps  →  GitHub Docs  →  raise your hand</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always() or continue-on-error</a:t>
            </a:r>
            <a:endParaRPr lang="en-US" sz="3400" dirty="0"/>
          </a:p>
        </p:txBody>
      </p:sp>
      <p:sp>
        <p:nvSpPr>
          <p:cNvPr id="4" name="always()"/>
          <p:cNvSpPr/>
          <p:nvPr/>
        </p:nvSpPr>
        <p:spPr>
          <a:xfrm>
            <a:off x="548640" y="1371600"/>
            <a:ext cx="3931920" cy="3017520"/>
          </a:xfrm>
          <a:prstGeom prst="roundRect">
            <a:avLst>
              <a:gd name="adj" fmla="val 2424"/>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Text 2"/>
          <p:cNvSpPr txBox="1"/>
          <p:nvPr/>
        </p:nvSpPr>
        <p:spPr>
          <a:xfrm>
            <a:off x="822960" y="1554480"/>
            <a:ext cx="3383280" cy="548640"/>
          </a:xfrm>
          <a:prstGeom prst="rect">
            <a:avLst/>
          </a:prstGeom>
          <a:noFill/>
          <a:ln/>
        </p:spPr>
        <p:txBody>
          <a:bodyPr wrap="square" lIns="0" tIns="0" rIns="0" bIns="0" rtlCol="0" anchor="ctr"/>
          <a:lstStyle/>
          <a:p>
            <a:pPr marL="0" indent="0">
              <a:buNone/>
            </a:pPr>
            <a:r>
              <a:rPr lang="en-US" sz="2400" b="1" dirty="0">
                <a:solidFill>
                  <a:srgbClr val="D1242F"/>
                </a:solidFill>
                <a:latin typeface="Courier New" pitchFamily="34" charset="0"/>
                <a:ea typeface="Courier New" pitchFamily="34" charset="-122"/>
                <a:cs typeface="Courier New" pitchFamily="34" charset="-120"/>
              </a:rPr>
              <a:t>always()</a:t>
            </a:r>
            <a:endParaRPr lang="en-US" sz="2400" dirty="0"/>
          </a:p>
        </p:txBody>
      </p:sp>
      <p:sp>
        <p:nvSpPr>
          <p:cNvPr id="6" name="Text 3"/>
          <p:cNvSpPr txBox="1"/>
          <p:nvPr/>
        </p:nvSpPr>
        <p:spPr>
          <a:xfrm>
            <a:off x="822960" y="2377440"/>
            <a:ext cx="3383280" cy="914400"/>
          </a:xfrm>
          <a:prstGeom prst="rect">
            <a:avLst/>
          </a:prstGeom>
          <a:noFill/>
          <a:ln/>
        </p:spPr>
        <p:txBody>
          <a:bodyPr wrap="square" lIns="0" tIns="0" rIns="0" bIns="0" rtlCol="0" anchor="t"/>
          <a:lstStyle/>
          <a:p>
            <a:pPr marL="0" indent="0">
              <a:buNone/>
            </a:pPr>
            <a:r>
              <a:rPr lang="en-US" sz="2200" dirty="0">
                <a:solidFill>
                  <a:schemeClr val="tx1"/>
                </a:solidFill>
              </a:rPr>
              <a:t>Runs the step even after an earlier step failed.</a:t>
            </a:r>
            <a:endParaRPr lang="en-US" sz="2200" dirty="0"/>
          </a:p>
        </p:txBody>
      </p:sp>
      <p:sp>
        <p:nvSpPr>
          <p:cNvPr id="7" name="Text 4"/>
          <p:cNvSpPr txBox="1"/>
          <p:nvPr/>
        </p:nvSpPr>
        <p:spPr>
          <a:xfrm>
            <a:off x="822960" y="3474720"/>
            <a:ext cx="3383280" cy="731520"/>
          </a:xfrm>
          <a:prstGeom prst="rect">
            <a:avLst/>
          </a:prstGeom>
          <a:noFill/>
          <a:ln/>
        </p:spPr>
        <p:txBody>
          <a:bodyPr wrap="square" lIns="0" tIns="0" rIns="0" bIns="0" rtlCol="0" anchor="t"/>
          <a:lstStyle/>
          <a:p>
            <a:pPr marL="0" indent="0">
              <a:buNone/>
            </a:pPr>
            <a:r>
              <a:rPr lang="en-US" sz="2400" b="1" dirty="0">
                <a:solidFill>
                  <a:srgbClr val="D1242F"/>
                </a:solidFill>
              </a:rPr>
              <a:t>The job still ends red.</a:t>
            </a:r>
            <a:endParaRPr lang="en-US" sz="2400" dirty="0"/>
          </a:p>
        </p:txBody>
      </p:sp>
      <p:sp>
        <p:nvSpPr>
          <p:cNvPr id="8" name="continue-on-error: true"/>
          <p:cNvSpPr/>
          <p:nvPr/>
        </p:nvSpPr>
        <p:spPr>
          <a:xfrm>
            <a:off x="4663440" y="1371600"/>
            <a:ext cx="3931920" cy="3017520"/>
          </a:xfrm>
          <a:prstGeom prst="roundRect">
            <a:avLst>
              <a:gd name="adj" fmla="val 2424"/>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9" name="Text 6"/>
          <p:cNvSpPr txBox="1"/>
          <p:nvPr/>
        </p:nvSpPr>
        <p:spPr>
          <a:xfrm>
            <a:off x="4937760" y="1554480"/>
            <a:ext cx="3383280" cy="548640"/>
          </a:xfrm>
          <a:prstGeom prst="rect">
            <a:avLst/>
          </a:prstGeom>
          <a:noFill/>
          <a:ln/>
        </p:spPr>
        <p:txBody>
          <a:bodyPr wrap="square" lIns="0" tIns="0" rIns="0" bIns="0" rtlCol="0" anchor="ctr"/>
          <a:lstStyle/>
          <a:p>
            <a:pPr marL="0" indent="0">
              <a:buNone/>
            </a:pPr>
            <a:r>
              <a:rPr lang="en-US" sz="1800" b="1" dirty="0">
                <a:solidFill>
                  <a:srgbClr val="2EA043"/>
                </a:solidFill>
                <a:latin typeface="Courier New" pitchFamily="34" charset="0"/>
                <a:ea typeface="Courier New" pitchFamily="34" charset="-122"/>
                <a:cs typeface="Courier New" pitchFamily="34" charset="-120"/>
              </a:rPr>
              <a:t>continue-on-error: true</a:t>
            </a:r>
            <a:endParaRPr lang="en-US" sz="1800" dirty="0"/>
          </a:p>
        </p:txBody>
      </p:sp>
      <p:sp>
        <p:nvSpPr>
          <p:cNvPr id="10" name="Text 7"/>
          <p:cNvSpPr txBox="1"/>
          <p:nvPr/>
        </p:nvSpPr>
        <p:spPr>
          <a:xfrm>
            <a:off x="4937760" y="2377440"/>
            <a:ext cx="3383280" cy="914400"/>
          </a:xfrm>
          <a:prstGeom prst="rect">
            <a:avLst/>
          </a:prstGeom>
          <a:noFill/>
          <a:ln/>
        </p:spPr>
        <p:txBody>
          <a:bodyPr wrap="square" lIns="0" tIns="0" rIns="0" bIns="0" rtlCol="0" anchor="t"/>
          <a:lstStyle/>
          <a:p>
            <a:pPr marL="0" indent="0">
              <a:buNone/>
            </a:pPr>
            <a:r>
              <a:rPr lang="en-US" sz="2200" dirty="0">
                <a:solidFill>
                  <a:schemeClr val="tx1"/>
                </a:solidFill>
              </a:rPr>
              <a:t>Lets the step fail.</a:t>
            </a:r>
            <a:endParaRPr lang="en-US" sz="2200" dirty="0"/>
          </a:p>
        </p:txBody>
      </p:sp>
      <p:sp>
        <p:nvSpPr>
          <p:cNvPr id="11" name="Text 8"/>
          <p:cNvSpPr txBox="1"/>
          <p:nvPr/>
        </p:nvSpPr>
        <p:spPr>
          <a:xfrm>
            <a:off x="4937760" y="3474720"/>
            <a:ext cx="3383280" cy="731520"/>
          </a:xfrm>
          <a:prstGeom prst="rect">
            <a:avLst/>
          </a:prstGeom>
          <a:noFill/>
          <a:ln/>
        </p:spPr>
        <p:txBody>
          <a:bodyPr wrap="square" lIns="0" tIns="0" rIns="0" bIns="0" rtlCol="0" anchor="t"/>
          <a:lstStyle/>
          <a:p>
            <a:pPr marL="0" indent="0">
              <a:buNone/>
            </a:pPr>
            <a:r>
              <a:rPr lang="en-US" sz="2400" b="1" dirty="0">
                <a:solidFill>
                  <a:srgbClr val="2EA043"/>
                </a:solidFill>
              </a:rPr>
              <a:t>The job stays green.</a:t>
            </a:r>
            <a:endParaRPr lang="en-US" sz="2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bg1"/>
                </a:solidFill>
              </a:rPr>
              <a:t>What it costs</a:t>
            </a:r>
            <a:endParaRPr lang="en-US" sz="3400" dirty="0"/>
          </a:p>
        </p:txBody>
      </p:sp>
      <p:sp>
        <p:nvSpPr>
          <p:cNvPr id="4" name="Text 1"/>
          <p:cNvSpPr txBox="1"/>
          <p:nvPr/>
        </p:nvSpPr>
        <p:spPr>
          <a:xfrm>
            <a:off x="731520" y="1463040"/>
            <a:ext cx="7680960" cy="2194560"/>
          </a:xfrm>
          <a:prstGeom prst="rect">
            <a:avLst/>
          </a:prstGeom>
          <a:noFill/>
          <a:ln/>
        </p:spPr>
        <p:txBody>
          <a:bodyPr wrap="square" lIns="0" tIns="0" rIns="0" bIns="0" rtlCol="0" anchor="ctr"/>
          <a:lstStyle/>
          <a:p>
            <a:pPr marL="0" indent="0">
              <a:buNone/>
            </a:pPr>
            <a:r>
              <a:rPr lang="en-US" sz="4200" b="1" dirty="0">
                <a:solidFill>
                  <a:schemeClr val="bg1"/>
                </a:solidFill>
                <a:latin typeface="Cambria" pitchFamily="34" charset="0"/>
                <a:ea typeface="Cambria" pitchFamily="34" charset="-122"/>
                <a:cs typeface="Cambria" pitchFamily="34" charset="-120"/>
              </a:rPr>
              <a:t>A real finding no longer turns the check </a:t>
            </a:r>
            <a:r>
              <a:rPr lang="en-US" sz="4200" b="1" dirty="0">
                <a:solidFill>
                  <a:schemeClr val="accent3"/>
                </a:solidFill>
                <a:latin typeface="Cambria" pitchFamily="34" charset="0"/>
                <a:ea typeface="Cambria" pitchFamily="34" charset="-122"/>
                <a:cs typeface="Cambria" pitchFamily="34" charset="-120"/>
              </a:rPr>
              <a:t>red.</a:t>
            </a:r>
            <a:endParaRPr lang="en-US" sz="4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tx1"/>
                </a:solidFill>
              </a:rPr>
              <a:t>Open your report</a:t>
            </a:r>
            <a:endParaRPr lang="en-US" sz="3400" dirty="0"/>
          </a:p>
        </p:txBody>
      </p:sp>
      <p:sp>
        <p:nvSpPr>
          <p:cNvPr id="4" name="step 1"/>
          <p:cNvSpPr/>
          <p:nvPr/>
        </p:nvSpPr>
        <p:spPr>
          <a:xfrm>
            <a:off x="548640" y="1280160"/>
            <a:ext cx="3931920" cy="914400"/>
          </a:xfrm>
          <a:prstGeom prst="roundRect">
            <a:avLst>
              <a:gd name="adj" fmla="val 8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5" name="badge 1"/>
          <p:cNvSpPr/>
          <p:nvPr/>
        </p:nvSpPr>
        <p:spPr>
          <a:xfrm>
            <a:off x="731520" y="1508760"/>
            <a:ext cx="457200" cy="457200"/>
          </a:xfrm>
          <a:prstGeom prst="ellipse">
            <a:avLst/>
          </a:prstGeom>
          <a:solidFill>
            <a:schemeClr val="accent1"/>
          </a:solidFill>
          <a:ln/>
        </p:spPr>
        <p:txBody>
          <a:bodyPr/>
          <a:lstStyle/>
          <a:p>
            <a:endParaRPr lang="en-US"/>
          </a:p>
        </p:txBody>
      </p:sp>
      <p:sp>
        <p:nvSpPr>
          <p:cNvPr id="6" name="Text 3"/>
          <p:cNvSpPr txBox="1"/>
          <p:nvPr/>
        </p:nvSpPr>
        <p:spPr>
          <a:xfrm>
            <a:off x="731520" y="15087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4"/>
          <p:cNvSpPr txBox="1"/>
          <p:nvPr/>
        </p:nvSpPr>
        <p:spPr>
          <a:xfrm>
            <a:off x="1371600" y="1325880"/>
            <a:ext cx="3017520" cy="822960"/>
          </a:xfrm>
          <a:prstGeom prst="rect">
            <a:avLst/>
          </a:prstGeom>
          <a:noFill/>
          <a:ln/>
        </p:spPr>
        <p:txBody>
          <a:bodyPr wrap="square" lIns="0" tIns="0" rIns="0" bIns="0" rtlCol="0" anchor="ctr"/>
          <a:lstStyle/>
          <a:p>
            <a:pPr marL="0" indent="0">
              <a:buNone/>
            </a:pPr>
            <a:r>
              <a:rPr lang="en-US" sz="1800" b="1" dirty="0">
                <a:solidFill>
                  <a:schemeClr val="tx1"/>
                </a:solidFill>
              </a:rPr>
              <a:t>Actions tab</a:t>
            </a:r>
            <a:endParaRPr lang="en-US" sz="1800" dirty="0"/>
          </a:p>
        </p:txBody>
      </p:sp>
      <p:sp>
        <p:nvSpPr>
          <p:cNvPr id="8" name="step 2"/>
          <p:cNvSpPr/>
          <p:nvPr/>
        </p:nvSpPr>
        <p:spPr>
          <a:xfrm>
            <a:off x="548640" y="2331720"/>
            <a:ext cx="3931920" cy="914400"/>
          </a:xfrm>
          <a:prstGeom prst="roundRect">
            <a:avLst>
              <a:gd name="adj" fmla="val 8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9" name="badge 2"/>
          <p:cNvSpPr/>
          <p:nvPr/>
        </p:nvSpPr>
        <p:spPr>
          <a:xfrm>
            <a:off x="731520" y="2560320"/>
            <a:ext cx="457200" cy="457200"/>
          </a:xfrm>
          <a:prstGeom prst="ellipse">
            <a:avLst/>
          </a:prstGeom>
          <a:solidFill>
            <a:schemeClr val="accent1"/>
          </a:solidFill>
          <a:ln/>
        </p:spPr>
        <p:txBody>
          <a:bodyPr/>
          <a:lstStyle/>
          <a:p>
            <a:endParaRPr lang="en-US"/>
          </a:p>
        </p:txBody>
      </p:sp>
      <p:sp>
        <p:nvSpPr>
          <p:cNvPr id="10" name="Text 7"/>
          <p:cNvSpPr txBox="1"/>
          <p:nvPr/>
        </p:nvSpPr>
        <p:spPr>
          <a:xfrm>
            <a:off x="731520" y="256032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1" name="Text 8"/>
          <p:cNvSpPr txBox="1"/>
          <p:nvPr/>
        </p:nvSpPr>
        <p:spPr>
          <a:xfrm>
            <a:off x="1371600" y="2377440"/>
            <a:ext cx="3017520" cy="822960"/>
          </a:xfrm>
          <a:prstGeom prst="rect">
            <a:avLst/>
          </a:prstGeom>
          <a:noFill/>
          <a:ln/>
        </p:spPr>
        <p:txBody>
          <a:bodyPr wrap="square" lIns="0" tIns="0" rIns="0" bIns="0" rtlCol="0" anchor="ctr"/>
          <a:lstStyle/>
          <a:p>
            <a:pPr marL="0" indent="0">
              <a:buNone/>
            </a:pPr>
            <a:r>
              <a:rPr lang="en-US" sz="1800" b="1" dirty="0">
                <a:solidFill>
                  <a:schemeClr val="tx1"/>
                </a:solidFill>
              </a:rPr>
              <a:t>Open the latest run</a:t>
            </a:r>
            <a:endParaRPr lang="en-US" sz="1800" dirty="0"/>
          </a:p>
        </p:txBody>
      </p:sp>
      <p:sp>
        <p:nvSpPr>
          <p:cNvPr id="12" name="step 3"/>
          <p:cNvSpPr/>
          <p:nvPr/>
        </p:nvSpPr>
        <p:spPr>
          <a:xfrm>
            <a:off x="548640" y="3383280"/>
            <a:ext cx="3931920" cy="914400"/>
          </a:xfrm>
          <a:prstGeom prst="roundRect">
            <a:avLst>
              <a:gd name="adj" fmla="val 8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3" name="badge 3"/>
          <p:cNvSpPr/>
          <p:nvPr/>
        </p:nvSpPr>
        <p:spPr>
          <a:xfrm>
            <a:off x="731520" y="3611880"/>
            <a:ext cx="457200" cy="457200"/>
          </a:xfrm>
          <a:prstGeom prst="ellipse">
            <a:avLst/>
          </a:prstGeom>
          <a:solidFill>
            <a:schemeClr val="accent1"/>
          </a:solidFill>
          <a:ln/>
        </p:spPr>
        <p:txBody>
          <a:bodyPr/>
          <a:lstStyle/>
          <a:p>
            <a:endParaRPr lang="en-US"/>
          </a:p>
        </p:txBody>
      </p:sp>
      <p:sp>
        <p:nvSpPr>
          <p:cNvPr id="14" name="Text 11"/>
          <p:cNvSpPr txBox="1"/>
          <p:nvPr/>
        </p:nvSpPr>
        <p:spPr>
          <a:xfrm>
            <a:off x="731520" y="36118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5" name="Text 12"/>
          <p:cNvSpPr txBox="1"/>
          <p:nvPr/>
        </p:nvSpPr>
        <p:spPr>
          <a:xfrm>
            <a:off x="1371600" y="3429000"/>
            <a:ext cx="3017520" cy="822960"/>
          </a:xfrm>
          <a:prstGeom prst="rect">
            <a:avLst/>
          </a:prstGeom>
          <a:noFill/>
          <a:ln/>
        </p:spPr>
        <p:txBody>
          <a:bodyPr wrap="square" lIns="0" tIns="0" rIns="0" bIns="0" rtlCol="0" anchor="ctr"/>
          <a:lstStyle/>
          <a:p>
            <a:pPr marL="0" indent="0">
              <a:buNone/>
            </a:pPr>
            <a:r>
              <a:rPr lang="en-US" sz="1800" b="1" dirty="0">
                <a:solidFill>
                  <a:schemeClr val="tx1"/>
                </a:solidFill>
              </a:rPr>
              <a:t>Artifacts: click</a:t>
            </a:r>
            <a:endParaRPr lang="en-US" sz="1800" dirty="0"/>
          </a:p>
          <a:p>
            <a:pPr marL="0" indent="0">
              <a:buNone/>
            </a:pPr>
            <a:r>
              <a:rPr lang="en-US" sz="1300" b="1" dirty="0">
                <a:solidFill>
                  <a:schemeClr val="tx1"/>
                </a:solidFill>
                <a:latin typeface="Courier New" pitchFamily="34" charset="0"/>
                <a:ea typeface="Courier New" pitchFamily="34" charset="-122"/>
                <a:cs typeface="Courier New" pitchFamily="34" charset="-120"/>
              </a:rPr>
              <a:t>tasks-api-bandit-report</a:t>
            </a:r>
            <a:endParaRPr lang="en-US" sz="1800" dirty="0"/>
          </a:p>
        </p:txBody>
      </p:sp>
      <p:sp>
        <p:nvSpPr>
          <p:cNvPr id="16" name="step 4"/>
          <p:cNvSpPr/>
          <p:nvPr/>
        </p:nvSpPr>
        <p:spPr>
          <a:xfrm>
            <a:off x="4663440" y="1280160"/>
            <a:ext cx="3931920" cy="914400"/>
          </a:xfrm>
          <a:prstGeom prst="roundRect">
            <a:avLst>
              <a:gd name="adj" fmla="val 8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17" name="badge 4"/>
          <p:cNvSpPr/>
          <p:nvPr/>
        </p:nvSpPr>
        <p:spPr>
          <a:xfrm>
            <a:off x="4846320" y="1508760"/>
            <a:ext cx="457200" cy="457200"/>
          </a:xfrm>
          <a:prstGeom prst="ellipse">
            <a:avLst/>
          </a:prstGeom>
          <a:solidFill>
            <a:schemeClr val="accent1"/>
          </a:solidFill>
          <a:ln/>
        </p:spPr>
        <p:txBody>
          <a:bodyPr/>
          <a:lstStyle/>
          <a:p>
            <a:endParaRPr lang="en-US"/>
          </a:p>
        </p:txBody>
      </p:sp>
      <p:sp>
        <p:nvSpPr>
          <p:cNvPr id="18" name="Text 15"/>
          <p:cNvSpPr txBox="1"/>
          <p:nvPr/>
        </p:nvSpPr>
        <p:spPr>
          <a:xfrm>
            <a:off x="4846320" y="15087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9" name="Text 16"/>
          <p:cNvSpPr txBox="1"/>
          <p:nvPr/>
        </p:nvSpPr>
        <p:spPr>
          <a:xfrm>
            <a:off x="5486400" y="1325880"/>
            <a:ext cx="3017520" cy="822960"/>
          </a:xfrm>
          <a:prstGeom prst="rect">
            <a:avLst/>
          </a:prstGeom>
          <a:noFill/>
          <a:ln/>
        </p:spPr>
        <p:txBody>
          <a:bodyPr wrap="square" lIns="0" tIns="0" rIns="0" bIns="0" rtlCol="0" anchor="ctr"/>
          <a:lstStyle/>
          <a:p>
            <a:pPr marL="0" indent="0">
              <a:buNone/>
            </a:pPr>
            <a:r>
              <a:rPr lang="en-US" sz="1800" b="1" dirty="0">
                <a:solidFill>
                  <a:schemeClr val="tx1"/>
                </a:solidFill>
              </a:rPr>
              <a:t>Save the zip</a:t>
            </a:r>
            <a:endParaRPr lang="en-US" sz="1800" dirty="0"/>
          </a:p>
        </p:txBody>
      </p:sp>
      <p:sp>
        <p:nvSpPr>
          <p:cNvPr id="20" name="step 5"/>
          <p:cNvSpPr/>
          <p:nvPr/>
        </p:nvSpPr>
        <p:spPr>
          <a:xfrm>
            <a:off x="4663440" y="2331720"/>
            <a:ext cx="3931920" cy="914400"/>
          </a:xfrm>
          <a:prstGeom prst="roundRect">
            <a:avLst>
              <a:gd name="adj" fmla="val 8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21" name="badge 5"/>
          <p:cNvSpPr/>
          <p:nvPr/>
        </p:nvSpPr>
        <p:spPr>
          <a:xfrm>
            <a:off x="4846320" y="2560320"/>
            <a:ext cx="457200" cy="457200"/>
          </a:xfrm>
          <a:prstGeom prst="ellipse">
            <a:avLst/>
          </a:prstGeom>
          <a:solidFill>
            <a:schemeClr val="accent1"/>
          </a:solidFill>
          <a:ln/>
        </p:spPr>
        <p:txBody>
          <a:bodyPr/>
          <a:lstStyle/>
          <a:p>
            <a:endParaRPr lang="en-US"/>
          </a:p>
        </p:txBody>
      </p:sp>
      <p:sp>
        <p:nvSpPr>
          <p:cNvPr id="22" name="Text 19"/>
          <p:cNvSpPr txBox="1"/>
          <p:nvPr/>
        </p:nvSpPr>
        <p:spPr>
          <a:xfrm>
            <a:off x="4846320" y="256032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3" name="Text 20"/>
          <p:cNvSpPr txBox="1"/>
          <p:nvPr/>
        </p:nvSpPr>
        <p:spPr>
          <a:xfrm>
            <a:off x="5486400" y="2377440"/>
            <a:ext cx="3017520" cy="822960"/>
          </a:xfrm>
          <a:prstGeom prst="rect">
            <a:avLst/>
          </a:prstGeom>
          <a:noFill/>
          <a:ln/>
        </p:spPr>
        <p:txBody>
          <a:bodyPr wrap="square" lIns="0" tIns="0" rIns="0" bIns="0" rtlCol="0" anchor="ctr"/>
          <a:lstStyle/>
          <a:p>
            <a:pPr marL="0" indent="0">
              <a:buNone/>
            </a:pPr>
            <a:r>
              <a:rPr lang="en-US" sz="1800" b="1" dirty="0">
                <a:solidFill>
                  <a:schemeClr val="tx1"/>
                </a:solidFill>
              </a:rPr>
              <a:t>Unzip it</a:t>
            </a:r>
            <a:endParaRPr lang="en-US" sz="1800" dirty="0"/>
          </a:p>
        </p:txBody>
      </p:sp>
      <p:sp>
        <p:nvSpPr>
          <p:cNvPr id="24" name="step 6"/>
          <p:cNvSpPr/>
          <p:nvPr/>
        </p:nvSpPr>
        <p:spPr>
          <a:xfrm>
            <a:off x="4663440" y="3383280"/>
            <a:ext cx="3931920" cy="914400"/>
          </a:xfrm>
          <a:prstGeom prst="roundRect">
            <a:avLst>
              <a:gd name="adj" fmla="val 8000"/>
            </a:avLst>
          </a:prstGeom>
          <a:solidFill>
            <a:schemeClr val="bg2"/>
          </a:solidFill>
          <a:ln/>
          <a:effectLst>
            <a:outerShdw blurRad="76200" dist="25400" dir="5400000" algn="bl" rotWithShape="0">
              <a:srgbClr val="000000">
                <a:alpha val="12000"/>
              </a:srgbClr>
            </a:outerShdw>
          </a:effectLst>
        </p:spPr>
        <p:txBody>
          <a:bodyPr/>
          <a:lstStyle/>
          <a:p>
            <a:endParaRPr lang="en-US"/>
          </a:p>
        </p:txBody>
      </p:sp>
      <p:sp>
        <p:nvSpPr>
          <p:cNvPr id="25" name="badge 6"/>
          <p:cNvSpPr/>
          <p:nvPr/>
        </p:nvSpPr>
        <p:spPr>
          <a:xfrm>
            <a:off x="4846320" y="3611880"/>
            <a:ext cx="457200" cy="457200"/>
          </a:xfrm>
          <a:prstGeom prst="ellipse">
            <a:avLst/>
          </a:prstGeom>
          <a:solidFill>
            <a:schemeClr val="accent1"/>
          </a:solidFill>
          <a:ln/>
        </p:spPr>
        <p:txBody>
          <a:bodyPr/>
          <a:lstStyle/>
          <a:p>
            <a:endParaRPr lang="en-US"/>
          </a:p>
        </p:txBody>
      </p:sp>
      <p:sp>
        <p:nvSpPr>
          <p:cNvPr id="26" name="Text 23"/>
          <p:cNvSpPr txBox="1"/>
          <p:nvPr/>
        </p:nvSpPr>
        <p:spPr>
          <a:xfrm>
            <a:off x="4846320" y="361188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7" name="Text 24"/>
          <p:cNvSpPr txBox="1"/>
          <p:nvPr/>
        </p:nvSpPr>
        <p:spPr>
          <a:xfrm>
            <a:off x="5486400" y="3429000"/>
            <a:ext cx="3017520" cy="822960"/>
          </a:xfrm>
          <a:prstGeom prst="rect">
            <a:avLst/>
          </a:prstGeom>
          <a:noFill/>
          <a:ln/>
        </p:spPr>
        <p:txBody>
          <a:bodyPr wrap="square" lIns="0" tIns="0" rIns="0" bIns="0" rtlCol="0" anchor="ctr"/>
          <a:lstStyle/>
          <a:p>
            <a:pPr marL="0" indent="0">
              <a:buNone/>
            </a:pPr>
            <a:r>
              <a:rPr lang="en-US" sz="1800" b="1" dirty="0">
                <a:solidFill>
                  <a:schemeClr val="tx1"/>
                </a:solidFill>
              </a:rPr>
              <a:t>Open the HTML in the browser</a:t>
            </a:r>
            <a:endParaRPr lang="en-US" sz="1800" dirty="0"/>
          </a:p>
        </p:txBody>
      </p:sp>
      <p:sp>
        <p:nvSpPr>
          <p:cNvPr id="3"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20040"/>
            <a:ext cx="8046720" cy="731520"/>
          </a:xfrm>
          <a:prstGeom prst="rect">
            <a:avLst/>
          </a:prstGeom>
          <a:noFill/>
          <a:ln/>
        </p:spPr>
        <p:txBody>
          <a:bodyPr wrap="square" lIns="0" tIns="0" rIns="0" bIns="0" rtlCol="0" anchor="ctr"/>
          <a:lstStyle/>
          <a:p>
            <a:pPr marL="0" indent="0" algn="l">
              <a:buNone/>
            </a:pPr>
            <a:r>
              <a:rPr lang="en-US" sz="3400" b="1" dirty="0">
                <a:solidFill>
                  <a:schemeClr val="bg1"/>
                </a:solidFill>
              </a:rPr>
              <a:t>Stop and sign out</a:t>
            </a:r>
            <a:endParaRPr lang="en-US" sz="3400" dirty="0"/>
          </a:p>
        </p:txBody>
      </p:sp>
      <p:sp>
        <p:nvSpPr>
          <p:cNvPr id="4" name="Stop your  circle"/>
          <p:cNvSpPr/>
          <p:nvPr/>
        </p:nvSpPr>
        <p:spPr>
          <a:xfrm>
            <a:off x="640080" y="1325880"/>
            <a:ext cx="640080" cy="640080"/>
          </a:xfrm>
          <a:prstGeom prst="ellipse">
            <a:avLst/>
          </a:prstGeom>
          <a:solidFill>
            <a:srgbClr val="2EA043"/>
          </a:solidFill>
          <a:ln/>
        </p:spPr>
        <p:txBody>
          <a:bodyPr/>
          <a:lstStyle/>
          <a:p>
            <a:endParaRPr lang="en-US"/>
          </a:p>
        </p:txBody>
      </p:sp>
      <p:pic>
        <p:nvPicPr>
          <p:cNvPr id="5" name="Stop your  image" descr="FaPowerOff"/>
          <p:cNvPicPr>
            <a:picLocks noChangeAspect="1"/>
          </p:cNvPicPr>
          <p:nvPr/>
        </p:nvPicPr>
        <p:blipFill>
          <a:blip r:embed="rId3"/>
          <a:stretch>
            <a:fillRect/>
          </a:stretch>
        </p:blipFill>
        <p:spPr>
          <a:xfrm>
            <a:off x="800100" y="1485900"/>
            <a:ext cx="320040" cy="320040"/>
          </a:xfrm>
          <a:prstGeom prst="rect">
            <a:avLst/>
          </a:prstGeom>
        </p:spPr>
      </p:pic>
      <p:sp>
        <p:nvSpPr>
          <p:cNvPr id="6" name="Text 2"/>
          <p:cNvSpPr txBox="1"/>
          <p:nvPr/>
        </p:nvSpPr>
        <p:spPr>
          <a:xfrm>
            <a:off x="1554480" y="1325880"/>
            <a:ext cx="6949440" cy="365760"/>
          </a:xfrm>
          <a:prstGeom prst="rect">
            <a:avLst/>
          </a:prstGeom>
          <a:noFill/>
          <a:ln/>
        </p:spPr>
        <p:txBody>
          <a:bodyPr wrap="square" lIns="0" tIns="0" rIns="0" bIns="0" rtlCol="0" anchor="t"/>
          <a:lstStyle/>
          <a:p>
            <a:pPr marL="0" indent="0">
              <a:buNone/>
            </a:pPr>
            <a:r>
              <a:rPr lang="en-US" sz="2200" b="1" dirty="0">
                <a:solidFill>
                  <a:schemeClr val="bg1"/>
                </a:solidFill>
              </a:rPr>
              <a:t>Stop your Codespace</a:t>
            </a:r>
            <a:endParaRPr lang="en-US" sz="2200" dirty="0"/>
          </a:p>
        </p:txBody>
      </p:sp>
      <p:sp>
        <p:nvSpPr>
          <p:cNvPr id="7" name="Text 3"/>
          <p:cNvSpPr txBox="1"/>
          <p:nvPr/>
        </p:nvSpPr>
        <p:spPr>
          <a:xfrm>
            <a:off x="1554480" y="1709928"/>
            <a:ext cx="6949440" cy="274320"/>
          </a:xfrm>
          <a:prstGeom prst="rect">
            <a:avLst/>
          </a:prstGeom>
          <a:noFill/>
          <a:ln/>
        </p:spPr>
        <p:txBody>
          <a:bodyPr wrap="square" lIns="0" tIns="0" rIns="0" bIns="0" rtlCol="0" anchor="t"/>
          <a:lstStyle/>
          <a:p>
            <a:pPr marL="0" indent="0">
              <a:buNone/>
            </a:pPr>
            <a:r>
              <a:rPr lang="en-US" sz="1400" dirty="0">
                <a:solidFill>
                  <a:schemeClr val="accent1"/>
                </a:solidFill>
                <a:latin typeface="Courier New" pitchFamily="34" charset="0"/>
                <a:ea typeface="Courier New" pitchFamily="34" charset="-122"/>
                <a:cs typeface="Courier New" pitchFamily="34" charset="-120"/>
              </a:rPr>
              <a:t>github.com/codespaces</a:t>
            </a:r>
            <a:endParaRPr lang="en-US" sz="1400" dirty="0"/>
          </a:p>
        </p:txBody>
      </p:sp>
      <p:sp>
        <p:nvSpPr>
          <p:cNvPr id="8" name="Sign out o circle"/>
          <p:cNvSpPr/>
          <p:nvPr/>
        </p:nvSpPr>
        <p:spPr>
          <a:xfrm>
            <a:off x="640080" y="2194560"/>
            <a:ext cx="640080" cy="640080"/>
          </a:xfrm>
          <a:prstGeom prst="ellipse">
            <a:avLst/>
          </a:prstGeom>
          <a:solidFill>
            <a:srgbClr val="2EA043"/>
          </a:solidFill>
          <a:ln/>
        </p:spPr>
        <p:txBody>
          <a:bodyPr/>
          <a:lstStyle/>
          <a:p>
            <a:endParaRPr lang="en-US"/>
          </a:p>
        </p:txBody>
      </p:sp>
      <p:pic>
        <p:nvPicPr>
          <p:cNvPr id="9" name="Sign out o image" descr="FaSignOutAlt"/>
          <p:cNvPicPr>
            <a:picLocks noChangeAspect="1"/>
          </p:cNvPicPr>
          <p:nvPr/>
        </p:nvPicPr>
        <p:blipFill>
          <a:blip r:embed="rId4"/>
          <a:stretch>
            <a:fillRect/>
          </a:stretch>
        </p:blipFill>
        <p:spPr>
          <a:xfrm>
            <a:off x="800100" y="2354580"/>
            <a:ext cx="320040" cy="320040"/>
          </a:xfrm>
          <a:prstGeom prst="rect">
            <a:avLst/>
          </a:prstGeom>
        </p:spPr>
      </p:pic>
      <p:sp>
        <p:nvSpPr>
          <p:cNvPr id="10" name="Text 5"/>
          <p:cNvSpPr txBox="1"/>
          <p:nvPr/>
        </p:nvSpPr>
        <p:spPr>
          <a:xfrm>
            <a:off x="1554480" y="2194560"/>
            <a:ext cx="6949440" cy="640080"/>
          </a:xfrm>
          <a:prstGeom prst="rect">
            <a:avLst/>
          </a:prstGeom>
          <a:noFill/>
          <a:ln/>
        </p:spPr>
        <p:txBody>
          <a:bodyPr wrap="square" lIns="0" tIns="0" rIns="0" bIns="0" rtlCol="0" anchor="ctr"/>
          <a:lstStyle/>
          <a:p>
            <a:pPr marL="0" indent="0">
              <a:buNone/>
            </a:pPr>
            <a:r>
              <a:rPr lang="en-US" sz="2200" b="1" dirty="0">
                <a:solidFill>
                  <a:schemeClr val="bg1"/>
                </a:solidFill>
              </a:rPr>
              <a:t>Sign out of GitHub on the lab PC</a:t>
            </a:r>
            <a:endParaRPr lang="en-US" sz="2200" dirty="0"/>
          </a:p>
        </p:txBody>
      </p:sp>
      <p:sp>
        <p:nvSpPr>
          <p:cNvPr id="11" name="Your work  circle"/>
          <p:cNvSpPr/>
          <p:nvPr/>
        </p:nvSpPr>
        <p:spPr>
          <a:xfrm>
            <a:off x="640080" y="3063240"/>
            <a:ext cx="640080" cy="640080"/>
          </a:xfrm>
          <a:prstGeom prst="ellipse">
            <a:avLst/>
          </a:prstGeom>
          <a:solidFill>
            <a:srgbClr val="2EA043"/>
          </a:solidFill>
          <a:ln/>
        </p:spPr>
        <p:txBody>
          <a:bodyPr/>
          <a:lstStyle/>
          <a:p>
            <a:endParaRPr lang="en-US"/>
          </a:p>
        </p:txBody>
      </p:sp>
      <p:pic>
        <p:nvPicPr>
          <p:cNvPr id="12" name="Your work  image" descr="FaGithub"/>
          <p:cNvPicPr>
            <a:picLocks noChangeAspect="1"/>
          </p:cNvPicPr>
          <p:nvPr/>
        </p:nvPicPr>
        <p:blipFill>
          <a:blip r:embed="rId5"/>
          <a:stretch>
            <a:fillRect/>
          </a:stretch>
        </p:blipFill>
        <p:spPr>
          <a:xfrm>
            <a:off x="800100" y="3223260"/>
            <a:ext cx="320040" cy="320040"/>
          </a:xfrm>
          <a:prstGeom prst="rect">
            <a:avLst/>
          </a:prstGeom>
        </p:spPr>
      </p:pic>
      <p:sp>
        <p:nvSpPr>
          <p:cNvPr id="13" name="Text 7"/>
          <p:cNvSpPr txBox="1"/>
          <p:nvPr/>
        </p:nvSpPr>
        <p:spPr>
          <a:xfrm>
            <a:off x="1554480" y="3063240"/>
            <a:ext cx="6949440" cy="640080"/>
          </a:xfrm>
          <a:prstGeom prst="rect">
            <a:avLst/>
          </a:prstGeom>
          <a:noFill/>
          <a:ln/>
        </p:spPr>
        <p:txBody>
          <a:bodyPr wrap="square" lIns="0" tIns="0" rIns="0" bIns="0" rtlCol="0" anchor="ctr"/>
          <a:lstStyle/>
          <a:p>
            <a:pPr marL="0" indent="0">
              <a:buNone/>
            </a:pPr>
            <a:r>
              <a:rPr lang="en-US" sz="2200" b="1" dirty="0">
                <a:solidFill>
                  <a:schemeClr val="bg1"/>
                </a:solidFill>
              </a:rPr>
              <a:t>Your work lives in your repo, not on the PC</a:t>
            </a:r>
            <a:endParaRPr lang="en-US" sz="2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bg2"/>
                </a:solidFill>
              </a:defRPr>
            </a:lvl1pPr>
          </a:lstStyle>
          <a:p>
            <a:pPr algn="r"/>
            <a:fld id="{F7021451-1387-4CA6-816F-3879F97B5CBC}" type="slidenum">
              <a:rPr lang="en-US" b="0"/>
              <a:t>53</a:t>
            </a:fld>
            <a:endParaRPr lang="en-US"/>
          </a:p>
        </p:txBody>
      </p:sp>
    </p:spTree>
  </p:cSld>
  <p:clrMapOvr>
    <a:masterClrMapping/>
  </p:clrMapOvr>
</p:sld>
</file>

<file path=ppt/theme/theme1.xml><?xml version="1.0" encoding="utf-8"?>
<a:theme xmlns:a="http://schemas.openxmlformats.org/drawingml/2006/main" name="DevOps Terminal">
  <a:themeElements>
    <a:clrScheme name="DevOps Terminal">
      <a:dk1>
        <a:srgbClr val="161B22"/>
      </a:dk1>
      <a:lt1>
        <a:srgbClr val="FFFFFF"/>
      </a:lt1>
      <a:dk2>
        <a:srgbClr val="30363D"/>
      </a:dk2>
      <a:lt2>
        <a:srgbClr val="F3F5F7"/>
      </a:lt2>
      <a:accent1>
        <a:srgbClr val="2EA043"/>
      </a:accent1>
      <a:accent2>
        <a:srgbClr val="B7791F"/>
      </a:accent2>
      <a:accent3>
        <a:srgbClr val="D1242F"/>
      </a:accent3>
      <a:accent4>
        <a:srgbClr val="388BFD"/>
      </a:accent4>
      <a:accent5>
        <a:srgbClr val="8957E5"/>
      </a:accent5>
      <a:accent6>
        <a:srgbClr val="57606A"/>
      </a:accent6>
      <a:hlink>
        <a:srgbClr val="388BFD"/>
      </a:hlink>
      <a:folHlink>
        <a:srgbClr val="8957E5"/>
      </a:folHlink>
    </a:clrScheme>
    <a:fontScheme name="DevOps Termin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4688</Words>
  <Application>Microsoft Macintosh PowerPoint</Application>
  <PresentationFormat>On-screen Show (16:9)</PresentationFormat>
  <Paragraphs>566</Paragraphs>
  <Slides>53</Slides>
  <Notes>53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53</vt:i4>
      </vt:variant>
    </vt:vector>
  </HeadingPairs>
  <TitlesOfParts>
    <vt:vector size="58" baseType="lpstr">
      <vt:lpstr>Arial</vt:lpstr>
      <vt:lpstr>Calibri</vt:lpstr>
      <vt:lpstr>Cambria</vt:lpstr>
      <vt:lpstr>Courier New</vt:lpstr>
      <vt:lpstr>DevOps Terminal</vt:lpstr>
      <vt:lpstr>Create your repo</vt:lpstr>
      <vt:lpstr>Then a Codespace</vt:lpstr>
      <vt:lpstr>A task list API</vt:lpstr>
      <vt:lpstr>Two services</vt:lpstr>
      <vt:lpstr>Function</vt:lpstr>
      <vt:lpstr>Stateless</vt:lpstr>
      <vt:lpstr>Invocation</vt:lpstr>
      <vt:lpstr>Platform</vt:lpstr>
      <vt:lpstr>Scale to zero</vt:lpstr>
      <vt:lpstr>Ours is FaaS-style</vt:lpstr>
      <vt:lpstr>Our invoke is the invocation</vt:lpstr>
      <vt:lpstr>Ready?</vt:lpstr>
      <vt:lpstr>curl, localhost, port</vt:lpstr>
      <vt:lpstr>Start both services</vt:lpstr>
      <vt:lpstr>A third terminal for curl</vt:lpstr>
      <vt:lpstr>Stop the function</vt:lpstr>
      <vt:lpstr>Run both test suites</vt:lpstr>
      <vt:lpstr>What is lint?</vt:lpstr>
      <vt:lpstr>Linters that exist</vt:lpstr>
      <vt:lpstr>Bandit, a security scanner</vt:lpstr>
      <vt:lpstr>Break</vt:lpstr>
      <vt:lpstr>Five steps, one file</vt:lpstr>
      <vt:lpstr>Where to look</vt:lpstr>
      <vt:lpstr>A red run is information</vt:lpstr>
      <vt:lpstr>Step 1: the workflow</vt:lpstr>
      <vt:lpstr>Step 1: the skeleton</vt:lpstr>
      <vt:lpstr>Step 1: stuck?</vt:lpstr>
      <vt:lpstr>Step 1: answer</vt:lpstr>
      <vt:lpstr>Step 2: tests for one service</vt:lpstr>
      <vt:lpstr>Step 2: stuck?</vt:lpstr>
      <vt:lpstr>Step 2: answer</vt:lpstr>
      <vt:lpstr>Same job, one value changes</vt:lpstr>
      <vt:lpstr>The name is replaced as text</vt:lpstr>
      <vt:lpstr>Docs lookup: matrix</vt:lpstr>
      <vt:lpstr>Step 3: both services</vt:lpstr>
      <vt:lpstr>Step 3: stuck?</vt:lpstr>
      <vt:lpstr>Step 3: answer</vt:lpstr>
      <vt:lpstr>What is an artifact?</vt:lpstr>
      <vt:lpstr>One artifact per leg</vt:lpstr>
      <vt:lpstr>Step 4: save the test report</vt:lpstr>
      <vt:lpstr>Step 4: stuck?</vt:lpstr>
      <vt:lpstr>Step 4: answer</vt:lpstr>
      <vt:lpstr>Why shell: bash</vt:lpstr>
      <vt:lpstr>Why fail-fast: false</vt:lpstr>
      <vt:lpstr>Break a test</vt:lpstr>
      <vt:lpstr>Step 5: scan with Bandit</vt:lpstr>
      <vt:lpstr>Clue: the Bandit command</vt:lpstr>
      <vt:lpstr>Step 5: stuck?</vt:lpstr>
      <vt:lpstr>Step 5: answer</vt:lpstr>
      <vt:lpstr>always() or continue-on-error</vt:lpstr>
      <vt:lpstr>What it costs</vt:lpstr>
      <vt:lpstr>Open your report</vt:lpstr>
      <vt:lpstr>Stop and sign out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workshop</dc:title>
  <dc:subject>PptxGenJS Presentation</dc:subject>
  <dc:creator>Instructor</dc:creator>
  <cp:lastModifiedBy>Jakub Załucki</cp:lastModifiedBy>
  <cp:revision>2</cp:revision>
  <dcterms:created xsi:type="dcterms:W3CDTF">2026-10-15T23:14:03Z</dcterms:created>
  <dcterms:modified xsi:type="dcterms:W3CDTF">2026-10-15T23:23:31Z</dcterms:modified>
</cp:coreProperties>
</file>