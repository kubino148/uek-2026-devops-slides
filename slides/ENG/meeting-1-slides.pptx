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9144000" cy="5143500"/>
  <p:notesSz cx="5143500" cy="9144000"/>
  <p:extLst>
    <p:ext uri="{521415D9-36F7-43E2-AB2F-B90AF26B5E84}">
      <p14:sectionLst xmlns:p14="http://schemas.microsoft.com/office/powerpoint/2010/main">
        <p14:section name="Welcome" id="{8a8b6a8d-635e-9f86-a300-e4e8fc7132ac}">
          <p14:sldIdLst>
            <p14:sldId id="256"/>
            <p14:sldId id="257"/>
            <p14:sldId id="258"/>
            <p14:sldId id="259"/>
            <p14:sldId id="260"/>
          </p14:sldIdLst>
        </p14:section>
        <p14:section name="DevOps" id="{0073190e-6aae-9c2f-99f7-4923cd73974e}">
          <p14:sldIdLst>
            <p14:sldId id="261"/>
            <p14:sldId id="262"/>
            <p14:sldId id="263"/>
            <p14:sldId id="264"/>
          </p14:sldIdLst>
        </p14:section>
        <p14:section name="AI" id="{deee0bf6-b14d-0ea3-eb14-4ff7bfa6df1b}">
          <p14:sldIdLst>
            <p14:sldId id="265"/>
            <p14:sldId id="266"/>
            <p14:sldId id="267"/>
            <p14:sldId id="268"/>
            <p14:sldId id="269"/>
            <p14:sldId id="270"/>
            <p14:sldId id="271"/>
            <p14:sldId id="272"/>
          </p14:sldIdLst>
        </p14:section>
        <p14:section name="Course" id="{0c2c3ffb-0b3d-18bd-c514-3c54956efea7}">
          <p14:sldIdLst>
            <p14:sldId id="273"/>
            <p14:sldId id="274"/>
            <p14:sldId id="275"/>
            <p14:sldId id="276"/>
          </p14:sldIdLst>
        </p14:section>
        <p14:section name="Docs" id="{caf3a240-361d-85d0-4179-7be425232ef0}">
          <p14:sldIdLst>
            <p14:sldId id="277"/>
            <p14:sldId id="278"/>
          </p14:sldIdLst>
        </p14:section>
        <p14:section name="Hands-on" id="{30674a9e-876d-7eaa-f9b6-98fb66ebea43}">
          <p14:sldIdLst>
            <p14:sldId id="279"/>
            <p14:sldId id="280"/>
            <p14:sldId id="281"/>
            <p14:sldId id="282"/>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3400" b="1" u="none" strike="noStrike">
                <a:solidFill>
                  <a:schemeClr val="lt1"/>
                </a:solidFill>
                <a:effectLst/>
                <a:uFillTx/>
                <a:latin typeface="Cambria"/>
              </a:rPr>
              <a:t>Click to move the slide</a:t>
            </a:r>
            <a:endParaRPr lang="en-US" sz="3400" b="1" u="none" strike="noStrike">
              <a:solidFill>
                <a:schemeClr val="lt1"/>
              </a:solidFill>
              <a:effectLst/>
              <a:uFillTx/>
              <a:latin typeface="Cambria"/>
            </a:endParaRP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3" name="PlaceHolder 4"/>
          <p:cNvSpPr>
            <a:spLocks noGrp="1"/>
          </p:cNvSpPr>
          <p:nvPr>
            <p:ph type="dt" idx="3"/>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 name="PlaceHolder 5"/>
          <p:cNvSpPr>
            <a:spLocks noGrp="1"/>
          </p:cNvSpPr>
          <p:nvPr>
            <p:ph type="ftr" idx="4"/>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6"/>
          <p:cNvSpPr>
            <a:spLocks noGrp="1"/>
          </p:cNvSpPr>
          <p:nvPr>
            <p:ph type="sldNum" idx="5"/>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AC4199-EB06-477A-A4A5-2F60852C658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685800" y="1143000"/>
            <a:ext cx="5486040" cy="3085920"/>
          </a:xfrm>
          <a:prstGeom prst="rect">
            <a:avLst/>
          </a:prstGeom>
          <a:ln w="0">
            <a:noFill/>
          </a:ln>
        </p:spPr>
      </p:sp>
      <p:sp>
        <p:nvSpPr>
          <p:cNvPr id="4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Slide is up while students arrive. Say: it takes a minute or two, keep listening while it boots. Lesson 0 is mostly for getting used to Codespaces. Lab PCs: sign out of GitHub when you leave, do not let the browser save the password.</a:t>
            </a:r>
            <a:endParaRPr lang="en-US" sz="2000" b="0" u="none" strike="noStrike">
              <a:solidFill>
                <a:srgbClr val="000000"/>
              </a:solidFill>
              <a:effectLst/>
              <a:uFillTx/>
              <a:latin typeface="Arial"/>
            </a:endParaRPr>
          </a:p>
        </p:txBody>
      </p:sp>
      <p:sp>
        <p:nvSpPr>
          <p:cNvPr id="44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A9D507-D52C-4781-B6D5-9A811989B41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685800" y="1143000"/>
            <a:ext cx="5486040" cy="3085920"/>
          </a:xfrm>
          <a:prstGeom prst="rect">
            <a:avLst/>
          </a:prstGeom>
          <a:ln w="0">
            <a:noFill/>
          </a:ln>
        </p:spPr>
      </p:sp>
      <p:sp>
        <p:nvSpPr>
          <p:cNvPr id="4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Name, surname, contact mail. Format: 45 minutes, 5 minutes break, 40 minutes. Attendance: at least 50%.</a:t>
            </a:r>
            <a:endParaRPr lang="en-US" sz="2000" b="0" u="none" strike="noStrike">
              <a:solidFill>
                <a:srgbClr val="000000"/>
              </a:solidFill>
              <a:effectLst/>
              <a:uFillTx/>
              <a:latin typeface="Arial"/>
            </a:endParaRPr>
          </a:p>
        </p:txBody>
      </p:sp>
      <p:sp>
        <p:nvSpPr>
          <p:cNvPr id="450"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F468A7-7D86-44D5-B4F9-538FDCB3E2F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6040" cy="3085920"/>
          </a:xfrm>
          <a:prstGeom prst="rect">
            <a:avLst/>
          </a:prstGeom>
          <a:ln w="0">
            <a:noFill/>
          </a:ln>
        </p:spPr>
      </p:sp>
      <p:sp>
        <p:nvSpPr>
          <p:cNvPr id="4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Graded oral exam with three questions: one knowledge question, one theoretical scenario question, one code review question. Outcomes: by the end you can do the listed things, and explain, verify and troubleshoot all of them.</a:t>
            </a:r>
            <a:endParaRPr lang="en-US" sz="2000" b="0" u="none" strike="noStrike">
              <a:solidFill>
                <a:srgbClr val="000000"/>
              </a:solidFill>
              <a:effectLst/>
              <a:uFillTx/>
              <a:latin typeface="Arial"/>
            </a:endParaRPr>
          </a:p>
        </p:txBody>
      </p:sp>
      <p:sp>
        <p:nvSpPr>
          <p:cNvPr id="453"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B58EE4-CE07-4E78-8133-872148CB133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86040" cy="3085920"/>
          </a:xfrm>
          <a:prstGeom prst="rect">
            <a:avLst/>
          </a:prstGeom>
          <a:ln w="0">
            <a:noFill/>
          </a:ln>
        </p:spPr>
      </p:sp>
      <p:sp>
        <p:nvSpPr>
          <p:cNvPr id="4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Developers want to ship changes, operations wants stability, so each side blocks the other. Ask: who has had 'it works on my machine'? DevOps removes the wall by having one team own the path from commit to running service.</a:t>
            </a:r>
            <a:endParaRPr lang="en-US" sz="2000" b="0" u="none" strike="noStrike">
              <a:solidFill>
                <a:srgbClr val="000000"/>
              </a:solidFill>
              <a:effectLst/>
              <a:uFillTx/>
              <a:latin typeface="Arial"/>
            </a:endParaRPr>
          </a:p>
        </p:txBody>
      </p:sp>
      <p:sp>
        <p:nvSpPr>
          <p:cNvPr id="456"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D7D065-C46D-40DE-9B30-206EE09DFDF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6040" cy="3085920"/>
          </a:xfrm>
          <a:prstGeom prst="rect">
            <a:avLst/>
          </a:prstGeom>
          <a:ln w="0">
            <a:noFill/>
          </a:ln>
        </p:spPr>
      </p:sp>
      <p:sp>
        <p:nvSpPr>
          <p:cNvPr id="4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Plan, code, build, test, release, deploy, operate, monitor, back to plan. CI: every change is built and tested automatically. CD: every change that passes is released automatically. GitHub Actions: a file in your repo that GitHub runs on its own servers when something happens.</a:t>
            </a:r>
            <a:endParaRPr lang="en-US" sz="2000" b="0" u="none" strike="noStrike">
              <a:solidFill>
                <a:srgbClr val="000000"/>
              </a:solidFill>
              <a:effectLst/>
              <a:uFillTx/>
              <a:latin typeface="Arial"/>
            </a:endParaRPr>
          </a:p>
        </p:txBody>
      </p:sp>
      <p:sp>
        <p:nvSpPr>
          <p:cNvPr id="45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FF2BE5F-CE4E-4F66-A136-AEB190575AF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Four DORA metrics: deployment frequency, lead time for changes, change failure rate, time to restore. Not speed versus safety: small changes are safer. Who: likely backend/API developers, platform and cloud engineers, SRE, security, ML. Less likely: pure UI/design focus, research code that never ships, solo hobby projects. Ask: where do you see yourself?</a:t>
            </a:r>
            <a:endParaRPr lang="en-US" sz="2000" b="0" u="none" strike="noStrike">
              <a:solidFill>
                <a:srgbClr val="000000"/>
              </a:solidFill>
              <a:effectLst/>
              <a:uFillTx/>
              <a:latin typeface="Arial"/>
            </a:endParaRPr>
          </a:p>
        </p:txBody>
      </p:sp>
      <p:sp>
        <p:nvSpPr>
          <p:cNvPr id="46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5C2AD4-D5C9-4150-8F76-AA23402709F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AI is allowed. Blind copy-paste is not: paste the assignment in, paste the answer back. If you can't explain it, you shouldn't ship it. Ask: hands up if you used AI for an assignment this month; keep it up if you could explain every line. No judgment.</a:t>
            </a:r>
            <a:endParaRPr lang="en-US" sz="2000" b="0" u="none" strike="noStrike">
              <a:solidFill>
                <a:srgbClr val="000000"/>
              </a:solidFill>
              <a:effectLst/>
              <a:uFillTx/>
              <a:latin typeface="Arial"/>
            </a:endParaRPr>
          </a:p>
        </p:txBody>
      </p:sp>
      <p:sp>
        <p:nvSpPr>
          <p:cNvPr id="46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17AECA-23FC-4BBB-BC70-B6A87298620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 Can and should I use AI for this? Yes: you already designed it and AI does the typing. No: no ideas or constraints exist yet. 2) Do I trust and understand the output? docker system prune -af --volumes deletes unused images, stopped containers and volumes (data). Also recognise chmod -R 777, curl | sudo bash, git push --force, permissions write-all. 3) How do I verify, modify and troubleshoot? Run it somewhere safe, read the docs for each flag, check that every package and action exists. Asking a second AI does not count.</a:t>
            </a:r>
            <a:endParaRPr lang="en-US" sz="2000" b="0" u="none" strike="noStrike">
              <a:solidFill>
                <a:srgbClr val="000000"/>
              </a:solidFill>
              <a:effectLst/>
              <a:uFillTx/>
              <a:latin typeface="Arial"/>
            </a:endParaRPr>
          </a:p>
        </p:txBody>
      </p:sp>
      <p:sp>
        <p:nvSpPr>
          <p:cNvPr id="46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2C408A2-1367-48CF-9C88-B1F82442CC8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Good: boilerplate, syntax you forgot, explaining an error when you already know the context, implementing a design you already made. Bad: knowing your repo, stack and constraints; inventing architecture; knowing whether an action or flag really exists. Cuttable if you are running late.</a:t>
            </a:r>
            <a:endParaRPr lang="en-US" sz="2000" b="0" u="none" strike="noStrike">
              <a:solidFill>
                <a:srgbClr val="000000"/>
              </a:solidFill>
              <a:effectLst/>
              <a:uFillTx/>
              <a:latin typeface="Arial"/>
            </a:endParaRPr>
          </a:p>
        </p:txBody>
      </p:sp>
      <p:sp>
        <p:nvSpPr>
          <p:cNvPr id="47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6CC567-12F7-4783-93F5-9835BEBA3B1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01-assignment-prompt.md. Ask: what language is the app? Where are the tests? Nobody can tell from the text, and neither can the AI. Present the next slide as 'typical output of a prompt like this'.</a:t>
            </a:r>
            <a:endParaRPr lang="en-US" sz="2000" b="0" u="none" strike="noStrike">
              <a:solidFill>
                <a:srgbClr val="000000"/>
              </a:solidFill>
              <a:effectLst/>
              <a:uFillTx/>
              <a:latin typeface="Arial"/>
            </a:endParaRPr>
          </a:p>
        </p:txBody>
      </p:sp>
      <p:sp>
        <p:nvSpPr>
          <p:cNvPr id="47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511971E-73CC-4247-A1E6-CB3C0C016EA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02-bad-output.yml live. 60 seconds of silence, collect 3-4 answers, then add the vivid ones they missed: tests can fail and the pipeline stays green (continue-on-error, || true); write-all permissions plus pull_request_target; invented actions; 54-job matrix; token printed to the log. Open one fake action on GitHub live if you verified the 404.</a:t>
            </a:r>
            <a:endParaRPr lang="en-US" sz="2000" b="0" u="none" strike="noStrike">
              <a:solidFill>
                <a:srgbClr val="000000"/>
              </a:solidFill>
              <a:effectLst/>
              <a:uFillTx/>
              <a:latin typeface="Arial"/>
            </a:endParaRPr>
          </a:p>
        </p:txBody>
      </p:sp>
      <p:sp>
        <p:nvSpPr>
          <p:cNvPr id="47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2E5892-8BEB-4FE7-A337-B095D973C55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04-contrast-good-prompt.md. Same task, four sentences of context, 15 lines of YAML you can read in one go. Close with the statement: understanding the use case, the context and the architecture is your job; AI may write the code faster, but you decide what code it writes.</a:t>
            </a:r>
            <a:endParaRPr lang="en-US" sz="2000" b="0" u="none" strike="noStrike">
              <a:solidFill>
                <a:srgbClr val="000000"/>
              </a:solidFill>
              <a:effectLst/>
              <a:uFillTx/>
              <a:latin typeface="Arial"/>
            </a:endParaRPr>
          </a:p>
        </p:txBody>
      </p:sp>
      <p:sp>
        <p:nvSpPr>
          <p:cNvPr id="48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49038D-B409-4CE7-BFF8-AB0A6FDA998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the survey app live in the browser on the projector as well. Scan the QR code with your phone camera. Say why: I will choose the example app after this, so I need to know what you already know. Questions: name and surname; languages and frameworks you use; whether you have a backend project that you wrote or are writing; whether you have a chosen programming direction. While they fill it in, check the lab-PC students' Codespaces.</a:t>
            </a:r>
            <a:endParaRPr lang="en-US" sz="2000" b="0" u="none" strike="noStrike">
              <a:solidFill>
                <a:srgbClr val="000000"/>
              </a:solidFill>
              <a:effectLst/>
              <a:uFillTx/>
              <a:latin typeface="Arial"/>
            </a:endParaRPr>
          </a:p>
        </p:txBody>
      </p:sp>
      <p:sp>
        <p:nvSpPr>
          <p:cNvPr id="48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0921F6-CEDE-4E52-BAEE-8A1598D7039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Topics only, no meeting numbers. Version control, continuous integration, continuous delivery with GitHub Pages (API docs, test and scan reports), containers with Docker, multi-service setups with Docker Compose, quality and security (linting, Trivy, Dependabot), infrastructure as code with Terraform, monitoring if time allows.</a:t>
            </a:r>
            <a:endParaRPr lang="en-US" sz="2000" b="0" u="none" strike="noStrike">
              <a:solidFill>
                <a:srgbClr val="000000"/>
              </a:solidFill>
              <a:effectLst/>
              <a:uFillTx/>
              <a:latin typeface="Arial"/>
            </a:endParaRPr>
          </a:p>
        </p:txBody>
      </p:sp>
      <p:sp>
        <p:nvSpPr>
          <p:cNvPr id="48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135BDF-2F12-4BD2-86A8-C7841F17D9C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Git and GitHub, Actions, Docker, Compose, Trivy, Dependabot, Terraform, Pages. Where we run it: GitHub Codespaces for everyone. Point: everything lives in a repo and nothing depends on your machine.</a:t>
            </a:r>
            <a:endParaRPr lang="en-US" sz="2000" b="0" u="none" strike="noStrike">
              <a:solidFill>
                <a:srgbClr val="000000"/>
              </a:solidFill>
              <a:effectLst/>
              <a:uFillTx/>
              <a:latin typeface="Arial"/>
            </a:endParaRPr>
          </a:p>
        </p:txBody>
      </p:sp>
      <p:sp>
        <p:nvSpPr>
          <p:cNvPr id="48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DE1F2C-7BE8-494F-9C80-0663DEC960D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Live, no slides: search 'git switch docs' and show the official page; run git --help and git switch --help; open docs.github.com and navigate to workflow syntax. Say what you look for: official site, the example, the flags table, the version. Then: use AI to explain a page you found, not to replace finding it.</a:t>
            </a:r>
            <a:endParaRPr lang="en-US" sz="2000" b="0" u="none" strike="noStrike">
              <a:solidFill>
                <a:srgbClr val="000000"/>
              </a:solidFill>
              <a:effectLst/>
              <a:uFillTx/>
              <a:latin typeface="Arial"/>
            </a:endParaRPr>
          </a:p>
        </p:txBody>
      </p:sp>
      <p:sp>
        <p:nvSpPr>
          <p:cNvPr id="49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66ED42-0CB9-4006-8E8F-DAE6F015E83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Hands up: who has a working terminal in their Codespace? Note who does not. Fix them during the break with the fallback ladder. Break: 5 minutes.</a:t>
            </a:r>
            <a:endParaRPr lang="en-US" sz="2000" b="0" u="none" strike="noStrike">
              <a:solidFill>
                <a:srgbClr val="000000"/>
              </a:solidFill>
              <a:effectLst/>
              <a:uFillTx/>
              <a:latin typeface="Arial"/>
            </a:endParaRPr>
          </a:p>
        </p:txBody>
      </p:sp>
      <p:sp>
        <p:nvSpPr>
          <p:cNvPr id="49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F7709F-81D0-4318-97FE-28476AE4902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0:50. Students run the check in the Codespace terminal. Expected: Python and pytest versions, the test result, ends with OK. Anyone stuck: fallback ladder. Put the help rule on the screen for the whole segment: demo repo, then docs, then raise your hand.</a:t>
            </a:r>
            <a:endParaRPr lang="en-US" sz="2000" b="0" u="none" strike="noStrike">
              <a:solidFill>
                <a:srgbClr val="000000"/>
              </a:solidFill>
              <a:effectLst/>
              <a:uFillTx/>
              <a:latin typeface="Arial"/>
            </a:endParaRPr>
          </a:p>
        </p:txBody>
      </p:sp>
      <p:sp>
        <p:nvSpPr>
          <p:cNvPr id="49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2324F1-AC29-4E77-ACBB-8E7385E3F67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0:54. You know this: one fast pass, then the time goes to CI. Live-type the commands while they follow. gh is preinstalled and authenticated in Codespaces; otherwise use Compare and pull request on github.com. Point out No checks on the PR page: that is the baseline. Verbal question, no exercise: you merge a branch and get a conflict, what are your first two commands? Expected: git status, then open the files and resolve the markers; git merge --abort as the escape.</a:t>
            </a:r>
            <a:endParaRPr lang="en-US" sz="2000" b="0" u="none" strike="noStrike">
              <a:solidFill>
                <a:srgbClr val="000000"/>
              </a:solidFill>
              <a:effectLst/>
              <a:uFillTx/>
              <a:latin typeface="Arial"/>
            </a:endParaRPr>
          </a:p>
        </p:txBody>
      </p:sp>
      <p:sp>
        <p:nvSpPr>
          <p:cNvPr id="50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7D05E73-DB0E-4365-84FC-0249A2D494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0:59, 12 minutes. Open your own demo repo, a tiny bash project with a test script. Put its URL on the slide. Students watch and take notes, they do not type along, because their project is Python and their task is different. Narrate while you work, including how you use the docs; do not open the Building and testing Python page. One commit per step so the history reads like a tutorial. Steps: type the workflow (4 min), push and read the green run and logs (3 min), break a test, read the red, revert, green (4 min), show the task slide (1 min). Say: my project needed nothing installed, yours does.</a:t>
            </a:r>
            <a:endParaRPr lang="en-US" sz="2000" b="0" u="none" strike="noStrike">
              <a:solidFill>
                <a:srgbClr val="000000"/>
              </a:solidFill>
              <a:effectLst/>
              <a:uFillTx/>
              <a:latin typeface="Arial"/>
            </a:endParaRPr>
          </a:p>
        </p:txBody>
      </p:sp>
      <p:sp>
        <p:nvSpPr>
          <p:cNvPr id="50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99FB6F-6CCE-49E9-BDB4-0DEC15D503E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1:11, 14 minutes, students work alone. Say: same idea, different stack. Use my repo and the docs. Do not copy my file, it will not be enough for Python. Circulate. Watch for tabs in YAML, files outside .github/workflows, copies of the bash demo file (the check goes red, a good teaching moment) and long AI answers students cannot explain: ask what a line does, do not fix their file. If a student is staring at a red run, point at the log and ask what it is telling them. Expect some not to reach step 5.</a:t>
            </a:r>
            <a:endParaRPr lang="en-US" sz="2000" b="0" u="none" strike="noStrike">
              <a:solidFill>
                <a:srgbClr val="000000"/>
              </a:solidFill>
              <a:effectLst/>
              <a:uFillTx/>
              <a:latin typeface="Arial"/>
            </a:endParaRPr>
          </a:p>
        </p:txBody>
      </p:sp>
      <p:sp>
        <p:nvSpPr>
          <p:cNvPr id="50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977376-CC4D-4FC2-B1F9-B4D0C2C059C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Building blocks, deliberately not in order: students decide which they need and in what order. Engineer mindset: do not aim for a perfect first try; push, watch the run, read the error, change one thing, push again; a red run is information, not failure; each push costs under a minute; change one thing at a time so you know what fixed it.</a:t>
            </a:r>
            <a:endParaRPr lang="en-US" sz="2000" b="0" u="none" strike="noStrike">
              <a:solidFill>
                <a:srgbClr val="000000"/>
              </a:solidFill>
              <a:effectLst/>
              <a:uFillTx/>
              <a:latin typeface="Arial"/>
            </a:endParaRPr>
          </a:p>
        </p:txBody>
      </p:sp>
      <p:sp>
        <p:nvSpPr>
          <p:cNvPr id="51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AEFAAA-2CA6-4392-88A1-97A35D78F3B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Reveal only if students are stuck: hint 1 at about 1:14, hint 2 at 1:17, hint 3 at 1:20. Common problems: check never appears (file not under .github/workflows, or YAML indentation off; the Actions tab shows an error); red on pytest or pip install without setup-python (check in your rehearsal what the log says); quote Python versions as strings, an unquoted 3.10 is read as 3.1; check stays queued because GitHub is slow.</a:t>
            </a:r>
            <a:endParaRPr lang="en-US" sz="2000" b="0" u="none" strike="noStrike">
              <a:solidFill>
                <a:srgbClr val="000000"/>
              </a:solidFill>
              <a:effectLst/>
              <a:uFillTx/>
              <a:latin typeface="Arial"/>
            </a:endParaRPr>
          </a:p>
        </p:txBody>
      </p:sp>
      <p:sp>
        <p:nvSpPr>
          <p:cNvPr id="51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2A8C01-7D65-4310-9D05-1399FA6D511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Stretch tasks for fast finishers, to do while you carry on: cache pip and compare the run time of the first and second run; add a timeout and explain why; require the test check before merging; review your own PR on Files changed as if you were a reviewer.</a:t>
            </a:r>
            <a:endParaRPr lang="en-US" sz="2000" b="0" u="none" strike="noStrike">
              <a:solidFill>
                <a:srgbClr val="000000"/>
              </a:solidFill>
              <a:effectLst/>
              <a:uFillTx/>
              <a:latin typeface="Arial"/>
            </a:endParaRPr>
          </a:p>
        </p:txBody>
      </p:sp>
      <p:sp>
        <p:nvSpPr>
          <p:cNvPr id="51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AC407D-A380-455F-BE66-BCB8107EA51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1:25, 3 minutes. Each student adds one line to NOTES.md in the PR branch, commits and pushes, waits for green, then merges the PR with the green button. Students still behind can finish when they can; the demo repo and the docs stay available.</a:t>
            </a:r>
            <a:endParaRPr lang="en-US" sz="2000" b="0" u="none" strike="noStrike">
              <a:solidFill>
                <a:srgbClr val="000000"/>
              </a:solidFill>
              <a:effectLst/>
              <a:uFillTx/>
              <a:latin typeface="Arial"/>
            </a:endParaRPr>
          </a:p>
        </p:txBody>
      </p:sp>
      <p:sp>
        <p:nvSpPr>
          <p:cNvPr id="51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BF2E19-017B-41F1-A2A3-3C375843C3F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1:28, 2 minutes. Stop the Codespace (github.com/codespaces, or gh codespace stop) to save quota and sign out of GitHub on lab PCs. Work lives in the repo, not on the PC.</a:t>
            </a:r>
            <a:endParaRPr lang="en-US" sz="2000" b="0" u="none" strike="noStrike">
              <a:solidFill>
                <a:srgbClr val="000000"/>
              </a:solidFill>
              <a:effectLst/>
              <a:uFillTx/>
              <a:latin typeface="Arial"/>
            </a:endParaRPr>
          </a:p>
        </p:txBody>
      </p:sp>
      <p:sp>
        <p:nvSpPr>
          <p:cNvPr id="52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4FD0361-5CC7-480C-97AE-60A8E8FD6F6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Instructor only. Model solution and the errors students will most likely hit. Items marked verify have not been run on a real runner: rehearse them once.</a:t>
            </a:r>
            <a:endParaRPr lang="en-US" sz="2000" b="0" u="none" strike="noStrike">
              <a:solidFill>
                <a:srgbClr val="000000"/>
              </a:solidFill>
              <a:effectLst/>
              <a:uFillTx/>
              <a:latin typeface="Arial"/>
            </a:endParaRPr>
          </a:p>
        </p:txBody>
      </p:sp>
      <p:sp>
        <p:nvSpPr>
          <p:cNvPr id="52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4E3739-4CD5-41E6-B358-06F1706BF12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ARK">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3640" cy="5143320"/>
          </a:xfrm>
          <a:prstGeom prst="rect">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 name="PlaceHolder 1"/>
          <p:cNvSpPr>
            <a:spLocks noGrp="1"/>
          </p:cNvSpPr>
          <p:nvPr>
            <p:ph type="title" hasCustomPrompt="1"/>
          </p:nvPr>
        </p:nvSpPr>
        <p:spPr>
          <a:xfrm>
            <a:off x="548640" y="320040"/>
            <a:ext cx="8046360" cy="731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400" b="1" u="none" strike="noStrike">
                <a:solidFill>
                  <a:schemeClr val="lt1"/>
                </a:solidFill>
                <a:effectLst/>
                <a:uFillTx/>
                <a:latin typeface="Cambria"/>
              </a:defRPr>
            </a:lvl1pPr>
          </a:lstStyle>
          <a:p>
            <a:pPr indent="0" algn="l" defTabSz="914400">
              <a:lnSpc>
                <a:spcPct val="100000"/>
              </a:lnSpc>
              <a:buNone/>
              <a:tabLst>
                <a:tab pos="0" algn="l"/>
              </a:tabLst>
            </a:pPr>
            <a:r>
              <a:rPr lang="en-US" sz="3400" b="1" u="none" strike="noStrike">
                <a:solidFill>
                  <a:schemeClr val="lt1"/>
                </a:solidFill>
                <a:effectLst/>
                <a:uFillTx/>
                <a:latin typeface="Cambria"/>
              </a:rPr>
              <a:t>Title</a:t>
            </a:r>
            <a:endParaRPr lang="en-US" sz="3400" b="1" u="none" strike="noStrike">
              <a:solidFill>
                <a:schemeClr val="lt1"/>
              </a:solidFill>
              <a:effectLst/>
              <a:uFillTx/>
              <a:latin typeface="Cambria"/>
            </a:endParaRPr>
          </a:p>
        </p:txBody>
      </p:sp>
      <p:sp>
        <p:nvSpPr>
          <p:cNvPr id="4" name="PlaceHolder 2"/>
          <p:cNvSpPr>
            <a:spLocks noGrp="1"/>
          </p:cNvSpPr>
          <p:nvPr>
            <p:ph type="sldNum" idx="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69E8BC94-4F9E-4553-9024-C2BE02F55D4F}"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
        <p:nvSpPr>
          <p:cNvPr id="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IGHT">
    <p:bg>
      <p:bgPr>
        <a:solidFill>
          <a:srgbClr val="FFFFFF"/>
        </a:solidFill>
      </p:bgPr>
    </p:bg>
    <p:spTree>
      <p:nvGrpSpPr>
        <p:cNvPr id="1" name=""/>
        <p:cNvGrpSpPr/>
        <p:nvPr/>
      </p:nvGrpSpPr>
      <p:grpSpPr>
        <a:xfrm>
          <a:off x="0" y="0"/>
          <a:ext cx="0" cy="0"/>
          <a:chOff x="0" y="0"/>
          <a:chExt cx="0" cy="0"/>
        </a:xfrm>
      </p:grpSpPr>
      <p:sp>
        <p:nvSpPr>
          <p:cNvPr id="6" name="Shape 0"/>
          <p:cNvSpPr/>
          <p:nvPr/>
        </p:nvSpPr>
        <p:spPr>
          <a:xfrm>
            <a:off x="0" y="0"/>
            <a:ext cx="9143640" cy="5143320"/>
          </a:xfrm>
          <a:prstGeom prst="rect">
            <a:avLst/>
          </a:prstGeom>
          <a:solidFill>
            <a:schemeClr val="bg1"/>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 name="PlaceHolder 1"/>
          <p:cNvSpPr>
            <a:spLocks noGrp="1"/>
          </p:cNvSpPr>
          <p:nvPr>
            <p:ph type="title" hasCustomPrompt="1"/>
          </p:nvPr>
        </p:nvSpPr>
        <p:spPr>
          <a:xfrm>
            <a:off x="548640" y="320040"/>
            <a:ext cx="8046360" cy="731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400" b="1" u="none" strike="noStrike">
                <a:solidFill>
                  <a:schemeClr val="dk1"/>
                </a:solidFill>
                <a:effectLst/>
                <a:uFillTx/>
                <a:latin typeface="Cambria"/>
              </a:defRPr>
            </a:lvl1pPr>
          </a:lstStyle>
          <a:p>
            <a:pPr indent="0" algn="l" defTabSz="914400">
              <a:lnSpc>
                <a:spcPct val="100000"/>
              </a:lnSpc>
              <a:buNone/>
              <a:tabLst>
                <a:tab pos="0" algn="l"/>
              </a:tabLst>
            </a:pPr>
            <a:r>
              <a:rPr lang="en-US" sz="3400" b="1" u="none" strike="noStrike">
                <a:solidFill>
                  <a:schemeClr val="dk1"/>
                </a:solidFill>
                <a:effectLst/>
                <a:uFillTx/>
                <a:latin typeface="Cambria"/>
              </a:rPr>
              <a:t>Title</a:t>
            </a:r>
            <a:endParaRPr lang="en-US" sz="3400" b="1" u="none" strike="noStrike">
              <a:solidFill>
                <a:schemeClr val="dk1"/>
              </a:solidFill>
              <a:effectLst/>
              <a:uFillTx/>
              <a:latin typeface="Cambria"/>
            </a:endParaRPr>
          </a:p>
        </p:txBody>
      </p:sp>
      <p:sp>
        <p:nvSpPr>
          <p:cNvPr id="8" name="PlaceHolder 2"/>
          <p:cNvSpPr>
            <a:spLocks noGrp="1"/>
          </p:cNvSpPr>
          <p:nvPr>
            <p:ph type="sldNum" idx="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77666C6F-4DCB-491D-B080-0134B178C410}"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
        <p:nvSpPr>
          <p:cNvPr id="9"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3.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6.png"/><Relationship Id="rId8" Type="http://schemas.openxmlformats.org/officeDocument/2006/relationships/image" Target="../media/image13.png"/><Relationship Id="rId9" Type="http://schemas.openxmlformats.org/officeDocument/2006/relationships/slideLayout" Target="../slideLayouts/slideLayout3.xml"/><Relationship Id="rId10"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slideLayout" Target="../slideLayouts/slideLayout3.xml"/><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6.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2.xml"/><Relationship Id="rId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mbria"/>
              </a:rPr>
              <a:t>Do this now</a:t>
            </a:r>
            <a:endParaRPr lang="en-US" sz="3400" b="1" u="none" strike="noStrike">
              <a:solidFill>
                <a:schemeClr val="lt1"/>
              </a:solidFill>
              <a:effectLst/>
              <a:uFillTx/>
              <a:latin typeface="Cambria"/>
            </a:endParaRPr>
          </a:p>
        </p:txBody>
      </p:sp>
      <p:sp>
        <p:nvSpPr>
          <p:cNvPr id="17" name="step 1 circle"/>
          <p:cNvSpPr/>
          <p:nvPr/>
        </p:nvSpPr>
        <p:spPr>
          <a:xfrm>
            <a:off x="548640" y="123444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 name="Text 2"/>
          <p:cNvSpPr/>
          <p:nvPr/>
        </p:nvSpPr>
        <p:spPr>
          <a:xfrm>
            <a:off x="548640" y="12344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FFFFFF"/>
              </a:solidFill>
              <a:effectLst/>
              <a:uFillTx/>
              <a:latin typeface="Arial"/>
            </a:endParaRPr>
          </a:p>
        </p:txBody>
      </p:sp>
      <p:sp>
        <p:nvSpPr>
          <p:cNvPr id="19" name="Text 3"/>
          <p:cNvSpPr/>
          <p:nvPr/>
        </p:nvSpPr>
        <p:spPr>
          <a:xfrm>
            <a:off x="1280160" y="1216080"/>
            <a:ext cx="7314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lt1"/>
                </a:solidFill>
                <a:effectLst/>
                <a:uFillTx/>
                <a:latin typeface="Calibri"/>
              </a:rPr>
              <a:t>Open github.com and sign in</a:t>
            </a:r>
            <a:endParaRPr lang="en-US" sz="1800" b="0" u="none" strike="noStrike">
              <a:solidFill>
                <a:srgbClr val="FFFFFF"/>
              </a:solidFill>
              <a:effectLst/>
              <a:uFillTx/>
              <a:latin typeface="Arial"/>
            </a:endParaRPr>
          </a:p>
        </p:txBody>
      </p:sp>
      <p:sp>
        <p:nvSpPr>
          <p:cNvPr id="20" name="step 2 circle"/>
          <p:cNvSpPr/>
          <p:nvPr/>
        </p:nvSpPr>
        <p:spPr>
          <a:xfrm>
            <a:off x="548640" y="192024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1" name="Text 5"/>
          <p:cNvSpPr/>
          <p:nvPr/>
        </p:nvSpPr>
        <p:spPr>
          <a:xfrm>
            <a:off x="548640" y="19202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FFFFFF"/>
              </a:solidFill>
              <a:effectLst/>
              <a:uFillTx/>
              <a:latin typeface="Arial"/>
            </a:endParaRPr>
          </a:p>
        </p:txBody>
      </p:sp>
      <p:sp>
        <p:nvSpPr>
          <p:cNvPr id="22" name="Text 6"/>
          <p:cNvSpPr/>
          <p:nvPr/>
        </p:nvSpPr>
        <p:spPr>
          <a:xfrm>
            <a:off x="1280160" y="1901880"/>
            <a:ext cx="7314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lt1"/>
                </a:solidFill>
                <a:effectLst/>
                <a:uFillTx/>
                <a:latin typeface="Calibri"/>
              </a:rPr>
              <a:t>Open the template repo</a:t>
            </a:r>
            <a:endParaRPr lang="en-US" sz="1800" b="0" u="none" strike="noStrike">
              <a:solidFill>
                <a:srgbClr val="FFFFFF"/>
              </a:solidFill>
              <a:effectLst/>
              <a:uFillTx/>
              <a:latin typeface="Arial"/>
            </a:endParaRPr>
          </a:p>
        </p:txBody>
      </p:sp>
      <p:sp>
        <p:nvSpPr>
          <p:cNvPr id="23" name="Text 7"/>
          <p:cNvSpPr/>
          <p:nvPr/>
        </p:nvSpPr>
        <p:spPr>
          <a:xfrm>
            <a:off x="1280160" y="2212920"/>
            <a:ext cx="7314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ourier New"/>
                <a:ea typeface="Courier New"/>
              </a:rPr>
              <a:t>github.com/kubino148/devops-lesson-1</a:t>
            </a:r>
            <a:endParaRPr lang="en-US" sz="1400" b="0" u="none" strike="noStrike">
              <a:solidFill>
                <a:srgbClr val="FFFFFF"/>
              </a:solidFill>
              <a:effectLst/>
              <a:uFillTx/>
              <a:latin typeface="Arial"/>
            </a:endParaRPr>
          </a:p>
        </p:txBody>
      </p:sp>
      <p:sp>
        <p:nvSpPr>
          <p:cNvPr id="24" name="step 3 circle"/>
          <p:cNvSpPr/>
          <p:nvPr/>
        </p:nvSpPr>
        <p:spPr>
          <a:xfrm>
            <a:off x="548640" y="260604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 name="Text 9"/>
          <p:cNvSpPr/>
          <p:nvPr/>
        </p:nvSpPr>
        <p:spPr>
          <a:xfrm>
            <a:off x="548640" y="26060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FFFFFF"/>
              </a:solidFill>
              <a:effectLst/>
              <a:uFillTx/>
              <a:latin typeface="Arial"/>
            </a:endParaRPr>
          </a:p>
        </p:txBody>
      </p:sp>
      <p:sp>
        <p:nvSpPr>
          <p:cNvPr id="26" name="Text 10"/>
          <p:cNvSpPr/>
          <p:nvPr/>
        </p:nvSpPr>
        <p:spPr>
          <a:xfrm>
            <a:off x="1280160" y="2587680"/>
            <a:ext cx="7314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lt1"/>
                </a:solidFill>
                <a:effectLst/>
                <a:uFillTx/>
                <a:latin typeface="Calibri"/>
              </a:rPr>
              <a:t>Use this template, then Create a new repository</a:t>
            </a:r>
            <a:endParaRPr lang="en-US" sz="1800" b="0" u="none" strike="noStrike">
              <a:solidFill>
                <a:srgbClr val="FFFFFF"/>
              </a:solidFill>
              <a:effectLst/>
              <a:uFillTx/>
              <a:latin typeface="Arial"/>
            </a:endParaRPr>
          </a:p>
        </p:txBody>
      </p:sp>
      <p:sp>
        <p:nvSpPr>
          <p:cNvPr id="27" name="Text 11"/>
          <p:cNvSpPr/>
          <p:nvPr/>
        </p:nvSpPr>
        <p:spPr>
          <a:xfrm>
            <a:off x="1280160" y="2898720"/>
            <a:ext cx="7314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ourier New"/>
                <a:ea typeface="Courier New"/>
              </a:rPr>
              <a:t>public  -  name: devops-lesson-1-&lt;yourname&gt;</a:t>
            </a:r>
            <a:endParaRPr lang="en-US" sz="1400" b="0" u="none" strike="noStrike">
              <a:solidFill>
                <a:srgbClr val="FFFFFF"/>
              </a:solidFill>
              <a:effectLst/>
              <a:uFillTx/>
              <a:latin typeface="Arial"/>
            </a:endParaRPr>
          </a:p>
        </p:txBody>
      </p:sp>
      <p:sp>
        <p:nvSpPr>
          <p:cNvPr id="28" name="step 4 circle"/>
          <p:cNvSpPr/>
          <p:nvPr/>
        </p:nvSpPr>
        <p:spPr>
          <a:xfrm>
            <a:off x="548640" y="329184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 name="Text 13"/>
          <p:cNvSpPr/>
          <p:nvPr/>
        </p:nvSpPr>
        <p:spPr>
          <a:xfrm>
            <a:off x="548640" y="32918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4</a:t>
            </a:r>
            <a:endParaRPr lang="en-US" sz="2000" b="0" u="none" strike="noStrike">
              <a:solidFill>
                <a:srgbClr val="FFFFFF"/>
              </a:solidFill>
              <a:effectLst/>
              <a:uFillTx/>
              <a:latin typeface="Arial"/>
            </a:endParaRPr>
          </a:p>
        </p:txBody>
      </p:sp>
      <p:sp>
        <p:nvSpPr>
          <p:cNvPr id="30" name="Text 14"/>
          <p:cNvSpPr/>
          <p:nvPr/>
        </p:nvSpPr>
        <p:spPr>
          <a:xfrm>
            <a:off x="1280160" y="3273480"/>
            <a:ext cx="7314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lt1"/>
                </a:solidFill>
                <a:effectLst/>
                <a:uFillTx/>
                <a:latin typeface="Calibri"/>
              </a:rPr>
              <a:t>Code, then Codespaces, then Create codespace on main</a:t>
            </a:r>
            <a:endParaRPr lang="en-US" sz="1800" b="0" u="none" strike="noStrike">
              <a:solidFill>
                <a:srgbClr val="FFFFFF"/>
              </a:solidFill>
              <a:effectLst/>
              <a:uFillTx/>
              <a:latin typeface="Arial"/>
            </a:endParaRPr>
          </a:p>
        </p:txBody>
      </p:sp>
      <p:sp>
        <p:nvSpPr>
          <p:cNvPr id="31" name="Text 15"/>
          <p:cNvSpPr/>
          <p:nvPr/>
        </p:nvSpPr>
        <p:spPr>
          <a:xfrm>
            <a:off x="1280160" y="3584520"/>
            <a:ext cx="7314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ourier New"/>
                <a:ea typeface="Courier New"/>
              </a:rPr>
              <a:t>It boots in 1-2 minutes. Keep listening.</a:t>
            </a:r>
            <a:endParaRPr lang="en-US" sz="1400" b="0" u="none" strike="noStrike">
              <a:solidFill>
                <a:srgbClr val="FFFFFF"/>
              </a:solidFill>
              <a:effectLst/>
              <a:uFillTx/>
              <a:latin typeface="Arial"/>
            </a:endParaRPr>
          </a:p>
        </p:txBody>
      </p:sp>
      <p:sp>
        <p:nvSpPr>
          <p:cNvPr id="32" name="step 5 circle"/>
          <p:cNvSpPr/>
          <p:nvPr/>
        </p:nvSpPr>
        <p:spPr>
          <a:xfrm>
            <a:off x="548640" y="397764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 name="Text 17"/>
          <p:cNvSpPr/>
          <p:nvPr/>
        </p:nvSpPr>
        <p:spPr>
          <a:xfrm>
            <a:off x="548640" y="39776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5</a:t>
            </a:r>
            <a:endParaRPr lang="en-US" sz="2000" b="0" u="none" strike="noStrike">
              <a:solidFill>
                <a:srgbClr val="FFFFFF"/>
              </a:solidFill>
              <a:effectLst/>
              <a:uFillTx/>
              <a:latin typeface="Arial"/>
            </a:endParaRPr>
          </a:p>
        </p:txBody>
      </p:sp>
      <p:sp>
        <p:nvSpPr>
          <p:cNvPr id="34" name="Text 18"/>
          <p:cNvSpPr/>
          <p:nvPr/>
        </p:nvSpPr>
        <p:spPr>
          <a:xfrm>
            <a:off x="1280160" y="3959280"/>
            <a:ext cx="7314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lt1"/>
                </a:solidFill>
                <a:effectLst/>
                <a:uFillTx/>
                <a:latin typeface="Calibri"/>
              </a:rPr>
              <a:t>Click your active codespace to open it in the editor</a:t>
            </a:r>
            <a:endParaRPr lang="en-US" sz="1800" b="0" u="none" strike="noStrike">
              <a:solidFill>
                <a:srgbClr val="FFFFFF"/>
              </a:solidFill>
              <a:effectLst/>
              <a:uFillTx/>
              <a:latin typeface="Arial"/>
            </a:endParaRPr>
          </a:p>
        </p:txBody>
      </p:sp>
      <p:sp>
        <p:nvSpPr>
          <p:cNvPr id="35" name="Text 19"/>
          <p:cNvSpPr/>
          <p:nvPr/>
        </p:nvSpPr>
        <p:spPr>
          <a:xfrm>
            <a:off x="1280160" y="4270320"/>
            <a:ext cx="7314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ourier New"/>
                <a:ea typeface="Courier New"/>
              </a:rPr>
              <a:t>It opens in your browser, terminal included.</a:t>
            </a:r>
            <a:endParaRPr lang="en-US" sz="1400" b="0" u="none" strike="noStrike">
              <a:solidFill>
                <a:srgbClr val="FFFFFF"/>
              </a:solidFill>
              <a:effectLst/>
              <a:uFillTx/>
              <a:latin typeface="Arial"/>
            </a:endParaRPr>
          </a:p>
        </p:txBody>
      </p:sp>
      <p:sp>
        <p:nvSpPr>
          <p:cNvPr id="36" name="PlaceHolder 2"/>
          <p:cNvSpPr>
            <a:spLocks noGrp="1"/>
          </p:cNvSpPr>
          <p:nvPr>
            <p:ph type="sldNum" idx="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4282FABE-4586-46D2-A55C-971C77AA9061}"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About the workshop</a:t>
            </a:r>
            <a:endParaRPr lang="en-US" sz="3400" b="1" u="none" strike="noStrike">
              <a:solidFill>
                <a:schemeClr val="dk1"/>
              </a:solidFill>
              <a:effectLst/>
              <a:uFillTx/>
              <a:latin typeface="Cambria"/>
            </a:endParaRPr>
          </a:p>
        </p:txBody>
      </p:sp>
      <p:sp>
        <p:nvSpPr>
          <p:cNvPr id="38" name="contact card"/>
          <p:cNvSpPr/>
          <p:nvPr/>
        </p:nvSpPr>
        <p:spPr>
          <a:xfrm>
            <a:off x="548640" y="1280160"/>
            <a:ext cx="3931560" cy="1188360"/>
          </a:xfrm>
          <a:prstGeom prst="roundRect">
            <a:avLst>
              <a:gd name="adj" fmla="val 6154"/>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 name="Text 2"/>
          <p:cNvSpPr/>
          <p:nvPr/>
        </p:nvSpPr>
        <p:spPr>
          <a:xfrm>
            <a:off x="777240" y="1389960"/>
            <a:ext cx="34743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6"/>
                </a:solidFill>
                <a:effectLst/>
                <a:uFillTx/>
                <a:latin typeface="Calibri"/>
              </a:rPr>
              <a:t>Your instructor</a:t>
            </a:r>
            <a:endParaRPr lang="en-US" sz="1400" b="0" u="none" strike="noStrike">
              <a:solidFill>
                <a:srgbClr val="000000"/>
              </a:solidFill>
              <a:effectLst/>
              <a:uFillTx/>
              <a:latin typeface="Arial"/>
            </a:endParaRPr>
          </a:p>
        </p:txBody>
      </p:sp>
      <p:sp>
        <p:nvSpPr>
          <p:cNvPr id="40" name="Text 3"/>
          <p:cNvSpPr/>
          <p:nvPr/>
        </p:nvSpPr>
        <p:spPr>
          <a:xfrm>
            <a:off x="777240" y="1691640"/>
            <a:ext cx="34743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Jakub Załucki</a:t>
            </a:r>
            <a:endParaRPr lang="en-US" sz="2200" b="0" u="none" strike="noStrike">
              <a:solidFill>
                <a:srgbClr val="000000"/>
              </a:solidFill>
              <a:effectLst/>
              <a:uFillTx/>
              <a:latin typeface="Arial"/>
            </a:endParaRPr>
          </a:p>
        </p:txBody>
      </p:sp>
      <p:sp>
        <p:nvSpPr>
          <p:cNvPr id="41" name="Text 4"/>
          <p:cNvSpPr/>
          <p:nvPr/>
        </p:nvSpPr>
        <p:spPr>
          <a:xfrm>
            <a:off x="777240" y="2057400"/>
            <a:ext cx="347436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6"/>
                </a:solidFill>
                <a:effectLst/>
                <a:uFillTx/>
                <a:latin typeface="Calibri"/>
              </a:rPr>
              <a:t>zaluckij@uek.krakow.pl</a:t>
            </a:r>
            <a:endParaRPr lang="en-US" sz="1600" b="0" u="none" strike="noStrike">
              <a:solidFill>
                <a:srgbClr val="000000"/>
              </a:solidFill>
              <a:effectLst/>
              <a:uFillTx/>
              <a:latin typeface="Arial"/>
            </a:endParaRPr>
          </a:p>
        </p:txBody>
      </p:sp>
      <p:sp>
        <p:nvSpPr>
          <p:cNvPr id="42" name="attendance card"/>
          <p:cNvSpPr/>
          <p:nvPr/>
        </p:nvSpPr>
        <p:spPr>
          <a:xfrm>
            <a:off x="4663440" y="1280160"/>
            <a:ext cx="3931560" cy="1188360"/>
          </a:xfrm>
          <a:prstGeom prst="roundRect">
            <a:avLst>
              <a:gd name="adj" fmla="val 6154"/>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 name="Text 6"/>
          <p:cNvSpPr/>
          <p:nvPr/>
        </p:nvSpPr>
        <p:spPr>
          <a:xfrm>
            <a:off x="4892040" y="1371600"/>
            <a:ext cx="155412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400" b="1" u="none" strike="noStrike">
                <a:solidFill>
                  <a:schemeClr val="accent1"/>
                </a:solidFill>
                <a:effectLst/>
                <a:uFillTx/>
                <a:latin typeface="Calibri"/>
              </a:rPr>
              <a:t>50%</a:t>
            </a:r>
            <a:endParaRPr lang="en-US" sz="5400" b="0" u="none" strike="noStrike">
              <a:solidFill>
                <a:srgbClr val="000000"/>
              </a:solidFill>
              <a:effectLst/>
              <a:uFillTx/>
              <a:latin typeface="Arial"/>
            </a:endParaRPr>
          </a:p>
        </p:txBody>
      </p:sp>
      <p:sp>
        <p:nvSpPr>
          <p:cNvPr id="44" name="Text 7"/>
          <p:cNvSpPr/>
          <p:nvPr/>
        </p:nvSpPr>
        <p:spPr>
          <a:xfrm>
            <a:off x="6400800" y="1371600"/>
            <a:ext cx="210276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attendance required</a:t>
            </a:r>
            <a:endParaRPr lang="en-US" sz="1800" b="0" u="none" strike="noStrike">
              <a:solidFill>
                <a:srgbClr val="000000"/>
              </a:solidFill>
              <a:effectLst/>
              <a:uFillTx/>
              <a:latin typeface="Arial"/>
            </a:endParaRPr>
          </a:p>
        </p:txBody>
      </p:sp>
      <p:sp>
        <p:nvSpPr>
          <p:cNvPr id="45" name="Text 8"/>
          <p:cNvSpPr/>
          <p:nvPr/>
        </p:nvSpPr>
        <p:spPr>
          <a:xfrm>
            <a:off x="548640" y="2743200"/>
            <a:ext cx="36572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6"/>
                </a:solidFill>
                <a:effectLst/>
                <a:uFillTx/>
                <a:latin typeface="Calibri"/>
              </a:rPr>
              <a:t>Each session</a:t>
            </a:r>
            <a:endParaRPr lang="en-US" sz="1400" b="0" u="none" strike="noStrike">
              <a:solidFill>
                <a:srgbClr val="000000"/>
              </a:solidFill>
              <a:effectLst/>
              <a:uFillTx/>
              <a:latin typeface="Arial"/>
            </a:endParaRPr>
          </a:p>
        </p:txBody>
      </p:sp>
      <p:sp>
        <p:nvSpPr>
          <p:cNvPr id="46" name="block 45"/>
          <p:cNvSpPr/>
          <p:nvPr/>
        </p:nvSpPr>
        <p:spPr>
          <a:xfrm>
            <a:off x="548640" y="3063240"/>
            <a:ext cx="4023000" cy="731160"/>
          </a:xfrm>
          <a:prstGeom prst="rect">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7" name="block break"/>
          <p:cNvSpPr/>
          <p:nvPr/>
        </p:nvSpPr>
        <p:spPr>
          <a:xfrm>
            <a:off x="4572000" y="3063240"/>
            <a:ext cx="446760" cy="731160"/>
          </a:xfrm>
          <a:prstGeom prst="rect">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8" name="block 40"/>
          <p:cNvSpPr/>
          <p:nvPr/>
        </p:nvSpPr>
        <p:spPr>
          <a:xfrm>
            <a:off x="5019120" y="3063240"/>
            <a:ext cx="3575880" cy="731160"/>
          </a:xfrm>
          <a:prstGeom prst="rect">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9" name="Text 12"/>
          <p:cNvSpPr/>
          <p:nvPr/>
        </p:nvSpPr>
        <p:spPr>
          <a:xfrm>
            <a:off x="548640" y="3063240"/>
            <a:ext cx="402300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45 minutes</a:t>
            </a:r>
            <a:endParaRPr lang="en-US" sz="2000" b="0" u="none" strike="noStrike">
              <a:solidFill>
                <a:srgbClr val="000000"/>
              </a:solidFill>
              <a:effectLst/>
              <a:uFillTx/>
              <a:latin typeface="Arial"/>
            </a:endParaRPr>
          </a:p>
        </p:txBody>
      </p:sp>
      <p:sp>
        <p:nvSpPr>
          <p:cNvPr id="50" name="Text 13"/>
          <p:cNvSpPr/>
          <p:nvPr/>
        </p:nvSpPr>
        <p:spPr>
          <a:xfrm>
            <a:off x="4572000" y="3063240"/>
            <a:ext cx="44676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5</a:t>
            </a:r>
            <a:endParaRPr lang="en-US" sz="1800" b="0" u="none" strike="noStrike">
              <a:solidFill>
                <a:srgbClr val="000000"/>
              </a:solidFill>
              <a:effectLst/>
              <a:uFillTx/>
              <a:latin typeface="Arial"/>
            </a:endParaRPr>
          </a:p>
        </p:txBody>
      </p:sp>
      <p:sp>
        <p:nvSpPr>
          <p:cNvPr id="51" name="Text 14"/>
          <p:cNvSpPr/>
          <p:nvPr/>
        </p:nvSpPr>
        <p:spPr>
          <a:xfrm>
            <a:off x="5019120" y="3063240"/>
            <a:ext cx="35758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40 minutes</a:t>
            </a:r>
            <a:endParaRPr lang="en-US" sz="2000" b="0" u="none" strike="noStrike">
              <a:solidFill>
                <a:srgbClr val="000000"/>
              </a:solidFill>
              <a:effectLst/>
              <a:uFillTx/>
              <a:latin typeface="Arial"/>
            </a:endParaRPr>
          </a:p>
        </p:txBody>
      </p:sp>
      <p:sp>
        <p:nvSpPr>
          <p:cNvPr id="52" name="Text 15"/>
          <p:cNvSpPr/>
          <p:nvPr/>
        </p:nvSpPr>
        <p:spPr>
          <a:xfrm>
            <a:off x="4297680" y="3886200"/>
            <a:ext cx="99540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accent6"/>
                </a:solidFill>
                <a:effectLst/>
                <a:uFillTx/>
                <a:latin typeface="Calibri"/>
              </a:rPr>
              <a:t>break</a:t>
            </a:r>
            <a:endParaRPr lang="en-US" sz="1400" b="0" u="none" strike="noStrike">
              <a:solidFill>
                <a:srgbClr val="000000"/>
              </a:solidFill>
              <a:effectLst/>
              <a:uFillTx/>
              <a:latin typeface="Arial"/>
            </a:endParaRPr>
          </a:p>
        </p:txBody>
      </p:sp>
      <p:sp>
        <p:nvSpPr>
          <p:cNvPr id="53" name="PlaceHolder 2"/>
          <p:cNvSpPr>
            <a:spLocks noGrp="1"/>
          </p:cNvSpPr>
          <p:nvPr>
            <p:ph type="sldNum" idx="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2E2E2CB-BF9F-491B-B4DD-07F2F9BC05D9}"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How you are assessed</a:t>
            </a:r>
            <a:endParaRPr lang="en-US" sz="3400" b="1" u="none" strike="noStrike">
              <a:solidFill>
                <a:schemeClr val="dk1"/>
              </a:solidFill>
              <a:effectLst/>
              <a:uFillTx/>
              <a:latin typeface="Cambria"/>
            </a:endParaRPr>
          </a:p>
        </p:txBody>
      </p:sp>
      <p:sp>
        <p:nvSpPr>
          <p:cNvPr id="55" name="exam card"/>
          <p:cNvSpPr/>
          <p:nvPr/>
        </p:nvSpPr>
        <p:spPr>
          <a:xfrm>
            <a:off x="548640" y="1280160"/>
            <a:ext cx="3931560" cy="3291480"/>
          </a:xfrm>
          <a:prstGeom prst="roundRect">
            <a:avLst>
              <a:gd name="adj" fmla="val 2222"/>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6" name="Text 2"/>
          <p:cNvSpPr/>
          <p:nvPr/>
        </p:nvSpPr>
        <p:spPr>
          <a:xfrm>
            <a:off x="777240" y="1417320"/>
            <a:ext cx="34743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Graded oral exam</a:t>
            </a:r>
            <a:endParaRPr lang="en-US" sz="2200" b="0" u="none" strike="noStrike">
              <a:solidFill>
                <a:srgbClr val="000000"/>
              </a:solidFill>
              <a:effectLst/>
              <a:uFillTx/>
              <a:latin typeface="Arial"/>
            </a:endParaRPr>
          </a:p>
        </p:txBody>
      </p:sp>
      <p:sp>
        <p:nvSpPr>
          <p:cNvPr id="57" name="exam 1"/>
          <p:cNvSpPr/>
          <p:nvPr/>
        </p:nvSpPr>
        <p:spPr>
          <a:xfrm>
            <a:off x="777240" y="201168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8" name="Text 4"/>
          <p:cNvSpPr/>
          <p:nvPr/>
        </p:nvSpPr>
        <p:spPr>
          <a:xfrm>
            <a:off x="777240" y="201168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59" name="Text 5"/>
          <p:cNvSpPr/>
          <p:nvPr/>
        </p:nvSpPr>
        <p:spPr>
          <a:xfrm>
            <a:off x="1463040" y="2011680"/>
            <a:ext cx="2834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One knowledge question</a:t>
            </a:r>
            <a:endParaRPr lang="en-US" sz="1600" b="0" u="none" strike="noStrike">
              <a:solidFill>
                <a:srgbClr val="000000"/>
              </a:solidFill>
              <a:effectLst/>
              <a:uFillTx/>
              <a:latin typeface="Arial"/>
            </a:endParaRPr>
          </a:p>
        </p:txBody>
      </p:sp>
      <p:sp>
        <p:nvSpPr>
          <p:cNvPr id="60" name="exam 2"/>
          <p:cNvSpPr/>
          <p:nvPr/>
        </p:nvSpPr>
        <p:spPr>
          <a:xfrm>
            <a:off x="777240" y="283464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1" name="Text 7"/>
          <p:cNvSpPr/>
          <p:nvPr/>
        </p:nvSpPr>
        <p:spPr>
          <a:xfrm>
            <a:off x="777240" y="28346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62" name="Text 8"/>
          <p:cNvSpPr/>
          <p:nvPr/>
        </p:nvSpPr>
        <p:spPr>
          <a:xfrm>
            <a:off x="1463040" y="2834640"/>
            <a:ext cx="2834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One theoretical scenario question</a:t>
            </a:r>
            <a:endParaRPr lang="en-US" sz="1600" b="0" u="none" strike="noStrike">
              <a:solidFill>
                <a:srgbClr val="000000"/>
              </a:solidFill>
              <a:effectLst/>
              <a:uFillTx/>
              <a:latin typeface="Arial"/>
            </a:endParaRPr>
          </a:p>
        </p:txBody>
      </p:sp>
      <p:sp>
        <p:nvSpPr>
          <p:cNvPr id="63" name="exam 3"/>
          <p:cNvSpPr/>
          <p:nvPr/>
        </p:nvSpPr>
        <p:spPr>
          <a:xfrm>
            <a:off x="777240" y="3657600"/>
            <a:ext cx="502560" cy="50256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4" name="Text 10"/>
          <p:cNvSpPr/>
          <p:nvPr/>
        </p:nvSpPr>
        <p:spPr>
          <a:xfrm>
            <a:off x="777240" y="365760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000000"/>
              </a:solidFill>
              <a:effectLst/>
              <a:uFillTx/>
              <a:latin typeface="Arial"/>
            </a:endParaRPr>
          </a:p>
        </p:txBody>
      </p:sp>
      <p:sp>
        <p:nvSpPr>
          <p:cNvPr id="65" name="Text 11"/>
          <p:cNvSpPr/>
          <p:nvPr/>
        </p:nvSpPr>
        <p:spPr>
          <a:xfrm>
            <a:off x="1463040" y="3657600"/>
            <a:ext cx="2834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One code review question</a:t>
            </a:r>
            <a:endParaRPr lang="en-US" sz="1600" b="0" u="none" strike="noStrike">
              <a:solidFill>
                <a:srgbClr val="000000"/>
              </a:solidFill>
              <a:effectLst/>
              <a:uFillTx/>
              <a:latin typeface="Arial"/>
            </a:endParaRPr>
          </a:p>
        </p:txBody>
      </p:sp>
      <p:sp>
        <p:nvSpPr>
          <p:cNvPr id="66" name="outcomes card"/>
          <p:cNvSpPr/>
          <p:nvPr/>
        </p:nvSpPr>
        <p:spPr>
          <a:xfrm>
            <a:off x="4663440" y="1280160"/>
            <a:ext cx="3931560" cy="3291480"/>
          </a:xfrm>
          <a:prstGeom prst="roundRect">
            <a:avLst>
              <a:gd name="adj" fmla="val 2222"/>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 name="Text 13"/>
          <p:cNvSpPr/>
          <p:nvPr/>
        </p:nvSpPr>
        <p:spPr>
          <a:xfrm>
            <a:off x="4892040" y="1417320"/>
            <a:ext cx="34743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By the end you can</a:t>
            </a:r>
            <a:endParaRPr lang="en-US" sz="2200" b="0" u="none" strike="noStrike">
              <a:solidFill>
                <a:srgbClr val="000000"/>
              </a:solidFill>
              <a:effectLst/>
              <a:uFillTx/>
              <a:latin typeface="Arial"/>
            </a:endParaRPr>
          </a:p>
        </p:txBody>
      </p:sp>
      <p:sp>
        <p:nvSpPr>
          <p:cNvPr id="68" name="Text 14"/>
          <p:cNvSpPr/>
          <p:nvPr/>
        </p:nvSpPr>
        <p:spPr>
          <a:xfrm>
            <a:off x="4892040" y="1920240"/>
            <a:ext cx="3520080" cy="251424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61B22"/>
              </a:buClr>
              <a:buFont typeface="Symbol" charset="2"/>
              <a:buChar char=""/>
            </a:pPr>
            <a:r>
              <a:rPr lang="en-US" sz="1600" b="0" u="none" strike="noStrike">
                <a:solidFill>
                  <a:schemeClr val="dk1"/>
                </a:solidFill>
                <a:effectLst/>
                <a:uFillTx/>
                <a:latin typeface="Calibri"/>
              </a:rPr>
              <a:t>Work with Git and GitHub in a team</a:t>
            </a:r>
            <a:endParaRPr lang="en-US" sz="1600" b="0" u="none" strike="noStrike">
              <a:solidFill>
                <a:srgbClr val="000000"/>
              </a:solidFill>
              <a:effectLst/>
              <a:uFillTx/>
              <a:latin typeface="Arial"/>
            </a:endParaRPr>
          </a:p>
          <a:p>
            <a:pPr marL="177840" indent="-177840" defTabSz="914400">
              <a:lnSpc>
                <a:spcPct val="100000"/>
              </a:lnSpc>
              <a:spcAft>
                <a:spcPts val="601"/>
              </a:spcAft>
              <a:buClr>
                <a:srgbClr val="161B22"/>
              </a:buClr>
              <a:buFont typeface="Symbol" charset="2"/>
              <a:buChar char=""/>
            </a:pPr>
            <a:r>
              <a:rPr lang="en-US" sz="1600" b="0" u="none" strike="noStrike">
                <a:solidFill>
                  <a:schemeClr val="dk1"/>
                </a:solidFill>
                <a:effectLst/>
                <a:uFillTx/>
                <a:latin typeface="Calibri"/>
              </a:rPr>
              <a:t>Build and explain a CI pipeline</a:t>
            </a:r>
            <a:endParaRPr lang="en-US" sz="1600" b="0" u="none" strike="noStrike">
              <a:solidFill>
                <a:srgbClr val="000000"/>
              </a:solidFill>
              <a:effectLst/>
              <a:uFillTx/>
              <a:latin typeface="Arial"/>
            </a:endParaRPr>
          </a:p>
          <a:p>
            <a:pPr marL="177840" indent="-177840" defTabSz="914400">
              <a:lnSpc>
                <a:spcPct val="100000"/>
              </a:lnSpc>
              <a:spcAft>
                <a:spcPts val="601"/>
              </a:spcAft>
              <a:buClr>
                <a:srgbClr val="161B22"/>
              </a:buClr>
              <a:buFont typeface="Symbol" charset="2"/>
              <a:buChar char=""/>
            </a:pPr>
            <a:r>
              <a:rPr lang="en-US" sz="1600" b="0" u="none" strike="noStrike">
                <a:solidFill>
                  <a:schemeClr val="dk1"/>
                </a:solidFill>
                <a:effectLst/>
                <a:uFillTx/>
                <a:latin typeface="Calibri"/>
              </a:rPr>
              <a:t>Run apps with Docker and Compose</a:t>
            </a:r>
            <a:endParaRPr lang="en-US" sz="1600" b="0" u="none" strike="noStrike">
              <a:solidFill>
                <a:srgbClr val="000000"/>
              </a:solidFill>
              <a:effectLst/>
              <a:uFillTx/>
              <a:latin typeface="Arial"/>
            </a:endParaRPr>
          </a:p>
          <a:p>
            <a:pPr marL="177840" indent="-177840" defTabSz="914400">
              <a:lnSpc>
                <a:spcPct val="100000"/>
              </a:lnSpc>
              <a:spcAft>
                <a:spcPts val="601"/>
              </a:spcAft>
              <a:buClr>
                <a:srgbClr val="161B22"/>
              </a:buClr>
              <a:buFont typeface="Symbol" charset="2"/>
              <a:buChar char=""/>
            </a:pPr>
            <a:r>
              <a:rPr lang="en-US" sz="1600" b="0" u="none" strike="noStrike">
                <a:solidFill>
                  <a:schemeClr val="dk1"/>
                </a:solidFill>
                <a:effectLst/>
                <a:uFillTx/>
                <a:latin typeface="Calibri"/>
              </a:rPr>
              <a:t>Add quality and security gates</a:t>
            </a:r>
            <a:endParaRPr lang="en-US" sz="1600" b="0" u="none" strike="noStrike">
              <a:solidFill>
                <a:srgbClr val="000000"/>
              </a:solidFill>
              <a:effectLst/>
              <a:uFillTx/>
              <a:latin typeface="Arial"/>
            </a:endParaRPr>
          </a:p>
          <a:p>
            <a:pPr marL="177840" indent="-177840" defTabSz="914400">
              <a:lnSpc>
                <a:spcPct val="100000"/>
              </a:lnSpc>
              <a:spcAft>
                <a:spcPts val="601"/>
              </a:spcAft>
              <a:buClr>
                <a:srgbClr val="161B22"/>
              </a:buClr>
              <a:buFont typeface="Symbol" charset="2"/>
              <a:buChar char=""/>
            </a:pPr>
            <a:r>
              <a:rPr lang="en-US" sz="1600" b="0" u="none" strike="noStrike">
                <a:solidFill>
                  <a:schemeClr val="dk1"/>
                </a:solidFill>
                <a:effectLst/>
                <a:uFillTx/>
                <a:latin typeface="Calibri"/>
              </a:rPr>
              <a:t>Describe infrastructure as code</a:t>
            </a:r>
            <a:endParaRPr lang="en-US" sz="1600" b="0" u="none" strike="noStrike">
              <a:solidFill>
                <a:srgbClr val="000000"/>
              </a:solidFill>
              <a:effectLst/>
              <a:uFillTx/>
              <a:latin typeface="Arial"/>
            </a:endParaRPr>
          </a:p>
          <a:p>
            <a:pPr marL="177840" indent="-177840" defTabSz="914400">
              <a:lnSpc>
                <a:spcPct val="100000"/>
              </a:lnSpc>
              <a:spcAft>
                <a:spcPts val="601"/>
              </a:spcAft>
              <a:buClr>
                <a:srgbClr val="161B22"/>
              </a:buClr>
              <a:buFont typeface="Symbol" charset="2"/>
              <a:buChar char=""/>
            </a:pPr>
            <a:r>
              <a:rPr lang="en-US" sz="1600" b="1" u="none" strike="noStrike">
                <a:solidFill>
                  <a:schemeClr val="dk1"/>
                </a:solidFill>
                <a:effectLst/>
                <a:uFillTx/>
                <a:latin typeface="Calibri"/>
              </a:rPr>
              <a:t>Explain, verify and troubleshoot all of it</a:t>
            </a:r>
            <a:endParaRPr lang="en-US" sz="1600" b="0" u="none" strike="noStrike">
              <a:solidFill>
                <a:srgbClr val="000000"/>
              </a:solidFill>
              <a:effectLst/>
              <a:uFillTx/>
              <a:latin typeface="Arial"/>
            </a:endParaRPr>
          </a:p>
        </p:txBody>
      </p:sp>
      <p:sp>
        <p:nvSpPr>
          <p:cNvPr id="69" name="PlaceHolder 2"/>
          <p:cNvSpPr>
            <a:spLocks noGrp="1"/>
          </p:cNvSpPr>
          <p:nvPr>
            <p:ph type="sldNum" idx="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0D5265E1-3AB5-404F-908E-5FEE2F70DA46}"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Dev and Ops: the wall</a:t>
            </a:r>
            <a:endParaRPr lang="en-US" sz="3400" b="1" u="none" strike="noStrike">
              <a:solidFill>
                <a:schemeClr val="dk1"/>
              </a:solidFill>
              <a:effectLst/>
              <a:uFillTx/>
              <a:latin typeface="Cambria"/>
            </a:endParaRPr>
          </a:p>
        </p:txBody>
      </p:sp>
      <p:sp>
        <p:nvSpPr>
          <p:cNvPr id="71" name="dev box"/>
          <p:cNvSpPr/>
          <p:nvPr/>
        </p:nvSpPr>
        <p:spPr>
          <a:xfrm>
            <a:off x="548640" y="1280160"/>
            <a:ext cx="2651400" cy="1554120"/>
          </a:xfrm>
          <a:prstGeom prst="roundRect">
            <a:avLst>
              <a:gd name="adj" fmla="val 4706"/>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 name="Text 2"/>
          <p:cNvSpPr/>
          <p:nvPr/>
        </p:nvSpPr>
        <p:spPr>
          <a:xfrm>
            <a:off x="548640" y="1371600"/>
            <a:ext cx="265140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000" b="1" u="none" strike="noStrike">
                <a:solidFill>
                  <a:schemeClr val="lt1"/>
                </a:solidFill>
                <a:effectLst/>
                <a:uFillTx/>
                <a:latin typeface="Calibri"/>
              </a:rPr>
              <a:t>Dev</a:t>
            </a:r>
            <a:endParaRPr lang="en-US" sz="3000" b="0" u="none" strike="noStrike">
              <a:solidFill>
                <a:srgbClr val="000000"/>
              </a:solidFill>
              <a:effectLst/>
              <a:uFillTx/>
              <a:latin typeface="Arial"/>
            </a:endParaRPr>
          </a:p>
        </p:txBody>
      </p:sp>
      <p:sp>
        <p:nvSpPr>
          <p:cNvPr id="73" name="Text 3"/>
          <p:cNvSpPr/>
          <p:nvPr/>
        </p:nvSpPr>
        <p:spPr>
          <a:xfrm>
            <a:off x="548640" y="2011680"/>
            <a:ext cx="265140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u="none" strike="noStrike">
                <a:solidFill>
                  <a:schemeClr val="lt1"/>
                </a:solidFill>
                <a:effectLst/>
                <a:uFillTx/>
                <a:latin typeface="Calibri"/>
              </a:rPr>
              <a:t>Ship changes fast</a:t>
            </a:r>
            <a:endParaRPr lang="en-US" sz="1800" b="0" u="none" strike="noStrike">
              <a:solidFill>
                <a:srgbClr val="000000"/>
              </a:solidFill>
              <a:effectLst/>
              <a:uFillTx/>
              <a:latin typeface="Arial"/>
            </a:endParaRPr>
          </a:p>
        </p:txBody>
      </p:sp>
      <p:sp>
        <p:nvSpPr>
          <p:cNvPr id="74" name="wall"/>
          <p:cNvSpPr/>
          <p:nvPr/>
        </p:nvSpPr>
        <p:spPr>
          <a:xfrm>
            <a:off x="4297680" y="1188720"/>
            <a:ext cx="548280" cy="1737000"/>
          </a:xfrm>
          <a:prstGeom prst="rect">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5" name="ops box"/>
          <p:cNvSpPr/>
          <p:nvPr/>
        </p:nvSpPr>
        <p:spPr>
          <a:xfrm>
            <a:off x="5943600" y="1280160"/>
            <a:ext cx="2651400" cy="1554120"/>
          </a:xfrm>
          <a:prstGeom prst="roundRect">
            <a:avLst>
              <a:gd name="adj" fmla="val 4706"/>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6" name="Text 6"/>
          <p:cNvSpPr/>
          <p:nvPr/>
        </p:nvSpPr>
        <p:spPr>
          <a:xfrm>
            <a:off x="5943600" y="1371600"/>
            <a:ext cx="2651400" cy="5482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3000" b="1" u="none" strike="noStrike">
                <a:solidFill>
                  <a:schemeClr val="lt1"/>
                </a:solidFill>
                <a:effectLst/>
                <a:uFillTx/>
                <a:latin typeface="Calibri"/>
              </a:rPr>
              <a:t>Ops</a:t>
            </a:r>
            <a:endParaRPr lang="en-US" sz="3000" b="0" u="none" strike="noStrike">
              <a:solidFill>
                <a:srgbClr val="000000"/>
              </a:solidFill>
              <a:effectLst/>
              <a:uFillTx/>
              <a:latin typeface="Arial"/>
            </a:endParaRPr>
          </a:p>
        </p:txBody>
      </p:sp>
      <p:sp>
        <p:nvSpPr>
          <p:cNvPr id="77" name="Text 7"/>
          <p:cNvSpPr/>
          <p:nvPr/>
        </p:nvSpPr>
        <p:spPr>
          <a:xfrm>
            <a:off x="5943600" y="2011680"/>
            <a:ext cx="265140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u="none" strike="noStrike">
                <a:solidFill>
                  <a:schemeClr val="lt1"/>
                </a:solidFill>
                <a:effectLst/>
                <a:uFillTx/>
                <a:latin typeface="Calibri"/>
              </a:rPr>
              <a:t>Keep it stable</a:t>
            </a:r>
            <a:endParaRPr lang="en-US" sz="1800" b="0" u="none" strike="noStrike">
              <a:solidFill>
                <a:srgbClr val="000000"/>
              </a:solidFill>
              <a:effectLst/>
              <a:uFillTx/>
              <a:latin typeface="Arial"/>
            </a:endParaRPr>
          </a:p>
        </p:txBody>
      </p:sp>
      <p:sp>
        <p:nvSpPr>
          <p:cNvPr id="78" name="Text 8"/>
          <p:cNvSpPr/>
          <p:nvPr/>
        </p:nvSpPr>
        <p:spPr>
          <a:xfrm>
            <a:off x="548640" y="3017520"/>
            <a:ext cx="8046360" cy="4111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200" b="0" i="1" u="none" strike="noStrike">
                <a:solidFill>
                  <a:schemeClr val="accent6"/>
                </a:solidFill>
                <a:effectLst/>
                <a:uFillTx/>
                <a:latin typeface="Calibri"/>
              </a:rPr>
              <a:t>“It works on my machine.”</a:t>
            </a:r>
            <a:endParaRPr lang="en-US" sz="2200" b="0" u="none" strike="noStrike">
              <a:solidFill>
                <a:srgbClr val="000000"/>
              </a:solidFill>
              <a:effectLst/>
              <a:uFillTx/>
              <a:latin typeface="Arial"/>
            </a:endParaRPr>
          </a:p>
        </p:txBody>
      </p:sp>
      <p:sp>
        <p:nvSpPr>
          <p:cNvPr id="79" name="devops banner"/>
          <p:cNvSpPr/>
          <p:nvPr/>
        </p:nvSpPr>
        <p:spPr>
          <a:xfrm>
            <a:off x="548640" y="3657600"/>
            <a:ext cx="8046360" cy="914040"/>
          </a:xfrm>
          <a:prstGeom prst="roundRect">
            <a:avLst>
              <a:gd name="adj" fmla="val 8000"/>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0" name="Text 10"/>
          <p:cNvSpPr/>
          <p:nvPr/>
        </p:nvSpPr>
        <p:spPr>
          <a:xfrm>
            <a:off x="822960" y="3657600"/>
            <a:ext cx="74977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accent1"/>
                </a:solidFill>
                <a:effectLst/>
                <a:uFillTx/>
                <a:latin typeface="Calibri"/>
              </a:rPr>
              <a:t>DevOps removes the wall: </a:t>
            </a:r>
            <a:r>
              <a:rPr lang="en-US" sz="2000" b="0" u="none" strike="noStrike">
                <a:solidFill>
                  <a:schemeClr val="lt1"/>
                </a:solidFill>
                <a:effectLst/>
                <a:uFillTx/>
                <a:latin typeface="Calibri"/>
              </a:rPr>
              <a:t>one team owns the path from commit to running service</a:t>
            </a:r>
            <a:endParaRPr lang="en-US" sz="2000" b="0" u="none" strike="noStrike">
              <a:solidFill>
                <a:srgbClr val="000000"/>
              </a:solidFill>
              <a:effectLst/>
              <a:uFillTx/>
              <a:latin typeface="Arial"/>
            </a:endParaRPr>
          </a:p>
        </p:txBody>
      </p:sp>
      <p:sp>
        <p:nvSpPr>
          <p:cNvPr id="81" name="PlaceHolder 2"/>
          <p:cNvSpPr>
            <a:spLocks noGrp="1"/>
          </p:cNvSpPr>
          <p:nvPr>
            <p:ph type="sldNum" idx="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3503BE3D-1FB4-401D-99B3-44C0CE1A66FA}"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The DevOps loop</a:t>
            </a:r>
            <a:endParaRPr lang="en-US" sz="3400" b="1" u="none" strike="noStrike">
              <a:solidFill>
                <a:schemeClr val="dk1"/>
              </a:solidFill>
              <a:effectLst/>
              <a:uFillTx/>
              <a:latin typeface="Cambria"/>
            </a:endParaRPr>
          </a:p>
        </p:txBody>
      </p:sp>
      <p:sp>
        <p:nvSpPr>
          <p:cNvPr id="83" name="loop ring"/>
          <p:cNvSpPr/>
          <p:nvPr/>
        </p:nvSpPr>
        <p:spPr>
          <a:xfrm>
            <a:off x="1005840" y="1554480"/>
            <a:ext cx="3017160" cy="2742840"/>
          </a:xfrm>
          <a:prstGeom prst="ellipse">
            <a:avLst/>
          </a:prstGeom>
          <a:noFill/>
          <a:ln w="25400">
            <a:solidFill>
              <a:srgbClr val="57606A"/>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4" name="loop Plan"/>
          <p:cNvSpPr/>
          <p:nvPr/>
        </p:nvSpPr>
        <p:spPr>
          <a:xfrm>
            <a:off x="2011680" y="1362600"/>
            <a:ext cx="1005480" cy="383760"/>
          </a:xfrm>
          <a:prstGeom prst="roundRect">
            <a:avLst>
              <a:gd name="adj" fmla="val 2381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5" name="Text 3"/>
          <p:cNvSpPr/>
          <p:nvPr/>
        </p:nvSpPr>
        <p:spPr>
          <a:xfrm>
            <a:off x="2011680" y="136260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Plan</a:t>
            </a:r>
            <a:endParaRPr lang="en-US" sz="1400" b="0" u="none" strike="noStrike">
              <a:solidFill>
                <a:srgbClr val="000000"/>
              </a:solidFill>
              <a:effectLst/>
              <a:uFillTx/>
              <a:latin typeface="Arial"/>
            </a:endParaRPr>
          </a:p>
        </p:txBody>
      </p:sp>
      <p:sp>
        <p:nvSpPr>
          <p:cNvPr id="86" name="loop Code"/>
          <p:cNvSpPr/>
          <p:nvPr/>
        </p:nvSpPr>
        <p:spPr>
          <a:xfrm>
            <a:off x="3078360" y="1764360"/>
            <a:ext cx="1005480" cy="383760"/>
          </a:xfrm>
          <a:prstGeom prst="roundRect">
            <a:avLst>
              <a:gd name="adj" fmla="val 2381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7" name="Text 5"/>
          <p:cNvSpPr/>
          <p:nvPr/>
        </p:nvSpPr>
        <p:spPr>
          <a:xfrm>
            <a:off x="3078360" y="176436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Code</a:t>
            </a:r>
            <a:endParaRPr lang="en-US" sz="1400" b="0" u="none" strike="noStrike">
              <a:solidFill>
                <a:srgbClr val="000000"/>
              </a:solidFill>
              <a:effectLst/>
              <a:uFillTx/>
              <a:latin typeface="Arial"/>
            </a:endParaRPr>
          </a:p>
        </p:txBody>
      </p:sp>
      <p:sp>
        <p:nvSpPr>
          <p:cNvPr id="88" name="loop Build"/>
          <p:cNvSpPr/>
          <p:nvPr/>
        </p:nvSpPr>
        <p:spPr>
          <a:xfrm>
            <a:off x="3520440" y="2734200"/>
            <a:ext cx="1005480" cy="383760"/>
          </a:xfrm>
          <a:prstGeom prst="roundRect">
            <a:avLst>
              <a:gd name="adj" fmla="val 2381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9" name="Text 7"/>
          <p:cNvSpPr/>
          <p:nvPr/>
        </p:nvSpPr>
        <p:spPr>
          <a:xfrm>
            <a:off x="3520440" y="273420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Build</a:t>
            </a:r>
            <a:endParaRPr lang="en-US" sz="1400" b="0" u="none" strike="noStrike">
              <a:solidFill>
                <a:srgbClr val="000000"/>
              </a:solidFill>
              <a:effectLst/>
              <a:uFillTx/>
              <a:latin typeface="Arial"/>
            </a:endParaRPr>
          </a:p>
        </p:txBody>
      </p:sp>
      <p:sp>
        <p:nvSpPr>
          <p:cNvPr id="90" name="loop Test"/>
          <p:cNvSpPr/>
          <p:nvPr/>
        </p:nvSpPr>
        <p:spPr>
          <a:xfrm>
            <a:off x="3078360" y="3704040"/>
            <a:ext cx="1005480" cy="383760"/>
          </a:xfrm>
          <a:prstGeom prst="roundRect">
            <a:avLst>
              <a:gd name="adj" fmla="val 2381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1" name="Text 9"/>
          <p:cNvSpPr/>
          <p:nvPr/>
        </p:nvSpPr>
        <p:spPr>
          <a:xfrm>
            <a:off x="3078360" y="370404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Test</a:t>
            </a:r>
            <a:endParaRPr lang="en-US" sz="1400" b="0" u="none" strike="noStrike">
              <a:solidFill>
                <a:srgbClr val="000000"/>
              </a:solidFill>
              <a:effectLst/>
              <a:uFillTx/>
              <a:latin typeface="Arial"/>
            </a:endParaRPr>
          </a:p>
        </p:txBody>
      </p:sp>
      <p:sp>
        <p:nvSpPr>
          <p:cNvPr id="92" name="loop Release"/>
          <p:cNvSpPr/>
          <p:nvPr/>
        </p:nvSpPr>
        <p:spPr>
          <a:xfrm>
            <a:off x="2011680" y="4105800"/>
            <a:ext cx="1005480" cy="383760"/>
          </a:xfrm>
          <a:prstGeom prst="roundRect">
            <a:avLst>
              <a:gd name="adj" fmla="val 23810"/>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3" name="Text 11"/>
          <p:cNvSpPr/>
          <p:nvPr/>
        </p:nvSpPr>
        <p:spPr>
          <a:xfrm>
            <a:off x="2011680" y="410580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Release</a:t>
            </a:r>
            <a:endParaRPr lang="en-US" sz="1400" b="0" u="none" strike="noStrike">
              <a:solidFill>
                <a:srgbClr val="000000"/>
              </a:solidFill>
              <a:effectLst/>
              <a:uFillTx/>
              <a:latin typeface="Arial"/>
            </a:endParaRPr>
          </a:p>
        </p:txBody>
      </p:sp>
      <p:sp>
        <p:nvSpPr>
          <p:cNvPr id="94" name="loop Deploy"/>
          <p:cNvSpPr/>
          <p:nvPr/>
        </p:nvSpPr>
        <p:spPr>
          <a:xfrm>
            <a:off x="945000" y="3704040"/>
            <a:ext cx="1005480" cy="383760"/>
          </a:xfrm>
          <a:prstGeom prst="roundRect">
            <a:avLst>
              <a:gd name="adj" fmla="val 23810"/>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5" name="Text 13"/>
          <p:cNvSpPr/>
          <p:nvPr/>
        </p:nvSpPr>
        <p:spPr>
          <a:xfrm>
            <a:off x="945000" y="370404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Deploy</a:t>
            </a:r>
            <a:endParaRPr lang="en-US" sz="1400" b="0" u="none" strike="noStrike">
              <a:solidFill>
                <a:srgbClr val="000000"/>
              </a:solidFill>
              <a:effectLst/>
              <a:uFillTx/>
              <a:latin typeface="Arial"/>
            </a:endParaRPr>
          </a:p>
        </p:txBody>
      </p:sp>
      <p:sp>
        <p:nvSpPr>
          <p:cNvPr id="96" name="loop Operate"/>
          <p:cNvSpPr/>
          <p:nvPr/>
        </p:nvSpPr>
        <p:spPr>
          <a:xfrm>
            <a:off x="502920" y="2734200"/>
            <a:ext cx="1005480" cy="383760"/>
          </a:xfrm>
          <a:prstGeom prst="roundRect">
            <a:avLst>
              <a:gd name="adj" fmla="val 23810"/>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7" name="Text 15"/>
          <p:cNvSpPr/>
          <p:nvPr/>
        </p:nvSpPr>
        <p:spPr>
          <a:xfrm>
            <a:off x="502920" y="273420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Operate</a:t>
            </a:r>
            <a:endParaRPr lang="en-US" sz="1400" b="0" u="none" strike="noStrike">
              <a:solidFill>
                <a:srgbClr val="000000"/>
              </a:solidFill>
              <a:effectLst/>
              <a:uFillTx/>
              <a:latin typeface="Arial"/>
            </a:endParaRPr>
          </a:p>
        </p:txBody>
      </p:sp>
      <p:sp>
        <p:nvSpPr>
          <p:cNvPr id="98" name="loop Monitor"/>
          <p:cNvSpPr/>
          <p:nvPr/>
        </p:nvSpPr>
        <p:spPr>
          <a:xfrm>
            <a:off x="945000" y="1764360"/>
            <a:ext cx="1005480" cy="383760"/>
          </a:xfrm>
          <a:prstGeom prst="roundRect">
            <a:avLst>
              <a:gd name="adj" fmla="val 23810"/>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9" name="Text 17"/>
          <p:cNvSpPr/>
          <p:nvPr/>
        </p:nvSpPr>
        <p:spPr>
          <a:xfrm>
            <a:off x="945000" y="1764360"/>
            <a:ext cx="100548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Monitor</a:t>
            </a:r>
            <a:endParaRPr lang="en-US" sz="1400" b="0" u="none" strike="noStrike">
              <a:solidFill>
                <a:srgbClr val="000000"/>
              </a:solidFill>
              <a:effectLst/>
              <a:uFillTx/>
              <a:latin typeface="Arial"/>
            </a:endParaRPr>
          </a:p>
        </p:txBody>
      </p:sp>
      <p:sp>
        <p:nvSpPr>
          <p:cNvPr id="100" name="Text 18"/>
          <p:cNvSpPr/>
          <p:nvPr/>
        </p:nvSpPr>
        <p:spPr>
          <a:xfrm>
            <a:off x="1783080" y="2606040"/>
            <a:ext cx="146268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accent6"/>
                </a:solidFill>
                <a:effectLst/>
                <a:uFillTx/>
                <a:latin typeface="Calibri"/>
              </a:rPr>
              <a:t>one loop,</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chemeClr val="accent6"/>
                </a:solidFill>
                <a:effectLst/>
                <a:uFillTx/>
                <a:latin typeface="Calibri"/>
              </a:rPr>
              <a:t>one team</a:t>
            </a:r>
            <a:endParaRPr lang="en-US" sz="1600" b="0" u="none" strike="noStrike">
              <a:solidFill>
                <a:srgbClr val="000000"/>
              </a:solidFill>
              <a:effectLst/>
              <a:uFillTx/>
              <a:latin typeface="Arial"/>
            </a:endParaRPr>
          </a:p>
        </p:txBody>
      </p:sp>
      <p:sp>
        <p:nvSpPr>
          <p:cNvPr id="101" name="def CI"/>
          <p:cNvSpPr/>
          <p:nvPr/>
        </p:nvSpPr>
        <p:spPr>
          <a:xfrm>
            <a:off x="4937760" y="1280160"/>
            <a:ext cx="365724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2" name="Text 20"/>
          <p:cNvSpPr/>
          <p:nvPr/>
        </p:nvSpPr>
        <p:spPr>
          <a:xfrm>
            <a:off x="5120640" y="1371600"/>
            <a:ext cx="329148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1"/>
                </a:solidFill>
                <a:effectLst/>
                <a:uFillTx/>
                <a:latin typeface="Calibri"/>
              </a:rPr>
              <a:t>CI</a:t>
            </a:r>
            <a:endParaRPr lang="en-US" sz="1800" b="0" u="none" strike="noStrike">
              <a:solidFill>
                <a:srgbClr val="000000"/>
              </a:solidFill>
              <a:effectLst/>
              <a:uFillTx/>
              <a:latin typeface="Arial"/>
            </a:endParaRPr>
          </a:p>
        </p:txBody>
      </p:sp>
      <p:sp>
        <p:nvSpPr>
          <p:cNvPr id="103" name="Text 21"/>
          <p:cNvSpPr/>
          <p:nvPr/>
        </p:nvSpPr>
        <p:spPr>
          <a:xfrm>
            <a:off x="5120640" y="1691640"/>
            <a:ext cx="32914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Every change is built and tested automatically.</a:t>
            </a:r>
            <a:endParaRPr lang="en-US" sz="1400" b="0" u="none" strike="noStrike">
              <a:solidFill>
                <a:srgbClr val="000000"/>
              </a:solidFill>
              <a:effectLst/>
              <a:uFillTx/>
              <a:latin typeface="Arial"/>
            </a:endParaRPr>
          </a:p>
        </p:txBody>
      </p:sp>
      <p:sp>
        <p:nvSpPr>
          <p:cNvPr id="104" name="def CD"/>
          <p:cNvSpPr/>
          <p:nvPr/>
        </p:nvSpPr>
        <p:spPr>
          <a:xfrm>
            <a:off x="4937760" y="2423160"/>
            <a:ext cx="365724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5" name="Text 23"/>
          <p:cNvSpPr/>
          <p:nvPr/>
        </p:nvSpPr>
        <p:spPr>
          <a:xfrm>
            <a:off x="5120640" y="2514600"/>
            <a:ext cx="329148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1"/>
                </a:solidFill>
                <a:effectLst/>
                <a:uFillTx/>
                <a:latin typeface="Calibri"/>
              </a:rPr>
              <a:t>CD</a:t>
            </a:r>
            <a:endParaRPr lang="en-US" sz="1800" b="0" u="none" strike="noStrike">
              <a:solidFill>
                <a:srgbClr val="000000"/>
              </a:solidFill>
              <a:effectLst/>
              <a:uFillTx/>
              <a:latin typeface="Arial"/>
            </a:endParaRPr>
          </a:p>
        </p:txBody>
      </p:sp>
      <p:sp>
        <p:nvSpPr>
          <p:cNvPr id="106" name="Text 24"/>
          <p:cNvSpPr/>
          <p:nvPr/>
        </p:nvSpPr>
        <p:spPr>
          <a:xfrm>
            <a:off x="5120640" y="2834640"/>
            <a:ext cx="32914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Every change that passes is released automatically.</a:t>
            </a:r>
            <a:endParaRPr lang="en-US" sz="1400" b="0" u="none" strike="noStrike">
              <a:solidFill>
                <a:srgbClr val="000000"/>
              </a:solidFill>
              <a:effectLst/>
              <a:uFillTx/>
              <a:latin typeface="Arial"/>
            </a:endParaRPr>
          </a:p>
        </p:txBody>
      </p:sp>
      <p:sp>
        <p:nvSpPr>
          <p:cNvPr id="107" name="def GitHub Actions"/>
          <p:cNvSpPr/>
          <p:nvPr/>
        </p:nvSpPr>
        <p:spPr>
          <a:xfrm>
            <a:off x="4937760" y="3566160"/>
            <a:ext cx="365724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8" name="Text 26"/>
          <p:cNvSpPr/>
          <p:nvPr/>
        </p:nvSpPr>
        <p:spPr>
          <a:xfrm>
            <a:off x="5120640" y="3657600"/>
            <a:ext cx="329148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1"/>
                </a:solidFill>
                <a:effectLst/>
                <a:uFillTx/>
                <a:latin typeface="Calibri"/>
              </a:rPr>
              <a:t>GitHub Actions</a:t>
            </a:r>
            <a:endParaRPr lang="en-US" sz="1800" b="0" u="none" strike="noStrike">
              <a:solidFill>
                <a:srgbClr val="000000"/>
              </a:solidFill>
              <a:effectLst/>
              <a:uFillTx/>
              <a:latin typeface="Arial"/>
            </a:endParaRPr>
          </a:p>
        </p:txBody>
      </p:sp>
      <p:sp>
        <p:nvSpPr>
          <p:cNvPr id="109" name="Text 27"/>
          <p:cNvSpPr/>
          <p:nvPr/>
        </p:nvSpPr>
        <p:spPr>
          <a:xfrm>
            <a:off x="5120640" y="3977640"/>
            <a:ext cx="32914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A file in your repo that GitHub runs when something happens.</a:t>
            </a:r>
            <a:endParaRPr lang="en-US" sz="1400" b="0" u="none" strike="noStrike">
              <a:solidFill>
                <a:srgbClr val="000000"/>
              </a:solidFill>
              <a:effectLst/>
              <a:uFillTx/>
              <a:latin typeface="Arial"/>
            </a:endParaRPr>
          </a:p>
        </p:txBody>
      </p:sp>
      <p:sp>
        <p:nvSpPr>
          <p:cNvPr id="110" name="PlaceHolder 2"/>
          <p:cNvSpPr>
            <a:spLocks noGrp="1"/>
          </p:cNvSpPr>
          <p:nvPr>
            <p:ph type="sldNum" idx="1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9CCCBCCD-E3A1-49EC-904C-8E77169056AD}"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How we measure it, and who it fits</a:t>
            </a:r>
            <a:endParaRPr lang="en-US" sz="3400" b="1" u="none" strike="noStrike">
              <a:solidFill>
                <a:schemeClr val="dk1"/>
              </a:solidFill>
              <a:effectLst/>
              <a:uFillTx/>
              <a:latin typeface="Cambria"/>
            </a:endParaRPr>
          </a:p>
        </p:txBody>
      </p:sp>
      <p:sp>
        <p:nvSpPr>
          <p:cNvPr id="112" name="metric 1"/>
          <p:cNvSpPr/>
          <p:nvPr/>
        </p:nvSpPr>
        <p:spPr>
          <a:xfrm>
            <a:off x="548640" y="1280160"/>
            <a:ext cx="1874160" cy="868320"/>
          </a:xfrm>
          <a:prstGeom prst="roundRect">
            <a:avLst>
              <a:gd name="adj" fmla="val 8421"/>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3" name="Text 2"/>
          <p:cNvSpPr/>
          <p:nvPr/>
        </p:nvSpPr>
        <p:spPr>
          <a:xfrm>
            <a:off x="640080" y="1280160"/>
            <a:ext cx="169128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Deployment frequency</a:t>
            </a:r>
            <a:endParaRPr lang="en-US" sz="1600" b="0" u="none" strike="noStrike">
              <a:solidFill>
                <a:srgbClr val="000000"/>
              </a:solidFill>
              <a:effectLst/>
              <a:uFillTx/>
              <a:latin typeface="Arial"/>
            </a:endParaRPr>
          </a:p>
        </p:txBody>
      </p:sp>
      <p:sp>
        <p:nvSpPr>
          <p:cNvPr id="114" name="metric 2"/>
          <p:cNvSpPr/>
          <p:nvPr/>
        </p:nvSpPr>
        <p:spPr>
          <a:xfrm>
            <a:off x="2606040" y="1280160"/>
            <a:ext cx="1874160" cy="868320"/>
          </a:xfrm>
          <a:prstGeom prst="roundRect">
            <a:avLst>
              <a:gd name="adj" fmla="val 8421"/>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5" name="Text 4"/>
          <p:cNvSpPr/>
          <p:nvPr/>
        </p:nvSpPr>
        <p:spPr>
          <a:xfrm>
            <a:off x="2697480" y="1280160"/>
            <a:ext cx="169128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Lead time for changes</a:t>
            </a:r>
            <a:endParaRPr lang="en-US" sz="1600" b="0" u="none" strike="noStrike">
              <a:solidFill>
                <a:srgbClr val="000000"/>
              </a:solidFill>
              <a:effectLst/>
              <a:uFillTx/>
              <a:latin typeface="Arial"/>
            </a:endParaRPr>
          </a:p>
        </p:txBody>
      </p:sp>
      <p:sp>
        <p:nvSpPr>
          <p:cNvPr id="116" name="metric 3"/>
          <p:cNvSpPr/>
          <p:nvPr/>
        </p:nvSpPr>
        <p:spPr>
          <a:xfrm>
            <a:off x="4663440" y="1280160"/>
            <a:ext cx="1874160" cy="868320"/>
          </a:xfrm>
          <a:prstGeom prst="roundRect">
            <a:avLst>
              <a:gd name="adj" fmla="val 8421"/>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7" name="Text 6"/>
          <p:cNvSpPr/>
          <p:nvPr/>
        </p:nvSpPr>
        <p:spPr>
          <a:xfrm>
            <a:off x="4754880" y="1280160"/>
            <a:ext cx="169128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Change failure rate</a:t>
            </a:r>
            <a:endParaRPr lang="en-US" sz="1600" b="0" u="none" strike="noStrike">
              <a:solidFill>
                <a:srgbClr val="000000"/>
              </a:solidFill>
              <a:effectLst/>
              <a:uFillTx/>
              <a:latin typeface="Arial"/>
            </a:endParaRPr>
          </a:p>
        </p:txBody>
      </p:sp>
      <p:sp>
        <p:nvSpPr>
          <p:cNvPr id="118" name="metric 4"/>
          <p:cNvSpPr/>
          <p:nvPr/>
        </p:nvSpPr>
        <p:spPr>
          <a:xfrm>
            <a:off x="6720840" y="1280160"/>
            <a:ext cx="1874160" cy="868320"/>
          </a:xfrm>
          <a:prstGeom prst="roundRect">
            <a:avLst>
              <a:gd name="adj" fmla="val 8421"/>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9" name="Text 8"/>
          <p:cNvSpPr/>
          <p:nvPr/>
        </p:nvSpPr>
        <p:spPr>
          <a:xfrm>
            <a:off x="6812280" y="1280160"/>
            <a:ext cx="169128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Time to restore</a:t>
            </a:r>
            <a:endParaRPr lang="en-US" sz="1600" b="0" u="none" strike="noStrike">
              <a:solidFill>
                <a:srgbClr val="000000"/>
              </a:solidFill>
              <a:effectLst/>
              <a:uFillTx/>
              <a:latin typeface="Arial"/>
            </a:endParaRPr>
          </a:p>
        </p:txBody>
      </p:sp>
      <p:sp>
        <p:nvSpPr>
          <p:cNvPr id="120" name="likely card"/>
          <p:cNvSpPr/>
          <p:nvPr/>
        </p:nvSpPr>
        <p:spPr>
          <a:xfrm>
            <a:off x="548640" y="2377440"/>
            <a:ext cx="3931560" cy="1828440"/>
          </a:xfrm>
          <a:prstGeom prst="roundRect">
            <a:avLst>
              <a:gd name="adj" fmla="val 4000"/>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1" name="Text 10"/>
          <p:cNvSpPr/>
          <p:nvPr/>
        </p:nvSpPr>
        <p:spPr>
          <a:xfrm>
            <a:off x="777240" y="2468880"/>
            <a:ext cx="3474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accent1"/>
                </a:solidFill>
                <a:effectLst/>
                <a:uFillTx/>
                <a:latin typeface="Calibri"/>
              </a:rPr>
              <a:t>You will meet this work as</a:t>
            </a:r>
            <a:endParaRPr lang="en-US" sz="1600" b="0" u="none" strike="noStrike">
              <a:solidFill>
                <a:srgbClr val="000000"/>
              </a:solidFill>
              <a:effectLst/>
              <a:uFillTx/>
              <a:latin typeface="Arial"/>
            </a:endParaRPr>
          </a:p>
        </p:txBody>
      </p:sp>
      <p:sp>
        <p:nvSpPr>
          <p:cNvPr id="122" name="Text 11"/>
          <p:cNvSpPr/>
          <p:nvPr/>
        </p:nvSpPr>
        <p:spPr>
          <a:xfrm>
            <a:off x="777240" y="2834640"/>
            <a:ext cx="3520080" cy="12798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Backend and API developer</a:t>
            </a:r>
            <a:endParaRPr lang="en-US" sz="16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Platform or cloud engineer</a:t>
            </a:r>
            <a:endParaRPr lang="en-US" sz="16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SRE or security engineer</a:t>
            </a:r>
            <a:endParaRPr lang="en-US" sz="16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ML engineer</a:t>
            </a:r>
            <a:endParaRPr lang="en-US" sz="1600" b="0" u="none" strike="noStrike">
              <a:solidFill>
                <a:srgbClr val="000000"/>
              </a:solidFill>
              <a:effectLst/>
              <a:uFillTx/>
              <a:latin typeface="Arial"/>
            </a:endParaRPr>
          </a:p>
        </p:txBody>
      </p:sp>
      <p:sp>
        <p:nvSpPr>
          <p:cNvPr id="123" name="less likely card"/>
          <p:cNvSpPr/>
          <p:nvPr/>
        </p:nvSpPr>
        <p:spPr>
          <a:xfrm>
            <a:off x="4663440" y="2377440"/>
            <a:ext cx="3931560" cy="1828440"/>
          </a:xfrm>
          <a:prstGeom prst="roundRect">
            <a:avLst>
              <a:gd name="adj" fmla="val 4000"/>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4" name="Text 13"/>
          <p:cNvSpPr/>
          <p:nvPr/>
        </p:nvSpPr>
        <p:spPr>
          <a:xfrm>
            <a:off x="4892040" y="2468880"/>
            <a:ext cx="3474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accent6"/>
                </a:solidFill>
                <a:effectLst/>
                <a:uFillTx/>
                <a:latin typeface="Calibri"/>
              </a:rPr>
              <a:t>Less likely, but still useful</a:t>
            </a:r>
            <a:endParaRPr lang="en-US" sz="1600" b="0" u="none" strike="noStrike">
              <a:solidFill>
                <a:srgbClr val="000000"/>
              </a:solidFill>
              <a:effectLst/>
              <a:uFillTx/>
              <a:latin typeface="Arial"/>
            </a:endParaRPr>
          </a:p>
        </p:txBody>
      </p:sp>
      <p:sp>
        <p:nvSpPr>
          <p:cNvPr id="125" name="Text 14"/>
          <p:cNvSpPr/>
          <p:nvPr/>
        </p:nvSpPr>
        <p:spPr>
          <a:xfrm>
            <a:off x="4892040" y="2834640"/>
            <a:ext cx="3520080" cy="12798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Pure UI or design focus</a:t>
            </a:r>
            <a:endParaRPr lang="en-US" sz="16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Research code that never ships</a:t>
            </a:r>
            <a:endParaRPr lang="en-US" sz="16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600" b="0" u="none" strike="noStrike">
                <a:solidFill>
                  <a:schemeClr val="dk1"/>
                </a:solidFill>
                <a:effectLst/>
                <a:uFillTx/>
                <a:latin typeface="Calibri"/>
              </a:rPr>
              <a:t>Solo hobby projects</a:t>
            </a:r>
            <a:endParaRPr lang="en-US" sz="1600" b="0" u="none" strike="noStrike">
              <a:solidFill>
                <a:srgbClr val="000000"/>
              </a:solidFill>
              <a:effectLst/>
              <a:uFillTx/>
              <a:latin typeface="Arial"/>
            </a:endParaRPr>
          </a:p>
        </p:txBody>
      </p:sp>
      <p:sp>
        <p:nvSpPr>
          <p:cNvPr id="126" name="PlaceHolder 2"/>
          <p:cNvSpPr>
            <a:spLocks noGrp="1"/>
          </p:cNvSpPr>
          <p:nvPr>
            <p:ph type="sldNum" idx="1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1246F8CF-3E63-40BE-B08E-C6EBF83029AC}"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mbria"/>
              </a:rPr>
              <a:t>AI at this workshop</a:t>
            </a:r>
            <a:endParaRPr lang="en-US" sz="3400" b="1" u="none" strike="noStrike">
              <a:solidFill>
                <a:schemeClr val="lt1"/>
              </a:solidFill>
              <a:effectLst/>
              <a:uFillTx/>
              <a:latin typeface="Cambria"/>
            </a:endParaRPr>
          </a:p>
        </p:txBody>
      </p:sp>
      <p:sp>
        <p:nvSpPr>
          <p:cNvPr id="128" name="robot circle"/>
          <p:cNvSpPr/>
          <p:nvPr/>
        </p:nvSpPr>
        <p:spPr>
          <a:xfrm>
            <a:off x="640080" y="1737360"/>
            <a:ext cx="1371240" cy="13712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29" name="robot image" descr="FaRobot"/>
          <p:cNvPicPr/>
          <p:nvPr/>
        </p:nvPicPr>
        <p:blipFill>
          <a:blip r:embed="rId1"/>
          <a:stretch/>
        </p:blipFill>
        <p:spPr>
          <a:xfrm>
            <a:off x="983160" y="2080440"/>
            <a:ext cx="685440" cy="685440"/>
          </a:xfrm>
          <a:prstGeom prst="rect">
            <a:avLst/>
          </a:prstGeom>
          <a:noFill/>
          <a:ln w="0">
            <a:noFill/>
          </a:ln>
        </p:spPr>
      </p:pic>
      <p:sp>
        <p:nvSpPr>
          <p:cNvPr id="130" name="Text 2"/>
          <p:cNvSpPr/>
          <p:nvPr/>
        </p:nvSpPr>
        <p:spPr>
          <a:xfrm>
            <a:off x="2377440" y="1508760"/>
            <a:ext cx="621756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800" b="1" u="none" strike="noStrike">
                <a:solidFill>
                  <a:schemeClr val="accent1"/>
                </a:solidFill>
                <a:effectLst/>
                <a:uFillTx/>
                <a:latin typeface="Cambria"/>
                <a:ea typeface="Cambria"/>
              </a:rPr>
              <a:t>AI is allowed.</a:t>
            </a:r>
            <a:endParaRPr lang="en-US" sz="3800" b="0" u="none" strike="noStrike">
              <a:solidFill>
                <a:srgbClr val="FFFFFF"/>
              </a:solidFill>
              <a:effectLst/>
              <a:uFillTx/>
              <a:latin typeface="Arial"/>
            </a:endParaRPr>
          </a:p>
        </p:txBody>
      </p:sp>
      <p:sp>
        <p:nvSpPr>
          <p:cNvPr id="131" name="Text 3"/>
          <p:cNvSpPr/>
          <p:nvPr/>
        </p:nvSpPr>
        <p:spPr>
          <a:xfrm>
            <a:off x="2377440" y="2286000"/>
            <a:ext cx="621756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800" b="1" u="none" strike="noStrike">
                <a:solidFill>
                  <a:schemeClr val="accent3"/>
                </a:solidFill>
                <a:effectLst/>
                <a:uFillTx/>
                <a:latin typeface="Cambria"/>
                <a:ea typeface="Cambria"/>
              </a:rPr>
              <a:t>Blind copy-paste is not.</a:t>
            </a:r>
            <a:endParaRPr lang="en-US" sz="3800" b="0" u="none" strike="noStrike">
              <a:solidFill>
                <a:srgbClr val="FFFFFF"/>
              </a:solidFill>
              <a:effectLst/>
              <a:uFillTx/>
              <a:latin typeface="Arial"/>
            </a:endParaRPr>
          </a:p>
        </p:txBody>
      </p:sp>
      <p:sp>
        <p:nvSpPr>
          <p:cNvPr id="132" name="Text 4"/>
          <p:cNvSpPr/>
          <p:nvPr/>
        </p:nvSpPr>
        <p:spPr>
          <a:xfrm>
            <a:off x="640080" y="3840480"/>
            <a:ext cx="78634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0" i="1" u="none" strike="noStrike">
                <a:solidFill>
                  <a:schemeClr val="lt1"/>
                </a:solidFill>
                <a:effectLst/>
                <a:uFillTx/>
                <a:latin typeface="Calibri"/>
              </a:rPr>
              <a:t>If you can't explain it, you shouldn't ship it.</a:t>
            </a:r>
            <a:endParaRPr lang="en-US" sz="2400" b="0" u="none" strike="noStrike">
              <a:solidFill>
                <a:srgbClr val="FFFFFF"/>
              </a:solidFill>
              <a:effectLst/>
              <a:uFillTx/>
              <a:latin typeface="Arial"/>
            </a:endParaRPr>
          </a:p>
        </p:txBody>
      </p:sp>
      <p:sp>
        <p:nvSpPr>
          <p:cNvPr id="133" name="PlaceHolder 2"/>
          <p:cNvSpPr>
            <a:spLocks noGrp="1"/>
          </p:cNvSpPr>
          <p:nvPr>
            <p:ph type="sldNum" idx="1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4CB1B06A-BDA6-47C6-8071-1B03619B5591}"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Three questions before you use AI</a:t>
            </a:r>
            <a:endParaRPr lang="en-US" sz="3400" b="1" u="none" strike="noStrike">
              <a:solidFill>
                <a:schemeClr val="dk1"/>
              </a:solidFill>
              <a:effectLst/>
              <a:uFillTx/>
              <a:latin typeface="Cambria"/>
            </a:endParaRPr>
          </a:p>
        </p:txBody>
      </p:sp>
      <p:sp>
        <p:nvSpPr>
          <p:cNvPr id="135" name="q card 1"/>
          <p:cNvSpPr/>
          <p:nvPr/>
        </p:nvSpPr>
        <p:spPr>
          <a:xfrm>
            <a:off x="548640" y="1280160"/>
            <a:ext cx="2559960" cy="3337200"/>
          </a:xfrm>
          <a:prstGeom prst="roundRect">
            <a:avLst>
              <a:gd name="adj" fmla="val 2857"/>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6" name="q 1 badge"/>
          <p:cNvSpPr/>
          <p:nvPr/>
        </p:nvSpPr>
        <p:spPr>
          <a:xfrm>
            <a:off x="731520" y="1417320"/>
            <a:ext cx="456840" cy="45684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7" name="Text 3"/>
          <p:cNvSpPr/>
          <p:nvPr/>
        </p:nvSpPr>
        <p:spPr>
          <a:xfrm>
            <a:off x="731520" y="1417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138" name="Text 4"/>
          <p:cNvSpPr/>
          <p:nvPr/>
        </p:nvSpPr>
        <p:spPr>
          <a:xfrm>
            <a:off x="731520" y="196596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Can and should I use AI for this?</a:t>
            </a:r>
            <a:endParaRPr lang="en-US" sz="1800" b="0" u="none" strike="noStrike">
              <a:solidFill>
                <a:srgbClr val="000000"/>
              </a:solidFill>
              <a:effectLst/>
              <a:uFillTx/>
              <a:latin typeface="Arial"/>
            </a:endParaRPr>
          </a:p>
        </p:txBody>
      </p:sp>
      <p:sp>
        <p:nvSpPr>
          <p:cNvPr id="139" name="Text 5"/>
          <p:cNvSpPr/>
          <p:nvPr/>
        </p:nvSpPr>
        <p:spPr>
          <a:xfrm>
            <a:off x="731520" y="2926080"/>
            <a:ext cx="2194200" cy="1599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accent1"/>
                </a:solidFill>
                <a:effectLst/>
                <a:uFillTx/>
                <a:latin typeface="Calibri"/>
              </a:rPr>
              <a:t>Yes: </a:t>
            </a:r>
            <a:r>
              <a:rPr lang="en-US" sz="1600" b="0" u="none" strike="noStrike">
                <a:solidFill>
                  <a:schemeClr val="dk1"/>
                </a:solidFill>
                <a:effectLst/>
                <a:uFillTx/>
                <a:latin typeface="Calibri"/>
              </a:rPr>
              <a:t>turn my working docker run into a compose file.</a:t>
            </a:r>
            <a:endParaRPr lang="en-US" sz="1600" b="0" u="none" strike="noStrike">
              <a:solidFill>
                <a:srgbClr val="000000"/>
              </a:solidFill>
              <a:effectLst/>
              <a:uFillTx/>
              <a:latin typeface="Arial"/>
            </a:endParaRPr>
          </a:p>
          <a:p>
            <a:pPr defTabSz="914400">
              <a:lnSpc>
                <a:spcPct val="100000"/>
              </a:lnSpc>
              <a:tabLst>
                <a:tab pos="0" algn="l"/>
              </a:tabLst>
            </a:pPr>
            <a:r>
              <a:rPr lang="en-US" sz="600" b="0" u="none" strike="noStrike">
                <a:solidFill>
                  <a:schemeClr val="dk1"/>
                </a:solidFill>
                <a:effectLst/>
                <a:uFillTx/>
                <a:latin typeface="Calibri"/>
              </a:rPr>
              <a:t> </a:t>
            </a:r>
            <a:endParaRPr lang="en-US" sz="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accent3"/>
                </a:solidFill>
                <a:effectLst/>
                <a:uFillTx/>
                <a:latin typeface="Calibri"/>
              </a:rPr>
              <a:t>No: </a:t>
            </a:r>
            <a:r>
              <a:rPr lang="en-US" sz="1600" b="0" u="none" strike="noStrike">
                <a:solidFill>
                  <a:schemeClr val="dk1"/>
                </a:solidFill>
                <a:effectLst/>
                <a:uFillTx/>
                <a:latin typeface="Calibri"/>
              </a:rPr>
              <a:t>design my architecture from nothing.</a:t>
            </a:r>
            <a:endParaRPr lang="en-US" sz="1600" b="0" u="none" strike="noStrike">
              <a:solidFill>
                <a:srgbClr val="000000"/>
              </a:solidFill>
              <a:effectLst/>
              <a:uFillTx/>
              <a:latin typeface="Arial"/>
            </a:endParaRPr>
          </a:p>
        </p:txBody>
      </p:sp>
      <p:sp>
        <p:nvSpPr>
          <p:cNvPr id="140" name="q card 2"/>
          <p:cNvSpPr/>
          <p:nvPr/>
        </p:nvSpPr>
        <p:spPr>
          <a:xfrm>
            <a:off x="3383280" y="1280160"/>
            <a:ext cx="2559960" cy="3337200"/>
          </a:xfrm>
          <a:prstGeom prst="roundRect">
            <a:avLst>
              <a:gd name="adj" fmla="val 2857"/>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1" name="q 2 badge"/>
          <p:cNvSpPr/>
          <p:nvPr/>
        </p:nvSpPr>
        <p:spPr>
          <a:xfrm>
            <a:off x="3566160" y="1417320"/>
            <a:ext cx="456840" cy="45684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2" name="Text 8"/>
          <p:cNvSpPr/>
          <p:nvPr/>
        </p:nvSpPr>
        <p:spPr>
          <a:xfrm>
            <a:off x="3566160" y="1417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143" name="Text 9"/>
          <p:cNvSpPr/>
          <p:nvPr/>
        </p:nvSpPr>
        <p:spPr>
          <a:xfrm>
            <a:off x="3566160" y="196596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Do I trust and understand the output?</a:t>
            </a:r>
            <a:endParaRPr lang="en-US" sz="1800" b="0" u="none" strike="noStrike">
              <a:solidFill>
                <a:srgbClr val="000000"/>
              </a:solidFill>
              <a:effectLst/>
              <a:uFillTx/>
              <a:latin typeface="Arial"/>
            </a:endParaRPr>
          </a:p>
        </p:txBody>
      </p:sp>
      <p:sp>
        <p:nvSpPr>
          <p:cNvPr id="144" name="Text 10"/>
          <p:cNvSpPr/>
          <p:nvPr/>
        </p:nvSpPr>
        <p:spPr>
          <a:xfrm>
            <a:off x="3566160" y="2926080"/>
            <a:ext cx="2194200" cy="1599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dk1"/>
                </a:solidFill>
                <a:effectLst/>
                <a:uFillTx/>
                <a:latin typeface="Courier New"/>
                <a:ea typeface="Courier New"/>
              </a:rPr>
              <a:t>docker system prune -af --volumes</a:t>
            </a:r>
            <a:endParaRPr lang="en-US" sz="1200" b="0" u="none" strike="noStrike">
              <a:solidFill>
                <a:srgbClr val="000000"/>
              </a:solidFill>
              <a:effectLst/>
              <a:uFillTx/>
              <a:latin typeface="Arial"/>
            </a:endParaRPr>
          </a:p>
          <a:p>
            <a:pPr defTabSz="914400">
              <a:lnSpc>
                <a:spcPct val="100000"/>
              </a:lnSpc>
              <a:tabLst>
                <a:tab pos="0" algn="l"/>
              </a:tabLst>
            </a:pPr>
            <a:r>
              <a:rPr lang="en-US" sz="600" b="0" u="none" strike="noStrike">
                <a:solidFill>
                  <a:schemeClr val="dk1"/>
                </a:solidFill>
                <a:effectLst/>
                <a:uFillTx/>
                <a:latin typeface="Calibri"/>
                <a:ea typeface="Courier New"/>
              </a:rPr>
              <a:t> </a:t>
            </a:r>
            <a:endParaRPr lang="en-US" sz="600" b="0" u="none" strike="noStrike">
              <a:solidFill>
                <a:srgbClr val="000000"/>
              </a:solidFill>
              <a:effectLst/>
              <a:uFillTx/>
              <a:latin typeface="Arial"/>
            </a:endParaRPr>
          </a:p>
          <a:p>
            <a:pPr defTabSz="914400">
              <a:lnSpc>
                <a:spcPct val="100000"/>
              </a:lnSpc>
              <a:tabLst>
                <a:tab pos="0" algn="l"/>
              </a:tabLst>
            </a:pPr>
            <a:r>
              <a:rPr lang="en-US" sz="1600" b="0" u="none" strike="noStrike">
                <a:solidFill>
                  <a:schemeClr val="dk1"/>
                </a:solidFill>
                <a:effectLst/>
                <a:uFillTx/>
                <a:latin typeface="Calibri"/>
                <a:ea typeface="Courier New"/>
              </a:rPr>
              <a:t>Can you say what it deletes? Volumes are your data.</a:t>
            </a:r>
            <a:endParaRPr lang="en-US" sz="1600" b="0" u="none" strike="noStrike">
              <a:solidFill>
                <a:srgbClr val="000000"/>
              </a:solidFill>
              <a:effectLst/>
              <a:uFillTx/>
              <a:latin typeface="Arial"/>
            </a:endParaRPr>
          </a:p>
        </p:txBody>
      </p:sp>
      <p:sp>
        <p:nvSpPr>
          <p:cNvPr id="145" name="q card 3"/>
          <p:cNvSpPr/>
          <p:nvPr/>
        </p:nvSpPr>
        <p:spPr>
          <a:xfrm>
            <a:off x="6217920" y="1280160"/>
            <a:ext cx="2559960" cy="3337200"/>
          </a:xfrm>
          <a:prstGeom prst="roundRect">
            <a:avLst>
              <a:gd name="adj" fmla="val 2857"/>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6" name="q 3 badge"/>
          <p:cNvSpPr/>
          <p:nvPr/>
        </p:nvSpPr>
        <p:spPr>
          <a:xfrm>
            <a:off x="6400800" y="1417320"/>
            <a:ext cx="456840" cy="45684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7" name="Text 13"/>
          <p:cNvSpPr/>
          <p:nvPr/>
        </p:nvSpPr>
        <p:spPr>
          <a:xfrm>
            <a:off x="6400800" y="1417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000000"/>
              </a:solidFill>
              <a:effectLst/>
              <a:uFillTx/>
              <a:latin typeface="Arial"/>
            </a:endParaRPr>
          </a:p>
        </p:txBody>
      </p:sp>
      <p:sp>
        <p:nvSpPr>
          <p:cNvPr id="148" name="Text 14"/>
          <p:cNvSpPr/>
          <p:nvPr/>
        </p:nvSpPr>
        <p:spPr>
          <a:xfrm>
            <a:off x="6400800" y="196596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How do I verify, modify, troubleshoot?</a:t>
            </a:r>
            <a:endParaRPr lang="en-US" sz="1800" b="0" u="none" strike="noStrike">
              <a:solidFill>
                <a:srgbClr val="000000"/>
              </a:solidFill>
              <a:effectLst/>
              <a:uFillTx/>
              <a:latin typeface="Arial"/>
            </a:endParaRPr>
          </a:p>
        </p:txBody>
      </p:sp>
      <p:sp>
        <p:nvSpPr>
          <p:cNvPr id="149" name="Text 15"/>
          <p:cNvSpPr/>
          <p:nvPr/>
        </p:nvSpPr>
        <p:spPr>
          <a:xfrm>
            <a:off x="6400800" y="2926080"/>
            <a:ext cx="2194200" cy="1599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Run it somewhere safe.</a:t>
            </a:r>
            <a:endParaRPr lang="en-US" sz="1600" b="0" u="none" strike="noStrike">
              <a:solidFill>
                <a:srgbClr val="000000"/>
              </a:solidFill>
              <a:effectLst/>
              <a:uFillTx/>
              <a:latin typeface="Arial"/>
            </a:endParaRPr>
          </a:p>
          <a:p>
            <a:pPr defTabSz="914400">
              <a:lnSpc>
                <a:spcPct val="100000"/>
              </a:lnSpc>
              <a:tabLst>
                <a:tab pos="0" algn="l"/>
              </a:tabLst>
            </a:pPr>
            <a:r>
              <a:rPr lang="en-US" sz="1600" b="0" u="none" strike="noStrike">
                <a:solidFill>
                  <a:schemeClr val="dk1"/>
                </a:solidFill>
                <a:effectLst/>
                <a:uFillTx/>
                <a:latin typeface="Calibri"/>
              </a:rPr>
              <a:t>Check every flag in the docs.</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solidFill>
                <a:effectLst/>
                <a:uFillTx/>
                <a:latin typeface="Calibri"/>
              </a:rPr>
              <a:t>AI checking AI does not count.</a:t>
            </a:r>
            <a:endParaRPr lang="en-US" sz="1600" b="0" u="none" strike="noStrike">
              <a:solidFill>
                <a:srgbClr val="000000"/>
              </a:solidFill>
              <a:effectLst/>
              <a:uFillTx/>
              <a:latin typeface="Arial"/>
            </a:endParaRPr>
          </a:p>
        </p:txBody>
      </p:sp>
      <p:sp>
        <p:nvSpPr>
          <p:cNvPr id="150" name="PlaceHolder 2"/>
          <p:cNvSpPr>
            <a:spLocks noGrp="1"/>
          </p:cNvSpPr>
          <p:nvPr>
            <p:ph type="sldNum" idx="1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C72BE15A-A563-4CC8-B1ED-D97ED55D08BF}"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What AI is good and bad at</a:t>
            </a:r>
            <a:endParaRPr lang="en-US" sz="3400" b="1" u="none" strike="noStrike">
              <a:solidFill>
                <a:schemeClr val="dk1"/>
              </a:solidFill>
              <a:effectLst/>
              <a:uFillTx/>
              <a:latin typeface="Cambria"/>
            </a:endParaRPr>
          </a:p>
        </p:txBody>
      </p:sp>
      <p:sp>
        <p:nvSpPr>
          <p:cNvPr id="152" name="Good at card"/>
          <p:cNvSpPr/>
          <p:nvPr/>
        </p:nvSpPr>
        <p:spPr>
          <a:xfrm>
            <a:off x="548640" y="1280160"/>
            <a:ext cx="3931560" cy="3291480"/>
          </a:xfrm>
          <a:prstGeom prst="roundRect">
            <a:avLst>
              <a:gd name="adj" fmla="val 2222"/>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3" name="Good at circle"/>
          <p:cNvSpPr/>
          <p:nvPr/>
        </p:nvSpPr>
        <p:spPr>
          <a:xfrm>
            <a:off x="777240" y="1463040"/>
            <a:ext cx="548280" cy="54828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54" name="Good at image" descr="FaCheck"/>
          <p:cNvPicPr/>
          <p:nvPr/>
        </p:nvPicPr>
        <p:blipFill>
          <a:blip r:embed="rId1"/>
          <a:stretch/>
        </p:blipFill>
        <p:spPr>
          <a:xfrm>
            <a:off x="914400" y="1600200"/>
            <a:ext cx="273960" cy="273960"/>
          </a:xfrm>
          <a:prstGeom prst="rect">
            <a:avLst/>
          </a:prstGeom>
          <a:noFill/>
          <a:ln w="0">
            <a:noFill/>
          </a:ln>
        </p:spPr>
      </p:pic>
      <p:sp>
        <p:nvSpPr>
          <p:cNvPr id="155" name="Text 3"/>
          <p:cNvSpPr/>
          <p:nvPr/>
        </p:nvSpPr>
        <p:spPr>
          <a:xfrm>
            <a:off x="1508760" y="1463040"/>
            <a:ext cx="2742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dk1"/>
                </a:solidFill>
                <a:effectLst/>
                <a:uFillTx/>
                <a:latin typeface="Calibri"/>
              </a:rPr>
              <a:t>Good at</a:t>
            </a:r>
            <a:endParaRPr lang="en-US" sz="2400" b="0" u="none" strike="noStrike">
              <a:solidFill>
                <a:srgbClr val="000000"/>
              </a:solidFill>
              <a:effectLst/>
              <a:uFillTx/>
              <a:latin typeface="Arial"/>
            </a:endParaRPr>
          </a:p>
        </p:txBody>
      </p:sp>
      <p:sp>
        <p:nvSpPr>
          <p:cNvPr id="156" name="Text 4"/>
          <p:cNvSpPr/>
          <p:nvPr/>
        </p:nvSpPr>
        <p:spPr>
          <a:xfrm>
            <a:off x="822960" y="2286000"/>
            <a:ext cx="3474360" cy="21027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1001"/>
              </a:spcAft>
              <a:buClr>
                <a:srgbClr val="161B22"/>
              </a:buClr>
              <a:buFont typeface="Symbol" charset="2"/>
              <a:buChar char=""/>
            </a:pPr>
            <a:r>
              <a:rPr lang="en-US" sz="1800" b="0" u="none" strike="noStrike">
                <a:solidFill>
                  <a:schemeClr val="dk1"/>
                </a:solidFill>
                <a:effectLst/>
                <a:uFillTx/>
                <a:latin typeface="Calibri"/>
              </a:rPr>
              <a:t>Boilerplate and syntax you forgot</a:t>
            </a:r>
            <a:endParaRPr lang="en-US" sz="1800" b="0" u="none" strike="noStrike">
              <a:solidFill>
                <a:srgbClr val="000000"/>
              </a:solidFill>
              <a:effectLst/>
              <a:uFillTx/>
              <a:latin typeface="Arial"/>
            </a:endParaRPr>
          </a:p>
          <a:p>
            <a:pPr marL="177840" indent="-177840" defTabSz="914400">
              <a:lnSpc>
                <a:spcPct val="100000"/>
              </a:lnSpc>
              <a:spcAft>
                <a:spcPts val="1001"/>
              </a:spcAft>
              <a:buClr>
                <a:srgbClr val="161B22"/>
              </a:buClr>
              <a:buFont typeface="Symbol" charset="2"/>
              <a:buChar char=""/>
            </a:pPr>
            <a:r>
              <a:rPr lang="en-US" sz="1800" b="0" u="none" strike="noStrike">
                <a:solidFill>
                  <a:schemeClr val="dk1"/>
                </a:solidFill>
                <a:effectLst/>
                <a:uFillTx/>
                <a:latin typeface="Calibri"/>
              </a:rPr>
              <a:t>Implementing a design you already made</a:t>
            </a:r>
            <a:endParaRPr lang="en-US" sz="1800" b="0" u="none" strike="noStrike">
              <a:solidFill>
                <a:srgbClr val="000000"/>
              </a:solidFill>
              <a:effectLst/>
              <a:uFillTx/>
              <a:latin typeface="Arial"/>
            </a:endParaRPr>
          </a:p>
          <a:p>
            <a:pPr marL="177840" indent="-177840" defTabSz="914400">
              <a:lnSpc>
                <a:spcPct val="100000"/>
              </a:lnSpc>
              <a:spcAft>
                <a:spcPts val="1001"/>
              </a:spcAft>
              <a:buClr>
                <a:srgbClr val="161B22"/>
              </a:buClr>
              <a:buFont typeface="Symbol" charset="2"/>
              <a:buChar char=""/>
            </a:pPr>
            <a:r>
              <a:rPr lang="en-US" sz="1800" b="0" u="none" strike="noStrike">
                <a:solidFill>
                  <a:schemeClr val="dk1"/>
                </a:solidFill>
                <a:effectLst/>
                <a:uFillTx/>
                <a:latin typeface="Calibri"/>
              </a:rPr>
              <a:t>Explaining an error you have context for</a:t>
            </a:r>
            <a:endParaRPr lang="en-US" sz="1800" b="0" u="none" strike="noStrike">
              <a:solidFill>
                <a:srgbClr val="000000"/>
              </a:solidFill>
              <a:effectLst/>
              <a:uFillTx/>
              <a:latin typeface="Arial"/>
            </a:endParaRPr>
          </a:p>
        </p:txBody>
      </p:sp>
      <p:sp>
        <p:nvSpPr>
          <p:cNvPr id="157" name="Bad at card"/>
          <p:cNvSpPr/>
          <p:nvPr/>
        </p:nvSpPr>
        <p:spPr>
          <a:xfrm>
            <a:off x="4663440" y="1280160"/>
            <a:ext cx="3931560" cy="3291480"/>
          </a:xfrm>
          <a:prstGeom prst="roundRect">
            <a:avLst>
              <a:gd name="adj" fmla="val 2222"/>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8" name="Bad at circle"/>
          <p:cNvSpPr/>
          <p:nvPr/>
        </p:nvSpPr>
        <p:spPr>
          <a:xfrm>
            <a:off x="4892040" y="1463040"/>
            <a:ext cx="548280" cy="548280"/>
          </a:xfrm>
          <a:prstGeom prst="ellipse">
            <a:avLst/>
          </a:prstGeom>
          <a:solidFill>
            <a:srgbClr val="D1242F"/>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59" name="Bad at image" descr="FaTimes"/>
          <p:cNvPicPr/>
          <p:nvPr/>
        </p:nvPicPr>
        <p:blipFill>
          <a:blip r:embed="rId2"/>
          <a:stretch/>
        </p:blipFill>
        <p:spPr>
          <a:xfrm>
            <a:off x="5029200" y="1600200"/>
            <a:ext cx="273960" cy="273960"/>
          </a:xfrm>
          <a:prstGeom prst="rect">
            <a:avLst/>
          </a:prstGeom>
          <a:noFill/>
          <a:ln w="0">
            <a:noFill/>
          </a:ln>
        </p:spPr>
      </p:pic>
      <p:sp>
        <p:nvSpPr>
          <p:cNvPr id="160" name="Text 7"/>
          <p:cNvSpPr/>
          <p:nvPr/>
        </p:nvSpPr>
        <p:spPr>
          <a:xfrm>
            <a:off x="5623560" y="1463040"/>
            <a:ext cx="2742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dk1"/>
                </a:solidFill>
                <a:effectLst/>
                <a:uFillTx/>
                <a:latin typeface="Calibri"/>
              </a:rPr>
              <a:t>Bad at</a:t>
            </a:r>
            <a:endParaRPr lang="en-US" sz="2400" b="0" u="none" strike="noStrike">
              <a:solidFill>
                <a:srgbClr val="000000"/>
              </a:solidFill>
              <a:effectLst/>
              <a:uFillTx/>
              <a:latin typeface="Arial"/>
            </a:endParaRPr>
          </a:p>
        </p:txBody>
      </p:sp>
      <p:sp>
        <p:nvSpPr>
          <p:cNvPr id="161" name="Text 8"/>
          <p:cNvSpPr/>
          <p:nvPr/>
        </p:nvSpPr>
        <p:spPr>
          <a:xfrm>
            <a:off x="4937760" y="2286000"/>
            <a:ext cx="3474360" cy="21027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1001"/>
              </a:spcAft>
              <a:buClr>
                <a:srgbClr val="161B22"/>
              </a:buClr>
              <a:buFont typeface="Symbol" charset="2"/>
              <a:buChar char=""/>
            </a:pPr>
            <a:r>
              <a:rPr lang="en-US" sz="1800" b="0" u="none" strike="noStrike">
                <a:solidFill>
                  <a:schemeClr val="dk1"/>
                </a:solidFill>
                <a:effectLst/>
                <a:uFillTx/>
                <a:latin typeface="Calibri"/>
              </a:rPr>
              <a:t>Knowing your repo, stack and constraints</a:t>
            </a:r>
            <a:endParaRPr lang="en-US" sz="1800" b="0" u="none" strike="noStrike">
              <a:solidFill>
                <a:srgbClr val="000000"/>
              </a:solidFill>
              <a:effectLst/>
              <a:uFillTx/>
              <a:latin typeface="Arial"/>
            </a:endParaRPr>
          </a:p>
          <a:p>
            <a:pPr marL="177840" indent="-177840" defTabSz="914400">
              <a:lnSpc>
                <a:spcPct val="100000"/>
              </a:lnSpc>
              <a:spcAft>
                <a:spcPts val="1001"/>
              </a:spcAft>
              <a:buClr>
                <a:srgbClr val="161B22"/>
              </a:buClr>
              <a:buFont typeface="Symbol" charset="2"/>
              <a:buChar char=""/>
            </a:pPr>
            <a:r>
              <a:rPr lang="en-US" sz="1800" b="0" u="none" strike="noStrike">
                <a:solidFill>
                  <a:schemeClr val="dk1"/>
                </a:solidFill>
                <a:effectLst/>
                <a:uFillTx/>
                <a:latin typeface="Calibri"/>
              </a:rPr>
              <a:t>Inventing architecture from nothing</a:t>
            </a:r>
            <a:endParaRPr lang="en-US" sz="1800" b="0" u="none" strike="noStrike">
              <a:solidFill>
                <a:srgbClr val="000000"/>
              </a:solidFill>
              <a:effectLst/>
              <a:uFillTx/>
              <a:latin typeface="Arial"/>
            </a:endParaRPr>
          </a:p>
          <a:p>
            <a:pPr marL="177840" indent="-177840" defTabSz="914400">
              <a:lnSpc>
                <a:spcPct val="100000"/>
              </a:lnSpc>
              <a:spcAft>
                <a:spcPts val="1001"/>
              </a:spcAft>
              <a:buClr>
                <a:srgbClr val="161B22"/>
              </a:buClr>
              <a:buFont typeface="Symbol" charset="2"/>
              <a:buChar char=""/>
            </a:pPr>
            <a:r>
              <a:rPr lang="en-US" sz="1800" b="0" u="none" strike="noStrike">
                <a:solidFill>
                  <a:schemeClr val="dk1"/>
                </a:solidFill>
                <a:effectLst/>
                <a:uFillTx/>
                <a:latin typeface="Calibri"/>
              </a:rPr>
              <a:t>Knowing whether a flag or action really exists</a:t>
            </a:r>
            <a:endParaRPr lang="en-US" sz="1800" b="0" u="none" strike="noStrike">
              <a:solidFill>
                <a:srgbClr val="000000"/>
              </a:solidFill>
              <a:effectLst/>
              <a:uFillTx/>
              <a:latin typeface="Arial"/>
            </a:endParaRPr>
          </a:p>
        </p:txBody>
      </p:sp>
      <p:sp>
        <p:nvSpPr>
          <p:cNvPr id="162" name="PlaceHolder 2"/>
          <p:cNvSpPr>
            <a:spLocks noGrp="1"/>
          </p:cNvSpPr>
          <p:nvPr>
            <p:ph type="sldNum" idx="14"/>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D67635F-02F3-477F-87FA-C9AB9F0DACDD}"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mbria"/>
              </a:rPr>
              <a:t>Demo: a lazy prompt</a:t>
            </a:r>
            <a:endParaRPr lang="en-US" sz="3400" b="1" u="none" strike="noStrike">
              <a:solidFill>
                <a:schemeClr val="lt1"/>
              </a:solidFill>
              <a:effectLst/>
              <a:uFillTx/>
              <a:latin typeface="Cambria"/>
            </a:endParaRPr>
          </a:p>
        </p:txBody>
      </p:sp>
      <p:sp>
        <p:nvSpPr>
          <p:cNvPr id="164" name="prompt panel"/>
          <p:cNvSpPr/>
          <p:nvPr/>
        </p:nvSpPr>
        <p:spPr>
          <a:xfrm>
            <a:off x="548640" y="1280160"/>
            <a:ext cx="8046360" cy="2102760"/>
          </a:xfrm>
          <a:prstGeom prst="roundRect">
            <a:avLst>
              <a:gd name="adj" fmla="val 3478"/>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5" name="Text 2"/>
          <p:cNvSpPr/>
          <p:nvPr/>
        </p:nvSpPr>
        <p:spPr>
          <a:xfrm>
            <a:off x="822960" y="1417320"/>
            <a:ext cx="7497720" cy="1874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lt1"/>
                </a:solidFill>
                <a:effectLst/>
                <a:uFillTx/>
                <a:latin typeface="Calibri"/>
              </a:rPr>
              <a:t>Assignment 2: Continuous Integration</a:t>
            </a:r>
            <a:endParaRPr lang="en-US" sz="1800" b="0" u="none" strike="noStrike">
              <a:solidFill>
                <a:srgbClr val="FFFFFF"/>
              </a:solidFill>
              <a:effectLst/>
              <a:uFillTx/>
              <a:latin typeface="Arial"/>
            </a:endParaRPr>
          </a:p>
          <a:p>
            <a:pPr defTabSz="914400">
              <a:lnSpc>
                <a:spcPct val="100000"/>
              </a:lnSpc>
              <a:tabLst>
                <a:tab pos="0" algn="l"/>
              </a:tabLst>
            </a:pPr>
            <a:r>
              <a:rPr lang="en-US" sz="600" b="0" u="none" strike="noStrike">
                <a:solidFill>
                  <a:schemeClr val="lt1"/>
                </a:solidFill>
                <a:effectLst/>
                <a:uFillTx/>
                <a:latin typeface="Calibri"/>
              </a:rPr>
              <a:t> </a:t>
            </a:r>
            <a:endParaRPr lang="en-US" sz="600" b="0" u="none" strike="noStrike">
              <a:solidFill>
                <a:srgbClr val="FFFFFF"/>
              </a:solidFill>
              <a:effectLst/>
              <a:uFillTx/>
              <a:latin typeface="Arial"/>
            </a:endParaRPr>
          </a:p>
          <a:p>
            <a:pPr defTabSz="914400">
              <a:lnSpc>
                <a:spcPct val="100000"/>
              </a:lnSpc>
              <a:tabLst>
                <a:tab pos="0" algn="l"/>
              </a:tabLst>
            </a:pPr>
            <a:r>
              <a:rPr lang="en-US" sz="1800" b="0" u="none" strike="noStrike">
                <a:solidFill>
                  <a:schemeClr val="lt1"/>
                </a:solidFill>
                <a:effectLst/>
                <a:uFillTx/>
                <a:latin typeface="Calibri"/>
              </a:rPr>
              <a:t>Set up a CI pipeline for the application. The pipeline should build the application, run the tests, check the code quality, and report the results. Use GitHub Actions. Submit the workflow file.</a:t>
            </a:r>
            <a:endParaRPr lang="en-US" sz="1800" b="0" u="none" strike="noStrike">
              <a:solidFill>
                <a:srgbClr val="FFFFFF"/>
              </a:solidFill>
              <a:effectLst/>
              <a:uFillTx/>
              <a:latin typeface="Arial"/>
            </a:endParaRPr>
          </a:p>
          <a:p>
            <a:pPr defTabSz="914400">
              <a:lnSpc>
                <a:spcPct val="100000"/>
              </a:lnSpc>
              <a:tabLst>
                <a:tab pos="0" algn="l"/>
              </a:tabLst>
            </a:pPr>
            <a:r>
              <a:rPr lang="en-US" sz="600" b="0" u="none" strike="noStrike">
                <a:solidFill>
                  <a:schemeClr val="lt1"/>
                </a:solidFill>
                <a:effectLst/>
                <a:uFillTx/>
                <a:latin typeface="Calibri"/>
              </a:rPr>
              <a:t> </a:t>
            </a:r>
            <a:endParaRPr lang="en-US" sz="600" b="0" u="none" strike="noStrike">
              <a:solidFill>
                <a:srgbClr val="FFFFFF"/>
              </a:solidFill>
              <a:effectLst/>
              <a:uFillTx/>
              <a:latin typeface="Arial"/>
            </a:endParaRPr>
          </a:p>
          <a:p>
            <a:pPr defTabSz="914400">
              <a:lnSpc>
                <a:spcPct val="100000"/>
              </a:lnSpc>
              <a:tabLst>
                <a:tab pos="0" algn="l"/>
              </a:tabLst>
            </a:pPr>
            <a:r>
              <a:rPr lang="en-US" sz="1800" b="0" u="none" strike="noStrike">
                <a:solidFill>
                  <a:schemeClr val="lt1"/>
                </a:solidFill>
                <a:effectLst/>
                <a:uFillTx/>
                <a:latin typeface="Calibri"/>
              </a:rPr>
              <a:t>Write the complete GitHub Actions workflow.</a:t>
            </a:r>
            <a:endParaRPr lang="en-US" sz="1800" b="0" u="none" strike="noStrike">
              <a:solidFill>
                <a:srgbClr val="FFFFFF"/>
              </a:solidFill>
              <a:effectLst/>
              <a:uFillTx/>
              <a:latin typeface="Arial"/>
            </a:endParaRPr>
          </a:p>
        </p:txBody>
      </p:sp>
      <p:sp>
        <p:nvSpPr>
          <p:cNvPr id="166" name="Text 3"/>
          <p:cNvSpPr/>
          <p:nvPr/>
        </p:nvSpPr>
        <p:spPr>
          <a:xfrm>
            <a:off x="548640" y="3749040"/>
            <a:ext cx="8046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accent2"/>
                </a:solidFill>
                <a:effectLst/>
                <a:uFillTx/>
                <a:latin typeface="Calibri"/>
              </a:rPr>
              <a:t>What language is the app?  Where are the tests?</a:t>
            </a:r>
            <a:endParaRPr lang="en-US" sz="2400" b="0" u="none" strike="noStrike">
              <a:solidFill>
                <a:srgbClr val="FFFFFF"/>
              </a:solidFill>
              <a:effectLst/>
              <a:uFillTx/>
              <a:latin typeface="Arial"/>
            </a:endParaRPr>
          </a:p>
        </p:txBody>
      </p:sp>
      <p:sp>
        <p:nvSpPr>
          <p:cNvPr id="167" name="PlaceHolder 2"/>
          <p:cNvSpPr>
            <a:spLocks noGrp="1"/>
          </p:cNvSpPr>
          <p:nvPr>
            <p:ph type="sldNum" idx="15"/>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D80A4BA8-D297-4B39-B5A7-48EF0C876EB7}"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Find what you can't trust</a:t>
            </a:r>
            <a:endParaRPr lang="en-US" sz="3400" b="1" u="none" strike="noStrike">
              <a:solidFill>
                <a:schemeClr val="dk1"/>
              </a:solidFill>
              <a:effectLst/>
              <a:uFillTx/>
              <a:latin typeface="Cambria"/>
            </a:endParaRPr>
          </a:p>
        </p:txBody>
      </p:sp>
      <p:sp>
        <p:nvSpPr>
          <p:cNvPr id="169" name="code panel"/>
          <p:cNvSpPr/>
          <p:nvPr/>
        </p:nvSpPr>
        <p:spPr>
          <a:xfrm>
            <a:off x="548640" y="1280160"/>
            <a:ext cx="5120280" cy="3337200"/>
          </a:xfrm>
          <a:prstGeom prst="roundRect">
            <a:avLst>
              <a:gd name="adj" fmla="val 2192"/>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0" name="Text 2"/>
          <p:cNvSpPr/>
          <p:nvPr/>
        </p:nvSpPr>
        <p:spPr>
          <a:xfrm>
            <a:off x="777240" y="1417320"/>
            <a:ext cx="4754520" cy="3108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2"/>
                </a:solidFill>
                <a:effectLst/>
                <a:uFillTx/>
                <a:latin typeface="Courier New"/>
                <a:ea typeface="Courier New"/>
              </a:rPr>
              <a:t>permissions: write-all</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on:</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pull_request_target:</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schedule:</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 cron: "*/15 * * * *"</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strategy:</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matrix:</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os: [ubuntu, windows, macos]</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node: [16, 18, 20]</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java: [11, 17]</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python: ["3.8", "3.9", "3.10"]</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steps:</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 uses: actions/checkout@master</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 uses: actions/setup-build-tools@v2</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 run: npm run build:all</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chemeClr val="lt2"/>
                </a:solidFill>
                <a:effectLst/>
                <a:uFillTx/>
                <a:latin typeface="Courier New"/>
                <a:ea typeface="Courier New"/>
              </a:rPr>
              <a:t>  - run: npm run test:all || true</a:t>
            </a:r>
            <a:endParaRPr lang="en-US" sz="1200" b="0" u="none" strike="noStrike">
              <a:solidFill>
                <a:srgbClr val="000000"/>
              </a:solidFill>
              <a:effectLst/>
              <a:uFillTx/>
              <a:latin typeface="Arial"/>
            </a:endParaRPr>
          </a:p>
        </p:txBody>
      </p:sp>
      <p:sp>
        <p:nvSpPr>
          <p:cNvPr id="171" name="task card"/>
          <p:cNvSpPr/>
          <p:nvPr/>
        </p:nvSpPr>
        <p:spPr>
          <a:xfrm>
            <a:off x="5943600" y="1280160"/>
            <a:ext cx="2651400" cy="3337200"/>
          </a:xfrm>
          <a:prstGeom prst="roundRect">
            <a:avLst>
              <a:gd name="adj" fmla="val 2759"/>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2" name="Text 4"/>
          <p:cNvSpPr/>
          <p:nvPr/>
        </p:nvSpPr>
        <p:spPr>
          <a:xfrm>
            <a:off x="6126480" y="1417320"/>
            <a:ext cx="228564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accent2"/>
                </a:solidFill>
                <a:effectLst/>
                <a:uFillTx/>
                <a:latin typeface="Calibri"/>
              </a:rPr>
              <a:t>60 seconds, in silence</a:t>
            </a:r>
            <a:endParaRPr lang="en-US" sz="2000" b="0" u="none" strike="noStrike">
              <a:solidFill>
                <a:srgbClr val="000000"/>
              </a:solidFill>
              <a:effectLst/>
              <a:uFillTx/>
              <a:latin typeface="Arial"/>
            </a:endParaRPr>
          </a:p>
        </p:txBody>
      </p:sp>
      <p:sp>
        <p:nvSpPr>
          <p:cNvPr id="173" name="Text 5"/>
          <p:cNvSpPr/>
          <p:nvPr/>
        </p:nvSpPr>
        <p:spPr>
          <a:xfrm>
            <a:off x="6126480" y="2194560"/>
            <a:ext cx="228564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Find something you can't trust.</a:t>
            </a:r>
            <a:endParaRPr lang="en-US" sz="1800" b="0" u="none" strike="noStrike">
              <a:solidFill>
                <a:srgbClr val="000000"/>
              </a:solidFill>
              <a:effectLst/>
              <a:uFillTx/>
              <a:latin typeface="Arial"/>
            </a:endParaRPr>
          </a:p>
        </p:txBody>
      </p:sp>
      <p:sp>
        <p:nvSpPr>
          <p:cNvPr id="174" name="Text 6"/>
          <p:cNvSpPr/>
          <p:nvPr/>
        </p:nvSpPr>
        <p:spPr>
          <a:xfrm>
            <a:off x="6126480" y="3200400"/>
            <a:ext cx="228564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6"/>
                </a:solidFill>
                <a:effectLst/>
                <a:uFillTx/>
                <a:latin typeface="Calibri"/>
              </a:rPr>
              <a:t>Which parts could you explain?</a:t>
            </a:r>
            <a:endParaRPr lang="en-US" sz="1800" b="0" u="none" strike="noStrike">
              <a:solidFill>
                <a:srgbClr val="000000"/>
              </a:solidFill>
              <a:effectLst/>
              <a:uFillTx/>
              <a:latin typeface="Arial"/>
            </a:endParaRPr>
          </a:p>
        </p:txBody>
      </p:sp>
      <p:sp>
        <p:nvSpPr>
          <p:cNvPr id="175" name="PlaceHolder 2"/>
          <p:cNvSpPr>
            <a:spLocks noGrp="1"/>
          </p:cNvSpPr>
          <p:nvPr>
            <p:ph type="sldNum" idx="1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49431C5-2143-41BB-A28D-A287353F0F0B}"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Same task, with context</a:t>
            </a:r>
            <a:endParaRPr lang="en-US" sz="3400" b="1" u="none" strike="noStrike">
              <a:solidFill>
                <a:schemeClr val="dk1"/>
              </a:solidFill>
              <a:effectLst/>
              <a:uFillTx/>
              <a:latin typeface="Cambria"/>
            </a:endParaRPr>
          </a:p>
        </p:txBody>
      </p:sp>
      <p:sp>
        <p:nvSpPr>
          <p:cNvPr id="177" name="lazy card"/>
          <p:cNvSpPr/>
          <p:nvPr/>
        </p:nvSpPr>
        <p:spPr>
          <a:xfrm>
            <a:off x="548640" y="1280160"/>
            <a:ext cx="3931560" cy="1965600"/>
          </a:xfrm>
          <a:prstGeom prst="roundRect">
            <a:avLst>
              <a:gd name="adj" fmla="val 3721"/>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8" name="Text 2"/>
          <p:cNvSpPr/>
          <p:nvPr/>
        </p:nvSpPr>
        <p:spPr>
          <a:xfrm>
            <a:off x="777240" y="1371600"/>
            <a:ext cx="3474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3"/>
                </a:solidFill>
                <a:effectLst/>
                <a:uFillTx/>
                <a:latin typeface="Calibri"/>
              </a:rPr>
              <a:t>Lazy prompt</a:t>
            </a:r>
            <a:endParaRPr lang="en-US" sz="1800" b="0" u="none" strike="noStrike">
              <a:solidFill>
                <a:srgbClr val="000000"/>
              </a:solidFill>
              <a:effectLst/>
              <a:uFillTx/>
              <a:latin typeface="Arial"/>
            </a:endParaRPr>
          </a:p>
        </p:txBody>
      </p:sp>
      <p:sp>
        <p:nvSpPr>
          <p:cNvPr id="179" name="Text 3"/>
          <p:cNvSpPr/>
          <p:nvPr/>
        </p:nvSpPr>
        <p:spPr>
          <a:xfrm>
            <a:off x="777240" y="1737360"/>
            <a:ext cx="34743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The assignment, pasted as is. No language, no layout, no commands.</a:t>
            </a:r>
            <a:endParaRPr lang="en-US" sz="1600" b="0" u="none" strike="noStrike">
              <a:solidFill>
                <a:srgbClr val="000000"/>
              </a:solidFill>
              <a:effectLst/>
              <a:uFillTx/>
              <a:latin typeface="Arial"/>
            </a:endParaRPr>
          </a:p>
        </p:txBody>
      </p:sp>
      <p:sp>
        <p:nvSpPr>
          <p:cNvPr id="180" name="Text 4"/>
          <p:cNvSpPr/>
          <p:nvPr/>
        </p:nvSpPr>
        <p:spPr>
          <a:xfrm>
            <a:off x="777240" y="2514600"/>
            <a:ext cx="34743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1"/>
                </a:solidFill>
                <a:effectLst/>
                <a:uFillTx/>
                <a:latin typeface="Calibri"/>
              </a:rPr>
              <a:t>54 jobs, invented actions, tests that can't fail</a:t>
            </a:r>
            <a:endParaRPr lang="en-US" sz="1600" b="0" u="none" strike="noStrike">
              <a:solidFill>
                <a:srgbClr val="000000"/>
              </a:solidFill>
              <a:effectLst/>
              <a:uFillTx/>
              <a:latin typeface="Arial"/>
            </a:endParaRPr>
          </a:p>
        </p:txBody>
      </p:sp>
      <p:sp>
        <p:nvSpPr>
          <p:cNvPr id="181" name="context card"/>
          <p:cNvSpPr/>
          <p:nvPr/>
        </p:nvSpPr>
        <p:spPr>
          <a:xfrm>
            <a:off x="4663440" y="1280160"/>
            <a:ext cx="3931560" cy="1965600"/>
          </a:xfrm>
          <a:prstGeom prst="roundRect">
            <a:avLst>
              <a:gd name="adj" fmla="val 3721"/>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82" name="Text 6"/>
          <p:cNvSpPr/>
          <p:nvPr/>
        </p:nvSpPr>
        <p:spPr>
          <a:xfrm>
            <a:off x="4892040" y="1371600"/>
            <a:ext cx="3474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1"/>
                </a:solidFill>
                <a:effectLst/>
                <a:uFillTx/>
                <a:latin typeface="Calibri"/>
              </a:rPr>
              <a:t>Prompt with context</a:t>
            </a:r>
            <a:endParaRPr lang="en-US" sz="1800" b="0" u="none" strike="noStrike">
              <a:solidFill>
                <a:srgbClr val="000000"/>
              </a:solidFill>
              <a:effectLst/>
              <a:uFillTx/>
              <a:latin typeface="Arial"/>
            </a:endParaRPr>
          </a:p>
        </p:txBody>
      </p:sp>
      <p:sp>
        <p:nvSpPr>
          <p:cNvPr id="183" name="Text 7"/>
          <p:cNvSpPr/>
          <p:nvPr/>
        </p:nvSpPr>
        <p:spPr>
          <a:xfrm>
            <a:off x="4892040" y="1737360"/>
            <a:ext cx="34743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Python 3.12 app, pytest, run on push and PR, official actions only.</a:t>
            </a:r>
            <a:endParaRPr lang="en-US" sz="1600" b="0" u="none" strike="noStrike">
              <a:solidFill>
                <a:srgbClr val="000000"/>
              </a:solidFill>
              <a:effectLst/>
              <a:uFillTx/>
              <a:latin typeface="Arial"/>
            </a:endParaRPr>
          </a:p>
        </p:txBody>
      </p:sp>
      <p:sp>
        <p:nvSpPr>
          <p:cNvPr id="184" name="Text 8"/>
          <p:cNvSpPr/>
          <p:nvPr/>
        </p:nvSpPr>
        <p:spPr>
          <a:xfrm>
            <a:off x="4892040" y="2514600"/>
            <a:ext cx="34743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1"/>
                </a:solidFill>
                <a:effectLst/>
                <a:uFillTx/>
                <a:latin typeface="Calibri"/>
              </a:rPr>
              <a:t>15 lines you can read and explain</a:t>
            </a:r>
            <a:endParaRPr lang="en-US" sz="1600" b="0" u="none" strike="noStrike">
              <a:solidFill>
                <a:srgbClr val="000000"/>
              </a:solidFill>
              <a:effectLst/>
              <a:uFillTx/>
              <a:latin typeface="Arial"/>
            </a:endParaRPr>
          </a:p>
        </p:txBody>
      </p:sp>
      <p:sp>
        <p:nvSpPr>
          <p:cNvPr id="185" name="message banner"/>
          <p:cNvSpPr/>
          <p:nvPr/>
        </p:nvSpPr>
        <p:spPr>
          <a:xfrm>
            <a:off x="548640" y="3474720"/>
            <a:ext cx="8046360" cy="1188360"/>
          </a:xfrm>
          <a:prstGeom prst="roundRect">
            <a:avLst>
              <a:gd name="adj" fmla="val 6154"/>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6" name="Text 10"/>
          <p:cNvSpPr/>
          <p:nvPr/>
        </p:nvSpPr>
        <p:spPr>
          <a:xfrm>
            <a:off x="822960" y="3474720"/>
            <a:ext cx="749772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chemeClr val="lt1"/>
                </a:solidFill>
                <a:effectLst/>
                <a:uFillTx/>
                <a:latin typeface="Calibri"/>
              </a:rPr>
              <a:t>Understanding the use case, the context and the architecture is your job. </a:t>
            </a:r>
            <a:r>
              <a:rPr lang="en-US" sz="2000" b="1" u="none" strike="noStrike">
                <a:solidFill>
                  <a:schemeClr val="accent1"/>
                </a:solidFill>
                <a:effectLst/>
                <a:uFillTx/>
                <a:latin typeface="Calibri"/>
              </a:rPr>
              <a:t>AI may write the code faster, but you decide what code it writes.</a:t>
            </a:r>
            <a:endParaRPr lang="en-US" sz="2000" b="0" u="none" strike="noStrike">
              <a:solidFill>
                <a:srgbClr val="000000"/>
              </a:solidFill>
              <a:effectLst/>
              <a:uFillTx/>
              <a:latin typeface="Arial"/>
            </a:endParaRPr>
          </a:p>
        </p:txBody>
      </p:sp>
      <p:sp>
        <p:nvSpPr>
          <p:cNvPr id="187" name="PlaceHolder 2"/>
          <p:cNvSpPr>
            <a:spLocks noGrp="1"/>
          </p:cNvSpPr>
          <p:nvPr>
            <p:ph type="sldNum" idx="1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C8021804-258A-444D-9E10-8388698A5020}"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Quick survey: 5 minutes, on your phone</a:t>
            </a:r>
            <a:endParaRPr lang="en-US" sz="3400" b="1" u="none" strike="noStrike">
              <a:solidFill>
                <a:schemeClr val="dk1"/>
              </a:solidFill>
              <a:effectLst/>
              <a:uFillTx/>
              <a:latin typeface="Cambria"/>
            </a:endParaRPr>
          </a:p>
        </p:txBody>
      </p:sp>
      <p:sp>
        <p:nvSpPr>
          <p:cNvPr id="189" name="qr card"/>
          <p:cNvSpPr/>
          <p:nvPr/>
        </p:nvSpPr>
        <p:spPr>
          <a:xfrm>
            <a:off x="548640" y="1280160"/>
            <a:ext cx="3291480" cy="3291480"/>
          </a:xfrm>
          <a:prstGeom prst="roundRect">
            <a:avLst>
              <a:gd name="adj" fmla="val 2222"/>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90" name="survey qr" descr="QR code linking to the survey form"/>
          <p:cNvPicPr/>
          <p:nvPr/>
        </p:nvPicPr>
        <p:blipFill>
          <a:blip r:embed="rId1"/>
          <a:stretch/>
        </p:blipFill>
        <p:spPr>
          <a:xfrm>
            <a:off x="685800" y="1417320"/>
            <a:ext cx="3017160" cy="3017160"/>
          </a:xfrm>
          <a:prstGeom prst="rect">
            <a:avLst/>
          </a:prstGeom>
          <a:noFill/>
          <a:ln w="0">
            <a:noFill/>
          </a:ln>
        </p:spPr>
      </p:pic>
      <p:sp>
        <p:nvSpPr>
          <p:cNvPr id="191" name="Which langua circle"/>
          <p:cNvSpPr/>
          <p:nvPr/>
        </p:nvSpPr>
        <p:spPr>
          <a:xfrm>
            <a:off x="4206240" y="1371600"/>
            <a:ext cx="639720" cy="63972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92" name="Which langua image" descr="FaCode"/>
          <p:cNvPicPr/>
          <p:nvPr/>
        </p:nvPicPr>
        <p:blipFill>
          <a:blip r:embed="rId2"/>
          <a:stretch/>
        </p:blipFill>
        <p:spPr>
          <a:xfrm>
            <a:off x="4366440" y="1531800"/>
            <a:ext cx="319680" cy="319680"/>
          </a:xfrm>
          <a:prstGeom prst="rect">
            <a:avLst/>
          </a:prstGeom>
          <a:noFill/>
          <a:ln w="0">
            <a:noFill/>
          </a:ln>
        </p:spPr>
      </p:pic>
      <p:sp>
        <p:nvSpPr>
          <p:cNvPr id="193" name="Text 3"/>
          <p:cNvSpPr/>
          <p:nvPr/>
        </p:nvSpPr>
        <p:spPr>
          <a:xfrm>
            <a:off x="5029200" y="1371600"/>
            <a:ext cx="3565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chemeClr val="dk1"/>
                </a:solidFill>
                <a:effectLst/>
                <a:uFillTx/>
                <a:latin typeface="Calibri"/>
              </a:rPr>
              <a:t>Which languages and frameworks you use</a:t>
            </a:r>
            <a:endParaRPr lang="en-US" sz="2000" b="0" u="none" strike="noStrike">
              <a:solidFill>
                <a:srgbClr val="000000"/>
              </a:solidFill>
              <a:effectLst/>
              <a:uFillTx/>
              <a:latin typeface="Arial"/>
            </a:endParaRPr>
          </a:p>
        </p:txBody>
      </p:sp>
      <p:sp>
        <p:nvSpPr>
          <p:cNvPr id="194" name="Whether you  circle"/>
          <p:cNvSpPr/>
          <p:nvPr/>
        </p:nvSpPr>
        <p:spPr>
          <a:xfrm>
            <a:off x="4206240" y="2286000"/>
            <a:ext cx="639720" cy="63972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95" name="Whether you  image" descr="FaServer"/>
          <p:cNvPicPr/>
          <p:nvPr/>
        </p:nvPicPr>
        <p:blipFill>
          <a:blip r:embed="rId3"/>
          <a:stretch/>
        </p:blipFill>
        <p:spPr>
          <a:xfrm>
            <a:off x="4366440" y="2446200"/>
            <a:ext cx="319680" cy="319680"/>
          </a:xfrm>
          <a:prstGeom prst="rect">
            <a:avLst/>
          </a:prstGeom>
          <a:noFill/>
          <a:ln w="0">
            <a:noFill/>
          </a:ln>
        </p:spPr>
      </p:pic>
      <p:sp>
        <p:nvSpPr>
          <p:cNvPr id="196" name="Text 5"/>
          <p:cNvSpPr/>
          <p:nvPr/>
        </p:nvSpPr>
        <p:spPr>
          <a:xfrm>
            <a:off x="5029200" y="2286000"/>
            <a:ext cx="3565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chemeClr val="dk1"/>
                </a:solidFill>
                <a:effectLst/>
                <a:uFillTx/>
                <a:latin typeface="Calibri"/>
              </a:rPr>
              <a:t>Whether you have a backend project</a:t>
            </a:r>
            <a:endParaRPr lang="en-US" sz="2000" b="0" u="none" strike="noStrike">
              <a:solidFill>
                <a:srgbClr val="000000"/>
              </a:solidFill>
              <a:effectLst/>
              <a:uFillTx/>
              <a:latin typeface="Arial"/>
            </a:endParaRPr>
          </a:p>
        </p:txBody>
      </p:sp>
      <p:sp>
        <p:nvSpPr>
          <p:cNvPr id="197" name="Which direct circle"/>
          <p:cNvSpPr/>
          <p:nvPr/>
        </p:nvSpPr>
        <p:spPr>
          <a:xfrm>
            <a:off x="4206240" y="3200400"/>
            <a:ext cx="639720" cy="63972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98" name="Which direct image" descr="FaRocket"/>
          <p:cNvPicPr/>
          <p:nvPr/>
        </p:nvPicPr>
        <p:blipFill>
          <a:blip r:embed="rId4"/>
          <a:stretch/>
        </p:blipFill>
        <p:spPr>
          <a:xfrm>
            <a:off x="4366440" y="3360600"/>
            <a:ext cx="319680" cy="319680"/>
          </a:xfrm>
          <a:prstGeom prst="rect">
            <a:avLst/>
          </a:prstGeom>
          <a:noFill/>
          <a:ln w="0">
            <a:noFill/>
          </a:ln>
        </p:spPr>
      </p:pic>
      <p:sp>
        <p:nvSpPr>
          <p:cNvPr id="199" name="Text 7"/>
          <p:cNvSpPr/>
          <p:nvPr/>
        </p:nvSpPr>
        <p:spPr>
          <a:xfrm>
            <a:off x="5029200" y="3200400"/>
            <a:ext cx="3565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chemeClr val="dk1"/>
                </a:solidFill>
                <a:effectLst/>
                <a:uFillTx/>
                <a:latin typeface="Calibri"/>
              </a:rPr>
              <a:t>Which direction you want to go</a:t>
            </a:r>
            <a:endParaRPr lang="en-US" sz="2000" b="0" u="none" strike="noStrike">
              <a:solidFill>
                <a:srgbClr val="000000"/>
              </a:solidFill>
              <a:effectLst/>
              <a:uFillTx/>
              <a:latin typeface="Arial"/>
            </a:endParaRPr>
          </a:p>
        </p:txBody>
      </p:sp>
      <p:sp>
        <p:nvSpPr>
          <p:cNvPr id="200" name="Text 8"/>
          <p:cNvSpPr/>
          <p:nvPr/>
        </p:nvSpPr>
        <p:spPr>
          <a:xfrm>
            <a:off x="4206240" y="4069080"/>
            <a:ext cx="438876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i="1" u="none" strike="noStrike">
                <a:solidFill>
                  <a:schemeClr val="accent6"/>
                </a:solidFill>
                <a:effectLst/>
                <a:uFillTx/>
                <a:latin typeface="Calibri"/>
              </a:rPr>
              <a:t>I will choose the example app after this, so I need to know what you know.</a:t>
            </a:r>
            <a:endParaRPr lang="en-US" sz="1400" b="0" u="none" strike="noStrike">
              <a:solidFill>
                <a:srgbClr val="000000"/>
              </a:solidFill>
              <a:effectLst/>
              <a:uFillTx/>
              <a:latin typeface="Arial"/>
            </a:endParaRPr>
          </a:p>
        </p:txBody>
      </p:sp>
      <p:sp>
        <p:nvSpPr>
          <p:cNvPr id="201" name="PlaceHolder 2"/>
          <p:cNvSpPr>
            <a:spLocks noGrp="1"/>
          </p:cNvSpPr>
          <p:nvPr>
            <p:ph type="sldNum" idx="1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5AAF8F5-1063-4E4A-8566-4DF082E34C32}"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What we will cover</a:t>
            </a:r>
            <a:endParaRPr lang="en-US" sz="3400" b="1" u="none" strike="noStrike">
              <a:solidFill>
                <a:schemeClr val="dk1"/>
              </a:solidFill>
              <a:effectLst/>
              <a:uFillTx/>
              <a:latin typeface="Cambria"/>
            </a:endParaRPr>
          </a:p>
        </p:txBody>
      </p:sp>
      <p:sp>
        <p:nvSpPr>
          <p:cNvPr id="203" name="topic Version control"/>
          <p:cNvSpPr/>
          <p:nvPr/>
        </p:nvSpPr>
        <p:spPr>
          <a:xfrm>
            <a:off x="548640" y="128016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4" name="Version control circle"/>
          <p:cNvSpPr/>
          <p:nvPr/>
        </p:nvSpPr>
        <p:spPr>
          <a:xfrm>
            <a:off x="685800" y="141732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05" name="Version control image" descr="FaCodeBranch"/>
          <p:cNvPicPr/>
          <p:nvPr/>
        </p:nvPicPr>
        <p:blipFill>
          <a:blip r:embed="rId1"/>
          <a:stretch/>
        </p:blipFill>
        <p:spPr>
          <a:xfrm>
            <a:off x="800280" y="1531800"/>
            <a:ext cx="228240" cy="228240"/>
          </a:xfrm>
          <a:prstGeom prst="rect">
            <a:avLst/>
          </a:prstGeom>
          <a:noFill/>
          <a:ln w="0">
            <a:noFill/>
          </a:ln>
        </p:spPr>
      </p:pic>
      <p:sp>
        <p:nvSpPr>
          <p:cNvPr id="206" name="Text 3"/>
          <p:cNvSpPr/>
          <p:nvPr/>
        </p:nvSpPr>
        <p:spPr>
          <a:xfrm>
            <a:off x="685800" y="192024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Version control</a:t>
            </a:r>
            <a:endParaRPr lang="en-US" sz="1400" b="0" u="none" strike="noStrike">
              <a:solidFill>
                <a:srgbClr val="000000"/>
              </a:solidFill>
              <a:effectLst/>
              <a:uFillTx/>
              <a:latin typeface="Arial"/>
            </a:endParaRPr>
          </a:p>
        </p:txBody>
      </p:sp>
      <p:sp>
        <p:nvSpPr>
          <p:cNvPr id="207" name="Text 4"/>
          <p:cNvSpPr/>
          <p:nvPr/>
        </p:nvSpPr>
        <p:spPr>
          <a:xfrm>
            <a:off x="685800" y="237744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Git, GitHub, pull requests</a:t>
            </a:r>
            <a:endParaRPr lang="en-US" sz="1200" b="0" u="none" strike="noStrike">
              <a:solidFill>
                <a:srgbClr val="000000"/>
              </a:solidFill>
              <a:effectLst/>
              <a:uFillTx/>
              <a:latin typeface="Arial"/>
            </a:endParaRPr>
          </a:p>
        </p:txBody>
      </p:sp>
      <p:sp>
        <p:nvSpPr>
          <p:cNvPr id="208" name="topic Continuous integration"/>
          <p:cNvSpPr/>
          <p:nvPr/>
        </p:nvSpPr>
        <p:spPr>
          <a:xfrm>
            <a:off x="2606040" y="128016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9" name="Continuous integration circle"/>
          <p:cNvSpPr/>
          <p:nvPr/>
        </p:nvSpPr>
        <p:spPr>
          <a:xfrm>
            <a:off x="2743200" y="141732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10" name="Continuous integration image" descr="FaSync"/>
          <p:cNvPicPr/>
          <p:nvPr/>
        </p:nvPicPr>
        <p:blipFill>
          <a:blip r:embed="rId2"/>
          <a:stretch/>
        </p:blipFill>
        <p:spPr>
          <a:xfrm>
            <a:off x="2857680" y="1531800"/>
            <a:ext cx="228240" cy="228240"/>
          </a:xfrm>
          <a:prstGeom prst="rect">
            <a:avLst/>
          </a:prstGeom>
          <a:noFill/>
          <a:ln w="0">
            <a:noFill/>
          </a:ln>
        </p:spPr>
      </p:pic>
      <p:sp>
        <p:nvSpPr>
          <p:cNvPr id="211" name="Text 7"/>
          <p:cNvSpPr/>
          <p:nvPr/>
        </p:nvSpPr>
        <p:spPr>
          <a:xfrm>
            <a:off x="2743200" y="192024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Continuous integration</a:t>
            </a:r>
            <a:endParaRPr lang="en-US" sz="1400" b="0" u="none" strike="noStrike">
              <a:solidFill>
                <a:srgbClr val="000000"/>
              </a:solidFill>
              <a:effectLst/>
              <a:uFillTx/>
              <a:latin typeface="Arial"/>
            </a:endParaRPr>
          </a:p>
        </p:txBody>
      </p:sp>
      <p:sp>
        <p:nvSpPr>
          <p:cNvPr id="212" name="Text 8"/>
          <p:cNvSpPr/>
          <p:nvPr/>
        </p:nvSpPr>
        <p:spPr>
          <a:xfrm>
            <a:off x="2743200" y="237744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Automated tests with GitHub Actions</a:t>
            </a:r>
            <a:endParaRPr lang="en-US" sz="1200" b="0" u="none" strike="noStrike">
              <a:solidFill>
                <a:srgbClr val="000000"/>
              </a:solidFill>
              <a:effectLst/>
              <a:uFillTx/>
              <a:latin typeface="Arial"/>
            </a:endParaRPr>
          </a:p>
        </p:txBody>
      </p:sp>
      <p:sp>
        <p:nvSpPr>
          <p:cNvPr id="213" name="topic Continuous delivery"/>
          <p:cNvSpPr/>
          <p:nvPr/>
        </p:nvSpPr>
        <p:spPr>
          <a:xfrm>
            <a:off x="4663440" y="128016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4" name="Continuous delivery circle"/>
          <p:cNvSpPr/>
          <p:nvPr/>
        </p:nvSpPr>
        <p:spPr>
          <a:xfrm>
            <a:off x="4800600" y="141732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15" name="Continuous delivery image" descr="FaRocket"/>
          <p:cNvPicPr/>
          <p:nvPr/>
        </p:nvPicPr>
        <p:blipFill>
          <a:blip r:embed="rId3"/>
          <a:stretch/>
        </p:blipFill>
        <p:spPr>
          <a:xfrm>
            <a:off x="4915080" y="1531800"/>
            <a:ext cx="228240" cy="228240"/>
          </a:xfrm>
          <a:prstGeom prst="rect">
            <a:avLst/>
          </a:prstGeom>
          <a:noFill/>
          <a:ln w="0">
            <a:noFill/>
          </a:ln>
        </p:spPr>
      </p:pic>
      <p:sp>
        <p:nvSpPr>
          <p:cNvPr id="216" name="Text 11"/>
          <p:cNvSpPr/>
          <p:nvPr/>
        </p:nvSpPr>
        <p:spPr>
          <a:xfrm>
            <a:off x="4800600" y="192024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Continuous delivery</a:t>
            </a:r>
            <a:endParaRPr lang="en-US" sz="1400" b="0" u="none" strike="noStrike">
              <a:solidFill>
                <a:srgbClr val="000000"/>
              </a:solidFill>
              <a:effectLst/>
              <a:uFillTx/>
              <a:latin typeface="Arial"/>
            </a:endParaRPr>
          </a:p>
        </p:txBody>
      </p:sp>
      <p:sp>
        <p:nvSpPr>
          <p:cNvPr id="217" name="Text 12"/>
          <p:cNvSpPr/>
          <p:nvPr/>
        </p:nvSpPr>
        <p:spPr>
          <a:xfrm>
            <a:off x="4800600" y="237744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Reports and API docs on GitHub Pages</a:t>
            </a:r>
            <a:endParaRPr lang="en-US" sz="1200" b="0" u="none" strike="noStrike">
              <a:solidFill>
                <a:srgbClr val="000000"/>
              </a:solidFill>
              <a:effectLst/>
              <a:uFillTx/>
              <a:latin typeface="Arial"/>
            </a:endParaRPr>
          </a:p>
        </p:txBody>
      </p:sp>
      <p:sp>
        <p:nvSpPr>
          <p:cNvPr id="218" name="topic Containers"/>
          <p:cNvSpPr/>
          <p:nvPr/>
        </p:nvSpPr>
        <p:spPr>
          <a:xfrm>
            <a:off x="6720840" y="128016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9" name="Containers circle"/>
          <p:cNvSpPr/>
          <p:nvPr/>
        </p:nvSpPr>
        <p:spPr>
          <a:xfrm>
            <a:off x="6858000" y="141732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20" name="Containers image" descr="FaDocker"/>
          <p:cNvPicPr/>
          <p:nvPr/>
        </p:nvPicPr>
        <p:blipFill>
          <a:blip r:embed="rId4"/>
          <a:stretch/>
        </p:blipFill>
        <p:spPr>
          <a:xfrm>
            <a:off x="6972480" y="1531800"/>
            <a:ext cx="228240" cy="228240"/>
          </a:xfrm>
          <a:prstGeom prst="rect">
            <a:avLst/>
          </a:prstGeom>
          <a:noFill/>
          <a:ln w="0">
            <a:noFill/>
          </a:ln>
        </p:spPr>
      </p:pic>
      <p:sp>
        <p:nvSpPr>
          <p:cNvPr id="221" name="Text 15"/>
          <p:cNvSpPr/>
          <p:nvPr/>
        </p:nvSpPr>
        <p:spPr>
          <a:xfrm>
            <a:off x="6858000" y="192024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Containers</a:t>
            </a:r>
            <a:endParaRPr lang="en-US" sz="1400" b="0" u="none" strike="noStrike">
              <a:solidFill>
                <a:srgbClr val="000000"/>
              </a:solidFill>
              <a:effectLst/>
              <a:uFillTx/>
              <a:latin typeface="Arial"/>
            </a:endParaRPr>
          </a:p>
        </p:txBody>
      </p:sp>
      <p:sp>
        <p:nvSpPr>
          <p:cNvPr id="222" name="Text 16"/>
          <p:cNvSpPr/>
          <p:nvPr/>
        </p:nvSpPr>
        <p:spPr>
          <a:xfrm>
            <a:off x="6858000" y="237744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Docker images and containers</a:t>
            </a:r>
            <a:endParaRPr lang="en-US" sz="1200" b="0" u="none" strike="noStrike">
              <a:solidFill>
                <a:srgbClr val="000000"/>
              </a:solidFill>
              <a:effectLst/>
              <a:uFillTx/>
              <a:latin typeface="Arial"/>
            </a:endParaRPr>
          </a:p>
        </p:txBody>
      </p:sp>
      <p:sp>
        <p:nvSpPr>
          <p:cNvPr id="223" name="topic Multi-service apps"/>
          <p:cNvSpPr/>
          <p:nvPr/>
        </p:nvSpPr>
        <p:spPr>
          <a:xfrm>
            <a:off x="548640" y="297180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4" name="Multi-service apps circle"/>
          <p:cNvSpPr/>
          <p:nvPr/>
        </p:nvSpPr>
        <p:spPr>
          <a:xfrm>
            <a:off x="685800" y="310896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25" name="Multi-service apps image" descr="FaLayerGroup"/>
          <p:cNvPicPr/>
          <p:nvPr/>
        </p:nvPicPr>
        <p:blipFill>
          <a:blip r:embed="rId5"/>
          <a:stretch/>
        </p:blipFill>
        <p:spPr>
          <a:xfrm>
            <a:off x="800280" y="3223440"/>
            <a:ext cx="228240" cy="228240"/>
          </a:xfrm>
          <a:prstGeom prst="rect">
            <a:avLst/>
          </a:prstGeom>
          <a:noFill/>
          <a:ln w="0">
            <a:noFill/>
          </a:ln>
        </p:spPr>
      </p:pic>
      <p:sp>
        <p:nvSpPr>
          <p:cNvPr id="226" name="Text 19"/>
          <p:cNvSpPr/>
          <p:nvPr/>
        </p:nvSpPr>
        <p:spPr>
          <a:xfrm>
            <a:off x="685800" y="361188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Multi-service apps</a:t>
            </a:r>
            <a:endParaRPr lang="en-US" sz="1400" b="0" u="none" strike="noStrike">
              <a:solidFill>
                <a:srgbClr val="000000"/>
              </a:solidFill>
              <a:effectLst/>
              <a:uFillTx/>
              <a:latin typeface="Arial"/>
            </a:endParaRPr>
          </a:p>
        </p:txBody>
      </p:sp>
      <p:sp>
        <p:nvSpPr>
          <p:cNvPr id="227" name="Text 20"/>
          <p:cNvSpPr/>
          <p:nvPr/>
        </p:nvSpPr>
        <p:spPr>
          <a:xfrm>
            <a:off x="685800" y="406908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Docker Compose</a:t>
            </a:r>
            <a:endParaRPr lang="en-US" sz="1200" b="0" u="none" strike="noStrike">
              <a:solidFill>
                <a:srgbClr val="000000"/>
              </a:solidFill>
              <a:effectLst/>
              <a:uFillTx/>
              <a:latin typeface="Arial"/>
            </a:endParaRPr>
          </a:p>
        </p:txBody>
      </p:sp>
      <p:sp>
        <p:nvSpPr>
          <p:cNvPr id="228" name="topic Quality and security"/>
          <p:cNvSpPr/>
          <p:nvPr/>
        </p:nvSpPr>
        <p:spPr>
          <a:xfrm>
            <a:off x="2606040" y="297180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9" name="Quality and security circle"/>
          <p:cNvSpPr/>
          <p:nvPr/>
        </p:nvSpPr>
        <p:spPr>
          <a:xfrm>
            <a:off x="2743200" y="310896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30" name="Quality and security image" descr="FaShieldAlt"/>
          <p:cNvPicPr/>
          <p:nvPr/>
        </p:nvPicPr>
        <p:blipFill>
          <a:blip r:embed="rId6"/>
          <a:stretch/>
        </p:blipFill>
        <p:spPr>
          <a:xfrm>
            <a:off x="2857680" y="3223440"/>
            <a:ext cx="228240" cy="228240"/>
          </a:xfrm>
          <a:prstGeom prst="rect">
            <a:avLst/>
          </a:prstGeom>
          <a:noFill/>
          <a:ln w="0">
            <a:noFill/>
          </a:ln>
        </p:spPr>
      </p:pic>
      <p:sp>
        <p:nvSpPr>
          <p:cNvPr id="231" name="Text 23"/>
          <p:cNvSpPr/>
          <p:nvPr/>
        </p:nvSpPr>
        <p:spPr>
          <a:xfrm>
            <a:off x="2743200" y="361188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Quality and security</a:t>
            </a:r>
            <a:endParaRPr lang="en-US" sz="1400" b="0" u="none" strike="noStrike">
              <a:solidFill>
                <a:srgbClr val="000000"/>
              </a:solidFill>
              <a:effectLst/>
              <a:uFillTx/>
              <a:latin typeface="Arial"/>
            </a:endParaRPr>
          </a:p>
        </p:txBody>
      </p:sp>
      <p:sp>
        <p:nvSpPr>
          <p:cNvPr id="232" name="Text 24"/>
          <p:cNvSpPr/>
          <p:nvPr/>
        </p:nvSpPr>
        <p:spPr>
          <a:xfrm>
            <a:off x="2743200" y="406908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Linting, Trivy, Dependabot</a:t>
            </a:r>
            <a:endParaRPr lang="en-US" sz="1200" b="0" u="none" strike="noStrike">
              <a:solidFill>
                <a:srgbClr val="000000"/>
              </a:solidFill>
              <a:effectLst/>
              <a:uFillTx/>
              <a:latin typeface="Arial"/>
            </a:endParaRPr>
          </a:p>
        </p:txBody>
      </p:sp>
      <p:sp>
        <p:nvSpPr>
          <p:cNvPr id="233" name="topic Infrastructure as code"/>
          <p:cNvSpPr/>
          <p:nvPr/>
        </p:nvSpPr>
        <p:spPr>
          <a:xfrm>
            <a:off x="4663440" y="297180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4" name="Infrastructure as code circle"/>
          <p:cNvSpPr/>
          <p:nvPr/>
        </p:nvSpPr>
        <p:spPr>
          <a:xfrm>
            <a:off x="4800600" y="3108960"/>
            <a:ext cx="456840" cy="45684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35" name="Infrastructure as code image" descr="FaServer"/>
          <p:cNvPicPr/>
          <p:nvPr/>
        </p:nvPicPr>
        <p:blipFill>
          <a:blip r:embed="rId7"/>
          <a:stretch/>
        </p:blipFill>
        <p:spPr>
          <a:xfrm>
            <a:off x="4915080" y="3223440"/>
            <a:ext cx="228240" cy="228240"/>
          </a:xfrm>
          <a:prstGeom prst="rect">
            <a:avLst/>
          </a:prstGeom>
          <a:noFill/>
          <a:ln w="0">
            <a:noFill/>
          </a:ln>
        </p:spPr>
      </p:pic>
      <p:sp>
        <p:nvSpPr>
          <p:cNvPr id="236" name="Text 27"/>
          <p:cNvSpPr/>
          <p:nvPr/>
        </p:nvSpPr>
        <p:spPr>
          <a:xfrm>
            <a:off x="4800600" y="361188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Infrastructure as code</a:t>
            </a:r>
            <a:endParaRPr lang="en-US" sz="1400" b="0" u="none" strike="noStrike">
              <a:solidFill>
                <a:srgbClr val="000000"/>
              </a:solidFill>
              <a:effectLst/>
              <a:uFillTx/>
              <a:latin typeface="Arial"/>
            </a:endParaRPr>
          </a:p>
        </p:txBody>
      </p:sp>
      <p:sp>
        <p:nvSpPr>
          <p:cNvPr id="237" name="Text 28"/>
          <p:cNvSpPr/>
          <p:nvPr/>
        </p:nvSpPr>
        <p:spPr>
          <a:xfrm>
            <a:off x="4800600" y="406908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Terraform</a:t>
            </a:r>
            <a:endParaRPr lang="en-US" sz="1200" b="0" u="none" strike="noStrike">
              <a:solidFill>
                <a:srgbClr val="000000"/>
              </a:solidFill>
              <a:effectLst/>
              <a:uFillTx/>
              <a:latin typeface="Arial"/>
            </a:endParaRPr>
          </a:p>
        </p:txBody>
      </p:sp>
      <p:sp>
        <p:nvSpPr>
          <p:cNvPr id="238" name="topic Monitoring"/>
          <p:cNvSpPr/>
          <p:nvPr/>
        </p:nvSpPr>
        <p:spPr>
          <a:xfrm>
            <a:off x="6720840" y="2971800"/>
            <a:ext cx="18741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9" name="Monitoring circle"/>
          <p:cNvSpPr/>
          <p:nvPr/>
        </p:nvSpPr>
        <p:spPr>
          <a:xfrm>
            <a:off x="6858000" y="3108960"/>
            <a:ext cx="456840" cy="456840"/>
          </a:xfrm>
          <a:prstGeom prst="ellipse">
            <a:avLst/>
          </a:prstGeom>
          <a:solidFill>
            <a:srgbClr val="57606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40" name="Monitoring image" descr="FaChartLine"/>
          <p:cNvPicPr/>
          <p:nvPr/>
        </p:nvPicPr>
        <p:blipFill>
          <a:blip r:embed="rId8"/>
          <a:stretch/>
        </p:blipFill>
        <p:spPr>
          <a:xfrm>
            <a:off x="6972480" y="3223440"/>
            <a:ext cx="228240" cy="228240"/>
          </a:xfrm>
          <a:prstGeom prst="rect">
            <a:avLst/>
          </a:prstGeom>
          <a:noFill/>
          <a:ln w="0">
            <a:noFill/>
          </a:ln>
        </p:spPr>
      </p:pic>
      <p:sp>
        <p:nvSpPr>
          <p:cNvPr id="241" name="Text 31"/>
          <p:cNvSpPr/>
          <p:nvPr/>
        </p:nvSpPr>
        <p:spPr>
          <a:xfrm>
            <a:off x="6858000" y="3611880"/>
            <a:ext cx="15998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Monitoring</a:t>
            </a:r>
            <a:endParaRPr lang="en-US" sz="1400" b="0" u="none" strike="noStrike">
              <a:solidFill>
                <a:srgbClr val="000000"/>
              </a:solidFill>
              <a:effectLst/>
              <a:uFillTx/>
              <a:latin typeface="Arial"/>
            </a:endParaRPr>
          </a:p>
        </p:txBody>
      </p:sp>
      <p:sp>
        <p:nvSpPr>
          <p:cNvPr id="242" name="Text 32"/>
          <p:cNvSpPr/>
          <p:nvPr/>
        </p:nvSpPr>
        <p:spPr>
          <a:xfrm>
            <a:off x="6858000" y="4069080"/>
            <a:ext cx="15998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6"/>
                </a:solidFill>
                <a:effectLst/>
                <a:uFillTx/>
                <a:latin typeface="Calibri"/>
              </a:rPr>
              <a:t>If time allows</a:t>
            </a:r>
            <a:endParaRPr lang="en-US" sz="1200" b="0" u="none" strike="noStrike">
              <a:solidFill>
                <a:srgbClr val="000000"/>
              </a:solidFill>
              <a:effectLst/>
              <a:uFillTx/>
              <a:latin typeface="Arial"/>
            </a:endParaRPr>
          </a:p>
        </p:txBody>
      </p:sp>
      <p:sp>
        <p:nvSpPr>
          <p:cNvPr id="243" name="PlaceHolder 2"/>
          <p:cNvSpPr>
            <a:spLocks noGrp="1"/>
          </p:cNvSpPr>
          <p:nvPr>
            <p:ph type="sldNum" idx="1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67392B4E-85C2-4E80-BE14-B39438637078}"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Our stack, end to end</a:t>
            </a:r>
            <a:endParaRPr lang="en-US" sz="3400" b="1" u="none" strike="noStrike">
              <a:solidFill>
                <a:schemeClr val="dk1"/>
              </a:solidFill>
              <a:effectLst/>
              <a:uFillTx/>
              <a:latin typeface="Cambria"/>
            </a:endParaRPr>
          </a:p>
        </p:txBody>
      </p:sp>
      <p:sp>
        <p:nvSpPr>
          <p:cNvPr id="245" name="flow Code"/>
          <p:cNvSpPr/>
          <p:nvPr/>
        </p:nvSpPr>
        <p:spPr>
          <a:xfrm>
            <a:off x="548640" y="1280160"/>
            <a:ext cx="1371240" cy="1005480"/>
          </a:xfrm>
          <a:prstGeom prst="roundRect">
            <a:avLst>
              <a:gd name="adj" fmla="val 727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6" name="Text 2"/>
          <p:cNvSpPr/>
          <p:nvPr/>
        </p:nvSpPr>
        <p:spPr>
          <a:xfrm>
            <a:off x="548640" y="137160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lt1"/>
                </a:solidFill>
                <a:effectLst/>
                <a:uFillTx/>
                <a:latin typeface="Calibri"/>
              </a:rPr>
              <a:t>Code</a:t>
            </a:r>
            <a:endParaRPr lang="en-US" sz="1800" b="0" u="none" strike="noStrike">
              <a:solidFill>
                <a:srgbClr val="000000"/>
              </a:solidFill>
              <a:effectLst/>
              <a:uFillTx/>
              <a:latin typeface="Arial"/>
            </a:endParaRPr>
          </a:p>
        </p:txBody>
      </p:sp>
      <p:sp>
        <p:nvSpPr>
          <p:cNvPr id="247" name="Text 3"/>
          <p:cNvSpPr/>
          <p:nvPr/>
        </p:nvSpPr>
        <p:spPr>
          <a:xfrm>
            <a:off x="548640" y="178308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lt1"/>
                </a:solidFill>
                <a:effectLst/>
                <a:uFillTx/>
                <a:latin typeface="Calibri"/>
              </a:rPr>
              <a:t>Git + GitHub</a:t>
            </a:r>
            <a:endParaRPr lang="en-US" sz="1400" b="0" u="none" strike="noStrike">
              <a:solidFill>
                <a:srgbClr val="000000"/>
              </a:solidFill>
              <a:effectLst/>
              <a:uFillTx/>
              <a:latin typeface="Arial"/>
            </a:endParaRPr>
          </a:p>
        </p:txBody>
      </p:sp>
      <p:sp>
        <p:nvSpPr>
          <p:cNvPr id="248" name="arrow 1"/>
          <p:cNvSpPr/>
          <p:nvPr/>
        </p:nvSpPr>
        <p:spPr>
          <a:xfrm>
            <a:off x="1947600" y="1645920"/>
            <a:ext cx="246600" cy="273960"/>
          </a:xfrm>
          <a:prstGeom prst="rightArrow">
            <a:avLst>
              <a:gd name="adj1" fmla="val 50000"/>
              <a:gd name="adj2" fmla="val 50000"/>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9" name="flow Test"/>
          <p:cNvSpPr/>
          <p:nvPr/>
        </p:nvSpPr>
        <p:spPr>
          <a:xfrm>
            <a:off x="2217600" y="1280160"/>
            <a:ext cx="1371240" cy="1005480"/>
          </a:xfrm>
          <a:prstGeom prst="roundRect">
            <a:avLst>
              <a:gd name="adj" fmla="val 727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0" name="Text 6"/>
          <p:cNvSpPr/>
          <p:nvPr/>
        </p:nvSpPr>
        <p:spPr>
          <a:xfrm>
            <a:off x="2217600" y="137160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lt1"/>
                </a:solidFill>
                <a:effectLst/>
                <a:uFillTx/>
                <a:latin typeface="Calibri"/>
              </a:rPr>
              <a:t>Test</a:t>
            </a:r>
            <a:endParaRPr lang="en-US" sz="1800" b="0" u="none" strike="noStrike">
              <a:solidFill>
                <a:srgbClr val="000000"/>
              </a:solidFill>
              <a:effectLst/>
              <a:uFillTx/>
              <a:latin typeface="Arial"/>
            </a:endParaRPr>
          </a:p>
        </p:txBody>
      </p:sp>
      <p:sp>
        <p:nvSpPr>
          <p:cNvPr id="251" name="Text 7"/>
          <p:cNvSpPr/>
          <p:nvPr/>
        </p:nvSpPr>
        <p:spPr>
          <a:xfrm>
            <a:off x="2217600" y="178308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lt1"/>
                </a:solidFill>
                <a:effectLst/>
                <a:uFillTx/>
                <a:latin typeface="Calibri"/>
              </a:rPr>
              <a:t>GitHub Actions</a:t>
            </a:r>
            <a:endParaRPr lang="en-US" sz="1400" b="0" u="none" strike="noStrike">
              <a:solidFill>
                <a:srgbClr val="000000"/>
              </a:solidFill>
              <a:effectLst/>
              <a:uFillTx/>
              <a:latin typeface="Arial"/>
            </a:endParaRPr>
          </a:p>
        </p:txBody>
      </p:sp>
      <p:sp>
        <p:nvSpPr>
          <p:cNvPr id="252" name="arrow 2"/>
          <p:cNvSpPr/>
          <p:nvPr/>
        </p:nvSpPr>
        <p:spPr>
          <a:xfrm>
            <a:off x="3616560" y="1645920"/>
            <a:ext cx="246600" cy="273960"/>
          </a:xfrm>
          <a:prstGeom prst="rightArrow">
            <a:avLst>
              <a:gd name="adj1" fmla="val 50000"/>
              <a:gd name="adj2" fmla="val 50000"/>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3" name="flow Package"/>
          <p:cNvSpPr/>
          <p:nvPr/>
        </p:nvSpPr>
        <p:spPr>
          <a:xfrm>
            <a:off x="3886200" y="1280160"/>
            <a:ext cx="1371240" cy="1005480"/>
          </a:xfrm>
          <a:prstGeom prst="roundRect">
            <a:avLst>
              <a:gd name="adj" fmla="val 727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4" name="Text 10"/>
          <p:cNvSpPr/>
          <p:nvPr/>
        </p:nvSpPr>
        <p:spPr>
          <a:xfrm>
            <a:off x="3886200" y="137160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lt1"/>
                </a:solidFill>
                <a:effectLst/>
                <a:uFillTx/>
                <a:latin typeface="Calibri"/>
              </a:rPr>
              <a:t>Package</a:t>
            </a:r>
            <a:endParaRPr lang="en-US" sz="1800" b="0" u="none" strike="noStrike">
              <a:solidFill>
                <a:srgbClr val="000000"/>
              </a:solidFill>
              <a:effectLst/>
              <a:uFillTx/>
              <a:latin typeface="Arial"/>
            </a:endParaRPr>
          </a:p>
        </p:txBody>
      </p:sp>
      <p:sp>
        <p:nvSpPr>
          <p:cNvPr id="255" name="Text 11"/>
          <p:cNvSpPr/>
          <p:nvPr/>
        </p:nvSpPr>
        <p:spPr>
          <a:xfrm>
            <a:off x="3886200" y="178308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lt1"/>
                </a:solidFill>
                <a:effectLst/>
                <a:uFillTx/>
                <a:latin typeface="Calibri"/>
              </a:rPr>
              <a:t>Docker</a:t>
            </a:r>
            <a:endParaRPr lang="en-US" sz="1400" b="0" u="none" strike="noStrike">
              <a:solidFill>
                <a:srgbClr val="000000"/>
              </a:solidFill>
              <a:effectLst/>
              <a:uFillTx/>
              <a:latin typeface="Arial"/>
            </a:endParaRPr>
          </a:p>
        </p:txBody>
      </p:sp>
      <p:sp>
        <p:nvSpPr>
          <p:cNvPr id="256" name="arrow 3"/>
          <p:cNvSpPr/>
          <p:nvPr/>
        </p:nvSpPr>
        <p:spPr>
          <a:xfrm>
            <a:off x="5285160" y="1645920"/>
            <a:ext cx="246600" cy="273960"/>
          </a:xfrm>
          <a:prstGeom prst="rightArrow">
            <a:avLst>
              <a:gd name="adj1" fmla="val 50000"/>
              <a:gd name="adj2" fmla="val 50000"/>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7" name="flow Scan"/>
          <p:cNvSpPr/>
          <p:nvPr/>
        </p:nvSpPr>
        <p:spPr>
          <a:xfrm>
            <a:off x="5555160" y="1280160"/>
            <a:ext cx="1371240" cy="1005480"/>
          </a:xfrm>
          <a:prstGeom prst="roundRect">
            <a:avLst>
              <a:gd name="adj" fmla="val 727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8" name="Text 14"/>
          <p:cNvSpPr/>
          <p:nvPr/>
        </p:nvSpPr>
        <p:spPr>
          <a:xfrm>
            <a:off x="5555160" y="137160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lt1"/>
                </a:solidFill>
                <a:effectLst/>
                <a:uFillTx/>
                <a:latin typeface="Calibri"/>
              </a:rPr>
              <a:t>Scan</a:t>
            </a:r>
            <a:endParaRPr lang="en-US" sz="1800" b="0" u="none" strike="noStrike">
              <a:solidFill>
                <a:srgbClr val="000000"/>
              </a:solidFill>
              <a:effectLst/>
              <a:uFillTx/>
              <a:latin typeface="Arial"/>
            </a:endParaRPr>
          </a:p>
        </p:txBody>
      </p:sp>
      <p:sp>
        <p:nvSpPr>
          <p:cNvPr id="259" name="Text 15"/>
          <p:cNvSpPr/>
          <p:nvPr/>
        </p:nvSpPr>
        <p:spPr>
          <a:xfrm>
            <a:off x="5555160" y="178308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lt1"/>
                </a:solidFill>
                <a:effectLst/>
                <a:uFillTx/>
                <a:latin typeface="Calibri"/>
              </a:rPr>
              <a:t>Trivy</a:t>
            </a:r>
            <a:endParaRPr lang="en-US" sz="1400" b="0" u="none" strike="noStrike">
              <a:solidFill>
                <a:srgbClr val="000000"/>
              </a:solidFill>
              <a:effectLst/>
              <a:uFillTx/>
              <a:latin typeface="Arial"/>
            </a:endParaRPr>
          </a:p>
        </p:txBody>
      </p:sp>
      <p:sp>
        <p:nvSpPr>
          <p:cNvPr id="260" name="arrow 4"/>
          <p:cNvSpPr/>
          <p:nvPr/>
        </p:nvSpPr>
        <p:spPr>
          <a:xfrm>
            <a:off x="6954120" y="1645920"/>
            <a:ext cx="246600" cy="273960"/>
          </a:xfrm>
          <a:prstGeom prst="rightArrow">
            <a:avLst>
              <a:gd name="adj1" fmla="val 50000"/>
              <a:gd name="adj2" fmla="val 50000"/>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1" name="flow Publish"/>
          <p:cNvSpPr/>
          <p:nvPr/>
        </p:nvSpPr>
        <p:spPr>
          <a:xfrm>
            <a:off x="7223760" y="1280160"/>
            <a:ext cx="1371240" cy="1005480"/>
          </a:xfrm>
          <a:prstGeom prst="roundRect">
            <a:avLst>
              <a:gd name="adj" fmla="val 727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2" name="Text 18"/>
          <p:cNvSpPr/>
          <p:nvPr/>
        </p:nvSpPr>
        <p:spPr>
          <a:xfrm>
            <a:off x="7223760" y="137160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1" u="none" strike="noStrike">
                <a:solidFill>
                  <a:schemeClr val="lt1"/>
                </a:solidFill>
                <a:effectLst/>
                <a:uFillTx/>
                <a:latin typeface="Calibri"/>
              </a:rPr>
              <a:t>Publish</a:t>
            </a:r>
            <a:endParaRPr lang="en-US" sz="1800" b="0" u="none" strike="noStrike">
              <a:solidFill>
                <a:srgbClr val="000000"/>
              </a:solidFill>
              <a:effectLst/>
              <a:uFillTx/>
              <a:latin typeface="Arial"/>
            </a:endParaRPr>
          </a:p>
        </p:txBody>
      </p:sp>
      <p:sp>
        <p:nvSpPr>
          <p:cNvPr id="263" name="Text 19"/>
          <p:cNvSpPr/>
          <p:nvPr/>
        </p:nvSpPr>
        <p:spPr>
          <a:xfrm>
            <a:off x="7223760" y="1783080"/>
            <a:ext cx="137124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lt1"/>
                </a:solidFill>
                <a:effectLst/>
                <a:uFillTx/>
                <a:latin typeface="Calibri"/>
              </a:rPr>
              <a:t>GitHub Pages</a:t>
            </a:r>
            <a:endParaRPr lang="en-US" sz="1400" b="0" u="none" strike="noStrike">
              <a:solidFill>
                <a:srgbClr val="000000"/>
              </a:solidFill>
              <a:effectLst/>
              <a:uFillTx/>
              <a:latin typeface="Arial"/>
            </a:endParaRPr>
          </a:p>
        </p:txBody>
      </p:sp>
      <p:sp>
        <p:nvSpPr>
          <p:cNvPr id="264" name="support Dependabot"/>
          <p:cNvSpPr/>
          <p:nvPr/>
        </p:nvSpPr>
        <p:spPr>
          <a:xfrm>
            <a:off x="548640" y="2606040"/>
            <a:ext cx="255996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5" name="Text 21"/>
          <p:cNvSpPr/>
          <p:nvPr/>
        </p:nvSpPr>
        <p:spPr>
          <a:xfrm>
            <a:off x="731520" y="2697480"/>
            <a:ext cx="21942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Dependabot</a:t>
            </a:r>
            <a:endParaRPr lang="en-US" sz="1800" b="0" u="none" strike="noStrike">
              <a:solidFill>
                <a:srgbClr val="000000"/>
              </a:solidFill>
              <a:effectLst/>
              <a:uFillTx/>
              <a:latin typeface="Arial"/>
            </a:endParaRPr>
          </a:p>
        </p:txBody>
      </p:sp>
      <p:sp>
        <p:nvSpPr>
          <p:cNvPr id="266" name="Text 22"/>
          <p:cNvSpPr/>
          <p:nvPr/>
        </p:nvSpPr>
        <p:spPr>
          <a:xfrm>
            <a:off x="731520" y="3063240"/>
            <a:ext cx="21942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6"/>
                </a:solidFill>
                <a:effectLst/>
                <a:uFillTx/>
                <a:latin typeface="Calibri"/>
              </a:rPr>
              <a:t>Keeps dependencies and actions up to date</a:t>
            </a:r>
            <a:endParaRPr lang="en-US" sz="1400" b="0" u="none" strike="noStrike">
              <a:solidFill>
                <a:srgbClr val="000000"/>
              </a:solidFill>
              <a:effectLst/>
              <a:uFillTx/>
              <a:latin typeface="Arial"/>
            </a:endParaRPr>
          </a:p>
        </p:txBody>
      </p:sp>
      <p:sp>
        <p:nvSpPr>
          <p:cNvPr id="267" name="support Terraform"/>
          <p:cNvSpPr/>
          <p:nvPr/>
        </p:nvSpPr>
        <p:spPr>
          <a:xfrm>
            <a:off x="3291840" y="2606040"/>
            <a:ext cx="255996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8" name="Text 24"/>
          <p:cNvSpPr/>
          <p:nvPr/>
        </p:nvSpPr>
        <p:spPr>
          <a:xfrm>
            <a:off x="3474720" y="2697480"/>
            <a:ext cx="21942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Terraform</a:t>
            </a:r>
            <a:endParaRPr lang="en-US" sz="1800" b="0" u="none" strike="noStrike">
              <a:solidFill>
                <a:srgbClr val="000000"/>
              </a:solidFill>
              <a:effectLst/>
              <a:uFillTx/>
              <a:latin typeface="Arial"/>
            </a:endParaRPr>
          </a:p>
        </p:txBody>
      </p:sp>
      <p:sp>
        <p:nvSpPr>
          <p:cNvPr id="269" name="Text 25"/>
          <p:cNvSpPr/>
          <p:nvPr/>
        </p:nvSpPr>
        <p:spPr>
          <a:xfrm>
            <a:off x="3474720" y="3063240"/>
            <a:ext cx="21942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6"/>
                </a:solidFill>
                <a:effectLst/>
                <a:uFillTx/>
                <a:latin typeface="Calibri"/>
              </a:rPr>
              <a:t>Infrastructure as code</a:t>
            </a:r>
            <a:endParaRPr lang="en-US" sz="1400" b="0" u="none" strike="noStrike">
              <a:solidFill>
                <a:srgbClr val="000000"/>
              </a:solidFill>
              <a:effectLst/>
              <a:uFillTx/>
              <a:latin typeface="Arial"/>
            </a:endParaRPr>
          </a:p>
        </p:txBody>
      </p:sp>
      <p:sp>
        <p:nvSpPr>
          <p:cNvPr id="270" name="support Docker Compose"/>
          <p:cNvSpPr/>
          <p:nvPr/>
        </p:nvSpPr>
        <p:spPr>
          <a:xfrm>
            <a:off x="6035040" y="2606040"/>
            <a:ext cx="255996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1" name="Text 27"/>
          <p:cNvSpPr/>
          <p:nvPr/>
        </p:nvSpPr>
        <p:spPr>
          <a:xfrm>
            <a:off x="6217920" y="2697480"/>
            <a:ext cx="219420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1"/>
                </a:solidFill>
                <a:effectLst/>
                <a:uFillTx/>
                <a:latin typeface="Calibri"/>
              </a:rPr>
              <a:t>Docker Compose</a:t>
            </a:r>
            <a:endParaRPr lang="en-US" sz="1800" b="0" u="none" strike="noStrike">
              <a:solidFill>
                <a:srgbClr val="000000"/>
              </a:solidFill>
              <a:effectLst/>
              <a:uFillTx/>
              <a:latin typeface="Arial"/>
            </a:endParaRPr>
          </a:p>
        </p:txBody>
      </p:sp>
      <p:sp>
        <p:nvSpPr>
          <p:cNvPr id="272" name="Text 28"/>
          <p:cNvSpPr/>
          <p:nvPr/>
        </p:nvSpPr>
        <p:spPr>
          <a:xfrm>
            <a:off x="6217920" y="3063240"/>
            <a:ext cx="21942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6"/>
                </a:solidFill>
                <a:effectLst/>
                <a:uFillTx/>
                <a:latin typeface="Calibri"/>
              </a:rPr>
              <a:t>Runs multi-service apps</a:t>
            </a:r>
            <a:endParaRPr lang="en-US" sz="1400" b="0" u="none" strike="noStrike">
              <a:solidFill>
                <a:srgbClr val="000000"/>
              </a:solidFill>
              <a:effectLst/>
              <a:uFillTx/>
              <a:latin typeface="Arial"/>
            </a:endParaRPr>
          </a:p>
        </p:txBody>
      </p:sp>
      <p:sp>
        <p:nvSpPr>
          <p:cNvPr id="273" name="runs in banner"/>
          <p:cNvSpPr/>
          <p:nvPr/>
        </p:nvSpPr>
        <p:spPr>
          <a:xfrm>
            <a:off x="548640" y="3840480"/>
            <a:ext cx="8046360" cy="822600"/>
          </a:xfrm>
          <a:prstGeom prst="roundRect">
            <a:avLst>
              <a:gd name="adj" fmla="val 8889"/>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74" name="Text 30"/>
          <p:cNvSpPr/>
          <p:nvPr/>
        </p:nvSpPr>
        <p:spPr>
          <a:xfrm>
            <a:off x="822960" y="3840480"/>
            <a:ext cx="74977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lt1"/>
                </a:solidFill>
                <a:effectLst/>
                <a:uFillTx/>
                <a:latin typeface="Calibri"/>
              </a:rPr>
              <a:t>Runs in GitHub Codespaces. </a:t>
            </a:r>
            <a:r>
              <a:rPr lang="en-US" sz="1800" b="1" u="none" strike="noStrike">
                <a:solidFill>
                  <a:schemeClr val="accent1"/>
                </a:solidFill>
                <a:effectLst/>
                <a:uFillTx/>
                <a:latin typeface="Calibri"/>
              </a:rPr>
              <a:t>Everything lives in a repo.</a:t>
            </a:r>
            <a:endParaRPr lang="en-US" sz="1800" b="0" u="none" strike="noStrike">
              <a:solidFill>
                <a:srgbClr val="000000"/>
              </a:solidFill>
              <a:effectLst/>
              <a:uFillTx/>
              <a:latin typeface="Arial"/>
            </a:endParaRPr>
          </a:p>
        </p:txBody>
      </p:sp>
      <p:sp>
        <p:nvSpPr>
          <p:cNvPr id="275" name="PlaceHolder 2"/>
          <p:cNvSpPr>
            <a:spLocks noGrp="1"/>
          </p:cNvSpPr>
          <p:nvPr>
            <p:ph type="sldNum" idx="2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19B9D41C-5880-425F-A11E-88410CAE0D43}"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How an engineer finds docs</a:t>
            </a:r>
            <a:endParaRPr lang="en-US" sz="3400" b="1" u="none" strike="noStrike">
              <a:solidFill>
                <a:schemeClr val="dk1"/>
              </a:solidFill>
              <a:effectLst/>
              <a:uFillTx/>
              <a:latin typeface="Cambria"/>
            </a:endParaRPr>
          </a:p>
        </p:txBody>
      </p:sp>
      <p:sp>
        <p:nvSpPr>
          <p:cNvPr id="277" name="Start at the circle"/>
          <p:cNvSpPr/>
          <p:nvPr/>
        </p:nvSpPr>
        <p:spPr>
          <a:xfrm>
            <a:off x="548640" y="1280160"/>
            <a:ext cx="548280" cy="54828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78" name="Start at the image" descr="FaSearch"/>
          <p:cNvPicPr/>
          <p:nvPr/>
        </p:nvPicPr>
        <p:blipFill>
          <a:blip r:embed="rId1"/>
          <a:stretch/>
        </p:blipFill>
        <p:spPr>
          <a:xfrm>
            <a:off x="685800" y="1417320"/>
            <a:ext cx="273960" cy="273960"/>
          </a:xfrm>
          <a:prstGeom prst="rect">
            <a:avLst/>
          </a:prstGeom>
          <a:noFill/>
          <a:ln w="0">
            <a:noFill/>
          </a:ln>
        </p:spPr>
      </p:pic>
      <p:sp>
        <p:nvSpPr>
          <p:cNvPr id="279" name="Text 2"/>
          <p:cNvSpPr/>
          <p:nvPr/>
        </p:nvSpPr>
        <p:spPr>
          <a:xfrm>
            <a:off x="1325880" y="1280160"/>
            <a:ext cx="3840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Start at the official site</a:t>
            </a:r>
            <a:endParaRPr lang="en-US" sz="1800" b="0" u="none" strike="noStrike">
              <a:solidFill>
                <a:srgbClr val="000000"/>
              </a:solidFill>
              <a:effectLst/>
              <a:uFillTx/>
              <a:latin typeface="Arial"/>
            </a:endParaRPr>
          </a:p>
        </p:txBody>
      </p:sp>
      <p:sp>
        <p:nvSpPr>
          <p:cNvPr id="280" name="Read the exa circle"/>
          <p:cNvSpPr/>
          <p:nvPr/>
        </p:nvSpPr>
        <p:spPr>
          <a:xfrm>
            <a:off x="548640" y="1965960"/>
            <a:ext cx="548280" cy="54828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1" name="Read the exa image" descr="FaBook"/>
          <p:cNvPicPr/>
          <p:nvPr/>
        </p:nvPicPr>
        <p:blipFill>
          <a:blip r:embed="rId2"/>
          <a:stretch/>
        </p:blipFill>
        <p:spPr>
          <a:xfrm>
            <a:off x="685800" y="2103120"/>
            <a:ext cx="273960" cy="273960"/>
          </a:xfrm>
          <a:prstGeom prst="rect">
            <a:avLst/>
          </a:prstGeom>
          <a:noFill/>
          <a:ln w="0">
            <a:noFill/>
          </a:ln>
        </p:spPr>
      </p:pic>
      <p:sp>
        <p:nvSpPr>
          <p:cNvPr id="282" name="Text 4"/>
          <p:cNvSpPr/>
          <p:nvPr/>
        </p:nvSpPr>
        <p:spPr>
          <a:xfrm>
            <a:off x="1325880" y="1965960"/>
            <a:ext cx="3840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Read the example first, then the details</a:t>
            </a:r>
            <a:endParaRPr lang="en-US" sz="1800" b="0" u="none" strike="noStrike">
              <a:solidFill>
                <a:srgbClr val="000000"/>
              </a:solidFill>
              <a:effectLst/>
              <a:uFillTx/>
              <a:latin typeface="Arial"/>
            </a:endParaRPr>
          </a:p>
        </p:txBody>
      </p:sp>
      <p:sp>
        <p:nvSpPr>
          <p:cNvPr id="283" name="Check the op circle"/>
          <p:cNvSpPr/>
          <p:nvPr/>
        </p:nvSpPr>
        <p:spPr>
          <a:xfrm>
            <a:off x="548640" y="2651760"/>
            <a:ext cx="548280" cy="54828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4" name="Check the op image" descr="FaSlidersH"/>
          <p:cNvPicPr/>
          <p:nvPr/>
        </p:nvPicPr>
        <p:blipFill>
          <a:blip r:embed="rId3"/>
          <a:stretch/>
        </p:blipFill>
        <p:spPr>
          <a:xfrm>
            <a:off x="685800" y="2788920"/>
            <a:ext cx="273960" cy="273960"/>
          </a:xfrm>
          <a:prstGeom prst="rect">
            <a:avLst/>
          </a:prstGeom>
          <a:noFill/>
          <a:ln w="0">
            <a:noFill/>
          </a:ln>
        </p:spPr>
      </p:pic>
      <p:sp>
        <p:nvSpPr>
          <p:cNvPr id="285" name="Text 6"/>
          <p:cNvSpPr/>
          <p:nvPr/>
        </p:nvSpPr>
        <p:spPr>
          <a:xfrm>
            <a:off x="1325880" y="2651760"/>
            <a:ext cx="3840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Check the options and flags table</a:t>
            </a:r>
            <a:endParaRPr lang="en-US" sz="1800" b="0" u="none" strike="noStrike">
              <a:solidFill>
                <a:srgbClr val="000000"/>
              </a:solidFill>
              <a:effectLst/>
              <a:uFillTx/>
              <a:latin typeface="Arial"/>
            </a:endParaRPr>
          </a:p>
        </p:txBody>
      </p:sp>
      <p:sp>
        <p:nvSpPr>
          <p:cNvPr id="286" name="Make sure th circle"/>
          <p:cNvSpPr/>
          <p:nvPr/>
        </p:nvSpPr>
        <p:spPr>
          <a:xfrm>
            <a:off x="548640" y="3337560"/>
            <a:ext cx="548280" cy="54828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87" name="Make sure th image" descr="FaCodeBranch"/>
          <p:cNvPicPr/>
          <p:nvPr/>
        </p:nvPicPr>
        <p:blipFill>
          <a:blip r:embed="rId4"/>
          <a:stretch/>
        </p:blipFill>
        <p:spPr>
          <a:xfrm>
            <a:off x="685800" y="3474720"/>
            <a:ext cx="273960" cy="273960"/>
          </a:xfrm>
          <a:prstGeom prst="rect">
            <a:avLst/>
          </a:prstGeom>
          <a:noFill/>
          <a:ln w="0">
            <a:noFill/>
          </a:ln>
        </p:spPr>
      </p:pic>
      <p:sp>
        <p:nvSpPr>
          <p:cNvPr id="288" name="Text 8"/>
          <p:cNvSpPr/>
          <p:nvPr/>
        </p:nvSpPr>
        <p:spPr>
          <a:xfrm>
            <a:off x="1325880" y="3337560"/>
            <a:ext cx="3840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Make sure the version matches yours</a:t>
            </a:r>
            <a:endParaRPr lang="en-US" sz="1800" b="0" u="none" strike="noStrike">
              <a:solidFill>
                <a:srgbClr val="000000"/>
              </a:solidFill>
              <a:effectLst/>
              <a:uFillTx/>
              <a:latin typeface="Arial"/>
            </a:endParaRPr>
          </a:p>
        </p:txBody>
      </p:sp>
      <p:sp>
        <p:nvSpPr>
          <p:cNvPr id="289" name="terminal panel"/>
          <p:cNvSpPr/>
          <p:nvPr/>
        </p:nvSpPr>
        <p:spPr>
          <a:xfrm>
            <a:off x="5486400" y="1280160"/>
            <a:ext cx="3108600" cy="1691280"/>
          </a:xfrm>
          <a:prstGeom prst="roundRect">
            <a:avLst>
              <a:gd name="adj" fmla="val 4324"/>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0" name="Text 10"/>
          <p:cNvSpPr/>
          <p:nvPr/>
        </p:nvSpPr>
        <p:spPr>
          <a:xfrm>
            <a:off x="5715000" y="1463040"/>
            <a:ext cx="27428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400" b="0" u="none" strike="noStrike">
                <a:solidFill>
                  <a:schemeClr val="accent1"/>
                </a:solidFill>
                <a:effectLst/>
                <a:uFillTx/>
                <a:latin typeface="Courier New"/>
                <a:ea typeface="Courier New"/>
              </a:rPr>
              <a:t>$ git --help</a:t>
            </a:r>
            <a:endParaRPr lang="en-US" sz="1400" b="0" u="none" strike="noStrike">
              <a:solidFill>
                <a:srgbClr val="000000"/>
              </a:solidFill>
              <a:effectLst/>
              <a:uFillTx/>
              <a:latin typeface="Arial"/>
            </a:endParaRPr>
          </a:p>
          <a:p>
            <a:pPr defTabSz="914400">
              <a:lnSpc>
                <a:spcPct val="100000"/>
              </a:lnSpc>
              <a:spcAft>
                <a:spcPts val="1001"/>
              </a:spcAft>
              <a:tabLst>
                <a:tab pos="0" algn="l"/>
              </a:tabLst>
            </a:pPr>
            <a:r>
              <a:rPr lang="en-US" sz="1400" b="0" u="none" strike="noStrike">
                <a:solidFill>
                  <a:schemeClr val="accent1"/>
                </a:solidFill>
                <a:effectLst/>
                <a:uFillTx/>
                <a:latin typeface="Courier New"/>
                <a:ea typeface="Courier New"/>
              </a:rPr>
              <a:t>$ docker run --help</a:t>
            </a:r>
            <a:endParaRPr lang="en-US" sz="1400" b="0" u="none" strike="noStrike">
              <a:solidFill>
                <a:srgbClr val="000000"/>
              </a:solidFill>
              <a:effectLst/>
              <a:uFillTx/>
              <a:latin typeface="Arial"/>
            </a:endParaRPr>
          </a:p>
          <a:p>
            <a:pPr defTabSz="914400">
              <a:lnSpc>
                <a:spcPct val="100000"/>
              </a:lnSpc>
              <a:spcAft>
                <a:spcPts val="1001"/>
              </a:spcAft>
              <a:tabLst>
                <a:tab pos="0" algn="l"/>
              </a:tabLst>
            </a:pPr>
            <a:r>
              <a:rPr lang="en-US" sz="1400" b="0" u="none" strike="noStrike">
                <a:solidFill>
                  <a:schemeClr val="accent1"/>
                </a:solidFill>
                <a:effectLst/>
                <a:uFillTx/>
                <a:latin typeface="Courier New"/>
                <a:ea typeface="Courier New"/>
              </a:rPr>
              <a:t>$ pytest --help</a:t>
            </a:r>
            <a:endParaRPr lang="en-US" sz="1400" b="0" u="none" strike="noStrike">
              <a:solidFill>
                <a:srgbClr val="000000"/>
              </a:solidFill>
              <a:effectLst/>
              <a:uFillTx/>
              <a:latin typeface="Arial"/>
            </a:endParaRPr>
          </a:p>
        </p:txBody>
      </p:sp>
      <p:sp>
        <p:nvSpPr>
          <p:cNvPr id="291" name="Text 11"/>
          <p:cNvSpPr/>
          <p:nvPr/>
        </p:nvSpPr>
        <p:spPr>
          <a:xfrm>
            <a:off x="548640" y="4206240"/>
            <a:ext cx="8046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i="1" u="none" strike="noStrike">
                <a:solidFill>
                  <a:schemeClr val="accent6"/>
                </a:solidFill>
                <a:effectLst/>
                <a:uFillTx/>
                <a:latin typeface="Calibri"/>
              </a:rPr>
              <a:t>Use AI to explain a page you found, not to replace finding it.</a:t>
            </a:r>
            <a:endParaRPr lang="en-US" sz="1800" b="0" u="none" strike="noStrike">
              <a:solidFill>
                <a:srgbClr val="000000"/>
              </a:solidFill>
              <a:effectLst/>
              <a:uFillTx/>
              <a:latin typeface="Arial"/>
            </a:endParaRPr>
          </a:p>
        </p:txBody>
      </p:sp>
      <p:sp>
        <p:nvSpPr>
          <p:cNvPr id="292" name="PlaceHolder 2"/>
          <p:cNvSpPr>
            <a:spLocks noGrp="1"/>
          </p:cNvSpPr>
          <p:nvPr>
            <p:ph type="sldNum" idx="2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81CF3E47-8ED7-409A-AEB6-862FC2E5015E}"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mbria"/>
              </a:rPr>
              <a:t>Check, then break</a:t>
            </a:r>
            <a:endParaRPr lang="en-US" sz="3400" b="1" u="none" strike="noStrike">
              <a:solidFill>
                <a:schemeClr val="lt1"/>
              </a:solidFill>
              <a:effectLst/>
              <a:uFillTx/>
              <a:latin typeface="Cambria"/>
            </a:endParaRPr>
          </a:p>
        </p:txBody>
      </p:sp>
      <p:sp>
        <p:nvSpPr>
          <p:cNvPr id="294" name="terminal circle"/>
          <p:cNvSpPr/>
          <p:nvPr/>
        </p:nvSpPr>
        <p:spPr>
          <a:xfrm>
            <a:off x="640080" y="1554480"/>
            <a:ext cx="1279800" cy="127980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95" name="terminal image" descr="FaTerminal"/>
          <p:cNvPicPr/>
          <p:nvPr/>
        </p:nvPicPr>
        <p:blipFill>
          <a:blip r:embed="rId1"/>
          <a:stretch/>
        </p:blipFill>
        <p:spPr>
          <a:xfrm>
            <a:off x="960120" y="1874520"/>
            <a:ext cx="639720" cy="639720"/>
          </a:xfrm>
          <a:prstGeom prst="rect">
            <a:avLst/>
          </a:prstGeom>
          <a:noFill/>
          <a:ln w="0">
            <a:noFill/>
          </a:ln>
        </p:spPr>
      </p:pic>
      <p:sp>
        <p:nvSpPr>
          <p:cNvPr id="296" name="Text 2"/>
          <p:cNvSpPr/>
          <p:nvPr/>
        </p:nvSpPr>
        <p:spPr>
          <a:xfrm>
            <a:off x="2286000" y="1508760"/>
            <a:ext cx="630900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600" b="1" u="none" strike="noStrike">
                <a:solidFill>
                  <a:schemeClr val="lt1"/>
                </a:solidFill>
                <a:effectLst/>
                <a:uFillTx/>
                <a:latin typeface="Cambria"/>
                <a:ea typeface="Cambria"/>
              </a:rPr>
              <a:t>Is your terminal working?</a:t>
            </a:r>
            <a:endParaRPr lang="en-US" sz="3600" b="0" u="none" strike="noStrike">
              <a:solidFill>
                <a:srgbClr val="FFFFFF"/>
              </a:solidFill>
              <a:effectLst/>
              <a:uFillTx/>
              <a:latin typeface="Arial"/>
            </a:endParaRPr>
          </a:p>
        </p:txBody>
      </p:sp>
      <p:sp>
        <p:nvSpPr>
          <p:cNvPr id="297" name="Text 3"/>
          <p:cNvSpPr/>
          <p:nvPr/>
        </p:nvSpPr>
        <p:spPr>
          <a:xfrm>
            <a:off x="2286000" y="2286000"/>
            <a:ext cx="63090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lt2"/>
                </a:solidFill>
                <a:effectLst/>
                <a:uFillTx/>
                <a:latin typeface="Calibri"/>
              </a:rPr>
              <a:t>Hands up. Then we take a break.</a:t>
            </a:r>
            <a:endParaRPr lang="en-US" sz="2200" b="0" u="none" strike="noStrike">
              <a:solidFill>
                <a:srgbClr val="FFFFFF"/>
              </a:solidFill>
              <a:effectLst/>
              <a:uFillTx/>
              <a:latin typeface="Arial"/>
            </a:endParaRPr>
          </a:p>
        </p:txBody>
      </p:sp>
      <p:sp>
        <p:nvSpPr>
          <p:cNvPr id="298" name="command panel"/>
          <p:cNvSpPr/>
          <p:nvPr/>
        </p:nvSpPr>
        <p:spPr>
          <a:xfrm>
            <a:off x="640080" y="3291840"/>
            <a:ext cx="7863480" cy="822600"/>
          </a:xfrm>
          <a:prstGeom prst="roundRect">
            <a:avLst>
              <a:gd name="adj" fmla="val 8889"/>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9" name="Text 5"/>
          <p:cNvSpPr/>
          <p:nvPr/>
        </p:nvSpPr>
        <p:spPr>
          <a:xfrm>
            <a:off x="914400" y="3291840"/>
            <a:ext cx="73148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chemeClr val="accent1"/>
                </a:solidFill>
                <a:effectLst/>
                <a:uFillTx/>
                <a:latin typeface="Courier New"/>
                <a:ea typeface="Courier New"/>
              </a:rPr>
              <a:t>$ bash scripts/check-env.sh</a:t>
            </a:r>
            <a:endParaRPr lang="en-US" sz="2200" b="0" u="none" strike="noStrike">
              <a:solidFill>
                <a:srgbClr val="FFFFFF"/>
              </a:solidFill>
              <a:effectLst/>
              <a:uFillTx/>
              <a:latin typeface="Arial"/>
            </a:endParaRPr>
          </a:p>
        </p:txBody>
      </p:sp>
      <p:sp>
        <p:nvSpPr>
          <p:cNvPr id="300" name="Text 6"/>
          <p:cNvSpPr/>
          <p:nvPr/>
        </p:nvSpPr>
        <p:spPr>
          <a:xfrm>
            <a:off x="640080" y="4343400"/>
            <a:ext cx="78634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2"/>
                </a:solidFill>
                <a:effectLst/>
                <a:uFillTx/>
                <a:latin typeface="Calibri"/>
              </a:rPr>
              <a:t>5 minute break</a:t>
            </a:r>
            <a:endParaRPr lang="en-US" sz="1800" b="0" u="none" strike="noStrike">
              <a:solidFill>
                <a:srgbClr val="FFFFFF"/>
              </a:solidFill>
              <a:effectLst/>
              <a:uFillTx/>
              <a:latin typeface="Arial"/>
            </a:endParaRPr>
          </a:p>
        </p:txBody>
      </p:sp>
      <p:sp>
        <p:nvSpPr>
          <p:cNvPr id="301" name="PlaceHolder 2"/>
          <p:cNvSpPr>
            <a:spLocks noGrp="1"/>
          </p:cNvSpPr>
          <p:nvPr>
            <p:ph type="sldNum" idx="2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85EB48D9-A37F-4181-9678-EB1E4CA47D04}"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Environment check</a:t>
            </a:r>
            <a:endParaRPr lang="en-US" sz="3400" b="1" u="none" strike="noStrike">
              <a:solidFill>
                <a:schemeClr val="dk1"/>
              </a:solidFill>
              <a:effectLst/>
              <a:uFillTx/>
              <a:latin typeface="Cambria"/>
            </a:endParaRPr>
          </a:p>
        </p:txBody>
      </p:sp>
      <p:sp>
        <p:nvSpPr>
          <p:cNvPr id="303" name="terminal panel"/>
          <p:cNvSpPr/>
          <p:nvPr/>
        </p:nvSpPr>
        <p:spPr>
          <a:xfrm>
            <a:off x="548640" y="1280160"/>
            <a:ext cx="8046360" cy="2331360"/>
          </a:xfrm>
          <a:prstGeom prst="roundRect">
            <a:avLst>
              <a:gd name="adj" fmla="val 3137"/>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04" name="Text 2"/>
          <p:cNvSpPr/>
          <p:nvPr/>
        </p:nvSpPr>
        <p:spPr>
          <a:xfrm>
            <a:off x="822960" y="1417320"/>
            <a:ext cx="7497720" cy="21027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400"/>
              </a:spcAft>
              <a:tabLst>
                <a:tab pos="0" algn="l"/>
              </a:tabLst>
            </a:pPr>
            <a:r>
              <a:rPr lang="en-US" sz="1600" b="1" u="none" strike="noStrike">
                <a:solidFill>
                  <a:schemeClr val="lt1"/>
                </a:solidFill>
                <a:effectLst/>
                <a:uFillTx/>
                <a:latin typeface="Courier New"/>
                <a:ea typeface="Courier New"/>
              </a:rPr>
              <a:t>$ bash scripts/check-env.sh</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accent1"/>
                </a:solidFill>
                <a:effectLst/>
                <a:uFillTx/>
                <a:latin typeface="Courier New"/>
                <a:ea typeface="Courier New"/>
              </a:rPr>
              <a:t>ok   git --version</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accent1"/>
                </a:solidFill>
                <a:effectLst/>
                <a:uFillTx/>
                <a:latin typeface="Courier New"/>
                <a:ea typeface="Courier New"/>
              </a:rPr>
              <a:t>ok   python3 --version</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accent1"/>
                </a:solidFill>
                <a:effectLst/>
                <a:uFillTx/>
                <a:latin typeface="Courier New"/>
                <a:ea typeface="Courier New"/>
              </a:rPr>
              <a:t>ok   python3 -m pytest --version</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0" u="none" strike="noStrike">
                <a:solidFill>
                  <a:schemeClr val="accent1"/>
                </a:solidFill>
                <a:effectLst/>
                <a:uFillTx/>
                <a:latin typeface="Courier New"/>
                <a:ea typeface="Courier New"/>
              </a:rPr>
              <a:t>ok   python3 -m pytest -q</a:t>
            </a:r>
            <a:endParaRPr lang="en-US" sz="1600" b="0" u="none" strike="noStrike">
              <a:solidFill>
                <a:srgbClr val="000000"/>
              </a:solidFill>
              <a:effectLst/>
              <a:uFillTx/>
              <a:latin typeface="Arial"/>
            </a:endParaRPr>
          </a:p>
          <a:p>
            <a:pPr defTabSz="914400">
              <a:lnSpc>
                <a:spcPct val="100000"/>
              </a:lnSpc>
              <a:spcAft>
                <a:spcPts val="400"/>
              </a:spcAft>
              <a:tabLst>
                <a:tab pos="0" algn="l"/>
              </a:tabLst>
            </a:pPr>
            <a:r>
              <a:rPr lang="en-US" sz="1600" b="1" u="none" strike="noStrike">
                <a:solidFill>
                  <a:schemeClr val="accent1"/>
                </a:solidFill>
                <a:effectLst/>
                <a:uFillTx/>
                <a:latin typeface="Courier New"/>
                <a:ea typeface="Courier New"/>
              </a:rPr>
              <a:t>OK</a:t>
            </a:r>
            <a:endParaRPr lang="en-US" sz="1600" b="0" u="none" strike="noStrike">
              <a:solidFill>
                <a:srgbClr val="000000"/>
              </a:solidFill>
              <a:effectLst/>
              <a:uFillTx/>
              <a:latin typeface="Arial"/>
            </a:endParaRPr>
          </a:p>
        </p:txBody>
      </p:sp>
      <p:sp>
        <p:nvSpPr>
          <p:cNvPr id="305" name="help rule banner"/>
          <p:cNvSpPr/>
          <p:nvPr/>
        </p:nvSpPr>
        <p:spPr>
          <a:xfrm>
            <a:off x="548640" y="3840480"/>
            <a:ext cx="8046360" cy="822600"/>
          </a:xfrm>
          <a:prstGeom prst="roundRect">
            <a:avLst>
              <a:gd name="adj" fmla="val 8889"/>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6" name="Text 4"/>
          <p:cNvSpPr/>
          <p:nvPr/>
        </p:nvSpPr>
        <p:spPr>
          <a:xfrm>
            <a:off x="822960" y="3840480"/>
            <a:ext cx="74977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accent6"/>
                </a:solidFill>
                <a:effectLst/>
                <a:uFillTx/>
                <a:latin typeface="Calibri"/>
              </a:rPr>
              <a:t>Need help?  </a:t>
            </a:r>
            <a:r>
              <a:rPr lang="en-US" sz="2400" b="1" u="none" strike="noStrike">
                <a:solidFill>
                  <a:schemeClr val="dk1"/>
                </a:solidFill>
                <a:effectLst/>
                <a:uFillTx/>
                <a:latin typeface="Calibri"/>
              </a:rPr>
              <a:t>demo repo  →  docs  →  raise your hand</a:t>
            </a:r>
            <a:endParaRPr lang="en-US" sz="2400" b="0" u="none" strike="noStrike">
              <a:solidFill>
                <a:srgbClr val="000000"/>
              </a:solidFill>
              <a:effectLst/>
              <a:uFillTx/>
              <a:latin typeface="Arial"/>
            </a:endParaRPr>
          </a:p>
        </p:txBody>
      </p:sp>
      <p:sp>
        <p:nvSpPr>
          <p:cNvPr id="307" name="PlaceHolder 2"/>
          <p:cNvSpPr>
            <a:spLocks noGrp="1"/>
          </p:cNvSpPr>
          <p:nvPr>
            <p:ph type="sldNum" idx="2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15311C8B-A629-4B63-B2B3-CB4DCA3D4F0A}"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Quick Git refresh</a:t>
            </a:r>
            <a:endParaRPr lang="en-US" sz="3400" b="1" u="none" strike="noStrike">
              <a:solidFill>
                <a:schemeClr val="dk1"/>
              </a:solidFill>
              <a:effectLst/>
              <a:uFillTx/>
              <a:latin typeface="Cambria"/>
            </a:endParaRPr>
          </a:p>
        </p:txBody>
      </p:sp>
      <p:sp>
        <p:nvSpPr>
          <p:cNvPr id="309" name="commands panel"/>
          <p:cNvSpPr/>
          <p:nvPr/>
        </p:nvSpPr>
        <p:spPr>
          <a:xfrm>
            <a:off x="548640" y="1280160"/>
            <a:ext cx="4937400" cy="3291480"/>
          </a:xfrm>
          <a:prstGeom prst="roundRect">
            <a:avLst>
              <a:gd name="adj" fmla="val 2222"/>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0" name="Text 2"/>
          <p:cNvSpPr/>
          <p:nvPr/>
        </p:nvSpPr>
        <p:spPr>
          <a:xfrm>
            <a:off x="777240" y="1463040"/>
            <a:ext cx="4571640" cy="29257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99"/>
              </a:spcAft>
              <a:tabLst>
                <a:tab pos="0" algn="l"/>
              </a:tabLst>
            </a:pPr>
            <a:r>
              <a:rPr lang="en-US" sz="1400" b="0" u="none" strike="noStrike">
                <a:solidFill>
                  <a:schemeClr val="accent1"/>
                </a:solidFill>
                <a:effectLst/>
                <a:uFillTx/>
                <a:latin typeface="Courier New"/>
                <a:ea typeface="Courier New"/>
              </a:rPr>
              <a:t>git status</a:t>
            </a:r>
            <a:endParaRPr lang="en-US" sz="1400" b="0" u="none" strike="noStrike">
              <a:solidFill>
                <a:srgbClr val="000000"/>
              </a:solidFill>
              <a:effectLst/>
              <a:uFillTx/>
              <a:latin typeface="Arial"/>
            </a:endParaRPr>
          </a:p>
          <a:p>
            <a:pPr defTabSz="914400">
              <a:lnSpc>
                <a:spcPct val="100000"/>
              </a:lnSpc>
              <a:spcAft>
                <a:spcPts val="799"/>
              </a:spcAft>
              <a:tabLst>
                <a:tab pos="0" algn="l"/>
              </a:tabLst>
            </a:pPr>
            <a:r>
              <a:rPr lang="en-US" sz="1400" b="0" u="none" strike="noStrike">
                <a:solidFill>
                  <a:schemeClr val="accent1"/>
                </a:solidFill>
                <a:effectLst/>
                <a:uFillTx/>
                <a:latin typeface="Courier New"/>
                <a:ea typeface="Courier New"/>
              </a:rPr>
              <a:t>git log --oneline</a:t>
            </a:r>
            <a:endParaRPr lang="en-US" sz="1400" b="0" u="none" strike="noStrike">
              <a:solidFill>
                <a:srgbClr val="000000"/>
              </a:solidFill>
              <a:effectLst/>
              <a:uFillTx/>
              <a:latin typeface="Arial"/>
            </a:endParaRPr>
          </a:p>
          <a:p>
            <a:pPr defTabSz="914400">
              <a:lnSpc>
                <a:spcPct val="100000"/>
              </a:lnSpc>
              <a:spcAft>
                <a:spcPts val="799"/>
              </a:spcAft>
              <a:tabLst>
                <a:tab pos="0" algn="l"/>
              </a:tabLst>
            </a:pPr>
            <a:r>
              <a:rPr lang="en-US" sz="1400" b="0" u="none" strike="noStrike">
                <a:solidFill>
                  <a:schemeClr val="accent1"/>
                </a:solidFill>
                <a:effectLst/>
                <a:uFillTx/>
                <a:latin typeface="Courier New"/>
                <a:ea typeface="Courier New"/>
              </a:rPr>
              <a:t>git switch -c ci/&lt;yourname&gt;</a:t>
            </a:r>
            <a:endParaRPr lang="en-US" sz="1400" b="0" u="none" strike="noStrike">
              <a:solidFill>
                <a:srgbClr val="000000"/>
              </a:solidFill>
              <a:effectLst/>
              <a:uFillTx/>
              <a:latin typeface="Arial"/>
            </a:endParaRPr>
          </a:p>
          <a:p>
            <a:pPr defTabSz="914400">
              <a:lnSpc>
                <a:spcPct val="100000"/>
              </a:lnSpc>
              <a:spcAft>
                <a:spcPts val="799"/>
              </a:spcAft>
              <a:tabLst>
                <a:tab pos="0" algn="l"/>
              </a:tabLst>
            </a:pPr>
            <a:r>
              <a:rPr lang="en-US" sz="1400" b="0" u="none" strike="noStrike">
                <a:solidFill>
                  <a:schemeClr val="lt2"/>
                </a:solidFill>
                <a:effectLst/>
                <a:uFillTx/>
                <a:latin typeface="Courier New"/>
                <a:ea typeface="Courier New"/>
              </a:rPr>
              <a:t># add your name and date to NOTES.md</a:t>
            </a:r>
            <a:endParaRPr lang="en-US" sz="1400" b="0" u="none" strike="noStrike">
              <a:solidFill>
                <a:srgbClr val="000000"/>
              </a:solidFill>
              <a:effectLst/>
              <a:uFillTx/>
              <a:latin typeface="Arial"/>
            </a:endParaRPr>
          </a:p>
          <a:p>
            <a:pPr defTabSz="914400">
              <a:lnSpc>
                <a:spcPct val="100000"/>
              </a:lnSpc>
              <a:spcAft>
                <a:spcPts val="799"/>
              </a:spcAft>
              <a:tabLst>
                <a:tab pos="0" algn="l"/>
              </a:tabLst>
            </a:pPr>
            <a:r>
              <a:rPr lang="en-US" sz="1400" b="0" u="none" strike="noStrike">
                <a:solidFill>
                  <a:schemeClr val="accent1"/>
                </a:solidFill>
                <a:effectLst/>
                <a:uFillTx/>
                <a:latin typeface="Courier New"/>
                <a:ea typeface="Courier New"/>
              </a:rPr>
              <a:t>git commit -am "Add my name to notes"</a:t>
            </a:r>
            <a:endParaRPr lang="en-US" sz="1400" b="0" u="none" strike="noStrike">
              <a:solidFill>
                <a:srgbClr val="000000"/>
              </a:solidFill>
              <a:effectLst/>
              <a:uFillTx/>
              <a:latin typeface="Arial"/>
            </a:endParaRPr>
          </a:p>
          <a:p>
            <a:pPr defTabSz="914400">
              <a:lnSpc>
                <a:spcPct val="100000"/>
              </a:lnSpc>
              <a:spcAft>
                <a:spcPts val="799"/>
              </a:spcAft>
              <a:tabLst>
                <a:tab pos="0" algn="l"/>
              </a:tabLst>
            </a:pPr>
            <a:r>
              <a:rPr lang="en-US" sz="1400" b="0" u="none" strike="noStrike">
                <a:solidFill>
                  <a:schemeClr val="accent1"/>
                </a:solidFill>
                <a:effectLst/>
                <a:uFillTx/>
                <a:latin typeface="Courier New"/>
                <a:ea typeface="Courier New"/>
              </a:rPr>
              <a:t>git push -u origin ci/&lt;yourname&gt;</a:t>
            </a:r>
            <a:endParaRPr lang="en-US" sz="1400" b="0" u="none" strike="noStrike">
              <a:solidFill>
                <a:srgbClr val="000000"/>
              </a:solidFill>
              <a:effectLst/>
              <a:uFillTx/>
              <a:latin typeface="Arial"/>
            </a:endParaRPr>
          </a:p>
          <a:p>
            <a:pPr defTabSz="914400">
              <a:lnSpc>
                <a:spcPct val="100000"/>
              </a:lnSpc>
              <a:spcAft>
                <a:spcPts val="799"/>
              </a:spcAft>
              <a:tabLst>
                <a:tab pos="0" algn="l"/>
              </a:tabLst>
            </a:pPr>
            <a:r>
              <a:rPr lang="en-US" sz="1400" b="0" u="none" strike="noStrike">
                <a:solidFill>
                  <a:schemeClr val="accent1"/>
                </a:solidFill>
                <a:effectLst/>
                <a:uFillTx/>
                <a:latin typeface="Courier New"/>
                <a:ea typeface="Courier New"/>
              </a:rPr>
              <a:t>gh pr create --fill --base main</a:t>
            </a:r>
            <a:endParaRPr lang="en-US" sz="1400" b="0" u="none" strike="noStrike">
              <a:solidFill>
                <a:srgbClr val="000000"/>
              </a:solidFill>
              <a:effectLst/>
              <a:uFillTx/>
              <a:latin typeface="Arial"/>
            </a:endParaRPr>
          </a:p>
        </p:txBody>
      </p:sp>
      <p:sp>
        <p:nvSpPr>
          <p:cNvPr id="311" name="baseline card"/>
          <p:cNvSpPr/>
          <p:nvPr/>
        </p:nvSpPr>
        <p:spPr>
          <a:xfrm>
            <a:off x="5669280" y="1280160"/>
            <a:ext cx="292572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2" name="Text 4"/>
          <p:cNvSpPr/>
          <p:nvPr/>
        </p:nvSpPr>
        <p:spPr>
          <a:xfrm>
            <a:off x="5852160" y="1371600"/>
            <a:ext cx="25599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1"/>
                </a:solidFill>
                <a:effectLst/>
                <a:uFillTx/>
                <a:latin typeface="Calibri"/>
              </a:rPr>
              <a:t>Then open the PR</a:t>
            </a:r>
            <a:endParaRPr lang="en-US" sz="1800" b="0" u="none" strike="noStrike">
              <a:solidFill>
                <a:srgbClr val="000000"/>
              </a:solidFill>
              <a:effectLst/>
              <a:uFillTx/>
              <a:latin typeface="Arial"/>
            </a:endParaRPr>
          </a:p>
        </p:txBody>
      </p:sp>
      <p:sp>
        <p:nvSpPr>
          <p:cNvPr id="313" name="Text 5"/>
          <p:cNvSpPr/>
          <p:nvPr/>
        </p:nvSpPr>
        <p:spPr>
          <a:xfrm>
            <a:off x="5852160" y="1783080"/>
            <a:ext cx="25599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It says “No checks”. That is our baseline.</a:t>
            </a:r>
            <a:endParaRPr lang="en-US" sz="1600" b="0" u="none" strike="noStrike">
              <a:solidFill>
                <a:srgbClr val="000000"/>
              </a:solidFill>
              <a:effectLst/>
              <a:uFillTx/>
              <a:latin typeface="Arial"/>
            </a:endParaRPr>
          </a:p>
        </p:txBody>
      </p:sp>
      <p:sp>
        <p:nvSpPr>
          <p:cNvPr id="314" name="conflict card"/>
          <p:cNvSpPr/>
          <p:nvPr/>
        </p:nvSpPr>
        <p:spPr>
          <a:xfrm>
            <a:off x="5669280" y="3017520"/>
            <a:ext cx="292572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5" name="Text 7"/>
          <p:cNvSpPr/>
          <p:nvPr/>
        </p:nvSpPr>
        <p:spPr>
          <a:xfrm>
            <a:off x="5852160" y="3108960"/>
            <a:ext cx="25599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accent2"/>
                </a:solidFill>
                <a:effectLst/>
                <a:uFillTx/>
                <a:latin typeface="Calibri"/>
              </a:rPr>
              <a:t>Quick question</a:t>
            </a:r>
            <a:endParaRPr lang="en-US" sz="1800" b="0" u="none" strike="noStrike">
              <a:solidFill>
                <a:srgbClr val="000000"/>
              </a:solidFill>
              <a:effectLst/>
              <a:uFillTx/>
              <a:latin typeface="Arial"/>
            </a:endParaRPr>
          </a:p>
        </p:txBody>
      </p:sp>
      <p:sp>
        <p:nvSpPr>
          <p:cNvPr id="316" name="Text 8"/>
          <p:cNvSpPr/>
          <p:nvPr/>
        </p:nvSpPr>
        <p:spPr>
          <a:xfrm>
            <a:off x="5852160" y="3520440"/>
            <a:ext cx="255996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dk1"/>
                </a:solidFill>
                <a:effectLst/>
                <a:uFillTx/>
                <a:latin typeface="Calibri"/>
              </a:rPr>
              <a:t>A merge gives a conflict. What are your first two commands?</a:t>
            </a:r>
            <a:endParaRPr lang="en-US" sz="1600" b="0" u="none" strike="noStrike">
              <a:solidFill>
                <a:srgbClr val="000000"/>
              </a:solidFill>
              <a:effectLst/>
              <a:uFillTx/>
              <a:latin typeface="Arial"/>
            </a:endParaRPr>
          </a:p>
        </p:txBody>
      </p:sp>
      <p:sp>
        <p:nvSpPr>
          <p:cNvPr id="317" name="PlaceHolder 2"/>
          <p:cNvSpPr>
            <a:spLocks noGrp="1"/>
          </p:cNvSpPr>
          <p:nvPr>
            <p:ph type="sldNum" idx="24"/>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9E5223C5-14C2-4240-938B-9C931DF0F22D}"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mbria"/>
              </a:rPr>
              <a:t>Live demo: CI for a bash project</a:t>
            </a:r>
            <a:endParaRPr lang="en-US" sz="3400" b="1" u="none" strike="noStrike">
              <a:solidFill>
                <a:schemeClr val="lt1"/>
              </a:solidFill>
              <a:effectLst/>
              <a:uFillTx/>
              <a:latin typeface="Cambria"/>
            </a:endParaRPr>
          </a:p>
        </p:txBody>
      </p:sp>
      <p:sp>
        <p:nvSpPr>
          <p:cNvPr id="319" name="demo step 1"/>
          <p:cNvSpPr/>
          <p:nvPr/>
        </p:nvSpPr>
        <p:spPr>
          <a:xfrm>
            <a:off x="548640" y="1325880"/>
            <a:ext cx="1371240" cy="91404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0" name="Text 2"/>
          <p:cNvSpPr/>
          <p:nvPr/>
        </p:nvSpPr>
        <p:spPr>
          <a:xfrm>
            <a:off x="594360" y="1325880"/>
            <a:ext cx="127980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Write the workflow</a:t>
            </a:r>
            <a:endParaRPr lang="en-US" sz="1600" b="0" u="none" strike="noStrike">
              <a:solidFill>
                <a:srgbClr val="FFFFFF"/>
              </a:solidFill>
              <a:effectLst/>
              <a:uFillTx/>
              <a:latin typeface="Arial"/>
            </a:endParaRPr>
          </a:p>
        </p:txBody>
      </p:sp>
      <p:sp>
        <p:nvSpPr>
          <p:cNvPr id="321" name="demo arrow 1"/>
          <p:cNvSpPr/>
          <p:nvPr/>
        </p:nvSpPr>
        <p:spPr>
          <a:xfrm>
            <a:off x="1947600" y="1645920"/>
            <a:ext cx="246600" cy="273960"/>
          </a:xfrm>
          <a:prstGeom prst="rightArrow">
            <a:avLst>
              <a:gd name="adj1" fmla="val 50000"/>
              <a:gd name="adj2" fmla="val 50000"/>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2" name="demo step 2"/>
          <p:cNvSpPr/>
          <p:nvPr/>
        </p:nvSpPr>
        <p:spPr>
          <a:xfrm>
            <a:off x="2217600" y="1325880"/>
            <a:ext cx="1371240" cy="91404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3" name="Text 5"/>
          <p:cNvSpPr/>
          <p:nvPr/>
        </p:nvSpPr>
        <p:spPr>
          <a:xfrm>
            <a:off x="2263320" y="1325880"/>
            <a:ext cx="127980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Push</a:t>
            </a:r>
            <a:endParaRPr lang="en-US" sz="1600" b="0" u="none" strike="noStrike">
              <a:solidFill>
                <a:srgbClr val="FFFFFF"/>
              </a:solidFill>
              <a:effectLst/>
              <a:uFillTx/>
              <a:latin typeface="Arial"/>
            </a:endParaRPr>
          </a:p>
        </p:txBody>
      </p:sp>
      <p:sp>
        <p:nvSpPr>
          <p:cNvPr id="324" name="demo arrow 2"/>
          <p:cNvSpPr/>
          <p:nvPr/>
        </p:nvSpPr>
        <p:spPr>
          <a:xfrm>
            <a:off x="3616560" y="1645920"/>
            <a:ext cx="246600" cy="273960"/>
          </a:xfrm>
          <a:prstGeom prst="rightArrow">
            <a:avLst>
              <a:gd name="adj1" fmla="val 50000"/>
              <a:gd name="adj2" fmla="val 50000"/>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5" name="demo step 3"/>
          <p:cNvSpPr/>
          <p:nvPr/>
        </p:nvSpPr>
        <p:spPr>
          <a:xfrm>
            <a:off x="3886200" y="1325880"/>
            <a:ext cx="1371240" cy="91404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6" name="Text 8"/>
          <p:cNvSpPr/>
          <p:nvPr/>
        </p:nvSpPr>
        <p:spPr>
          <a:xfrm>
            <a:off x="3931920" y="1325880"/>
            <a:ext cx="127980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Green check</a:t>
            </a:r>
            <a:endParaRPr lang="en-US" sz="1600" b="0" u="none" strike="noStrike">
              <a:solidFill>
                <a:srgbClr val="FFFFFF"/>
              </a:solidFill>
              <a:effectLst/>
              <a:uFillTx/>
              <a:latin typeface="Arial"/>
            </a:endParaRPr>
          </a:p>
        </p:txBody>
      </p:sp>
      <p:sp>
        <p:nvSpPr>
          <p:cNvPr id="327" name="demo arrow 3"/>
          <p:cNvSpPr/>
          <p:nvPr/>
        </p:nvSpPr>
        <p:spPr>
          <a:xfrm>
            <a:off x="5285160" y="1645920"/>
            <a:ext cx="246600" cy="273960"/>
          </a:xfrm>
          <a:prstGeom prst="rightArrow">
            <a:avLst>
              <a:gd name="adj1" fmla="val 50000"/>
              <a:gd name="adj2" fmla="val 50000"/>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8" name="demo step 4"/>
          <p:cNvSpPr/>
          <p:nvPr/>
        </p:nvSpPr>
        <p:spPr>
          <a:xfrm>
            <a:off x="5555160" y="1325880"/>
            <a:ext cx="1371240" cy="91404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9" name="Text 11"/>
          <p:cNvSpPr/>
          <p:nvPr/>
        </p:nvSpPr>
        <p:spPr>
          <a:xfrm>
            <a:off x="5600880" y="1325880"/>
            <a:ext cx="127980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Break a test</a:t>
            </a:r>
            <a:endParaRPr lang="en-US" sz="1600" b="0" u="none" strike="noStrike">
              <a:solidFill>
                <a:srgbClr val="FFFFFF"/>
              </a:solidFill>
              <a:effectLst/>
              <a:uFillTx/>
              <a:latin typeface="Arial"/>
            </a:endParaRPr>
          </a:p>
        </p:txBody>
      </p:sp>
      <p:sp>
        <p:nvSpPr>
          <p:cNvPr id="330" name="demo arrow 4"/>
          <p:cNvSpPr/>
          <p:nvPr/>
        </p:nvSpPr>
        <p:spPr>
          <a:xfrm>
            <a:off x="6954120" y="1645920"/>
            <a:ext cx="246600" cy="273960"/>
          </a:xfrm>
          <a:prstGeom prst="rightArrow">
            <a:avLst>
              <a:gd name="adj1" fmla="val 50000"/>
              <a:gd name="adj2" fmla="val 50000"/>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1" name="demo step 5"/>
          <p:cNvSpPr/>
          <p:nvPr/>
        </p:nvSpPr>
        <p:spPr>
          <a:xfrm>
            <a:off x="7223760" y="1325880"/>
            <a:ext cx="1371240" cy="91404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2" name="Text 14"/>
          <p:cNvSpPr/>
          <p:nvPr/>
        </p:nvSpPr>
        <p:spPr>
          <a:xfrm>
            <a:off x="7269480" y="1325880"/>
            <a:ext cx="127980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Red, then revert</a:t>
            </a:r>
            <a:endParaRPr lang="en-US" sz="1600" b="0" u="none" strike="noStrike">
              <a:solidFill>
                <a:srgbClr val="FFFFFF"/>
              </a:solidFill>
              <a:effectLst/>
              <a:uFillTx/>
              <a:latin typeface="Arial"/>
            </a:endParaRPr>
          </a:p>
        </p:txBody>
      </p:sp>
      <p:sp>
        <p:nvSpPr>
          <p:cNvPr id="333" name="demo repo panel"/>
          <p:cNvSpPr/>
          <p:nvPr/>
        </p:nvSpPr>
        <p:spPr>
          <a:xfrm>
            <a:off x="548640" y="2697480"/>
            <a:ext cx="8046360" cy="822600"/>
          </a:xfrm>
          <a:prstGeom prst="roundRect">
            <a:avLst>
              <a:gd name="adj" fmla="val 8889"/>
            </a:avLst>
          </a:prstGeom>
          <a:solidFill>
            <a:schemeClr val="tx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4" name="Text 16"/>
          <p:cNvSpPr/>
          <p:nvPr/>
        </p:nvSpPr>
        <p:spPr>
          <a:xfrm>
            <a:off x="822960" y="2697480"/>
            <a:ext cx="74977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lt1"/>
                </a:solidFill>
                <a:effectLst/>
                <a:uFillTx/>
                <a:latin typeface="Courier New"/>
                <a:ea typeface="Courier New"/>
              </a:rPr>
              <a:t>github.com/kubino148/kubino148-devops-lesson-0-demo</a:t>
            </a:r>
            <a:endParaRPr lang="en-US" sz="1800" b="0" u="none" strike="noStrike">
              <a:solidFill>
                <a:srgbClr val="FFFFFF"/>
              </a:solidFill>
              <a:effectLst/>
              <a:uFillTx/>
              <a:latin typeface="Arial"/>
            </a:endParaRPr>
          </a:p>
        </p:txBody>
      </p:sp>
      <p:sp>
        <p:nvSpPr>
          <p:cNvPr id="335" name="Text 17"/>
          <p:cNvSpPr/>
          <p:nvPr/>
        </p:nvSpPr>
        <p:spPr>
          <a:xfrm>
            <a:off x="548640" y="3749040"/>
            <a:ext cx="80463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u="none" strike="noStrike">
                <a:solidFill>
                  <a:schemeClr val="lt1"/>
                </a:solidFill>
                <a:effectLst/>
                <a:uFillTx/>
                <a:latin typeface="Calibri"/>
              </a:rPr>
              <a:t>Watch and take notes. Don't type along.</a:t>
            </a:r>
            <a:endParaRPr lang="en-US" sz="2000" b="0" u="none" strike="noStrike">
              <a:solidFill>
                <a:srgbClr val="FFFFFF"/>
              </a:solidFill>
              <a:effectLst/>
              <a:uFillTx/>
              <a:latin typeface="Arial"/>
            </a:endParaRPr>
          </a:p>
        </p:txBody>
      </p:sp>
      <p:sp>
        <p:nvSpPr>
          <p:cNvPr id="336" name="Text 18"/>
          <p:cNvSpPr/>
          <p:nvPr/>
        </p:nvSpPr>
        <p:spPr>
          <a:xfrm>
            <a:off x="548640" y="4160520"/>
            <a:ext cx="8046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accent2"/>
                </a:solidFill>
                <a:effectLst/>
                <a:uFillTx/>
                <a:latin typeface="Calibri"/>
              </a:rPr>
              <a:t>My project is bash. Yours is Python.</a:t>
            </a:r>
            <a:endParaRPr lang="en-US" sz="2400" b="0" u="none" strike="noStrike">
              <a:solidFill>
                <a:srgbClr val="FFFFFF"/>
              </a:solidFill>
              <a:effectLst/>
              <a:uFillTx/>
              <a:latin typeface="Arial"/>
            </a:endParaRPr>
          </a:p>
        </p:txBody>
      </p:sp>
      <p:sp>
        <p:nvSpPr>
          <p:cNvPr id="337" name="PlaceHolder 2"/>
          <p:cNvSpPr>
            <a:spLocks noGrp="1"/>
          </p:cNvSpPr>
          <p:nvPr>
            <p:ph type="sldNum" idx="25"/>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025892BC-87CA-44E3-93DD-53F3161D4546}"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Your turn: CI for your Python repo</a:t>
            </a:r>
            <a:endParaRPr lang="en-US" sz="3400" b="1" u="none" strike="noStrike">
              <a:solidFill>
                <a:schemeClr val="dk1"/>
              </a:solidFill>
              <a:effectLst/>
              <a:uFillTx/>
              <a:latin typeface="Cambria"/>
            </a:endParaRPr>
          </a:p>
        </p:txBody>
      </p:sp>
      <p:sp>
        <p:nvSpPr>
          <p:cNvPr id="339" name="task card"/>
          <p:cNvSpPr/>
          <p:nvPr/>
        </p:nvSpPr>
        <p:spPr>
          <a:xfrm>
            <a:off x="548640" y="1280160"/>
            <a:ext cx="8046360" cy="3062880"/>
          </a:xfrm>
          <a:prstGeom prst="roundRect">
            <a:avLst>
              <a:gd name="adj" fmla="val 2388"/>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0" name="task 1"/>
          <p:cNvSpPr/>
          <p:nvPr/>
        </p:nvSpPr>
        <p:spPr>
          <a:xfrm>
            <a:off x="731520" y="1417320"/>
            <a:ext cx="411120" cy="411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1" name="Text 3"/>
          <p:cNvSpPr/>
          <p:nvPr/>
        </p:nvSpPr>
        <p:spPr>
          <a:xfrm>
            <a:off x="731520" y="141732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1</a:t>
            </a:r>
            <a:endParaRPr lang="en-US" sz="1600" b="0" u="none" strike="noStrike">
              <a:solidFill>
                <a:srgbClr val="000000"/>
              </a:solidFill>
              <a:effectLst/>
              <a:uFillTx/>
              <a:latin typeface="Arial"/>
            </a:endParaRPr>
          </a:p>
        </p:txBody>
      </p:sp>
      <p:sp>
        <p:nvSpPr>
          <p:cNvPr id="342" name="Text 4"/>
          <p:cNvSpPr/>
          <p:nvPr/>
        </p:nvSpPr>
        <p:spPr>
          <a:xfrm>
            <a:off x="1325880" y="1371600"/>
            <a:ext cx="71319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Add .github/workflows/ci.yml: run your tests on every push to main and on every pull request</a:t>
            </a:r>
            <a:endParaRPr lang="en-US" sz="1500" b="0" u="none" strike="noStrike">
              <a:solidFill>
                <a:srgbClr val="000000"/>
              </a:solidFill>
              <a:effectLst/>
              <a:uFillTx/>
              <a:latin typeface="Arial"/>
            </a:endParaRPr>
          </a:p>
        </p:txBody>
      </p:sp>
      <p:sp>
        <p:nvSpPr>
          <p:cNvPr id="343" name="task 2"/>
          <p:cNvSpPr/>
          <p:nvPr/>
        </p:nvSpPr>
        <p:spPr>
          <a:xfrm>
            <a:off x="731520" y="1984320"/>
            <a:ext cx="411120" cy="411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4" name="Text 6"/>
          <p:cNvSpPr/>
          <p:nvPr/>
        </p:nvSpPr>
        <p:spPr>
          <a:xfrm>
            <a:off x="731520" y="198432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2</a:t>
            </a:r>
            <a:endParaRPr lang="en-US" sz="1600" b="0" u="none" strike="noStrike">
              <a:solidFill>
                <a:srgbClr val="000000"/>
              </a:solidFill>
              <a:effectLst/>
              <a:uFillTx/>
              <a:latin typeface="Arial"/>
            </a:endParaRPr>
          </a:p>
        </p:txBody>
      </p:sp>
      <p:sp>
        <p:nvSpPr>
          <p:cNvPr id="345" name="Text 7"/>
          <p:cNvSpPr/>
          <p:nvPr/>
        </p:nvSpPr>
        <p:spPr>
          <a:xfrm>
            <a:off x="1325880" y="1938600"/>
            <a:ext cx="71319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My project is bash, yours is Python. What does a fresh machine need before pytest can run?</a:t>
            </a:r>
            <a:endParaRPr lang="en-US" sz="1500" b="0" u="none" strike="noStrike">
              <a:solidFill>
                <a:srgbClr val="000000"/>
              </a:solidFill>
              <a:effectLst/>
              <a:uFillTx/>
              <a:latin typeface="Arial"/>
            </a:endParaRPr>
          </a:p>
        </p:txBody>
      </p:sp>
      <p:sp>
        <p:nvSpPr>
          <p:cNvPr id="346" name="task 3"/>
          <p:cNvSpPr/>
          <p:nvPr/>
        </p:nvSpPr>
        <p:spPr>
          <a:xfrm>
            <a:off x="731520" y="2551320"/>
            <a:ext cx="411120" cy="411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7" name="Text 9"/>
          <p:cNvSpPr/>
          <p:nvPr/>
        </p:nvSpPr>
        <p:spPr>
          <a:xfrm>
            <a:off x="731520" y="255132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3</a:t>
            </a:r>
            <a:endParaRPr lang="en-US" sz="1600" b="0" u="none" strike="noStrike">
              <a:solidFill>
                <a:srgbClr val="000000"/>
              </a:solidFill>
              <a:effectLst/>
              <a:uFillTx/>
              <a:latin typeface="Arial"/>
            </a:endParaRPr>
          </a:p>
        </p:txBody>
      </p:sp>
      <p:sp>
        <p:nvSpPr>
          <p:cNvPr id="348" name="Text 10"/>
          <p:cNvSpPr/>
          <p:nvPr/>
        </p:nvSpPr>
        <p:spPr>
          <a:xfrm>
            <a:off x="1325880" y="2505600"/>
            <a:ext cx="71319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Print the Python version before the tests run</a:t>
            </a:r>
            <a:endParaRPr lang="en-US" sz="1500" b="0" u="none" strike="noStrike">
              <a:solidFill>
                <a:srgbClr val="000000"/>
              </a:solidFill>
              <a:effectLst/>
              <a:uFillTx/>
              <a:latin typeface="Arial"/>
            </a:endParaRPr>
          </a:p>
        </p:txBody>
      </p:sp>
      <p:sp>
        <p:nvSpPr>
          <p:cNvPr id="349" name="task 4"/>
          <p:cNvSpPr/>
          <p:nvPr/>
        </p:nvSpPr>
        <p:spPr>
          <a:xfrm>
            <a:off x="731520" y="3117960"/>
            <a:ext cx="411120" cy="411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0" name="Text 12"/>
          <p:cNvSpPr/>
          <p:nvPr/>
        </p:nvSpPr>
        <p:spPr>
          <a:xfrm>
            <a:off x="731520" y="311796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4</a:t>
            </a:r>
            <a:endParaRPr lang="en-US" sz="1600" b="0" u="none" strike="noStrike">
              <a:solidFill>
                <a:srgbClr val="000000"/>
              </a:solidFill>
              <a:effectLst/>
              <a:uFillTx/>
              <a:latin typeface="Arial"/>
            </a:endParaRPr>
          </a:p>
        </p:txBody>
      </p:sp>
      <p:sp>
        <p:nvSpPr>
          <p:cNvPr id="351" name="Text 13"/>
          <p:cNvSpPr/>
          <p:nvPr/>
        </p:nvSpPr>
        <p:spPr>
          <a:xfrm>
            <a:off x="1325880" y="3072240"/>
            <a:ext cx="71319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Push to your PR branch and get a green check</a:t>
            </a:r>
            <a:endParaRPr lang="en-US" sz="1500" b="0" u="none" strike="noStrike">
              <a:solidFill>
                <a:srgbClr val="000000"/>
              </a:solidFill>
              <a:effectLst/>
              <a:uFillTx/>
              <a:latin typeface="Arial"/>
            </a:endParaRPr>
          </a:p>
        </p:txBody>
      </p:sp>
      <p:sp>
        <p:nvSpPr>
          <p:cNvPr id="352" name="task 5"/>
          <p:cNvSpPr/>
          <p:nvPr/>
        </p:nvSpPr>
        <p:spPr>
          <a:xfrm>
            <a:off x="731520" y="3684960"/>
            <a:ext cx="411120" cy="41112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3" name="Text 15"/>
          <p:cNvSpPr/>
          <p:nvPr/>
        </p:nvSpPr>
        <p:spPr>
          <a:xfrm>
            <a:off x="731520" y="3684960"/>
            <a:ext cx="4111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5</a:t>
            </a:r>
            <a:endParaRPr lang="en-US" sz="1600" b="0" u="none" strike="noStrike">
              <a:solidFill>
                <a:srgbClr val="000000"/>
              </a:solidFill>
              <a:effectLst/>
              <a:uFillTx/>
              <a:latin typeface="Arial"/>
            </a:endParaRPr>
          </a:p>
        </p:txBody>
      </p:sp>
      <p:sp>
        <p:nvSpPr>
          <p:cNvPr id="354" name="Text 16"/>
          <p:cNvSpPr/>
          <p:nvPr/>
        </p:nvSpPr>
        <p:spPr>
          <a:xfrm>
            <a:off x="1325880" y="3639240"/>
            <a:ext cx="713196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Break something other than a test: add a package that does not exist to requirements.txt. Find the failing step and the log line that explains it. Fix it.</a:t>
            </a:r>
            <a:endParaRPr lang="en-US" sz="1500" b="0" u="none" strike="noStrike">
              <a:solidFill>
                <a:srgbClr val="000000"/>
              </a:solidFill>
              <a:effectLst/>
              <a:uFillTx/>
              <a:latin typeface="Arial"/>
            </a:endParaRPr>
          </a:p>
        </p:txBody>
      </p:sp>
      <p:sp>
        <p:nvSpPr>
          <p:cNvPr id="355" name="Text 17"/>
          <p:cNvSpPr/>
          <p:nvPr/>
        </p:nvSpPr>
        <p:spPr>
          <a:xfrm>
            <a:off x="548640" y="443484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accent6"/>
                </a:solidFill>
                <a:effectLst/>
                <a:uFillTx/>
                <a:latin typeface="Calibri"/>
              </a:rPr>
              <a:t>Look at: </a:t>
            </a:r>
            <a:r>
              <a:rPr lang="en-US" sz="1600" b="0" u="none" strike="noStrike">
                <a:solidFill>
                  <a:schemeClr val="dk1"/>
                </a:solidFill>
                <a:effectLst/>
                <a:uFillTx/>
                <a:latin typeface="Calibri"/>
              </a:rPr>
              <a:t>the demo repo, and GitHub Docs “Building and testing Python”</a:t>
            </a:r>
            <a:endParaRPr lang="en-US" sz="1600" b="0" u="none" strike="noStrike">
              <a:solidFill>
                <a:srgbClr val="000000"/>
              </a:solidFill>
              <a:effectLst/>
              <a:uFillTx/>
              <a:latin typeface="Arial"/>
            </a:endParaRPr>
          </a:p>
        </p:txBody>
      </p:sp>
      <p:sp>
        <p:nvSpPr>
          <p:cNvPr id="356" name="PlaceHolder 2"/>
          <p:cNvSpPr>
            <a:spLocks noGrp="1"/>
          </p:cNvSpPr>
          <p:nvPr>
            <p:ph type="sldNum" idx="2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F071A269-B489-4757-95DB-04E3BFE77AC1}"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Your toolbox</a:t>
            </a:r>
            <a:endParaRPr lang="en-US" sz="3400" b="1" u="none" strike="noStrike">
              <a:solidFill>
                <a:schemeClr val="dk1"/>
              </a:solidFill>
              <a:effectLst/>
              <a:uFillTx/>
              <a:latin typeface="Cambria"/>
            </a:endParaRPr>
          </a:p>
        </p:txBody>
      </p:sp>
      <p:sp>
        <p:nvSpPr>
          <p:cNvPr id="358" name="toolbox card"/>
          <p:cNvSpPr/>
          <p:nvPr/>
        </p:nvSpPr>
        <p:spPr>
          <a:xfrm>
            <a:off x="548640" y="1280160"/>
            <a:ext cx="8046360" cy="2605680"/>
          </a:xfrm>
          <a:prstGeom prst="roundRect">
            <a:avLst>
              <a:gd name="adj" fmla="val 2807"/>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59" name="Text 2"/>
          <p:cNvSpPr/>
          <p:nvPr/>
        </p:nvSpPr>
        <p:spPr>
          <a:xfrm>
            <a:off x="777240" y="1417320"/>
            <a:ext cx="4114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accent1"/>
                </a:solidFill>
                <a:effectLst/>
                <a:uFillTx/>
                <a:latin typeface="Courier New"/>
                <a:ea typeface="Courier New"/>
              </a:rPr>
              <a:t>run: pytest</a:t>
            </a:r>
            <a:endParaRPr lang="en-US" sz="1300" b="0" u="none" strike="noStrike">
              <a:solidFill>
                <a:srgbClr val="000000"/>
              </a:solidFill>
              <a:effectLst/>
              <a:uFillTx/>
              <a:latin typeface="Arial"/>
            </a:endParaRPr>
          </a:p>
        </p:txBody>
      </p:sp>
      <p:sp>
        <p:nvSpPr>
          <p:cNvPr id="360" name="Text 3"/>
          <p:cNvSpPr/>
          <p:nvPr/>
        </p:nvSpPr>
        <p:spPr>
          <a:xfrm>
            <a:off x="4983480" y="1417320"/>
            <a:ext cx="3474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runs your tests</a:t>
            </a:r>
            <a:endParaRPr lang="en-US" sz="1400" b="0" u="none" strike="noStrike">
              <a:solidFill>
                <a:srgbClr val="000000"/>
              </a:solidFill>
              <a:effectLst/>
              <a:uFillTx/>
              <a:latin typeface="Arial"/>
            </a:endParaRPr>
          </a:p>
        </p:txBody>
      </p:sp>
      <p:sp>
        <p:nvSpPr>
          <p:cNvPr id="361" name="Text 4"/>
          <p:cNvSpPr/>
          <p:nvPr/>
        </p:nvSpPr>
        <p:spPr>
          <a:xfrm>
            <a:off x="777240" y="1911240"/>
            <a:ext cx="4114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accent1"/>
                </a:solidFill>
                <a:effectLst/>
                <a:uFillTx/>
                <a:latin typeface="Courier New"/>
                <a:ea typeface="Courier New"/>
              </a:rPr>
              <a:t>uses: actions/checkout@v4</a:t>
            </a:r>
            <a:endParaRPr lang="en-US" sz="1300" b="0" u="none" strike="noStrike">
              <a:solidFill>
                <a:srgbClr val="000000"/>
              </a:solidFill>
              <a:effectLst/>
              <a:uFillTx/>
              <a:latin typeface="Arial"/>
            </a:endParaRPr>
          </a:p>
        </p:txBody>
      </p:sp>
      <p:sp>
        <p:nvSpPr>
          <p:cNvPr id="362" name="Text 5"/>
          <p:cNvSpPr/>
          <p:nvPr/>
        </p:nvSpPr>
        <p:spPr>
          <a:xfrm>
            <a:off x="4983480" y="1911240"/>
            <a:ext cx="3474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fetches your code onto the machine</a:t>
            </a:r>
            <a:endParaRPr lang="en-US" sz="1400" b="0" u="none" strike="noStrike">
              <a:solidFill>
                <a:srgbClr val="000000"/>
              </a:solidFill>
              <a:effectLst/>
              <a:uFillTx/>
              <a:latin typeface="Arial"/>
            </a:endParaRPr>
          </a:p>
        </p:txBody>
      </p:sp>
      <p:sp>
        <p:nvSpPr>
          <p:cNvPr id="363" name="Text 6"/>
          <p:cNvSpPr/>
          <p:nvPr/>
        </p:nvSpPr>
        <p:spPr>
          <a:xfrm>
            <a:off x="777240" y="2404800"/>
            <a:ext cx="4114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accent1"/>
                </a:solidFill>
                <a:effectLst/>
                <a:uFillTx/>
                <a:latin typeface="Courier New"/>
                <a:ea typeface="Courier New"/>
              </a:rPr>
              <a:t>run: python --version</a:t>
            </a:r>
            <a:endParaRPr lang="en-US" sz="1300" b="0" u="none" strike="noStrike">
              <a:solidFill>
                <a:srgbClr val="000000"/>
              </a:solidFill>
              <a:effectLst/>
              <a:uFillTx/>
              <a:latin typeface="Arial"/>
            </a:endParaRPr>
          </a:p>
        </p:txBody>
      </p:sp>
      <p:sp>
        <p:nvSpPr>
          <p:cNvPr id="364" name="Text 7"/>
          <p:cNvSpPr/>
          <p:nvPr/>
        </p:nvSpPr>
        <p:spPr>
          <a:xfrm>
            <a:off x="4983480" y="2404800"/>
            <a:ext cx="3474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prints the Python version</a:t>
            </a:r>
            <a:endParaRPr lang="en-US" sz="1400" b="0" u="none" strike="noStrike">
              <a:solidFill>
                <a:srgbClr val="000000"/>
              </a:solidFill>
              <a:effectLst/>
              <a:uFillTx/>
              <a:latin typeface="Arial"/>
            </a:endParaRPr>
          </a:p>
        </p:txBody>
      </p:sp>
      <p:sp>
        <p:nvSpPr>
          <p:cNvPr id="365" name="Text 8"/>
          <p:cNvSpPr/>
          <p:nvPr/>
        </p:nvSpPr>
        <p:spPr>
          <a:xfrm>
            <a:off x="777240" y="2898720"/>
            <a:ext cx="4114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accent1"/>
                </a:solidFill>
                <a:effectLst/>
                <a:uFillTx/>
                <a:latin typeface="Courier New"/>
                <a:ea typeface="Courier New"/>
              </a:rPr>
              <a:t>run: pip install -r requirements.txt</a:t>
            </a:r>
            <a:endParaRPr lang="en-US" sz="1300" b="0" u="none" strike="noStrike">
              <a:solidFill>
                <a:srgbClr val="000000"/>
              </a:solidFill>
              <a:effectLst/>
              <a:uFillTx/>
              <a:latin typeface="Arial"/>
            </a:endParaRPr>
          </a:p>
        </p:txBody>
      </p:sp>
      <p:sp>
        <p:nvSpPr>
          <p:cNvPr id="366" name="Text 9"/>
          <p:cNvSpPr/>
          <p:nvPr/>
        </p:nvSpPr>
        <p:spPr>
          <a:xfrm>
            <a:off x="4983480" y="2898720"/>
            <a:ext cx="3474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installs your dependencies</a:t>
            </a:r>
            <a:endParaRPr lang="en-US" sz="1400" b="0" u="none" strike="noStrike">
              <a:solidFill>
                <a:srgbClr val="000000"/>
              </a:solidFill>
              <a:effectLst/>
              <a:uFillTx/>
              <a:latin typeface="Arial"/>
            </a:endParaRPr>
          </a:p>
        </p:txBody>
      </p:sp>
      <p:sp>
        <p:nvSpPr>
          <p:cNvPr id="367" name="Text 10"/>
          <p:cNvSpPr/>
          <p:nvPr/>
        </p:nvSpPr>
        <p:spPr>
          <a:xfrm>
            <a:off x="777240" y="3392280"/>
            <a:ext cx="41144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chemeClr val="accent1"/>
                </a:solidFill>
                <a:effectLst/>
                <a:uFillTx/>
                <a:latin typeface="Courier New"/>
                <a:ea typeface="Courier New"/>
              </a:rPr>
              <a:t>uses: actions/setup-python@v5</a:t>
            </a:r>
            <a:endParaRPr lang="en-US" sz="1300" b="0" u="none" strike="noStrike">
              <a:solidFill>
                <a:srgbClr val="000000"/>
              </a:solidFill>
              <a:effectLst/>
              <a:uFillTx/>
              <a:latin typeface="Arial"/>
            </a:endParaRPr>
          </a:p>
        </p:txBody>
      </p:sp>
      <p:sp>
        <p:nvSpPr>
          <p:cNvPr id="368" name="Text 11"/>
          <p:cNvSpPr/>
          <p:nvPr/>
        </p:nvSpPr>
        <p:spPr>
          <a:xfrm>
            <a:off x="4983480" y="3392280"/>
            <a:ext cx="34743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installs Python (python-version: "3.12")</a:t>
            </a:r>
            <a:endParaRPr lang="en-US" sz="1400" b="0" u="none" strike="noStrike">
              <a:solidFill>
                <a:srgbClr val="000000"/>
              </a:solidFill>
              <a:effectLst/>
              <a:uFillTx/>
              <a:latin typeface="Arial"/>
            </a:endParaRPr>
          </a:p>
        </p:txBody>
      </p:sp>
      <p:sp>
        <p:nvSpPr>
          <p:cNvPr id="369" name="mindset banner"/>
          <p:cNvSpPr/>
          <p:nvPr/>
        </p:nvSpPr>
        <p:spPr>
          <a:xfrm>
            <a:off x="548640" y="4023360"/>
            <a:ext cx="8046360" cy="685440"/>
          </a:xfrm>
          <a:prstGeom prst="roundRect">
            <a:avLst>
              <a:gd name="adj" fmla="val 10667"/>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70" name="Text 13"/>
          <p:cNvSpPr/>
          <p:nvPr/>
        </p:nvSpPr>
        <p:spPr>
          <a:xfrm>
            <a:off x="777240" y="4023360"/>
            <a:ext cx="75891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accent1"/>
                </a:solidFill>
                <a:effectLst/>
                <a:uFillTx/>
                <a:latin typeface="Calibri"/>
              </a:rPr>
              <a:t>A red run is information, not failure. </a:t>
            </a:r>
            <a:r>
              <a:rPr lang="en-US" sz="1600" b="0" u="none" strike="noStrike">
                <a:solidFill>
                  <a:schemeClr val="lt1"/>
                </a:solidFill>
                <a:effectLst/>
                <a:uFillTx/>
                <a:latin typeface="Calibri"/>
              </a:rPr>
              <a:t>Push, read the error, change one thing, push again.</a:t>
            </a:r>
            <a:endParaRPr lang="en-US" sz="1600" b="0" u="none" strike="noStrike">
              <a:solidFill>
                <a:srgbClr val="000000"/>
              </a:solidFill>
              <a:effectLst/>
              <a:uFillTx/>
              <a:latin typeface="Arial"/>
            </a:endParaRPr>
          </a:p>
        </p:txBody>
      </p:sp>
      <p:sp>
        <p:nvSpPr>
          <p:cNvPr id="371" name="PlaceHolder 2"/>
          <p:cNvSpPr>
            <a:spLocks noGrp="1"/>
          </p:cNvSpPr>
          <p:nvPr>
            <p:ph type="sldNum" idx="2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A53EDC8-AF61-450C-9318-8FE28A3A3C09}"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Stuck? Hints</a:t>
            </a:r>
            <a:endParaRPr lang="en-US" sz="3400" b="1" u="none" strike="noStrike">
              <a:solidFill>
                <a:schemeClr val="dk1"/>
              </a:solidFill>
              <a:effectLst/>
              <a:uFillTx/>
              <a:latin typeface="Cambria"/>
            </a:endParaRPr>
          </a:p>
        </p:txBody>
      </p:sp>
      <p:sp>
        <p:nvSpPr>
          <p:cNvPr id="373" name="hint 1"/>
          <p:cNvSpPr/>
          <p:nvPr/>
        </p:nvSpPr>
        <p:spPr>
          <a:xfrm>
            <a:off x="548640" y="1280160"/>
            <a:ext cx="804636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4" name="hint 1 badge"/>
          <p:cNvSpPr/>
          <p:nvPr/>
        </p:nvSpPr>
        <p:spPr>
          <a:xfrm>
            <a:off x="777240" y="1527120"/>
            <a:ext cx="502560" cy="50256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75" name="Text 3"/>
          <p:cNvSpPr/>
          <p:nvPr/>
        </p:nvSpPr>
        <p:spPr>
          <a:xfrm>
            <a:off x="777240" y="15271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376" name="Text 4"/>
          <p:cNvSpPr/>
          <p:nvPr/>
        </p:nvSpPr>
        <p:spPr>
          <a:xfrm>
            <a:off x="1508760" y="1371600"/>
            <a:ext cx="68576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My bash script needed nothing installed. What does a fresh Ubuntu machine need before it can run your tests?</a:t>
            </a:r>
            <a:endParaRPr lang="en-US" sz="1800" b="0" u="none" strike="noStrike">
              <a:solidFill>
                <a:srgbClr val="000000"/>
              </a:solidFill>
              <a:effectLst/>
              <a:uFillTx/>
              <a:latin typeface="Arial"/>
            </a:endParaRPr>
          </a:p>
        </p:txBody>
      </p:sp>
      <p:sp>
        <p:nvSpPr>
          <p:cNvPr id="377" name="hint 2"/>
          <p:cNvSpPr/>
          <p:nvPr/>
        </p:nvSpPr>
        <p:spPr>
          <a:xfrm>
            <a:off x="548640" y="2423160"/>
            <a:ext cx="804636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8" name="hint 2 badge"/>
          <p:cNvSpPr/>
          <p:nvPr/>
        </p:nvSpPr>
        <p:spPr>
          <a:xfrm>
            <a:off x="777240" y="2670120"/>
            <a:ext cx="502560" cy="50256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79" name="Text 7"/>
          <p:cNvSpPr/>
          <p:nvPr/>
        </p:nvSpPr>
        <p:spPr>
          <a:xfrm>
            <a:off x="777240" y="26701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380" name="Text 8"/>
          <p:cNvSpPr/>
          <p:nvPr/>
        </p:nvSpPr>
        <p:spPr>
          <a:xfrm>
            <a:off x="1508760" y="2514600"/>
            <a:ext cx="68576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Try a first version now and push it. Read what the run tells you.</a:t>
            </a:r>
            <a:endParaRPr lang="en-US" sz="1800" b="0" u="none" strike="noStrike">
              <a:solidFill>
                <a:srgbClr val="000000"/>
              </a:solidFill>
              <a:effectLst/>
              <a:uFillTx/>
              <a:latin typeface="Arial"/>
            </a:endParaRPr>
          </a:p>
        </p:txBody>
      </p:sp>
      <p:sp>
        <p:nvSpPr>
          <p:cNvPr id="381" name="hint 3"/>
          <p:cNvSpPr/>
          <p:nvPr/>
        </p:nvSpPr>
        <p:spPr>
          <a:xfrm>
            <a:off x="548640" y="3566160"/>
            <a:ext cx="8046360" cy="1005480"/>
          </a:xfrm>
          <a:prstGeom prst="roundRect">
            <a:avLst>
              <a:gd name="adj" fmla="val 7273"/>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2" name="hint 3 badge"/>
          <p:cNvSpPr/>
          <p:nvPr/>
        </p:nvSpPr>
        <p:spPr>
          <a:xfrm>
            <a:off x="777240" y="3813120"/>
            <a:ext cx="502560" cy="50256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83" name="Text 11"/>
          <p:cNvSpPr/>
          <p:nvPr/>
        </p:nvSpPr>
        <p:spPr>
          <a:xfrm>
            <a:off x="777240" y="38131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000000"/>
              </a:solidFill>
              <a:effectLst/>
              <a:uFillTx/>
              <a:latin typeface="Arial"/>
            </a:endParaRPr>
          </a:p>
        </p:txBody>
      </p:sp>
      <p:sp>
        <p:nvSpPr>
          <p:cNvPr id="384" name="Text 12"/>
          <p:cNvSpPr/>
          <p:nvPr/>
        </p:nvSpPr>
        <p:spPr>
          <a:xfrm>
            <a:off x="1508760" y="3657600"/>
            <a:ext cx="68576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chemeClr val="dk1"/>
                </a:solidFill>
                <a:effectLst/>
                <a:uFillTx/>
                <a:latin typeface="Calibri"/>
              </a:rPr>
              <a:t>For the broken install: which step turns red, and which line of the log tells you why?</a:t>
            </a:r>
            <a:endParaRPr lang="en-US" sz="1800" b="0" u="none" strike="noStrike">
              <a:solidFill>
                <a:srgbClr val="000000"/>
              </a:solidFill>
              <a:effectLst/>
              <a:uFillTx/>
              <a:latin typeface="Arial"/>
            </a:endParaRPr>
          </a:p>
        </p:txBody>
      </p:sp>
      <p:sp>
        <p:nvSpPr>
          <p:cNvPr id="385" name="PlaceHolder 2"/>
          <p:cNvSpPr>
            <a:spLocks noGrp="1"/>
          </p:cNvSpPr>
          <p:nvPr>
            <p:ph type="sldNum" idx="2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F3969DB0-86D8-4099-A7C1-B982DD6AD8A1}"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Done early?</a:t>
            </a:r>
            <a:endParaRPr lang="en-US" sz="3400" b="1" u="none" strike="noStrike">
              <a:solidFill>
                <a:schemeClr val="dk1"/>
              </a:solidFill>
              <a:effectLst/>
              <a:uFillTx/>
              <a:latin typeface="Cambria"/>
            </a:endParaRPr>
          </a:p>
        </p:txBody>
      </p:sp>
      <p:sp>
        <p:nvSpPr>
          <p:cNvPr id="387" name="stretch 1"/>
          <p:cNvSpPr/>
          <p:nvPr/>
        </p:nvSpPr>
        <p:spPr>
          <a:xfrm>
            <a:off x="548640" y="1280160"/>
            <a:ext cx="39315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8" name="stretch 1 circle"/>
          <p:cNvSpPr/>
          <p:nvPr/>
        </p:nvSpPr>
        <p:spPr>
          <a:xfrm>
            <a:off x="731520" y="1806120"/>
            <a:ext cx="502560" cy="50256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89" name="stretch 1 image" descr="FaSync"/>
          <p:cNvPicPr/>
          <p:nvPr/>
        </p:nvPicPr>
        <p:blipFill>
          <a:blip r:embed="rId1"/>
          <a:stretch/>
        </p:blipFill>
        <p:spPr>
          <a:xfrm>
            <a:off x="857160" y="1931760"/>
            <a:ext cx="251280" cy="251280"/>
          </a:xfrm>
          <a:prstGeom prst="rect">
            <a:avLst/>
          </a:prstGeom>
          <a:noFill/>
          <a:ln w="0">
            <a:noFill/>
          </a:ln>
        </p:spPr>
      </p:pic>
      <p:sp>
        <p:nvSpPr>
          <p:cNvPr id="390" name="Text 3"/>
          <p:cNvSpPr/>
          <p:nvPr/>
        </p:nvSpPr>
        <p:spPr>
          <a:xfrm>
            <a:off x="1417320" y="1417320"/>
            <a:ext cx="292572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Add cache: pip to setup-python and compare the run times of the first and second run</a:t>
            </a:r>
            <a:endParaRPr lang="en-US" sz="1600" b="0" u="none" strike="noStrike">
              <a:solidFill>
                <a:srgbClr val="000000"/>
              </a:solidFill>
              <a:effectLst/>
              <a:uFillTx/>
              <a:latin typeface="Arial"/>
            </a:endParaRPr>
          </a:p>
        </p:txBody>
      </p:sp>
      <p:sp>
        <p:nvSpPr>
          <p:cNvPr id="391" name="stretch 2"/>
          <p:cNvSpPr/>
          <p:nvPr/>
        </p:nvSpPr>
        <p:spPr>
          <a:xfrm>
            <a:off x="4663440" y="1280160"/>
            <a:ext cx="39315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2" name="stretch 2 circle"/>
          <p:cNvSpPr/>
          <p:nvPr/>
        </p:nvSpPr>
        <p:spPr>
          <a:xfrm>
            <a:off x="4846320" y="1806120"/>
            <a:ext cx="502560" cy="50256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93" name="stretch 2 image" descr="FaSlidersH"/>
          <p:cNvPicPr/>
          <p:nvPr/>
        </p:nvPicPr>
        <p:blipFill>
          <a:blip r:embed="rId2"/>
          <a:stretch/>
        </p:blipFill>
        <p:spPr>
          <a:xfrm>
            <a:off x="4971960" y="1931760"/>
            <a:ext cx="251280" cy="251280"/>
          </a:xfrm>
          <a:prstGeom prst="rect">
            <a:avLst/>
          </a:prstGeom>
          <a:noFill/>
          <a:ln w="0">
            <a:noFill/>
          </a:ln>
        </p:spPr>
      </p:pic>
      <p:sp>
        <p:nvSpPr>
          <p:cNvPr id="394" name="Text 6"/>
          <p:cNvSpPr/>
          <p:nvPr/>
        </p:nvSpPr>
        <p:spPr>
          <a:xfrm>
            <a:off x="5532120" y="1417320"/>
            <a:ext cx="292572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Add timeout-minutes: 5 to the job and say why</a:t>
            </a:r>
            <a:endParaRPr lang="en-US" sz="1600" b="0" u="none" strike="noStrike">
              <a:solidFill>
                <a:srgbClr val="000000"/>
              </a:solidFill>
              <a:effectLst/>
              <a:uFillTx/>
              <a:latin typeface="Arial"/>
            </a:endParaRPr>
          </a:p>
        </p:txBody>
      </p:sp>
      <p:sp>
        <p:nvSpPr>
          <p:cNvPr id="395" name="stretch 3"/>
          <p:cNvSpPr/>
          <p:nvPr/>
        </p:nvSpPr>
        <p:spPr>
          <a:xfrm>
            <a:off x="548640" y="2971800"/>
            <a:ext cx="39315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6" name="stretch 3 circle"/>
          <p:cNvSpPr/>
          <p:nvPr/>
        </p:nvSpPr>
        <p:spPr>
          <a:xfrm>
            <a:off x="731520" y="3497760"/>
            <a:ext cx="502560" cy="50256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97" name="stretch 3 image" descr="FaShieldAlt"/>
          <p:cNvPicPr/>
          <p:nvPr/>
        </p:nvPicPr>
        <p:blipFill>
          <a:blip r:embed="rId3"/>
          <a:stretch/>
        </p:blipFill>
        <p:spPr>
          <a:xfrm>
            <a:off x="857160" y="3623400"/>
            <a:ext cx="251280" cy="251280"/>
          </a:xfrm>
          <a:prstGeom prst="rect">
            <a:avLst/>
          </a:prstGeom>
          <a:noFill/>
          <a:ln w="0">
            <a:noFill/>
          </a:ln>
        </p:spPr>
      </p:pic>
      <p:sp>
        <p:nvSpPr>
          <p:cNvPr id="398" name="Text 9"/>
          <p:cNvSpPr/>
          <p:nvPr/>
        </p:nvSpPr>
        <p:spPr>
          <a:xfrm>
            <a:off x="1417320" y="3108960"/>
            <a:ext cx="292572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Settings, Rules: require the test check before merging into main</a:t>
            </a:r>
            <a:endParaRPr lang="en-US" sz="1600" b="0" u="none" strike="noStrike">
              <a:solidFill>
                <a:srgbClr val="000000"/>
              </a:solidFill>
              <a:effectLst/>
              <a:uFillTx/>
              <a:latin typeface="Arial"/>
            </a:endParaRPr>
          </a:p>
        </p:txBody>
      </p:sp>
      <p:sp>
        <p:nvSpPr>
          <p:cNvPr id="399" name="stretch 4"/>
          <p:cNvSpPr/>
          <p:nvPr/>
        </p:nvSpPr>
        <p:spPr>
          <a:xfrm>
            <a:off x="4663440" y="2971800"/>
            <a:ext cx="3931560" cy="1554120"/>
          </a:xfrm>
          <a:prstGeom prst="roundRect">
            <a:avLst>
              <a:gd name="adj" fmla="val 4706"/>
            </a:avLst>
          </a:prstGeom>
          <a:solidFill>
            <a:schemeClr val="bg2"/>
          </a:solidFill>
          <a:ln w="0">
            <a:noFill/>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00" name="stretch 4 circle"/>
          <p:cNvSpPr/>
          <p:nvPr/>
        </p:nvSpPr>
        <p:spPr>
          <a:xfrm>
            <a:off x="4846320" y="3497760"/>
            <a:ext cx="502560" cy="50256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401" name="stretch 4 image" descr="FaSearch"/>
          <p:cNvPicPr/>
          <p:nvPr/>
        </p:nvPicPr>
        <p:blipFill>
          <a:blip r:embed="rId4"/>
          <a:stretch/>
        </p:blipFill>
        <p:spPr>
          <a:xfrm>
            <a:off x="4971960" y="3623400"/>
            <a:ext cx="251280" cy="251280"/>
          </a:xfrm>
          <a:prstGeom prst="rect">
            <a:avLst/>
          </a:prstGeom>
          <a:noFill/>
          <a:ln w="0">
            <a:noFill/>
          </a:ln>
        </p:spPr>
      </p:pic>
      <p:sp>
        <p:nvSpPr>
          <p:cNvPr id="402" name="Text 12"/>
          <p:cNvSpPr/>
          <p:nvPr/>
        </p:nvSpPr>
        <p:spPr>
          <a:xfrm>
            <a:off x="5532120" y="3108960"/>
            <a:ext cx="292572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Review your own PR on Files changed: comment on a line you would question</a:t>
            </a:r>
            <a:endParaRPr lang="en-US" sz="1600" b="0" u="none" strike="noStrike">
              <a:solidFill>
                <a:srgbClr val="000000"/>
              </a:solidFill>
              <a:effectLst/>
              <a:uFillTx/>
              <a:latin typeface="Arial"/>
            </a:endParaRPr>
          </a:p>
        </p:txBody>
      </p:sp>
      <p:sp>
        <p:nvSpPr>
          <p:cNvPr id="403" name="PlaceHolder 2"/>
          <p:cNvSpPr>
            <a:spLocks noGrp="1"/>
          </p:cNvSpPr>
          <p:nvPr>
            <p:ph type="sldNum" idx="2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E7603B37-C877-4FFE-9446-14DD3DA190E1}"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Exit ticket and merge</a:t>
            </a:r>
            <a:endParaRPr lang="en-US" sz="3400" b="1" u="none" strike="noStrike">
              <a:solidFill>
                <a:schemeClr val="dk1"/>
              </a:solidFill>
              <a:effectLst/>
              <a:uFillTx/>
              <a:latin typeface="Cambria"/>
            </a:endParaRPr>
          </a:p>
        </p:txBody>
      </p:sp>
      <p:sp>
        <p:nvSpPr>
          <p:cNvPr id="405" name="ticket card"/>
          <p:cNvSpPr/>
          <p:nvPr/>
        </p:nvSpPr>
        <p:spPr>
          <a:xfrm>
            <a:off x="548640" y="1280160"/>
            <a:ext cx="8046360" cy="1599840"/>
          </a:xfrm>
          <a:prstGeom prst="roundRect">
            <a:avLst>
              <a:gd name="adj" fmla="val 4571"/>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6" name="Text 2"/>
          <p:cNvSpPr/>
          <p:nvPr/>
        </p:nvSpPr>
        <p:spPr>
          <a:xfrm>
            <a:off x="822960" y="1371600"/>
            <a:ext cx="749772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accent2"/>
                </a:solidFill>
                <a:effectLst/>
                <a:uFillTx/>
                <a:latin typeface="Calibri"/>
              </a:rPr>
              <a:t>Add one line to NOTES.md</a:t>
            </a:r>
            <a:endParaRPr lang="en-US" sz="1600" b="0" u="none" strike="noStrike">
              <a:solidFill>
                <a:srgbClr val="000000"/>
              </a:solidFill>
              <a:effectLst/>
              <a:uFillTx/>
              <a:latin typeface="Arial"/>
            </a:endParaRPr>
          </a:p>
        </p:txBody>
      </p:sp>
      <p:sp>
        <p:nvSpPr>
          <p:cNvPr id="407" name="Text 3"/>
          <p:cNvSpPr/>
          <p:nvPr/>
        </p:nvSpPr>
        <p:spPr>
          <a:xfrm>
            <a:off x="822960" y="1783080"/>
            <a:ext cx="749772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0" u="none" strike="noStrike">
                <a:solidFill>
                  <a:schemeClr val="lt1"/>
                </a:solidFill>
                <a:effectLst/>
                <a:uFillTx/>
                <a:latin typeface="Calibri"/>
              </a:rPr>
              <a:t>One thing my Python workflow needs that the bash demo did not, and why.</a:t>
            </a:r>
            <a:endParaRPr lang="en-US" sz="2400" b="0" u="none" strike="noStrike">
              <a:solidFill>
                <a:srgbClr val="000000"/>
              </a:solidFill>
              <a:effectLst/>
              <a:uFillTx/>
              <a:latin typeface="Arial"/>
            </a:endParaRPr>
          </a:p>
        </p:txBody>
      </p:sp>
      <p:sp>
        <p:nvSpPr>
          <p:cNvPr id="408" name="exit step 1"/>
          <p:cNvSpPr/>
          <p:nvPr/>
        </p:nvSpPr>
        <p:spPr>
          <a:xfrm>
            <a:off x="548640" y="3200400"/>
            <a:ext cx="2468520" cy="1096920"/>
          </a:xfrm>
          <a:prstGeom prst="roundRect">
            <a:avLst>
              <a:gd name="adj" fmla="val 6667"/>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09" name="Text 5"/>
          <p:cNvSpPr/>
          <p:nvPr/>
        </p:nvSpPr>
        <p:spPr>
          <a:xfrm>
            <a:off x="640080" y="3200400"/>
            <a:ext cx="228564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Commit and push</a:t>
            </a:r>
            <a:endParaRPr lang="en-US" sz="1800" b="0" u="none" strike="noStrike">
              <a:solidFill>
                <a:srgbClr val="000000"/>
              </a:solidFill>
              <a:effectLst/>
              <a:uFillTx/>
              <a:latin typeface="Arial"/>
            </a:endParaRPr>
          </a:p>
        </p:txBody>
      </p:sp>
      <p:sp>
        <p:nvSpPr>
          <p:cNvPr id="410" name="exit arrow 1"/>
          <p:cNvSpPr/>
          <p:nvPr/>
        </p:nvSpPr>
        <p:spPr>
          <a:xfrm>
            <a:off x="3063240" y="3611880"/>
            <a:ext cx="246600" cy="273960"/>
          </a:xfrm>
          <a:prstGeom prst="rightArrow">
            <a:avLst>
              <a:gd name="adj1" fmla="val 50000"/>
              <a:gd name="adj2" fmla="val 50000"/>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1" name="exit step 2"/>
          <p:cNvSpPr/>
          <p:nvPr/>
        </p:nvSpPr>
        <p:spPr>
          <a:xfrm>
            <a:off x="3337560" y="3200400"/>
            <a:ext cx="2468520" cy="1096920"/>
          </a:xfrm>
          <a:prstGeom prst="roundRect">
            <a:avLst>
              <a:gd name="adj" fmla="val 6667"/>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2" name="Text 8"/>
          <p:cNvSpPr/>
          <p:nvPr/>
        </p:nvSpPr>
        <p:spPr>
          <a:xfrm>
            <a:off x="3429000" y="3200400"/>
            <a:ext cx="228564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Wait for the green check</a:t>
            </a:r>
            <a:endParaRPr lang="en-US" sz="1800" b="0" u="none" strike="noStrike">
              <a:solidFill>
                <a:srgbClr val="000000"/>
              </a:solidFill>
              <a:effectLst/>
              <a:uFillTx/>
              <a:latin typeface="Arial"/>
            </a:endParaRPr>
          </a:p>
        </p:txBody>
      </p:sp>
      <p:sp>
        <p:nvSpPr>
          <p:cNvPr id="413" name="exit arrow 2"/>
          <p:cNvSpPr/>
          <p:nvPr/>
        </p:nvSpPr>
        <p:spPr>
          <a:xfrm>
            <a:off x="5852160" y="3611880"/>
            <a:ext cx="246600" cy="273960"/>
          </a:xfrm>
          <a:prstGeom prst="rightArrow">
            <a:avLst>
              <a:gd name="adj1" fmla="val 50000"/>
              <a:gd name="adj2" fmla="val 50000"/>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4" name="exit step 3"/>
          <p:cNvSpPr/>
          <p:nvPr/>
        </p:nvSpPr>
        <p:spPr>
          <a:xfrm>
            <a:off x="6126480" y="3200400"/>
            <a:ext cx="2468520" cy="1096920"/>
          </a:xfrm>
          <a:prstGeom prst="roundRect">
            <a:avLst>
              <a:gd name="adj" fmla="val 6667"/>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5" name="Text 11"/>
          <p:cNvSpPr/>
          <p:nvPr/>
        </p:nvSpPr>
        <p:spPr>
          <a:xfrm>
            <a:off x="6217920" y="3200400"/>
            <a:ext cx="228564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Merge the pull request</a:t>
            </a:r>
            <a:endParaRPr lang="en-US" sz="1800" b="0" u="none" strike="noStrike">
              <a:solidFill>
                <a:srgbClr val="000000"/>
              </a:solidFill>
              <a:effectLst/>
              <a:uFillTx/>
              <a:latin typeface="Arial"/>
            </a:endParaRPr>
          </a:p>
        </p:txBody>
      </p:sp>
      <p:sp>
        <p:nvSpPr>
          <p:cNvPr id="416" name="PlaceHolder 2"/>
          <p:cNvSpPr>
            <a:spLocks noGrp="1"/>
          </p:cNvSpPr>
          <p:nvPr>
            <p:ph type="sldNum" idx="3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670E777-13B8-472A-9A15-A064EEF00E8B}"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lt1"/>
                </a:solidFill>
                <a:effectLst/>
                <a:uFillTx/>
                <a:latin typeface="Cambria"/>
              </a:rPr>
              <a:t>Before you leave</a:t>
            </a:r>
            <a:endParaRPr lang="en-US" sz="3400" b="1" u="none" strike="noStrike">
              <a:solidFill>
                <a:schemeClr val="lt1"/>
              </a:solidFill>
              <a:effectLst/>
              <a:uFillTx/>
              <a:latin typeface="Cambria"/>
            </a:endParaRPr>
          </a:p>
        </p:txBody>
      </p:sp>
      <p:sp>
        <p:nvSpPr>
          <p:cNvPr id="418" name="Stop your  circle"/>
          <p:cNvSpPr/>
          <p:nvPr/>
        </p:nvSpPr>
        <p:spPr>
          <a:xfrm>
            <a:off x="640080" y="1325880"/>
            <a:ext cx="639720" cy="63972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419" name="Stop your  image" descr="FaPowerOff"/>
          <p:cNvPicPr/>
          <p:nvPr/>
        </p:nvPicPr>
        <p:blipFill>
          <a:blip r:embed="rId1"/>
          <a:stretch/>
        </p:blipFill>
        <p:spPr>
          <a:xfrm>
            <a:off x="800280" y="1486080"/>
            <a:ext cx="319680" cy="319680"/>
          </a:xfrm>
          <a:prstGeom prst="rect">
            <a:avLst/>
          </a:prstGeom>
          <a:noFill/>
          <a:ln w="0">
            <a:noFill/>
          </a:ln>
        </p:spPr>
      </p:pic>
      <p:sp>
        <p:nvSpPr>
          <p:cNvPr id="420" name="Text 2"/>
          <p:cNvSpPr/>
          <p:nvPr/>
        </p:nvSpPr>
        <p:spPr>
          <a:xfrm>
            <a:off x="1554480" y="1325880"/>
            <a:ext cx="6949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lt1"/>
                </a:solidFill>
                <a:effectLst/>
                <a:uFillTx/>
                <a:latin typeface="Calibri"/>
              </a:rPr>
              <a:t>Stop your Codespace</a:t>
            </a:r>
            <a:endParaRPr lang="en-US" sz="2200" b="0" u="none" strike="noStrike">
              <a:solidFill>
                <a:srgbClr val="FFFFFF"/>
              </a:solidFill>
              <a:effectLst/>
              <a:uFillTx/>
              <a:latin typeface="Arial"/>
            </a:endParaRPr>
          </a:p>
        </p:txBody>
      </p:sp>
      <p:sp>
        <p:nvSpPr>
          <p:cNvPr id="421" name="Text 3"/>
          <p:cNvSpPr/>
          <p:nvPr/>
        </p:nvSpPr>
        <p:spPr>
          <a:xfrm>
            <a:off x="1554480" y="1710000"/>
            <a:ext cx="6949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1"/>
                </a:solidFill>
                <a:effectLst/>
                <a:uFillTx/>
                <a:latin typeface="Courier New"/>
                <a:ea typeface="Courier New"/>
              </a:rPr>
              <a:t>github.com/codespaces</a:t>
            </a:r>
            <a:endParaRPr lang="en-US" sz="1400" b="0" u="none" strike="noStrike">
              <a:solidFill>
                <a:srgbClr val="FFFFFF"/>
              </a:solidFill>
              <a:effectLst/>
              <a:uFillTx/>
              <a:latin typeface="Arial"/>
            </a:endParaRPr>
          </a:p>
        </p:txBody>
      </p:sp>
      <p:sp>
        <p:nvSpPr>
          <p:cNvPr id="422" name="Sign out o circle"/>
          <p:cNvSpPr/>
          <p:nvPr/>
        </p:nvSpPr>
        <p:spPr>
          <a:xfrm>
            <a:off x="640080" y="2194560"/>
            <a:ext cx="639720" cy="63972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423" name="Sign out o image" descr="FaSignOutAlt"/>
          <p:cNvPicPr/>
          <p:nvPr/>
        </p:nvPicPr>
        <p:blipFill>
          <a:blip r:embed="rId2"/>
          <a:stretch/>
        </p:blipFill>
        <p:spPr>
          <a:xfrm>
            <a:off x="800280" y="2354760"/>
            <a:ext cx="319680" cy="319680"/>
          </a:xfrm>
          <a:prstGeom prst="rect">
            <a:avLst/>
          </a:prstGeom>
          <a:noFill/>
          <a:ln w="0">
            <a:noFill/>
          </a:ln>
        </p:spPr>
      </p:pic>
      <p:sp>
        <p:nvSpPr>
          <p:cNvPr id="424" name="Text 5"/>
          <p:cNvSpPr/>
          <p:nvPr/>
        </p:nvSpPr>
        <p:spPr>
          <a:xfrm>
            <a:off x="1554480" y="2194560"/>
            <a:ext cx="69490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lt1"/>
                </a:solidFill>
                <a:effectLst/>
                <a:uFillTx/>
                <a:latin typeface="Calibri"/>
              </a:rPr>
              <a:t>Sign out of GitHub on lab PCs</a:t>
            </a:r>
            <a:endParaRPr lang="en-US" sz="2200" b="0" u="none" strike="noStrike">
              <a:solidFill>
                <a:srgbClr val="FFFFFF"/>
              </a:solidFill>
              <a:effectLst/>
              <a:uFillTx/>
              <a:latin typeface="Arial"/>
            </a:endParaRPr>
          </a:p>
        </p:txBody>
      </p:sp>
      <p:sp>
        <p:nvSpPr>
          <p:cNvPr id="425" name="Your work  circle"/>
          <p:cNvSpPr/>
          <p:nvPr/>
        </p:nvSpPr>
        <p:spPr>
          <a:xfrm>
            <a:off x="640080" y="3063240"/>
            <a:ext cx="639720" cy="639720"/>
          </a:xfrm>
          <a:prstGeom prst="ellipse">
            <a:avLst/>
          </a:prstGeom>
          <a:solidFill>
            <a:srgbClr val="2EA0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426" name="Your work  image" descr="FaGithub"/>
          <p:cNvPicPr/>
          <p:nvPr/>
        </p:nvPicPr>
        <p:blipFill>
          <a:blip r:embed="rId3"/>
          <a:stretch/>
        </p:blipFill>
        <p:spPr>
          <a:xfrm>
            <a:off x="800280" y="3223440"/>
            <a:ext cx="319680" cy="319680"/>
          </a:xfrm>
          <a:prstGeom prst="rect">
            <a:avLst/>
          </a:prstGeom>
          <a:noFill/>
          <a:ln w="0">
            <a:noFill/>
          </a:ln>
        </p:spPr>
      </p:pic>
      <p:sp>
        <p:nvSpPr>
          <p:cNvPr id="427" name="Text 7"/>
          <p:cNvSpPr/>
          <p:nvPr/>
        </p:nvSpPr>
        <p:spPr>
          <a:xfrm>
            <a:off x="1554480" y="3063240"/>
            <a:ext cx="69490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lt1"/>
                </a:solidFill>
                <a:effectLst/>
                <a:uFillTx/>
                <a:latin typeface="Calibri"/>
              </a:rPr>
              <a:t>Your work lives in your repo, not on the PC</a:t>
            </a:r>
            <a:endParaRPr lang="en-US" sz="2200" b="0" u="none" strike="noStrike">
              <a:solidFill>
                <a:srgbClr val="FFFFFF"/>
              </a:solidFill>
              <a:effectLst/>
              <a:uFillTx/>
              <a:latin typeface="Arial"/>
            </a:endParaRPr>
          </a:p>
        </p:txBody>
      </p:sp>
      <p:sp>
        <p:nvSpPr>
          <p:cNvPr id="428" name="PlaceHolder 2"/>
          <p:cNvSpPr>
            <a:spLocks noGrp="1"/>
          </p:cNvSpPr>
          <p:nvPr>
            <p:ph type="sldNum" idx="3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B442AC62-5918-472E-8F2F-9569A8F785EE}" type="slidenum">
              <a:rPr lang="en-US" sz="1000" b="0" u="none" strike="noStrike">
                <a:solidFill>
                  <a:schemeClr val="lt2"/>
                </a:solidFill>
                <a:effectLst/>
                <a:uFillTx/>
                <a:latin typeface="Calibri"/>
              </a:rPr>
              <a:t>&lt;number&gt;</a:t>
            </a:fld>
            <a:endParaRPr lang="en-US" sz="10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548640" y="320040"/>
            <a:ext cx="804636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Cambria"/>
              </a:rPr>
              <a:t>Task answers</a:t>
            </a:r>
            <a:endParaRPr lang="en-US" sz="3400" b="1" u="none" strike="noStrike">
              <a:solidFill>
                <a:schemeClr val="dk1"/>
              </a:solidFill>
              <a:effectLst/>
              <a:uFillTx/>
              <a:latin typeface="Cambria"/>
            </a:endParaRPr>
          </a:p>
        </p:txBody>
      </p:sp>
      <p:sp>
        <p:nvSpPr>
          <p:cNvPr id="430" name="solution panel"/>
          <p:cNvSpPr/>
          <p:nvPr/>
        </p:nvSpPr>
        <p:spPr>
          <a:xfrm>
            <a:off x="548640" y="1188720"/>
            <a:ext cx="3931560" cy="3520080"/>
          </a:xfrm>
          <a:prstGeom prst="roundRect">
            <a:avLst>
              <a:gd name="adj" fmla="val 2078"/>
            </a:avLst>
          </a:prstGeom>
          <a:solidFill>
            <a:schemeClr val="tx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1" name="Text 4"/>
          <p:cNvSpPr/>
          <p:nvPr/>
        </p:nvSpPr>
        <p:spPr>
          <a:xfrm>
            <a:off x="731520" y="1280160"/>
            <a:ext cx="3657240" cy="3337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1"/>
                </a:solidFill>
                <a:effectLst/>
                <a:uFillTx/>
                <a:latin typeface="Courier New"/>
                <a:ea typeface="Courier New"/>
              </a:rPr>
              <a:t>name: CI</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on:</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push:</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branches: [main]</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pull_request:</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permissions:</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contents: read</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jobs:</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test:</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runs-on: ubuntu-latest</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steps:</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 uses: actions/checkout@v4</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 uses: actions/setup-python@v5</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with:</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python-version: "3.12"</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 run: python --version</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 run: pip install -r requirements.txt</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chemeClr val="accent1"/>
                </a:solidFill>
                <a:effectLst/>
                <a:uFillTx/>
                <a:latin typeface="Courier New"/>
                <a:ea typeface="Courier New"/>
              </a:rPr>
              <a:t>      - run: pytest</a:t>
            </a:r>
            <a:endParaRPr lang="en-US" sz="1100" b="0" u="none" strike="noStrike">
              <a:solidFill>
                <a:srgbClr val="000000"/>
              </a:solidFill>
              <a:effectLst/>
              <a:uFillTx/>
              <a:latin typeface="Arial"/>
            </a:endParaRPr>
          </a:p>
        </p:txBody>
      </p:sp>
      <p:sp>
        <p:nvSpPr>
          <p:cNvPr id="432" name="error row 1"/>
          <p:cNvSpPr/>
          <p:nvPr/>
        </p:nvSpPr>
        <p:spPr>
          <a:xfrm>
            <a:off x="4663440" y="1188720"/>
            <a:ext cx="3931560" cy="822600"/>
          </a:xfrm>
          <a:prstGeom prst="rect">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3" name="Text 6"/>
          <p:cNvSpPr/>
          <p:nvPr/>
        </p:nvSpPr>
        <p:spPr>
          <a:xfrm>
            <a:off x="4754880" y="1234440"/>
            <a:ext cx="374868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dk1"/>
                </a:solidFill>
                <a:effectLst/>
                <a:uFillTx/>
                <a:latin typeface="Calibri"/>
              </a:rPr>
              <a:t>No install step</a:t>
            </a:r>
            <a:endParaRPr lang="en-US" sz="1200" b="0" u="none" strike="noStrike">
              <a:solidFill>
                <a:srgbClr val="000000"/>
              </a:solidFill>
              <a:effectLst/>
              <a:uFillTx/>
              <a:latin typeface="Arial"/>
            </a:endParaRPr>
          </a:p>
        </p:txBody>
      </p:sp>
      <p:sp>
        <p:nvSpPr>
          <p:cNvPr id="434" name="Text 7"/>
          <p:cNvSpPr/>
          <p:nvPr/>
        </p:nvSpPr>
        <p:spPr>
          <a:xfrm>
            <a:off x="4754880" y="1508760"/>
            <a:ext cx="3748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3"/>
                </a:solidFill>
                <a:effectLst/>
                <a:uFillTx/>
                <a:latin typeface="Calibri"/>
              </a:rPr>
              <a:t>pytest: command not found (verify)</a:t>
            </a:r>
            <a:endParaRPr lang="en-US" sz="1200" b="0" u="none" strike="noStrike">
              <a:solidFill>
                <a:srgbClr val="000000"/>
              </a:solidFill>
              <a:effectLst/>
              <a:uFillTx/>
              <a:latin typeface="Arial"/>
            </a:endParaRPr>
          </a:p>
        </p:txBody>
      </p:sp>
      <p:sp>
        <p:nvSpPr>
          <p:cNvPr id="435" name="error row 2"/>
          <p:cNvSpPr/>
          <p:nvPr/>
        </p:nvSpPr>
        <p:spPr>
          <a:xfrm>
            <a:off x="4663440" y="2057400"/>
            <a:ext cx="3931560" cy="822600"/>
          </a:xfrm>
          <a:prstGeom prst="rect">
            <a:avLst/>
          </a:prstGeom>
          <a:solidFill>
            <a:schemeClr val="bg1"/>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6" name="Text 9"/>
          <p:cNvSpPr/>
          <p:nvPr/>
        </p:nvSpPr>
        <p:spPr>
          <a:xfrm>
            <a:off x="4754880" y="2103120"/>
            <a:ext cx="374868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dk1"/>
                </a:solidFill>
                <a:effectLst/>
                <a:uFillTx/>
                <a:latin typeface="Calibri"/>
              </a:rPr>
              <a:t>No setup-python</a:t>
            </a:r>
            <a:endParaRPr lang="en-US" sz="1200" b="0" u="none" strike="noStrike">
              <a:solidFill>
                <a:srgbClr val="000000"/>
              </a:solidFill>
              <a:effectLst/>
              <a:uFillTx/>
              <a:latin typeface="Arial"/>
            </a:endParaRPr>
          </a:p>
        </p:txBody>
      </p:sp>
      <p:sp>
        <p:nvSpPr>
          <p:cNvPr id="437" name="Text 10"/>
          <p:cNvSpPr/>
          <p:nvPr/>
        </p:nvSpPr>
        <p:spPr>
          <a:xfrm>
            <a:off x="4754880" y="2377440"/>
            <a:ext cx="3748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3"/>
                </a:solidFill>
                <a:effectLst/>
                <a:uFillTx/>
                <a:latin typeface="Calibri"/>
              </a:rPr>
              <a:t>may fail with an externally-managed-environment error from pip (verify in rehearsal)</a:t>
            </a:r>
            <a:endParaRPr lang="en-US" sz="1200" b="0" u="none" strike="noStrike">
              <a:solidFill>
                <a:srgbClr val="000000"/>
              </a:solidFill>
              <a:effectLst/>
              <a:uFillTx/>
              <a:latin typeface="Arial"/>
            </a:endParaRPr>
          </a:p>
        </p:txBody>
      </p:sp>
      <p:sp>
        <p:nvSpPr>
          <p:cNvPr id="438" name="error row 3"/>
          <p:cNvSpPr/>
          <p:nvPr/>
        </p:nvSpPr>
        <p:spPr>
          <a:xfrm>
            <a:off x="4663440" y="2926080"/>
            <a:ext cx="3931560" cy="822600"/>
          </a:xfrm>
          <a:prstGeom prst="rect">
            <a:avLst/>
          </a:prstGeom>
          <a:solidFill>
            <a:schemeClr val="bg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39" name="Text 12"/>
          <p:cNvSpPr/>
          <p:nvPr/>
        </p:nvSpPr>
        <p:spPr>
          <a:xfrm>
            <a:off x="4754880" y="2971800"/>
            <a:ext cx="374868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dk1"/>
                </a:solidFill>
                <a:effectLst/>
                <a:uFillTx/>
                <a:latin typeface="Calibri"/>
              </a:rPr>
              <a:t>Copied the bash demo file</a:t>
            </a:r>
            <a:endParaRPr lang="en-US" sz="1200" b="0" u="none" strike="noStrike">
              <a:solidFill>
                <a:srgbClr val="000000"/>
              </a:solidFill>
              <a:effectLst/>
              <a:uFillTx/>
              <a:latin typeface="Arial"/>
            </a:endParaRPr>
          </a:p>
        </p:txBody>
      </p:sp>
      <p:sp>
        <p:nvSpPr>
          <p:cNvPr id="440" name="Text 13"/>
          <p:cNvSpPr/>
          <p:nvPr/>
        </p:nvSpPr>
        <p:spPr>
          <a:xfrm>
            <a:off x="4754880" y="3246120"/>
            <a:ext cx="3748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3"/>
                </a:solidFill>
                <a:effectLst/>
                <a:uFillTx/>
                <a:latin typeface="Calibri"/>
              </a:rPr>
              <a:t>bash: tests/run.sh: No such file or directory</a:t>
            </a:r>
            <a:endParaRPr lang="en-US" sz="1200" b="0" u="none" strike="noStrike">
              <a:solidFill>
                <a:srgbClr val="000000"/>
              </a:solidFill>
              <a:effectLst/>
              <a:uFillTx/>
              <a:latin typeface="Arial"/>
            </a:endParaRPr>
          </a:p>
        </p:txBody>
      </p:sp>
      <p:sp>
        <p:nvSpPr>
          <p:cNvPr id="441" name="error row 4"/>
          <p:cNvSpPr/>
          <p:nvPr/>
        </p:nvSpPr>
        <p:spPr>
          <a:xfrm>
            <a:off x="4663440" y="3794760"/>
            <a:ext cx="3931560" cy="822600"/>
          </a:xfrm>
          <a:prstGeom prst="rect">
            <a:avLst/>
          </a:prstGeom>
          <a:solidFill>
            <a:schemeClr val="bg1"/>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42" name="Text 15"/>
          <p:cNvSpPr/>
          <p:nvPr/>
        </p:nvSpPr>
        <p:spPr>
          <a:xfrm>
            <a:off x="4754880" y="3840480"/>
            <a:ext cx="374868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dk1"/>
                </a:solidFill>
                <a:effectLst/>
                <a:uFillTx/>
                <a:latin typeface="Calibri"/>
              </a:rPr>
              <a:t>Nonexistent package</a:t>
            </a:r>
            <a:endParaRPr lang="en-US" sz="1200" b="0" u="none" strike="noStrike">
              <a:solidFill>
                <a:srgbClr val="000000"/>
              </a:solidFill>
              <a:effectLst/>
              <a:uFillTx/>
              <a:latin typeface="Arial"/>
            </a:endParaRPr>
          </a:p>
        </p:txBody>
      </p:sp>
      <p:sp>
        <p:nvSpPr>
          <p:cNvPr id="443" name="Text 16"/>
          <p:cNvSpPr/>
          <p:nvPr/>
        </p:nvSpPr>
        <p:spPr>
          <a:xfrm>
            <a:off x="4754880" y="4114800"/>
            <a:ext cx="3748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3"/>
                </a:solidFill>
                <a:effectLst/>
                <a:uFillTx/>
                <a:latin typeface="Calibri"/>
              </a:rPr>
              <a:t>ERROR: No matching distribution found for &lt;name&gt; (seen locally)</a:t>
            </a:r>
            <a:endParaRPr lang="en-US" sz="1200" b="0" u="none" strike="noStrike">
              <a:solidFill>
                <a:srgbClr val="000000"/>
              </a:solidFill>
              <a:effectLst/>
              <a:uFillTx/>
              <a:latin typeface="Arial"/>
            </a:endParaRPr>
          </a:p>
        </p:txBody>
      </p:sp>
      <p:sp>
        <p:nvSpPr>
          <p:cNvPr id="444" name="PlaceHolder 2"/>
          <p:cNvSpPr>
            <a:spLocks noGrp="1"/>
          </p:cNvSpPr>
          <p:nvPr>
            <p:ph type="sldNum" idx="3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E11ADE2-8297-4855-A4EE-C3F3A1B3DEC9}"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DevOps Terminal">
  <a:themeElements>
    <a:clrScheme name="DevOps Terminal">
      <a:dk1>
        <a:srgbClr val="161B22"/>
      </a:dk1>
      <a:lt1>
        <a:srgbClr val="FFFFFF"/>
      </a:lt1>
      <a:dk2>
        <a:srgbClr val="30363D"/>
      </a:dk2>
      <a:lt2>
        <a:srgbClr val="F3F5F7"/>
      </a:lt2>
      <a:accent1>
        <a:srgbClr val="2EA043"/>
      </a:accent1>
      <a:accent2>
        <a:srgbClr val="B7791F"/>
      </a:accent2>
      <a:accent3>
        <a:srgbClr val="D1242F"/>
      </a:accent3>
      <a:accent4>
        <a:srgbClr val="388BFD"/>
      </a:accent4>
      <a:accent5>
        <a:srgbClr val="8957E5"/>
      </a:accent5>
      <a:accent6>
        <a:srgbClr val="57606A"/>
      </a:accent6>
      <a:hlink>
        <a:srgbClr val="388BFD"/>
      </a:hlink>
      <a:folHlink>
        <a:srgbClr val="8957E5"/>
      </a:folHlink>
    </a:clrScheme>
    <a:fontScheme name="DevOps Terminal">
      <a:majorFont>
        <a:latin typeface="Cambria"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LibreOffice/26.8.1.1$Windows_X86_64 LibreOffice_project/bf6ef2662401c7d6dce671ab4deb26ee0af3a7c1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2026-10-15T01:43:14Z</dcterms:created>
  <dc:creator>Instructor</dc:creator>
  <dc:description/>
  <dc:language>en-US</dc:language>
  <cp:lastModifiedBy/>
  <dcterms:modified xsi:type="dcterms:W3CDTF">2026-10-15T03:53:03Z</dcterms:modified>
  <cp:revision>3</cp:revision>
  <dc:subject>PptxGenJS Presentation</dc:subject>
  <dc:title>DevOps workshop - meeting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35</vt:i4>
  </property>
  <property fmtid="{D5CDD505-2E9C-101B-9397-08002B2CF9AE}" pid="3" name="PresentationFormat">
    <vt:lpwstr>On-screen Show (16:9)</vt:lpwstr>
  </property>
  <property fmtid="{D5CDD505-2E9C-101B-9397-08002B2CF9AE}" pid="4" name="Slides">
    <vt:i4>35</vt:i4>
  </property>
</Properties>
</file>