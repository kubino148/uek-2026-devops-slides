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a5edbd66-7c1b-4add-c8b3-ad88bc12027c}">
          <p14:sldIdLst>
            <p14:sldId id="256"/>
            <p14:sldId id="257"/>
          </p14:sldIdLst>
        </p14:section>
        <p14:section name="First task" id="{cb24ac90-76cc-71d9-abe4-49f2d35029a7}">
          <p14:sldIdLst>
            <p14:sldId id="258"/>
            <p14:sldId id="259"/>
            <p14:sldId id="260"/>
          </p14:sldIdLst>
        </p14:section>
        <p14:section name="The Compose file" id="{68f293c6-8ed2-e328-e21a-139eb1d6f2f1}">
          <p14:sldIdLst>
            <p14:sldId id="261"/>
            <p14:sldId id="262"/>
            <p14:sldId id="263"/>
            <p14:sldId id="264"/>
            <p14:sldId id="265"/>
            <p14:sldId id="266"/>
          </p14:sldIdLst>
        </p14:section>
        <p14:section name="Live demo" id="{fcd0eb03-3cab-ba94-4e23-f23dee4cfe4b}">
          <p14:sldIdLst>
            <p14:sldId id="267"/>
            <p14:sldId id="268"/>
          </p14:sldIdLst>
        </p14:section>
        <p14:section name="Last time" id="{03edd844-de78-c1d5-dcb1-d143f8548649}">
          <p14:sldIdLst>
            <p14:sldId id="269"/>
          </p14:sldIdLst>
        </p14:section>
        <p14:section name="Why it fails here" id="{870acab0-c28d-e859-8492-23e04a4d42f9}">
          <p14:sldIdLst>
            <p14:sldId id="270"/>
            <p14:sldId id="271"/>
          </p14:sldIdLst>
        </p14:section>
        <p14:section name="Publish" id="{a2b25892-d7ef-7da2-8ba3-bf162213a69f}">
          <p14:sldIdLst>
            <p14:sldId id="272"/>
          </p14:sldIdLst>
        </p14:section>
        <p14:section name="Start" id="{e51352ab-677e-9092-e2f4-fb3f1f95f1fb}">
          <p14:sldIdLst>
            <p14:sldId id="273"/>
            <p14:sldId id="274"/>
            <p14:sldId id="275"/>
            <p14:sldId id="276"/>
          </p14:sldIdLst>
        </p14:section>
        <p14:section name="Step 1" id="{ffb58504-438c-8d0c-da25-75254211d051}">
          <p14:sldIdLst>
            <p14:sldId id="277"/>
            <p14:sldId id="278"/>
            <p14:sldId id="279"/>
            <p14:sldId id="280"/>
          </p14:sldIdLst>
        </p14:section>
        <p14:section name="Step 2" id="{718ce482-0ee5-4413-78d5-1ffe914582e2}">
          <p14:sldIdLst>
            <p14:sldId id="281"/>
            <p14:sldId id="282"/>
            <p14:sldId id="283"/>
          </p14:sldIdLst>
        </p14:section>
        <p14:section name="Step 3" id="{14292353-c8d2-58b6-3df2-2b7b71e4deb5}">
          <p14:sldIdLst>
            <p14:sldId id="284"/>
            <p14:sldId id="285"/>
            <p14:sldId id="286"/>
            <p14:sldId id="287"/>
          </p14:sldIdLst>
        </p14:section>
        <p14:section name="Two more tasks" id="{1d405e5e-09e0-141c-0ec1-a028c763c70a}">
          <p14:sldIdLst>
            <p14:sldId id="288"/>
            <p14:sldId id="289"/>
          </p14:sldIdLst>
        </p14:section>
        <p14:section name="Wrap up" id="{f5c09e93-38f9-42b3-2530-6ea3f5c0847e}">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Stays up for the whole setup. Say: "Nobody compares, everyone copies." The next slide, Copy these four files, lists the four paths. Client is the command you type, Server is the engine that does the work. At 0:05: "Who has both Dockerfiles in the repo and sees both Client and Server in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hands that stay down. Say: "If you missed last time, copy the four files now. At the first checkpoint you will have no run to count." If your repo has no ci.yml, say once that it comes from the README of kubino148/tasks-app-reference.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0:05, alone for about 2 minutes. The run is read later, at the checkpoint in the block The Compose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0:07, b at 0:08, c and d together at 0:09. Ask informally: "What is the matrix doing in generate_api_docs?"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0:11. Say: "I explain the file for two minutes. If yours is red, read the failing line and keep going; I come in the Slack before the break." Explain the matrix line and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block per service, one command.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name you give the key is the name of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web is built, db is pulled (downloaded from a registry); you will see both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quote it, as in the slide. Ask: "In your docker run -p line from last time, which number was the Codespace side?" Expected: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container reads them; the app decides what they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db is Postgres, web stores visits there; PGHOST: db means "the service called db". Checkpoint at 0:19: "Whose build_images run is green?" Then: "Which name goes in the URL when web asks for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say: "db is a Postgres database; web stores its visit count there; PGHOST is where web looks for it." Ask BEFORE the first run; take two answers and say nothing. Then the projector goes to the Codespace.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Stays up while you run the demo. Say: "Postgres needs a moment before it takes connections. I wait for it." Do not open the page until the line listening on IPv4 address "0.0.0.0" and the ready line after it; then Ctrl+C in that terminal. Ask: "What does the readiness line tell us about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what you saw last time: the commands were right and normalized stayed false, the same failure as in the demo. If you missed last time: this is how two containers were joined by hand. Ask: "What did you have to get right in those two lines?" Then: "If yours stayed false even with the right commands, that is the cause I explain next." Whose job is it to know where title-normalizer is? One file will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spoken as written. Say nothing about where the DROP comes from or why Docker adds no rules. Then: "The command changes the default to ACCEPT." Then: "For a throwaway dev environment, not something to copy onto a server." Only if a student asks "is it DNS?": names still resolve; only the connection is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runs both lines; you run them in the demo Codespace and reload. The first command prints nothing; the check prints -P FORWARD ACCEPT (before the fix it printed -P FORWARD DROP). Say: "One command per Codespace: a new Codespace needs it again." Checkpoint: "Who has run the command and sees ACCEPT in the first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spoken. Registry: where images are stored; ours is ghcr.io. One line each: registry, owner (lowercase in an image name), name, tag. A tag names a version; in the task it is the commit. Then the three commands, one plain line each. Say: "In a workflow the login uses the token of the run, so there is no password to type." GitHub gives every run its own temporary token. Ask: "Why is the commit a better tag than latest?" Last slide of the talk. After the slack, at 0:45 say exactly: "Break. Keep this Codespace, do not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of the hands-on. About 15 seconds. Say: "The next step appears on screen after the checkpoint." Early-finisher line: "If you are done early, start the next step. If you finish everything, say aloud what each line of your compose.yaml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help rule. Say the docs pages: "Compose file reference", "docker compose up", "Working with the Container registry". Say: "Paste only what you can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red run is information. Where to read: the last lines of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to follow. Your services are other ones. About 15 seconds, then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0:51, alone for 3 minutes. Say once, after they saw it: the first build downloads the base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0:54, b at 0:55 (ask first: "Which key tells Compose where the Dockerfile is?"), c at 0:56, d at 0:57, e and f together at 0:58. Then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0:59.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1:00. Read it top to bottom: a service per folder, build:, ports:. Checkpoint at 1:03: "Who sees two running services in docker compose 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1:03, alone for 2 minutes. Say: a wrong result is silent: HTTP 201 and normalized false; look at that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1:05, b at 1:06, c and d together at 1:07, e and f together at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1:09. Checkpoint at 1:10: "Who sees normalized true?" Then the next slide, Step 3: it is always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1:10, alone for 2 minutes. The slide Publish to a registry defined registry, image name and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1:10 the requirement alone for 2 minutes, then a at 1:12 (name the docs sections: "Authenticating in a GitHub Actions workflow", "Building container images", "Pushing container images"), b at 1:13 (ask first: "What does packages: write allow?"), c at 1:14, d at 1:15, e at 1:16, f and g together at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1:18, about 2 minutes; never go Back to the hints.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1:20. Read it: needs; the if says it runs only for a push (the on: block already limits push to main; a pull request run tests but does not publish); permissions, login, the lowercase owner, the tag. Say: "needs build_images: copy the first-task job above it if you have none." Say: "Start from your build_images job: copy it, then change it; do not retype the matrix and checkout." Say why: --password-stdin keeps the token out of the process list and the shell history; the pipe at the end of a line continues the command; without ${{ }} it is plain text, not the value; the label is explicit, and the docs say a workflow publish with GITHUB_TOKEN also links the repository automatically (docs: "Labelling container images"). Checkpoints: at 1:22 "Who has pushed to main?"; at 1:25, in the slack, of those who pushed before 1:20: "Who sees their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"Keep your Codespace until the end." Shown only if time remains; otherwise never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"Try each hint before the next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push sends compose.yaml and is also the run of Step 3 if you did not push ci.yml yet; if your ci.yml is half written, do not push it. A run still going finishes without you; the Packages tab shows the result afterwards, nothing to hand in. docker compose down takes a moment: we will just wait. Stop the Codespace, sign out of GitHub on the lab 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3F5F7"/>
                </a:solidFill>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1B2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sp>
      <p:sp>
        <p:nvSpPr>
          <p:cNvPr id="3" name="Text 1"/>
          <p:cNvSpPr/>
          <p:nvPr>
            <p:ph idx="101" type="title" hasCustomPrompt="1"/>
          </p:nvPr>
        </p:nvSpPr>
        <p:spPr>
          <a:xfrm>
            <a:off x="548640" y="320040"/>
            <a:ext cx="804672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3F5F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Start here</a:t>
            </a:r>
            <a:endParaRPr lang="en-US" sz="3400" dirty="0"/>
          </a:p>
        </p:txBody>
      </p:sp>
      <p:sp>
        <p:nvSpPr>
          <p:cNvPr id="4" name="step 1 circle"/>
          <p:cNvSpPr/>
          <p:nvPr/>
        </p:nvSpPr>
        <p:spPr>
          <a:xfrm>
            <a:off x="548640" y="1323045"/>
            <a:ext cx="457200" cy="457200"/>
          </a:xfrm>
          <a:prstGeom prst="ellipse">
            <a:avLst/>
          </a:prstGeom>
          <a:solidFill>
            <a:schemeClr val="accent1"/>
          </a:solidFill>
          <a:ln/>
        </p:spPr>
      </p:sp>
      <p:sp>
        <p:nvSpPr>
          <p:cNvPr id="5" name="step 1 letter"/>
          <p:cNvSpPr txBox="1"/>
          <p:nvPr/>
        </p:nvSpPr>
        <p:spPr>
          <a:xfrm>
            <a:off x="548640" y="1323045"/>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143000"/>
            <a:ext cx="7360920" cy="817291"/>
          </a:xfrm>
          <a:prstGeom prst="rect">
            <a:avLst/>
          </a:prstGeom>
          <a:noFill/>
          <a:ln/>
        </p:spPr>
        <p:txBody>
          <a:bodyPr wrap="square" lIns="0" tIns="0" rIns="0" bIns="0" rtlCol="0" anchor="ctr"/>
          <a:lstStyle/>
          <a:p>
            <a:pPr indent="0" marL="0">
              <a:buNone/>
            </a:pPr>
            <a:r>
              <a:rPr lang="en-US" sz="2400" b="1" dirty="0">
                <a:solidFill>
                  <a:srgbClr val="000000"/>
                </a:solidFill>
              </a:rPr>
              <a:t>If you missed last time, copy whole files from </a:t>
            </a:r>
            <a:pPr indent="0" marL="0">
              <a:buNone/>
            </a:pPr>
            <a:r>
              <a:rPr lang="en-US" sz="2400" b="1" dirty="0">
                <a:solidFill>
                  <a:srgbClr val="000000"/>
                </a:solidFill>
                <a:latin typeface="Courier New" pitchFamily="34" charset="0"/>
                <a:ea typeface="Courier New" pitchFamily="34" charset="-122"/>
                <a:cs typeface="Courier New" pitchFamily="34" charset="-120"/>
              </a:rPr>
              <a:t>kubino148/tasks-app-reference</a:t>
            </a:r>
            <a:pPr indent="0" marL="0">
              <a:buNone/>
            </a:pPr>
            <a:r>
              <a:rPr lang="en-US" sz="2400" b="1" dirty="0">
                <a:solidFill>
                  <a:srgbClr val="000000"/>
                </a:solidFill>
              </a:rPr>
              <a:t>.</a:t>
            </a:r>
            <a:endParaRPr lang="en-US" sz="2400" dirty="0"/>
          </a:p>
        </p:txBody>
      </p:sp>
      <p:sp>
        <p:nvSpPr>
          <p:cNvPr id="7" name="step 2 circle"/>
          <p:cNvSpPr/>
          <p:nvPr/>
        </p:nvSpPr>
        <p:spPr>
          <a:xfrm>
            <a:off x="548640" y="2106595"/>
            <a:ext cx="457200" cy="457200"/>
          </a:xfrm>
          <a:prstGeom prst="ellipse">
            <a:avLst/>
          </a:prstGeom>
          <a:solidFill>
            <a:schemeClr val="accent1"/>
          </a:solidFill>
          <a:ln/>
        </p:spPr>
      </p:sp>
      <p:sp>
        <p:nvSpPr>
          <p:cNvPr id="8" name="step 2 letter"/>
          <p:cNvSpPr txBox="1"/>
          <p:nvPr/>
        </p:nvSpPr>
        <p:spPr>
          <a:xfrm>
            <a:off x="548640" y="2106595"/>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088307"/>
            <a:ext cx="7360920" cy="493776"/>
          </a:xfrm>
          <a:prstGeom prst="rect">
            <a:avLst/>
          </a:prstGeom>
          <a:noFill/>
          <a:ln/>
        </p:spPr>
        <p:txBody>
          <a:bodyPr wrap="square" lIns="0" tIns="0" rIns="0" bIns="0" rtlCol="0" anchor="ctr"/>
          <a:lstStyle/>
          <a:p>
            <a:pPr indent="0" marL="0">
              <a:buNone/>
            </a:pPr>
            <a:r>
              <a:rPr lang="en-US" sz="2400" b="1" dirty="0">
                <a:solidFill>
                  <a:srgbClr val="000000"/>
                </a:solidFill>
              </a:rPr>
              <a:t>Open a Codespace on </a:t>
            </a:r>
            <a:pPr indent="0" marL="0">
              <a:buNone/>
            </a:pPr>
            <a:r>
              <a:rPr lang="en-US" sz="2400" b="1" dirty="0">
                <a:solidFill>
                  <a:srgbClr val="000000"/>
                </a:solidFill>
                <a:latin typeface="Courier New" pitchFamily="34" charset="0"/>
                <a:ea typeface="Courier New" pitchFamily="34" charset="-122"/>
                <a:cs typeface="Courier New" pitchFamily="34" charset="-120"/>
              </a:rPr>
              <a:t>main</a:t>
            </a:r>
            <a:pPr indent="0" marL="0">
              <a:buNone/>
            </a:pPr>
            <a:r>
              <a:rPr lang="en-US" sz="2400" b="1" dirty="0">
                <a:solidFill>
                  <a:srgbClr val="000000"/>
                </a:solidFill>
              </a:rPr>
              <a:t>.</a:t>
            </a:r>
            <a:endParaRPr lang="en-US" sz="2400" dirty="0"/>
          </a:p>
        </p:txBody>
      </p:sp>
      <p:sp>
        <p:nvSpPr>
          <p:cNvPr id="10" name="step 3 circle"/>
          <p:cNvSpPr/>
          <p:nvPr/>
        </p:nvSpPr>
        <p:spPr>
          <a:xfrm>
            <a:off x="548640" y="3075859"/>
            <a:ext cx="457200" cy="457200"/>
          </a:xfrm>
          <a:prstGeom prst="ellipse">
            <a:avLst/>
          </a:prstGeom>
          <a:solidFill>
            <a:schemeClr val="accent1"/>
          </a:solidFill>
          <a:ln/>
        </p:spPr>
      </p:sp>
      <p:sp>
        <p:nvSpPr>
          <p:cNvPr id="11" name="step 3 letter"/>
          <p:cNvSpPr txBox="1"/>
          <p:nvPr/>
        </p:nvSpPr>
        <p:spPr>
          <a:xfrm>
            <a:off x="548640" y="3075859"/>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2710099"/>
            <a:ext cx="7360920" cy="274320"/>
          </a:xfrm>
          <a:prstGeom prst="rect">
            <a:avLst/>
          </a:prstGeom>
          <a:noFill/>
          <a:ln/>
        </p:spPr>
        <p:txBody>
          <a:bodyPr wrap="square" lIns="0" tIns="0" rIns="0" bIns="0" rtlCol="0" anchor="ctr"/>
          <a:lstStyle/>
          <a:p>
            <a:pPr indent="0" marL="0">
              <a:buNone/>
            </a:pPr>
            <a:r>
              <a:rPr lang="en-US" sz="1600" b="1" dirty="0">
                <a:solidFill>
                  <a:schemeClr val="accent6"/>
                </a:solidFill>
              </a:rPr>
              <a:t>Run:</a:t>
            </a:r>
            <a:endParaRPr lang="en-US" sz="1600" dirty="0"/>
          </a:p>
        </p:txBody>
      </p:sp>
      <p:sp>
        <p:nvSpPr>
          <p:cNvPr id="13" name="command 3"/>
          <p:cNvSpPr/>
          <p:nvPr/>
        </p:nvSpPr>
        <p:spPr>
          <a:xfrm>
            <a:off x="1234440" y="3020995"/>
            <a:ext cx="7360920" cy="566928"/>
          </a:xfrm>
          <a:prstGeom prst="roundRect">
            <a:avLst>
              <a:gd name="adj" fmla="val 12903"/>
            </a:avLst>
          </a:prstGeom>
          <a:solidFill>
            <a:schemeClr val="tx1"/>
          </a:solidFill>
          <a:ln/>
        </p:spPr>
      </p:sp>
      <p:sp>
        <p:nvSpPr>
          <p:cNvPr id="14" name="code"/>
          <p:cNvSpPr txBox="1"/>
          <p:nvPr/>
        </p:nvSpPr>
        <p:spPr>
          <a:xfrm>
            <a:off x="1399032" y="3103291"/>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version</a:t>
            </a:r>
            <a:endParaRPr lang="en-US" sz="2000" dirty="0"/>
          </a:p>
        </p:txBody>
      </p:sp>
      <p:sp>
        <p:nvSpPr>
          <p:cNvPr id="15" name="step 4 circle"/>
          <p:cNvSpPr/>
          <p:nvPr/>
        </p:nvSpPr>
        <p:spPr>
          <a:xfrm>
            <a:off x="548640" y="3895984"/>
            <a:ext cx="457200" cy="457200"/>
          </a:xfrm>
          <a:prstGeom prst="ellipse">
            <a:avLst/>
          </a:prstGeom>
          <a:solidFill>
            <a:schemeClr val="accent1"/>
          </a:solidFill>
          <a:ln/>
        </p:spPr>
      </p:sp>
      <p:sp>
        <p:nvSpPr>
          <p:cNvPr id="16" name="step 4 letter"/>
          <p:cNvSpPr txBox="1"/>
          <p:nvPr/>
        </p:nvSpPr>
        <p:spPr>
          <a:xfrm>
            <a:off x="548640" y="3895984"/>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4"/>
          <p:cNvSpPr txBox="1"/>
          <p:nvPr/>
        </p:nvSpPr>
        <p:spPr>
          <a:xfrm>
            <a:off x="1234440" y="3715939"/>
            <a:ext cx="7360920" cy="817291"/>
          </a:xfrm>
          <a:prstGeom prst="rect">
            <a:avLst/>
          </a:prstGeom>
          <a:noFill/>
          <a:ln/>
        </p:spPr>
        <p:txBody>
          <a:bodyPr wrap="square" lIns="0" tIns="0" rIns="0" bIns="0" rtlCol="0" anchor="ctr"/>
          <a:lstStyle/>
          <a:p>
            <a:pPr indent="0" marL="0">
              <a:buNone/>
            </a:pPr>
            <a:r>
              <a:rPr lang="en-US" sz="2400" b="1" dirty="0">
                <a:solidFill>
                  <a:srgbClr val="000000"/>
                </a:solidFill>
              </a:rPr>
              <a:t>Open </a:t>
            </a:r>
            <a:pPr indent="0" marL="0">
              <a:buNone/>
            </a:pPr>
            <a:r>
              <a:rPr lang="en-US" sz="2400" b="1" dirty="0">
                <a:solidFill>
                  <a:srgbClr val="000000"/>
                </a:solidFill>
                <a:latin typeface="Courier New" pitchFamily="34" charset="0"/>
                <a:ea typeface="Courier New" pitchFamily="34" charset="-122"/>
                <a:cs typeface="Courier New" pitchFamily="34" charset="-120"/>
              </a:rPr>
              <a:t>services/</a:t>
            </a:r>
            <a:pPr indent="0" marL="0">
              <a:buNone/>
            </a:pPr>
            <a:r>
              <a:rPr lang="en-US" sz="2400" b="1" dirty="0">
                <a:solidFill>
                  <a:srgbClr val="000000"/>
                </a:solidFill>
              </a:rPr>
              <a:t>. Does each service have a </a:t>
            </a:r>
            <a:pPr indent="0" marL="0">
              <a:buNone/>
            </a:pPr>
            <a:r>
              <a:rPr lang="en-US" sz="2400" b="1" dirty="0">
                <a:solidFill>
                  <a:srgbClr val="000000"/>
                </a:solidFill>
                <a:latin typeface="Courier New" pitchFamily="34" charset="0"/>
                <a:ea typeface="Courier New" pitchFamily="34" charset="-122"/>
                <a:cs typeface="Courier New" pitchFamily="34" charset="-120"/>
              </a:rPr>
              <a:t>Dockerfile</a:t>
            </a:r>
            <a:pPr indent="0" marL="0">
              <a:buNone/>
            </a:pPr>
            <a:r>
              <a:rPr lang="en-US" sz="2400" b="1" dirty="0">
                <a:solidFill>
                  <a:srgbClr val="000000"/>
                </a:solidFill>
              </a:rPr>
              <a:t>?</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Copy these four files</a:t>
            </a:r>
            <a:endParaRPr lang="en-US" sz="3400" dirty="0"/>
          </a:p>
        </p:txBody>
      </p:sp>
      <p:sp>
        <p:nvSpPr>
          <p:cNvPr id="4" name="question banner"/>
          <p:cNvSpPr/>
          <p:nvPr/>
        </p:nvSpPr>
        <p:spPr>
          <a:xfrm>
            <a:off x="320040" y="1005840"/>
            <a:ext cx="8503920" cy="457200"/>
          </a:xfrm>
          <a:prstGeom prst="roundRect">
            <a:avLst>
              <a:gd name="adj" fmla="val 16000"/>
            </a:avLst>
          </a:prstGeom>
          <a:solidFill>
            <a:schemeClr val="tx1"/>
          </a:solidFill>
          <a:ln/>
        </p:spPr>
      </p:sp>
      <p:sp>
        <p:nvSpPr>
          <p:cNvPr id="5" name="Text 2"/>
          <p:cNvSpPr txBox="1"/>
          <p:nvPr/>
        </p:nvSpPr>
        <p:spPr>
          <a:xfrm>
            <a:off x="548640" y="1005840"/>
            <a:ext cx="8046720" cy="457200"/>
          </a:xfrm>
          <a:prstGeom prst="rect">
            <a:avLst/>
          </a:prstGeom>
          <a:noFill/>
          <a:ln/>
        </p:spPr>
        <p:txBody>
          <a:bodyPr wrap="square" lIns="0" tIns="0" rIns="0" bIns="0" rtlCol="0" anchor="ctr"/>
          <a:lstStyle/>
          <a:p>
            <a:pPr indent="0" marL="0">
              <a:buNone/>
            </a:pPr>
            <a:r>
              <a:rPr lang="en-US" sz="2000" b="1" dirty="0">
                <a:solidFill>
                  <a:srgbClr val="E3B341"/>
                </a:solidFill>
              </a:rPr>
              <a:t>Whole files from </a:t>
            </a:r>
            <a:pPr indent="0" marL="0">
              <a:buNone/>
            </a:pPr>
            <a:r>
              <a:rPr lang="en-US" sz="2000" b="1" dirty="0">
                <a:solidFill>
                  <a:srgbClr val="E3B341"/>
                </a:solidFill>
                <a:latin typeface="Courier New" pitchFamily="34" charset="0"/>
                <a:ea typeface="Courier New" pitchFamily="34" charset="-122"/>
                <a:cs typeface="Courier New" pitchFamily="34" charset="-120"/>
              </a:rPr>
              <a:t>kubino148/tasks-app-reference</a:t>
            </a:r>
            <a:pPr indent="0" marL="0">
              <a:buNone/>
            </a:pPr>
            <a:r>
              <a:rPr lang="en-US" sz="2000" b="1" dirty="0">
                <a:solidFill>
                  <a:srgbClr val="E3B341"/>
                </a:solidFill>
              </a:rPr>
              <a:t>:</a:t>
            </a:r>
            <a:endParaRPr lang="en-US" sz="2000" dirty="0"/>
          </a:p>
        </p:txBody>
      </p:sp>
      <p:sp>
        <p:nvSpPr>
          <p:cNvPr id="6" name="code panel"/>
          <p:cNvSpPr/>
          <p:nvPr/>
        </p:nvSpPr>
        <p:spPr>
          <a:xfrm>
            <a:off x="320040" y="1554480"/>
            <a:ext cx="8503920" cy="2103120"/>
          </a:xfrm>
          <a:prstGeom prst="roundRect">
            <a:avLst>
              <a:gd name="adj" fmla="val 3478"/>
            </a:avLst>
          </a:prstGeom>
          <a:solidFill>
            <a:schemeClr val="tx1"/>
          </a:solidFill>
          <a:ln/>
        </p:spPr>
      </p:sp>
      <p:sp>
        <p:nvSpPr>
          <p:cNvPr id="7" name="code"/>
          <p:cNvSpPr txBox="1"/>
          <p:nvPr/>
        </p:nvSpPr>
        <p:spPr>
          <a:xfrm>
            <a:off x="429768" y="1636776"/>
            <a:ext cx="8284464" cy="1938528"/>
          </a:xfrm>
          <a:prstGeom prst="rect">
            <a:avLst/>
          </a:prstGeom>
          <a:noFill/>
          <a:ln/>
        </p:spPr>
        <p:txBody>
          <a:bodyPr wrap="square" lIns="0" tIns="0" rIns="0" bIns="0" rtlCol="0" anchor="t"/>
          <a:lstStyle/>
          <a:p>
            <a:pPr indent="0" marL="0">
              <a:lnSpc>
                <a:spcPts val="3600"/>
              </a:lnSpc>
              <a:buNone/>
            </a:pPr>
            <a:r>
              <a:rPr lang="en-US" sz="2000" dirty="0">
                <a:solidFill>
                  <a:schemeClr val="bg2"/>
                </a:solidFill>
                <a:latin typeface="Courier New" pitchFamily="34" charset="0"/>
                <a:ea typeface="Courier New" pitchFamily="34" charset="-122"/>
                <a:cs typeface="Courier New" pitchFamily="34" charset="-120"/>
              </a:rPr>
              <a:t>services/tasks-api/Dockerfile</a:t>
            </a:r>
            <a:endParaRPr lang="en-US" sz="2000" dirty="0"/>
          </a:p>
          <a:p>
            <a:pPr indent="0" marL="0">
              <a:lnSpc>
                <a:spcPts val="3600"/>
              </a:lnSpc>
              <a:buNone/>
            </a:pPr>
            <a:r>
              <a:rPr lang="en-US" sz="2000" dirty="0">
                <a:solidFill>
                  <a:schemeClr val="bg2"/>
                </a:solidFill>
                <a:latin typeface="Courier New" pitchFamily="34" charset="0"/>
                <a:ea typeface="Courier New" pitchFamily="34" charset="-122"/>
                <a:cs typeface="Courier New" pitchFamily="34" charset="-120"/>
              </a:rPr>
              <a:t>services/tasks-api/.dockerignore</a:t>
            </a:r>
            <a:endParaRPr lang="en-US" sz="2000" dirty="0"/>
          </a:p>
          <a:p>
            <a:pPr indent="0" marL="0">
              <a:lnSpc>
                <a:spcPts val="3600"/>
              </a:lnSpc>
              <a:buNone/>
            </a:pPr>
            <a:r>
              <a:rPr lang="en-US" sz="2000" dirty="0">
                <a:solidFill>
                  <a:schemeClr val="bg2"/>
                </a:solidFill>
                <a:latin typeface="Courier New" pitchFamily="34" charset="0"/>
                <a:ea typeface="Courier New" pitchFamily="34" charset="-122"/>
                <a:cs typeface="Courier New" pitchFamily="34" charset="-120"/>
              </a:rPr>
              <a:t>services/title-normalizer/Dockerfile</a:t>
            </a:r>
            <a:endParaRPr lang="en-US" sz="2000" dirty="0"/>
          </a:p>
          <a:p>
            <a:pPr indent="0" marL="0">
              <a:lnSpc>
                <a:spcPts val="3600"/>
              </a:lnSpc>
              <a:buNone/>
            </a:pPr>
            <a:r>
              <a:rPr lang="en-US" sz="2000" dirty="0">
                <a:solidFill>
                  <a:schemeClr val="bg2"/>
                </a:solidFill>
                <a:latin typeface="Courier New" pitchFamily="34" charset="0"/>
                <a:ea typeface="Courier New" pitchFamily="34" charset="-122"/>
                <a:cs typeface="Courier New" pitchFamily="34" charset="-120"/>
              </a:rPr>
              <a:t>services/title-normalizer/.dockerignore</a:t>
            </a:r>
            <a:endParaRPr lang="en-US" sz="2000" dirty="0"/>
          </a:p>
        </p:txBody>
      </p:sp>
      <p:sp>
        <p:nvSpPr>
          <p:cNvPr id="8" name="Text 5"/>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First task</a:t>
            </a:r>
            <a:endParaRPr lang="en-US" sz="3400" dirty="0"/>
          </a:p>
        </p:txBody>
      </p:sp>
      <p:sp>
        <p:nvSpPr>
          <p:cNvPr id="4" name="requirement"/>
          <p:cNvSpPr/>
          <p:nvPr/>
        </p:nvSpPr>
        <p:spPr>
          <a:xfrm>
            <a:off x="548640" y="1280160"/>
            <a:ext cx="8046720" cy="2743200"/>
          </a:xfrm>
          <a:prstGeom prst="roundRect">
            <a:avLst>
              <a:gd name="adj" fmla="val 2667"/>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2743200"/>
          </a:xfrm>
          <a:prstGeom prst="rect">
            <a:avLst/>
          </a:prstGeom>
          <a:solidFill>
            <a:schemeClr val="accent1"/>
          </a:solidFill>
          <a:ln/>
        </p:spPr>
      </p:sp>
      <p:sp>
        <p:nvSpPr>
          <p:cNvPr id="6" name="Text 3"/>
          <p:cNvSpPr txBox="1"/>
          <p:nvPr/>
        </p:nvSpPr>
        <p:spPr>
          <a:xfrm>
            <a:off x="914400" y="1371600"/>
            <a:ext cx="7498080" cy="2560320"/>
          </a:xfrm>
          <a:prstGeom prst="rect">
            <a:avLst/>
          </a:prstGeom>
          <a:noFill/>
          <a:ln/>
        </p:spPr>
        <p:txBody>
          <a:bodyPr wrap="square" lIns="0" tIns="0" rIns="0" bIns="0" rtlCol="0" anchor="ctr"/>
          <a:lstStyle/>
          <a:p>
            <a:pPr indent="0" marL="0">
              <a:spcAft>
                <a:spcPts val="800"/>
              </a:spcAft>
              <a:buNone/>
            </a:pPr>
            <a:r>
              <a:rPr lang="en-US" sz="2600" dirty="0">
                <a:solidFill>
                  <a:schemeClr val="tx1"/>
                </a:solidFill>
              </a:rPr>
              <a:t>Add a job </a:t>
            </a:r>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build_images</a:t>
            </a:r>
            <a:pPr indent="0" marL="0">
              <a:spcAft>
                <a:spcPts val="800"/>
              </a:spcAft>
              <a:buNone/>
            </a:pPr>
            <a:r>
              <a:rPr lang="en-US" sz="2600" dirty="0">
                <a:solidFill>
                  <a:schemeClr val="tx1"/>
                </a:solidFill>
              </a:rPr>
              <a:t> to </a:t>
            </a:r>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.github/workflows/ci.yml</a:t>
            </a:r>
            <a:pPr indent="0" marL="0">
              <a:spcAft>
                <a:spcPts val="800"/>
              </a:spcAft>
              <a:buNone/>
            </a:pPr>
            <a:r>
              <a:rPr lang="en-US" sz="2600" dirty="0">
                <a:solidFill>
                  <a:schemeClr val="tx1"/>
                </a:solidFill>
              </a:rPr>
              <a:t>.</a:t>
            </a:r>
            <a:endParaRPr lang="en-US" sz="2600" dirty="0"/>
          </a:p>
          <a:p>
            <a:pPr indent="0" marL="0">
              <a:spcAft>
                <a:spcPts val="800"/>
              </a:spcAft>
              <a:buNone/>
            </a:pPr>
            <a:r>
              <a:rPr lang="en-US" sz="2600" dirty="0">
                <a:solidFill>
                  <a:schemeClr val="tx1"/>
                </a:solidFill>
              </a:rPr>
              <a:t>A matrix over both services. </a:t>
            </a:r>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docker build</a:t>
            </a:r>
            <a:pPr indent="0" marL="0">
              <a:spcAft>
                <a:spcPts val="800"/>
              </a:spcAft>
              <a:buNone/>
            </a:pPr>
            <a:r>
              <a:rPr lang="en-US" sz="2600" dirty="0">
                <a:solidFill>
                  <a:schemeClr val="tx1"/>
                </a:solidFill>
              </a:rPr>
              <a:t> each one. It only builds.</a:t>
            </a:r>
            <a:endParaRPr lang="en-US" sz="2600" dirty="0"/>
          </a:p>
          <a:p>
            <a:pPr indent="0" marL="0">
              <a:buNone/>
            </a:pPr>
            <a:r>
              <a:rPr lang="en-US" sz="2600" dirty="0">
                <a:solidFill>
                  <a:schemeClr val="tx1"/>
                </a:solidFill>
              </a:rPr>
              <a:t>Commit and push to </a:t>
            </a:r>
            <a:pPr indent="0" marL="0">
              <a:buNone/>
            </a:pPr>
            <a:r>
              <a:rPr lang="en-US" sz="2600" dirty="0">
                <a:solidFill>
                  <a:schemeClr val="tx1"/>
                </a:solidFill>
                <a:latin typeface="Courier New" pitchFamily="34" charset="0"/>
                <a:ea typeface="Courier New" pitchFamily="34" charset="-122"/>
                <a:cs typeface="Courier New" pitchFamily="34" charset="-120"/>
              </a:rPr>
              <a:t>main</a:t>
            </a:r>
            <a:pPr indent="0" marL="0">
              <a:buNone/>
            </a:pPr>
            <a:r>
              <a:rPr lang="en-US" sz="2600" dirty="0">
                <a:solidFill>
                  <a:schemeClr val="tx1"/>
                </a:solidFill>
              </a:rPr>
              <a:t>.</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First task: hints</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rPr>
              <a:t>Job </a:t>
            </a:r>
            <a:pPr indent="0" marL="0">
              <a:buNone/>
            </a:pPr>
            <a:r>
              <a:rPr lang="en-US" sz="1600" b="1" dirty="0">
                <a:solidFill>
                  <a:schemeClr val="bg1"/>
                </a:solidFill>
                <a:latin typeface="Courier New" pitchFamily="34" charset="0"/>
                <a:ea typeface="Courier New" pitchFamily="34" charset="-122"/>
                <a:cs typeface="Courier New" pitchFamily="34" charset="-120"/>
              </a:rPr>
              <a:t>build_images</a:t>
            </a:r>
            <a:pPr indent="0" marL="0">
              <a:buNone/>
            </a:pPr>
            <a:r>
              <a:rPr lang="en-US" sz="1600" b="1" dirty="0">
                <a:solidFill>
                  <a:schemeClr val="bg1"/>
                </a:solidFill>
              </a:rPr>
              <a:t> in </a:t>
            </a:r>
            <a:pPr indent="0" marL="0">
              <a:buNone/>
            </a:pPr>
            <a:r>
              <a:rPr lang="en-US" sz="1600" b="1" dirty="0">
                <a:solidFill>
                  <a:schemeClr val="bg1"/>
                </a:solidFill>
                <a:latin typeface="Courier New" pitchFamily="34" charset="0"/>
                <a:ea typeface="Courier New" pitchFamily="34" charset="-122"/>
                <a:cs typeface="Courier New" pitchFamily="34" charset="-120"/>
              </a:rPr>
              <a:t>ci.yml</a:t>
            </a:r>
            <a:pPr indent="0" marL="0">
              <a:buNone/>
            </a:pPr>
            <a:r>
              <a:rPr lang="en-US" sz="1600" b="1" dirty="0">
                <a:solidFill>
                  <a:schemeClr val="bg1"/>
                </a:solidFill>
              </a:rPr>
              <a:t>, pushed to </a:t>
            </a:r>
            <a:pPr indent="0" marL="0">
              <a:buNone/>
            </a:pPr>
            <a:r>
              <a:rPr lang="en-US" sz="1600" b="1" dirty="0">
                <a:solidFill>
                  <a:schemeClr val="bg1"/>
                </a:solidFill>
                <a:latin typeface="Courier New" pitchFamily="34" charset="0"/>
                <a:ea typeface="Courier New" pitchFamily="34" charset="-122"/>
                <a:cs typeface="Courier New" pitchFamily="34" charset="-120"/>
              </a:rPr>
              <a:t>main</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729359"/>
            <a:ext cx="329184" cy="329184"/>
          </a:xfrm>
          <a:prstGeom prst="ellipse">
            <a:avLst/>
          </a:prstGeom>
          <a:solidFill>
            <a:schemeClr val="accent2"/>
          </a:solidFill>
          <a:ln/>
        </p:spPr>
      </p:sp>
      <p:sp>
        <p:nvSpPr>
          <p:cNvPr id="8" name="hint a letter"/>
          <p:cNvSpPr txBox="1"/>
          <p:nvPr/>
        </p:nvSpPr>
        <p:spPr>
          <a:xfrm>
            <a:off x="640080" y="1729359"/>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825246"/>
          </a:xfrm>
          <a:prstGeom prst="rect">
            <a:avLst/>
          </a:prstGeom>
          <a:noFill/>
          <a:ln/>
        </p:spPr>
        <p:txBody>
          <a:bodyPr wrap="square" lIns="0" tIns="0" rIns="0" bIns="0" rtlCol="0" anchor="ctr"/>
          <a:lstStyle/>
          <a:p>
            <a:pPr indent="0" marL="0">
              <a:buNone/>
            </a:pPr>
            <a:r>
              <a:rPr lang="en-US" sz="1800" dirty="0">
                <a:solidFill>
                  <a:schemeClr val="tx1"/>
                </a:solidFill>
              </a:rPr>
              <a:t>Copy </a:t>
            </a:r>
            <a:pPr indent="0" marL="0">
              <a:buNone/>
            </a:pPr>
            <a:r>
              <a:rPr lang="en-US" sz="1800" dirty="0">
                <a:solidFill>
                  <a:schemeClr val="tx1"/>
                </a:solidFill>
                <a:latin typeface="Courier New" pitchFamily="34" charset="0"/>
                <a:ea typeface="Courier New" pitchFamily="34" charset="-122"/>
                <a:cs typeface="Courier New" pitchFamily="34" charset="-120"/>
              </a:rPr>
              <a:t>generate_api_docs</a:t>
            </a:r>
            <a:pPr indent="0" marL="0">
              <a:buNone/>
            </a:pPr>
            <a:r>
              <a:rPr lang="en-US" sz="1800" dirty="0">
                <a:solidFill>
                  <a:schemeClr val="tx1"/>
                </a:solidFill>
              </a:rPr>
              <a:t>: what is its matrix doing?</a:t>
            </a:r>
            <a:endParaRPr lang="en-US" sz="1800" dirty="0"/>
          </a:p>
        </p:txBody>
      </p:sp>
      <p:sp>
        <p:nvSpPr>
          <p:cNvPr id="10" name="hint b card"/>
          <p:cNvSpPr/>
          <p:nvPr/>
        </p:nvSpPr>
        <p:spPr>
          <a:xfrm>
            <a:off x="548640" y="2343150"/>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591181"/>
            <a:ext cx="329184" cy="329184"/>
          </a:xfrm>
          <a:prstGeom prst="ellipse">
            <a:avLst/>
          </a:prstGeom>
          <a:solidFill>
            <a:schemeClr val="accent2"/>
          </a:solidFill>
          <a:ln/>
        </p:spPr>
      </p:sp>
      <p:sp>
        <p:nvSpPr>
          <p:cNvPr id="12" name="hint b letter"/>
          <p:cNvSpPr txBox="1"/>
          <p:nvPr/>
        </p:nvSpPr>
        <p:spPr>
          <a:xfrm>
            <a:off x="640080" y="259118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343150"/>
            <a:ext cx="7443216" cy="825246"/>
          </a:xfrm>
          <a:prstGeom prst="rect">
            <a:avLst/>
          </a:prstGeom>
          <a:noFill/>
          <a:ln/>
        </p:spPr>
        <p:txBody>
          <a:bodyPr wrap="square" lIns="0" tIns="0" rIns="0" bIns="0" rtlCol="0" anchor="ctr"/>
          <a:lstStyle/>
          <a:p>
            <a:pPr indent="0" marL="0">
              <a:buNone/>
            </a:pPr>
            <a:r>
              <a:rPr lang="en-US" sz="1800" dirty="0">
                <a:solidFill>
                  <a:schemeClr val="tx1"/>
                </a:solidFill>
              </a:rPr>
              <a:t>A </a:t>
            </a:r>
            <a:pPr indent="0" marL="0">
              <a:buNone/>
            </a:pPr>
            <a:r>
              <a:rPr lang="en-US" sz="1800" dirty="0">
                <a:solidFill>
                  <a:schemeClr val="tx1"/>
                </a:solidFill>
                <a:latin typeface="Courier New" pitchFamily="34" charset="0"/>
                <a:ea typeface="Courier New" pitchFamily="34" charset="-122"/>
                <a:cs typeface="Courier New" pitchFamily="34" charset="-120"/>
              </a:rPr>
              <a:t>run:</a:t>
            </a:r>
            <a:pPr indent="0" marL="0">
              <a:buNone/>
            </a:pPr>
            <a:r>
              <a:rPr lang="en-US" sz="1800" dirty="0">
                <a:solidFill>
                  <a:schemeClr val="tx1"/>
                </a:solidFill>
              </a:rPr>
              <a:t> step with the command you used to build.</a:t>
            </a:r>
            <a:endParaRPr lang="en-US" sz="1800" dirty="0"/>
          </a:p>
        </p:txBody>
      </p:sp>
      <p:sp>
        <p:nvSpPr>
          <p:cNvPr id="14" name="hint c card"/>
          <p:cNvSpPr/>
          <p:nvPr/>
        </p:nvSpPr>
        <p:spPr>
          <a:xfrm>
            <a:off x="548640" y="3204972"/>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3453003"/>
            <a:ext cx="329184" cy="329184"/>
          </a:xfrm>
          <a:prstGeom prst="ellipse">
            <a:avLst/>
          </a:prstGeom>
          <a:solidFill>
            <a:schemeClr val="accent2"/>
          </a:solidFill>
          <a:ln/>
        </p:spPr>
      </p:sp>
      <p:sp>
        <p:nvSpPr>
          <p:cNvPr id="16" name="hint c letter"/>
          <p:cNvSpPr txBox="1"/>
          <p:nvPr/>
        </p:nvSpPr>
        <p:spPr>
          <a:xfrm>
            <a:off x="640080" y="345300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3204972"/>
            <a:ext cx="7443216" cy="825246"/>
          </a:xfrm>
          <a:prstGeom prst="rect">
            <a:avLst/>
          </a:prstGeom>
          <a:noFill/>
          <a:ln/>
        </p:spPr>
        <p:txBody>
          <a:bodyPr wrap="square" lIns="0" tIns="0" rIns="0" bIns="0" rtlCol="0" anchor="ctr"/>
          <a:lstStyle/>
          <a:p>
            <a:pPr indent="0" marL="0">
              <a:buNone/>
            </a:pPr>
            <a:r>
              <a:rPr lang="en-US" sz="1800" dirty="0">
                <a:solidFill>
                  <a:schemeClr val="tx1"/>
                </a:solidFill>
              </a:rPr>
              <a:t>The build context is the service folder.</a:t>
            </a:r>
            <a:endParaRPr lang="en-US" sz="1800" dirty="0"/>
          </a:p>
        </p:txBody>
      </p:sp>
      <p:sp>
        <p:nvSpPr>
          <p:cNvPr id="18" name="hint d card"/>
          <p:cNvSpPr/>
          <p:nvPr/>
        </p:nvSpPr>
        <p:spPr>
          <a:xfrm>
            <a:off x="548640" y="4066794"/>
            <a:ext cx="8046720" cy="825246"/>
          </a:xfrm>
          <a:prstGeom prst="roundRect">
            <a:avLst>
              <a:gd name="adj" fmla="val 8864"/>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4314825"/>
            <a:ext cx="329184" cy="329184"/>
          </a:xfrm>
          <a:prstGeom prst="ellipse">
            <a:avLst/>
          </a:prstGeom>
          <a:solidFill>
            <a:schemeClr val="accent2"/>
          </a:solidFill>
          <a:ln/>
        </p:spPr>
      </p:sp>
      <p:sp>
        <p:nvSpPr>
          <p:cNvPr id="20" name="hint d letter"/>
          <p:cNvSpPr txBox="1"/>
          <p:nvPr/>
        </p:nvSpPr>
        <p:spPr>
          <a:xfrm>
            <a:off x="640080" y="431482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4066794"/>
            <a:ext cx="7443216" cy="825246"/>
          </a:xfrm>
          <a:prstGeom prst="rect">
            <a:avLst/>
          </a:prstGeom>
          <a:noFill/>
          <a:ln/>
        </p:spPr>
        <p:txBody>
          <a:bodyPr wrap="square" lIns="0" tIns="0" rIns="0" bIns="0" rtlCol="0" anchor="ctr"/>
          <a:lstStyle/>
          <a:p>
            <a:pPr indent="0" marL="0">
              <a:buNone/>
            </a:pPr>
            <a:r>
              <a:rPr lang="en-US" sz="1800" dirty="0">
                <a:solidFill>
                  <a:schemeClr val="tx1"/>
                </a:solidFill>
              </a:rPr>
              <a:t>If it is red, read the failing line and check the Dockerfile is in your repo.</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First task: answer</a:t>
            </a:r>
            <a:endParaRPr lang="en-US" sz="3400" dirty="0"/>
          </a:p>
        </p:txBody>
      </p:sp>
      <p:sp>
        <p:nvSpPr>
          <p:cNvPr id="4" name="code panel"/>
          <p:cNvSpPr/>
          <p:nvPr/>
        </p:nvSpPr>
        <p:spPr>
          <a:xfrm>
            <a:off x="320040" y="1005840"/>
            <a:ext cx="8503920" cy="2743200"/>
          </a:xfrm>
          <a:prstGeom prst="roundRect">
            <a:avLst>
              <a:gd name="adj" fmla="val 2667"/>
            </a:avLst>
          </a:prstGeom>
          <a:solidFill>
            <a:schemeClr val="tx1"/>
          </a:solidFill>
          <a:ln/>
        </p:spPr>
      </p:sp>
      <p:sp>
        <p:nvSpPr>
          <p:cNvPr id="5" name="code"/>
          <p:cNvSpPr txBox="1"/>
          <p:nvPr/>
        </p:nvSpPr>
        <p:spPr>
          <a:xfrm>
            <a:off x="429768" y="1088136"/>
            <a:ext cx="8284464" cy="2578608"/>
          </a:xfrm>
          <a:prstGeom prst="rect">
            <a:avLst/>
          </a:prstGeom>
          <a:noFill/>
          <a:ln/>
        </p:spPr>
        <p:txBody>
          <a:bodyPr wrap="square" lIns="0" tIns="0" rIns="0" bIns="0" rtlCol="0" anchor="t"/>
          <a:lstStyle/>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build_images:</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runs-on: ubuntu-latest</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strategy:</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matrix:</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service: [tasks-api, title-normalizer] # ${{matrix.service}}</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steps:</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 uses: actions/checkout@v7</a:t>
            </a:r>
            <a:endParaRPr lang="en-US" sz="1400" dirty="0"/>
          </a:p>
          <a:p>
            <a:pPr indent="0" marL="0">
              <a:lnSpc>
                <a:spcPts val="224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 run: docker build -t ${{matrix.service}} services/${{matrix.service}}</a:t>
            </a:r>
            <a:endParaRPr lang="en-US" sz="1400" dirty="0"/>
          </a:p>
        </p:txBody>
      </p:sp>
      <p:sp>
        <p:nvSpPr>
          <p:cNvPr id="6" name="Text 3"/>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Goes before deploy</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Compose file</a:t>
            </a:r>
            <a:endParaRPr lang="en-US" sz="3400" dirty="0"/>
          </a:p>
        </p:txBody>
      </p:sp>
      <p:sp>
        <p:nvSpPr>
          <p:cNvPr id="4" name="Text 1"/>
          <p:cNvSpPr txBox="1"/>
          <p:nvPr/>
        </p:nvSpPr>
        <p:spPr>
          <a:xfrm>
            <a:off x="548640" y="1051560"/>
            <a:ext cx="8046720" cy="548640"/>
          </a:xfrm>
          <a:prstGeom prst="rect">
            <a:avLst/>
          </a:prstGeom>
          <a:noFill/>
          <a:ln/>
        </p:spPr>
        <p:txBody>
          <a:bodyPr wrap="square" lIns="0" tIns="0" rIns="0" bIns="0" rtlCol="0" anchor="ctr"/>
          <a:lstStyle/>
          <a:p>
            <a:pPr indent="0" marL="0">
              <a:buNone/>
            </a:pPr>
            <a:r>
              <a:rPr lang="en-US" sz="2800" b="1" dirty="0">
                <a:solidFill>
                  <a:schemeClr val="tx1"/>
                </a:solidFill>
              </a:rPr>
              <a:t>One file describes the whole app.</a:t>
            </a:r>
            <a:endParaRPr lang="en-US" sz="2800" dirty="0"/>
          </a:p>
        </p:txBody>
      </p:sp>
      <p:sp>
        <p:nvSpPr>
          <p:cNvPr id="5" name="compose.yaml"/>
          <p:cNvSpPr/>
          <p:nvPr/>
        </p:nvSpPr>
        <p:spPr>
          <a:xfrm>
            <a:off x="457200" y="1828800"/>
            <a:ext cx="4023360" cy="2011680"/>
          </a:xfrm>
          <a:prstGeom prst="roundRect">
            <a:avLst>
              <a:gd name="adj" fmla="val 363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40080" y="1920240"/>
            <a:ext cx="3657600" cy="457200"/>
          </a:xfrm>
          <a:prstGeom prst="rect">
            <a:avLst/>
          </a:prstGeom>
          <a:noFill/>
          <a:ln/>
        </p:spPr>
        <p:txBody>
          <a:bodyPr wrap="square" lIns="0" tIns="0" rIns="0" bIns="0" rtlCol="0" anchor="ctr"/>
          <a:lstStyle/>
          <a:p>
            <a:pPr indent="0" marL="0">
              <a:buNone/>
            </a:pPr>
            <a:r>
              <a:rPr lang="en-US" sz="1800" b="1" dirty="0">
                <a:solidFill>
                  <a:srgbClr val="57606A"/>
                </a:solidFill>
                <a:latin typeface="Courier New" pitchFamily="34" charset="0"/>
                <a:ea typeface="Courier New" pitchFamily="34" charset="-122"/>
                <a:cs typeface="Courier New" pitchFamily="34" charset="-120"/>
              </a:rPr>
              <a:t>compose.yaml</a:t>
            </a:r>
            <a:endParaRPr lang="en-US" sz="1800" dirty="0"/>
          </a:p>
        </p:txBody>
      </p:sp>
      <p:sp>
        <p:nvSpPr>
          <p:cNvPr id="7" name="service web"/>
          <p:cNvSpPr/>
          <p:nvPr/>
        </p:nvSpPr>
        <p:spPr>
          <a:xfrm>
            <a:off x="640080" y="2606040"/>
            <a:ext cx="1645920" cy="914400"/>
          </a:xfrm>
          <a:prstGeom prst="roundRect">
            <a:avLst>
              <a:gd name="adj" fmla="val 8000"/>
            </a:avLst>
          </a:prstGeom>
          <a:solidFill>
            <a:srgbClr val="FFFFFF"/>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685800" y="2606040"/>
            <a:ext cx="1554480" cy="91440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web</a:t>
            </a:r>
            <a:endParaRPr lang="en-US" sz="2200" dirty="0"/>
          </a:p>
        </p:txBody>
      </p:sp>
      <p:sp>
        <p:nvSpPr>
          <p:cNvPr id="9" name="service db"/>
          <p:cNvSpPr/>
          <p:nvPr/>
        </p:nvSpPr>
        <p:spPr>
          <a:xfrm>
            <a:off x="2651760" y="2606040"/>
            <a:ext cx="1645920" cy="914400"/>
          </a:xfrm>
          <a:prstGeom prst="roundRect">
            <a:avLst>
              <a:gd name="adj" fmla="val 8000"/>
            </a:avLst>
          </a:prstGeom>
          <a:solidFill>
            <a:srgbClr val="FFFFFF"/>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2697480" y="2606040"/>
            <a:ext cx="1554480" cy="914400"/>
          </a:xfrm>
          <a:prstGeom prst="rect">
            <a:avLst/>
          </a:prstGeom>
          <a:no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db</a:t>
            </a:r>
            <a:endParaRPr lang="en-US" sz="2200" dirty="0"/>
          </a:p>
        </p:txBody>
      </p:sp>
      <p:sp>
        <p:nvSpPr>
          <p:cNvPr id="11" name="up arrow"/>
          <p:cNvSpPr/>
          <p:nvPr/>
        </p:nvSpPr>
        <p:spPr>
          <a:xfrm>
            <a:off x="4663440" y="2880360"/>
            <a:ext cx="1554480" cy="365760"/>
          </a:xfrm>
          <a:prstGeom prst="rightArrow">
            <a:avLst/>
          </a:prstGeom>
          <a:solidFill>
            <a:srgbClr val="57606A"/>
          </a:solidFill>
          <a:ln/>
        </p:spPr>
      </p:sp>
      <p:sp>
        <p:nvSpPr>
          <p:cNvPr id="12" name="Text 9"/>
          <p:cNvSpPr txBox="1"/>
          <p:nvPr/>
        </p:nvSpPr>
        <p:spPr>
          <a:xfrm>
            <a:off x="4526280" y="2423160"/>
            <a:ext cx="1828800" cy="365760"/>
          </a:xfrm>
          <a:prstGeom prst="rect">
            <a:avLst/>
          </a:prstGeom>
          <a:noFill/>
          <a:ln/>
        </p:spPr>
        <p:txBody>
          <a:bodyPr wrap="square" lIns="0" tIns="0" rIns="0" bIns="0" rtlCol="0" anchor="ctr"/>
          <a:lstStyle/>
          <a:p>
            <a:pPr algn="ctr" indent="0" marL="0">
              <a:buNone/>
            </a:pPr>
            <a:r>
              <a:rPr lang="en-US" sz="1300" b="1" dirty="0">
                <a:solidFill>
                  <a:srgbClr val="57606A"/>
                </a:solidFill>
                <a:latin typeface="Courier New" pitchFamily="34" charset="0"/>
                <a:ea typeface="Courier New" pitchFamily="34" charset="-122"/>
                <a:cs typeface="Courier New" pitchFamily="34" charset="-120"/>
              </a:rPr>
              <a:t>docker compose up</a:t>
            </a:r>
            <a:endParaRPr lang="en-US" sz="1300" dirty="0"/>
          </a:p>
        </p:txBody>
      </p:sp>
      <p:sp>
        <p:nvSpPr>
          <p:cNvPr id="13" name="two containers"/>
          <p:cNvSpPr/>
          <p:nvPr/>
        </p:nvSpPr>
        <p:spPr>
          <a:xfrm>
            <a:off x="6400800" y="2606040"/>
            <a:ext cx="2194560" cy="914400"/>
          </a:xfrm>
          <a:prstGeom prst="roundRect">
            <a:avLst>
              <a:gd name="adj" fmla="val 8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446520" y="2606040"/>
            <a:ext cx="2103120" cy="914400"/>
          </a:xfrm>
          <a:prstGeom prst="rect">
            <a:avLst/>
          </a:prstGeom>
          <a:noFill/>
          <a:ln/>
        </p:spPr>
        <p:txBody>
          <a:bodyPr wrap="square" lIns="0" tIns="0" rIns="0" bIns="0" rtlCol="0" anchor="ctr"/>
          <a:lstStyle/>
          <a:p>
            <a:pPr algn="ctr" indent="0" marL="0">
              <a:buNone/>
            </a:pPr>
            <a:r>
              <a:rPr lang="en-US" sz="2000" b="1" dirty="0">
                <a:solidFill>
                  <a:schemeClr val="tx1"/>
                </a:solidFill>
              </a:rPr>
              <a:t>two containers</a:t>
            </a:r>
            <a:endParaRPr lang="en-US" sz="2000" dirty="0"/>
          </a:p>
        </p:txBody>
      </p:sp>
      <p:sp>
        <p:nvSpPr>
          <p:cNvPr id="15" name="Text 12"/>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400" b="1" dirty="0">
                <a:solidFill>
                  <a:schemeClr val="accent2"/>
                </a:solidFill>
              </a:rPr>
              <a:t>One block per service. One command starts it.</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Service</a:t>
            </a:r>
            <a:endParaRPr lang="en-US" sz="3400" dirty="0"/>
          </a:p>
        </p:txBody>
      </p:sp>
      <p:sp>
        <p:nvSpPr>
          <p:cNvPr id="4" name="Service circle"/>
          <p:cNvSpPr/>
          <p:nvPr/>
        </p:nvSpPr>
        <p:spPr>
          <a:xfrm>
            <a:off x="548640" y="1600200"/>
            <a:ext cx="1463040" cy="1463040"/>
          </a:xfrm>
          <a:prstGeom prst="ellipse">
            <a:avLst/>
          </a:prstGeom>
          <a:solidFill>
            <a:srgbClr val="1A7F37"/>
          </a:solidFill>
          <a:ln/>
        </p:spPr>
      </p:sp>
      <p:pic>
        <p:nvPicPr>
          <p:cNvPr id="5" name="Service image" descr="FaCubes">    </p:cNvPr>
          <p:cNvPicPr>
            <a:picLocks noChangeAspect="1"/>
          </p:cNvPicPr>
          <p:nvPr/>
        </p:nvPicPr>
        <p:blipFill>
          <a:blip r:embed="rId1"/>
          <a:stretch>
            <a:fillRect/>
          </a:stretch>
        </p:blipFill>
        <p:spPr>
          <a:xfrm>
            <a:off x="914400" y="1965960"/>
            <a:ext cx="731520" cy="731520"/>
          </a:xfrm>
          <a:prstGeom prst="rect">
            <a:avLst/>
          </a:prstGeom>
        </p:spPr>
      </p:pic>
      <p:sp>
        <p:nvSpPr>
          <p:cNvPr id="6" name="Text 2"/>
          <p:cNvSpPr txBox="1"/>
          <p:nvPr/>
        </p:nvSpPr>
        <p:spPr>
          <a:xfrm>
            <a:off x="2377440" y="1280160"/>
            <a:ext cx="6217920" cy="2377440"/>
          </a:xfrm>
          <a:prstGeom prst="rect">
            <a:avLst/>
          </a:prstGeom>
          <a:noFill/>
          <a:ln/>
        </p:spPr>
        <p:txBody>
          <a:bodyPr wrap="square" lIns="0" tIns="0" rIns="0" bIns="0" rtlCol="0" anchor="ctr"/>
          <a:lstStyle/>
          <a:p>
            <a:pPr indent="0" marL="0">
              <a:buNone/>
            </a:pPr>
            <a:r>
              <a:rPr lang="en-US" sz="3000" b="1" dirty="0">
                <a:solidFill>
                  <a:schemeClr val="tx1"/>
                </a:solidFill>
              </a:rPr>
              <a:t>Service: one container to run. Its key is its name.</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Build or image</a:t>
            </a:r>
            <a:endParaRPr lang="en-US" sz="3400" dirty="0"/>
          </a:p>
        </p:txBody>
      </p:sp>
      <p:sp>
        <p:nvSpPr>
          <p:cNvPr id="4" name="card web"/>
          <p:cNvSpPr/>
          <p:nvPr/>
        </p:nvSpPr>
        <p:spPr>
          <a:xfrm>
            <a:off x="548640" y="1143000"/>
            <a:ext cx="3931920" cy="3566160"/>
          </a:xfrm>
          <a:prstGeom prst="roundRect">
            <a:avLst>
              <a:gd name="adj" fmla="val 205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web circle"/>
          <p:cNvSpPr/>
          <p:nvPr/>
        </p:nvSpPr>
        <p:spPr>
          <a:xfrm>
            <a:off x="2057400" y="1280160"/>
            <a:ext cx="914400" cy="914400"/>
          </a:xfrm>
          <a:prstGeom prst="ellipse">
            <a:avLst/>
          </a:prstGeom>
          <a:solidFill>
            <a:srgbClr val="1A7F37"/>
          </a:solidFill>
          <a:ln/>
        </p:spPr>
      </p:sp>
      <p:pic>
        <p:nvPicPr>
          <p:cNvPr id="6" name="web image" descr="FaFolder">    </p:cNvPr>
          <p:cNvPicPr>
            <a:picLocks noChangeAspect="1"/>
          </p:cNvPicPr>
          <p:nvPr/>
        </p:nvPicPr>
        <p:blipFill>
          <a:blip r:embed="rId1"/>
          <a:stretch>
            <a:fillRect/>
          </a:stretch>
        </p:blipFill>
        <p:spPr>
          <a:xfrm>
            <a:off x="2286000" y="1508760"/>
            <a:ext cx="457200" cy="457200"/>
          </a:xfrm>
          <a:prstGeom prst="rect">
            <a:avLst/>
          </a:prstGeom>
        </p:spPr>
      </p:pic>
      <p:sp>
        <p:nvSpPr>
          <p:cNvPr id="7" name="Text 3"/>
          <p:cNvSpPr txBox="1"/>
          <p:nvPr/>
        </p:nvSpPr>
        <p:spPr>
          <a:xfrm>
            <a:off x="548640" y="2331720"/>
            <a:ext cx="393192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web</a:t>
            </a:r>
            <a:endParaRPr lang="en-US" sz="2600" dirty="0"/>
          </a:p>
        </p:txBody>
      </p:sp>
      <p:sp>
        <p:nvSpPr>
          <p:cNvPr id="8" name="Text 4"/>
          <p:cNvSpPr txBox="1"/>
          <p:nvPr/>
        </p:nvSpPr>
        <p:spPr>
          <a:xfrm>
            <a:off x="548640" y="2880360"/>
            <a:ext cx="3931920" cy="457200"/>
          </a:xfrm>
          <a:prstGeom prst="rect">
            <a:avLst/>
          </a:prstGeom>
          <a:noFill/>
          <a:ln/>
        </p:spPr>
        <p:txBody>
          <a:bodyPr wrap="square" lIns="0" tIns="0" rIns="0" bIns="0" rtlCol="0" anchor="ctr"/>
          <a:lstStyle/>
          <a:p>
            <a:pPr algn="ctr" indent="0" marL="0">
              <a:buNone/>
            </a:pPr>
            <a:r>
              <a:rPr lang="en-US" sz="2200" b="1" dirty="0">
                <a:solidFill>
                  <a:srgbClr val="1A7F37"/>
                </a:solidFill>
                <a:latin typeface="Courier New" pitchFamily="34" charset="0"/>
                <a:ea typeface="Courier New" pitchFamily="34" charset="-122"/>
                <a:cs typeface="Courier New" pitchFamily="34" charset="-120"/>
              </a:rPr>
              <a:t>build: .</a:t>
            </a:r>
            <a:endParaRPr lang="en-US" sz="2200" dirty="0"/>
          </a:p>
        </p:txBody>
      </p:sp>
      <p:sp>
        <p:nvSpPr>
          <p:cNvPr id="9" name="Text 5"/>
          <p:cNvSpPr txBox="1"/>
          <p:nvPr/>
        </p:nvSpPr>
        <p:spPr>
          <a:xfrm>
            <a:off x="640080" y="3429000"/>
            <a:ext cx="3749040" cy="457200"/>
          </a:xfrm>
          <a:prstGeom prst="rect">
            <a:avLst/>
          </a:prstGeom>
          <a:noFill/>
          <a:ln/>
        </p:spPr>
        <p:txBody>
          <a:bodyPr wrap="square" lIns="0" tIns="0" rIns="0" bIns="0" rtlCol="0" anchor="ctr"/>
          <a:lstStyle/>
          <a:p>
            <a:pPr algn="ctr" indent="0" marL="0">
              <a:buNone/>
            </a:pPr>
            <a:r>
              <a:rPr lang="en-US" sz="1800" b="1" dirty="0">
                <a:solidFill>
                  <a:schemeClr val="tx1"/>
                </a:solidFill>
              </a:rPr>
              <a:t>a folder with a Dockerfile</a:t>
            </a:r>
            <a:endParaRPr lang="en-US" sz="1800" dirty="0"/>
          </a:p>
        </p:txBody>
      </p:sp>
      <p:sp>
        <p:nvSpPr>
          <p:cNvPr id="10" name="Text 6"/>
          <p:cNvSpPr txBox="1"/>
          <p:nvPr/>
        </p:nvSpPr>
        <p:spPr>
          <a:xfrm>
            <a:off x="548640" y="4023360"/>
            <a:ext cx="3931920" cy="457200"/>
          </a:xfrm>
          <a:prstGeom prst="rect">
            <a:avLst/>
          </a:prstGeom>
          <a:noFill/>
          <a:ln/>
        </p:spPr>
        <p:txBody>
          <a:bodyPr wrap="square" lIns="0" tIns="0" rIns="0" bIns="0" rtlCol="0" anchor="ctr"/>
          <a:lstStyle/>
          <a:p>
            <a:pPr algn="ctr" indent="0" marL="0">
              <a:buNone/>
            </a:pPr>
            <a:r>
              <a:rPr lang="en-US" sz="2200" b="1" i="1" dirty="0">
                <a:solidFill>
                  <a:schemeClr val="accent6"/>
                </a:solidFill>
              </a:rPr>
              <a:t>built here</a:t>
            </a:r>
            <a:endParaRPr lang="en-US" sz="2200" dirty="0"/>
          </a:p>
        </p:txBody>
      </p:sp>
      <p:sp>
        <p:nvSpPr>
          <p:cNvPr id="11" name="card db"/>
          <p:cNvSpPr/>
          <p:nvPr/>
        </p:nvSpPr>
        <p:spPr>
          <a:xfrm>
            <a:off x="4663440" y="1143000"/>
            <a:ext cx="3931920" cy="3566160"/>
          </a:xfrm>
          <a:prstGeom prst="roundRect">
            <a:avLst>
              <a:gd name="adj" fmla="val 205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2" name="db circle"/>
          <p:cNvSpPr/>
          <p:nvPr/>
        </p:nvSpPr>
        <p:spPr>
          <a:xfrm>
            <a:off x="6172200" y="1280160"/>
            <a:ext cx="914400" cy="914400"/>
          </a:xfrm>
          <a:prstGeom prst="ellipse">
            <a:avLst/>
          </a:prstGeom>
          <a:solidFill>
            <a:srgbClr val="0969DA"/>
          </a:solidFill>
          <a:ln/>
        </p:spPr>
      </p:sp>
      <p:pic>
        <p:nvPicPr>
          <p:cNvPr id="13" name="db image" descr="FaServer">    </p:cNvPr>
          <p:cNvPicPr>
            <a:picLocks noChangeAspect="1"/>
          </p:cNvPicPr>
          <p:nvPr/>
        </p:nvPicPr>
        <p:blipFill>
          <a:blip r:embed="rId2"/>
          <a:stretch>
            <a:fillRect/>
          </a:stretch>
        </p:blipFill>
        <p:spPr>
          <a:xfrm>
            <a:off x="6400800" y="1508760"/>
            <a:ext cx="457200" cy="457200"/>
          </a:xfrm>
          <a:prstGeom prst="rect">
            <a:avLst/>
          </a:prstGeom>
        </p:spPr>
      </p:pic>
      <p:sp>
        <p:nvSpPr>
          <p:cNvPr id="14" name="Text 9"/>
          <p:cNvSpPr txBox="1"/>
          <p:nvPr/>
        </p:nvSpPr>
        <p:spPr>
          <a:xfrm>
            <a:off x="4663440" y="2331720"/>
            <a:ext cx="393192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Courier New" pitchFamily="34" charset="0"/>
                <a:ea typeface="Courier New" pitchFamily="34" charset="-122"/>
                <a:cs typeface="Courier New" pitchFamily="34" charset="-120"/>
              </a:rPr>
              <a:t>db</a:t>
            </a:r>
            <a:endParaRPr lang="en-US" sz="2600" dirty="0"/>
          </a:p>
        </p:txBody>
      </p:sp>
      <p:sp>
        <p:nvSpPr>
          <p:cNvPr id="15" name="Text 10"/>
          <p:cNvSpPr txBox="1"/>
          <p:nvPr/>
        </p:nvSpPr>
        <p:spPr>
          <a:xfrm>
            <a:off x="4663440" y="2880360"/>
            <a:ext cx="3931920" cy="457200"/>
          </a:xfrm>
          <a:prstGeom prst="rect">
            <a:avLst/>
          </a:prstGeom>
          <a:noFill/>
          <a:ln/>
        </p:spPr>
        <p:txBody>
          <a:bodyPr wrap="square" lIns="0" tIns="0" rIns="0" bIns="0" rtlCol="0" anchor="ctr"/>
          <a:lstStyle/>
          <a:p>
            <a:pPr algn="ctr" indent="0" marL="0">
              <a:buNone/>
            </a:pPr>
            <a:r>
              <a:rPr lang="en-US" sz="2200" b="1" dirty="0">
                <a:solidFill>
                  <a:srgbClr val="0969DA"/>
                </a:solidFill>
                <a:latin typeface="Courier New" pitchFamily="34" charset="0"/>
                <a:ea typeface="Courier New" pitchFamily="34" charset="-122"/>
                <a:cs typeface="Courier New" pitchFamily="34" charset="-120"/>
              </a:rPr>
              <a:t>image: postgres:18</a:t>
            </a:r>
            <a:endParaRPr lang="en-US" sz="2200" dirty="0"/>
          </a:p>
        </p:txBody>
      </p:sp>
      <p:sp>
        <p:nvSpPr>
          <p:cNvPr id="16" name="Text 11"/>
          <p:cNvSpPr txBox="1"/>
          <p:nvPr/>
        </p:nvSpPr>
        <p:spPr>
          <a:xfrm>
            <a:off x="4754880" y="3429000"/>
            <a:ext cx="3749040" cy="457200"/>
          </a:xfrm>
          <a:prstGeom prst="rect">
            <a:avLst/>
          </a:prstGeom>
          <a:noFill/>
          <a:ln/>
        </p:spPr>
        <p:txBody>
          <a:bodyPr wrap="square" lIns="0" tIns="0" rIns="0" bIns="0" rtlCol="0" anchor="ctr"/>
          <a:lstStyle/>
          <a:p>
            <a:pPr algn="ctr" indent="0" marL="0">
              <a:buNone/>
            </a:pPr>
            <a:r>
              <a:rPr lang="en-US" sz="1800" b="1" dirty="0">
                <a:solidFill>
                  <a:schemeClr val="tx1"/>
                </a:solidFill>
              </a:rPr>
              <a:t>an image that already exists</a:t>
            </a:r>
            <a:endParaRPr lang="en-US" sz="1800" dirty="0"/>
          </a:p>
        </p:txBody>
      </p:sp>
      <p:sp>
        <p:nvSpPr>
          <p:cNvPr id="17" name="Text 12"/>
          <p:cNvSpPr txBox="1"/>
          <p:nvPr/>
        </p:nvSpPr>
        <p:spPr>
          <a:xfrm>
            <a:off x="4663440" y="4023360"/>
            <a:ext cx="3931920" cy="457200"/>
          </a:xfrm>
          <a:prstGeom prst="rect">
            <a:avLst/>
          </a:prstGeom>
          <a:noFill/>
          <a:ln/>
        </p:spPr>
        <p:txBody>
          <a:bodyPr wrap="square" lIns="0" tIns="0" rIns="0" bIns="0" rtlCol="0" anchor="ctr"/>
          <a:lstStyle/>
          <a:p>
            <a:pPr algn="ctr" indent="0" marL="0">
              <a:buNone/>
            </a:pPr>
            <a:r>
              <a:rPr lang="en-US" sz="2200" b="1" i="1" dirty="0">
                <a:solidFill>
                  <a:schemeClr val="accent6"/>
                </a:solidFill>
              </a:rPr>
              <a:t>pulled</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Ports</a:t>
            </a:r>
            <a:endParaRPr lang="en-US" sz="3400" dirty="0"/>
          </a:p>
        </p:txBody>
      </p:sp>
      <p:sp>
        <p:nvSpPr>
          <p:cNvPr id="4" name="Text 1"/>
          <p:cNvSpPr txBox="1"/>
          <p:nvPr/>
        </p:nvSpPr>
        <p:spPr>
          <a:xfrm>
            <a:off x="548640" y="1188720"/>
            <a:ext cx="8046720" cy="731520"/>
          </a:xfrm>
          <a:prstGeom prst="rect">
            <a:avLst/>
          </a:prstGeom>
          <a:noFill/>
          <a:ln/>
        </p:spPr>
        <p:txBody>
          <a:bodyPr wrap="square" lIns="0" tIns="0" rIns="0" bIns="0" rtlCol="0" anchor="ctr"/>
          <a:lstStyle/>
          <a:p>
            <a:pPr indent="0" marL="0">
              <a:buNone/>
            </a:pPr>
            <a:r>
              <a:rPr lang="en-US" sz="3000" b="1" dirty="0">
                <a:solidFill>
                  <a:schemeClr val="tx1"/>
                </a:solidFill>
                <a:latin typeface="Courier New" pitchFamily="34" charset="0"/>
                <a:ea typeface="Courier New" pitchFamily="34" charset="-122"/>
                <a:cs typeface="Courier New" pitchFamily="34" charset="-120"/>
              </a:rPr>
              <a:t>ports:</a:t>
            </a:r>
            <a:pPr indent="0" marL="0">
              <a:buNone/>
            </a:pPr>
            <a:r>
              <a:rPr lang="en-US" sz="3200" b="1" dirty="0">
                <a:solidFill>
                  <a:schemeClr val="tx1"/>
                </a:solidFill>
              </a:rPr>
              <a:t> is </a:t>
            </a:r>
            <a:pPr indent="0" marL="0">
              <a:buNone/>
            </a:pPr>
            <a:r>
              <a:rPr lang="en-US" sz="3000" b="1" dirty="0">
                <a:solidFill>
                  <a:schemeClr val="tx1"/>
                </a:solidFill>
                <a:latin typeface="Courier New" pitchFamily="34" charset="0"/>
                <a:ea typeface="Courier New" pitchFamily="34" charset="-122"/>
                <a:cs typeface="Courier New" pitchFamily="34" charset="-120"/>
              </a:rPr>
              <a:t>host:container</a:t>
            </a:r>
            <a:pPr indent="0" marL="0">
              <a:buNone/>
            </a:pPr>
            <a:r>
              <a:rPr lang="en-US" sz="3200" b="1" dirty="0">
                <a:solidFill>
                  <a:schemeClr val="tx1"/>
                </a:solidFill>
              </a:rPr>
              <a:t>.</a:t>
            </a:r>
            <a:endParaRPr lang="en-US" sz="3200" dirty="0"/>
          </a:p>
        </p:txBody>
      </p:sp>
      <p:sp>
        <p:nvSpPr>
          <p:cNvPr id="5" name="Text 2"/>
          <p:cNvSpPr txBox="1"/>
          <p:nvPr/>
        </p:nvSpPr>
        <p:spPr>
          <a:xfrm>
            <a:off x="548640" y="2011680"/>
            <a:ext cx="8046720" cy="548640"/>
          </a:xfrm>
          <a:prstGeom prst="rect">
            <a:avLst/>
          </a:prstGeom>
          <a:noFill/>
          <a:ln/>
        </p:spPr>
        <p:txBody>
          <a:bodyPr wrap="square" lIns="0" tIns="0" rIns="0" bIns="0" rtlCol="0" anchor="ctr"/>
          <a:lstStyle/>
          <a:p>
            <a:pPr indent="0" marL="0">
              <a:buNone/>
            </a:pPr>
            <a:r>
              <a:rPr lang="en-US" sz="2600" b="1" dirty="0">
                <a:solidFill>
                  <a:schemeClr val="accent6"/>
                </a:solidFill>
              </a:rPr>
              <a:t>Like </a:t>
            </a:r>
            <a:pPr indent="0" marL="0">
              <a:buNone/>
            </a:pPr>
            <a:r>
              <a:rPr lang="en-US" sz="2400" b="1" dirty="0">
                <a:solidFill>
                  <a:schemeClr val="accent6"/>
                </a:solidFill>
                <a:latin typeface="Courier New" pitchFamily="34" charset="0"/>
                <a:ea typeface="Courier New" pitchFamily="34" charset="-122"/>
                <a:cs typeface="Courier New" pitchFamily="34" charset="-120"/>
              </a:rPr>
              <a:t>docker run -p</a:t>
            </a:r>
            <a:pPr indent="0" marL="0">
              <a:buNone/>
            </a:pPr>
            <a:r>
              <a:rPr lang="en-US" sz="2600" b="1" dirty="0">
                <a:solidFill>
                  <a:schemeClr val="accent6"/>
                </a:solidFill>
              </a:rPr>
              <a:t>.</a:t>
            </a:r>
            <a:endParaRPr lang="en-US" sz="2600" dirty="0"/>
          </a:p>
        </p:txBody>
      </p:sp>
      <p:sp>
        <p:nvSpPr>
          <p:cNvPr id="6" name="code panel ports"/>
          <p:cNvSpPr/>
          <p:nvPr/>
        </p:nvSpPr>
        <p:spPr>
          <a:xfrm>
            <a:off x="548640" y="2834640"/>
            <a:ext cx="8046720" cy="1188720"/>
          </a:xfrm>
          <a:prstGeom prst="roundRect">
            <a:avLst>
              <a:gd name="adj" fmla="val 6154"/>
            </a:avLst>
          </a:prstGeom>
          <a:solidFill>
            <a:schemeClr val="tx1"/>
          </a:solidFill>
          <a:ln/>
        </p:spPr>
      </p:sp>
      <p:sp>
        <p:nvSpPr>
          <p:cNvPr id="7" name="code"/>
          <p:cNvSpPr txBox="1"/>
          <p:nvPr/>
        </p:nvSpPr>
        <p:spPr>
          <a:xfrm>
            <a:off x="713232" y="2916936"/>
            <a:ext cx="7717536" cy="1024128"/>
          </a:xfrm>
          <a:prstGeom prst="rect">
            <a:avLst/>
          </a:prstGeom>
          <a:noFill/>
          <a:ln/>
        </p:spPr>
        <p:txBody>
          <a:bodyPr wrap="square" lIns="0" tIns="0" rIns="0" bIns="0" rtlCol="0" anchor="ctr"/>
          <a:lstStyle/>
          <a:p>
            <a:pPr indent="0" marL="0">
              <a:lnSpc>
                <a:spcPts val="3360"/>
              </a:lnSpc>
              <a:buNone/>
            </a:pPr>
            <a:r>
              <a:rPr lang="en-US" sz="2400" dirty="0">
                <a:solidFill>
                  <a:schemeClr val="bg2"/>
                </a:solidFill>
                <a:latin typeface="Courier New" pitchFamily="34" charset="0"/>
                <a:ea typeface="Courier New" pitchFamily="34" charset="-122"/>
                <a:cs typeface="Courier New" pitchFamily="34" charset="-120"/>
              </a:rPr>
              <a:t>ports:</a:t>
            </a:r>
            <a:endParaRPr lang="en-US" sz="2400" dirty="0"/>
          </a:p>
          <a:p>
            <a:pPr indent="0" marL="0">
              <a:lnSpc>
                <a:spcPts val="3360"/>
              </a:lnSpc>
              <a:buNone/>
            </a:pPr>
            <a:r>
              <a:rPr lang="en-US" sz="2400" dirty="0">
                <a:solidFill>
                  <a:schemeClr val="bg2"/>
                </a:solidFill>
                <a:latin typeface="Courier New" pitchFamily="34" charset="0"/>
                <a:ea typeface="Courier New" pitchFamily="34" charset="-122"/>
                <a:cs typeface="Courier New" pitchFamily="34" charset="-120"/>
              </a:rPr>
              <a:t>  - "3000:3000"</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Environment</a:t>
            </a:r>
            <a:endParaRPr lang="en-US" sz="3400" dirty="0"/>
          </a:p>
        </p:txBody>
      </p:sp>
      <p:sp>
        <p:nvSpPr>
          <p:cNvPr id="4" name="Text 1"/>
          <p:cNvSpPr txBox="1"/>
          <p:nvPr/>
        </p:nvSpPr>
        <p:spPr>
          <a:xfrm>
            <a:off x="548640" y="1188720"/>
            <a:ext cx="8046720" cy="1097280"/>
          </a:xfrm>
          <a:prstGeom prst="rect">
            <a:avLst/>
          </a:prstGeom>
          <a:noFill/>
          <a:ln/>
        </p:spPr>
        <p:txBody>
          <a:bodyPr wrap="square" lIns="0" tIns="0" rIns="0" bIns="0" rtlCol="0" anchor="ctr"/>
          <a:lstStyle/>
          <a:p>
            <a:pPr indent="0" marL="0">
              <a:buNone/>
            </a:pPr>
            <a:r>
              <a:rPr lang="en-US" sz="2800" b="1" dirty="0">
                <a:solidFill>
                  <a:schemeClr val="tx1"/>
                </a:solidFill>
                <a:latin typeface="Courier New" pitchFamily="34" charset="0"/>
                <a:ea typeface="Courier New" pitchFamily="34" charset="-122"/>
                <a:cs typeface="Courier New" pitchFamily="34" charset="-120"/>
              </a:rPr>
              <a:t>environment:</a:t>
            </a:r>
            <a:pPr indent="0" marL="0">
              <a:buNone/>
            </a:pPr>
            <a:r>
              <a:rPr lang="en-US" sz="3000" b="1" dirty="0">
                <a:solidFill>
                  <a:schemeClr val="tx1"/>
                </a:solidFill>
              </a:rPr>
              <a:t> sets variables inside the container.</a:t>
            </a:r>
            <a:endParaRPr lang="en-US" sz="3000" dirty="0"/>
          </a:p>
        </p:txBody>
      </p:sp>
      <p:sp>
        <p:nvSpPr>
          <p:cNvPr id="5" name="Text 2"/>
          <p:cNvSpPr txBox="1"/>
          <p:nvPr/>
        </p:nvSpPr>
        <p:spPr>
          <a:xfrm>
            <a:off x="548640" y="2377440"/>
            <a:ext cx="8046720" cy="548640"/>
          </a:xfrm>
          <a:prstGeom prst="rect">
            <a:avLst/>
          </a:prstGeom>
          <a:noFill/>
          <a:ln/>
        </p:spPr>
        <p:txBody>
          <a:bodyPr wrap="square" lIns="0" tIns="0" rIns="0" bIns="0" rtlCol="0" anchor="ctr"/>
          <a:lstStyle/>
          <a:p>
            <a:pPr indent="0" marL="0">
              <a:buNone/>
            </a:pPr>
            <a:r>
              <a:rPr lang="en-US" sz="2600" b="1" dirty="0">
                <a:solidFill>
                  <a:schemeClr val="accent6"/>
                </a:solidFill>
              </a:rPr>
              <a:t>Like </a:t>
            </a:r>
            <a:pPr indent="0" marL="0">
              <a:buNone/>
            </a:pPr>
            <a:r>
              <a:rPr lang="en-US" sz="2400" b="1" dirty="0">
                <a:solidFill>
                  <a:schemeClr val="accent6"/>
                </a:solidFill>
                <a:latin typeface="Courier New" pitchFamily="34" charset="0"/>
                <a:ea typeface="Courier New" pitchFamily="34" charset="-122"/>
                <a:cs typeface="Courier New" pitchFamily="34" charset="-120"/>
              </a:rPr>
              <a:t>docker run -e</a:t>
            </a:r>
            <a:pPr indent="0" marL="0">
              <a:buNone/>
            </a:pPr>
            <a:r>
              <a:rPr lang="en-US" sz="2600" b="1" dirty="0">
                <a:solidFill>
                  <a:schemeClr val="accent6"/>
                </a:solidFill>
              </a:rPr>
              <a:t>.</a:t>
            </a:r>
            <a:endParaRPr lang="en-US" sz="2600" dirty="0"/>
          </a:p>
        </p:txBody>
      </p:sp>
      <p:sp>
        <p:nvSpPr>
          <p:cNvPr id="6" name="code panel environment"/>
          <p:cNvSpPr/>
          <p:nvPr/>
        </p:nvSpPr>
        <p:spPr>
          <a:xfrm>
            <a:off x="548640" y="3108960"/>
            <a:ext cx="8046720" cy="1188720"/>
          </a:xfrm>
          <a:prstGeom prst="roundRect">
            <a:avLst>
              <a:gd name="adj" fmla="val 6154"/>
            </a:avLst>
          </a:prstGeom>
          <a:solidFill>
            <a:schemeClr val="tx1"/>
          </a:solidFill>
          <a:ln/>
        </p:spPr>
      </p:sp>
      <p:sp>
        <p:nvSpPr>
          <p:cNvPr id="7" name="code"/>
          <p:cNvSpPr txBox="1"/>
          <p:nvPr/>
        </p:nvSpPr>
        <p:spPr>
          <a:xfrm>
            <a:off x="713232" y="3191256"/>
            <a:ext cx="7717536" cy="1024128"/>
          </a:xfrm>
          <a:prstGeom prst="rect">
            <a:avLst/>
          </a:prstGeom>
          <a:noFill/>
          <a:ln/>
        </p:spPr>
        <p:txBody>
          <a:bodyPr wrap="square" lIns="0" tIns="0" rIns="0" bIns="0" rtlCol="0" anchor="ctr"/>
          <a:lstStyle/>
          <a:p>
            <a:pPr indent="0" marL="0">
              <a:lnSpc>
                <a:spcPts val="3360"/>
              </a:lnSpc>
              <a:buNone/>
            </a:pPr>
            <a:r>
              <a:rPr lang="en-US" sz="2400" dirty="0">
                <a:solidFill>
                  <a:schemeClr val="bg2"/>
                </a:solidFill>
                <a:latin typeface="Courier New" pitchFamily="34" charset="0"/>
                <a:ea typeface="Courier New" pitchFamily="34" charset="-122"/>
                <a:cs typeface="Courier New" pitchFamily="34" charset="-120"/>
              </a:rPr>
              <a:t>environment:</a:t>
            </a:r>
            <a:endParaRPr lang="en-US" sz="2400" dirty="0"/>
          </a:p>
          <a:p>
            <a:pPr indent="0" marL="0">
              <a:lnSpc>
                <a:spcPts val="3360"/>
              </a:lnSpc>
              <a:buNone/>
            </a:pPr>
            <a:r>
              <a:rPr lang="en-US" sz="2400" dirty="0">
                <a:solidFill>
                  <a:schemeClr val="bg2"/>
                </a:solidFill>
                <a:latin typeface="Courier New" pitchFamily="34" charset="0"/>
                <a:ea typeface="Courier New" pitchFamily="34" charset="-122"/>
                <a:cs typeface="Courier New" pitchFamily="34" charset="-120"/>
              </a:rPr>
              <a:t>  GREETING: hello</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name is the address</a:t>
            </a:r>
            <a:endParaRPr lang="en-US" sz="3400" dirty="0"/>
          </a:p>
        </p:txBody>
      </p:sp>
      <p:sp>
        <p:nvSpPr>
          <p:cNvPr id="4" name="Text 1"/>
          <p:cNvSpPr txBox="1"/>
          <p:nvPr/>
        </p:nvSpPr>
        <p:spPr>
          <a:xfrm>
            <a:off x="548640" y="1005840"/>
            <a:ext cx="8046720" cy="777240"/>
          </a:xfrm>
          <a:prstGeom prst="rect">
            <a:avLst/>
          </a:prstGeom>
          <a:noFill/>
          <a:ln/>
        </p:spPr>
        <p:txBody>
          <a:bodyPr wrap="square" lIns="0" tIns="0" rIns="0" bIns="0" rtlCol="0" anchor="ctr"/>
          <a:lstStyle/>
          <a:p>
            <a:pPr indent="0" marL="0">
              <a:buNone/>
            </a:pPr>
            <a:r>
              <a:rPr lang="en-US" sz="2400" b="1" dirty="0">
                <a:solidFill>
                  <a:schemeClr val="tx1"/>
                </a:solidFill>
              </a:rPr>
              <a:t>Compose makes a network. On it, a service name is a host name.</a:t>
            </a:r>
            <a:endParaRPr lang="en-US" sz="2400" dirty="0"/>
          </a:p>
        </p:txBody>
      </p:sp>
      <p:sp>
        <p:nvSpPr>
          <p:cNvPr id="5" name="compose network"/>
          <p:cNvSpPr/>
          <p:nvPr/>
        </p:nvSpPr>
        <p:spPr>
          <a:xfrm>
            <a:off x="548640" y="2011680"/>
            <a:ext cx="8046720" cy="2468880"/>
          </a:xfrm>
          <a:prstGeom prst="roundRect">
            <a:avLst>
              <a:gd name="adj" fmla="val 296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77240" y="2103120"/>
            <a:ext cx="4572000" cy="411480"/>
          </a:xfrm>
          <a:prstGeom prst="rect">
            <a:avLst/>
          </a:prstGeom>
          <a:noFill/>
          <a:ln/>
        </p:spPr>
        <p:txBody>
          <a:bodyPr wrap="square" lIns="0" tIns="0" rIns="0" bIns="0" rtlCol="0" anchor="ctr"/>
          <a:lstStyle/>
          <a:p>
            <a:pPr indent="0" marL="0">
              <a:buNone/>
            </a:pPr>
            <a:r>
              <a:rPr lang="en-US" sz="1800" b="1" dirty="0">
                <a:solidFill>
                  <a:srgbClr val="57606A"/>
                </a:solidFill>
                <a:latin typeface="Courier New" pitchFamily="34" charset="0"/>
                <a:ea typeface="Courier New" pitchFamily="34" charset="-122"/>
                <a:cs typeface="Courier New" pitchFamily="34" charset="-120"/>
              </a:rPr>
              <a:t>compose network</a:t>
            </a:r>
            <a:endParaRPr lang="en-US" sz="1800" dirty="0"/>
          </a:p>
        </p:txBody>
      </p:sp>
      <p:sp>
        <p:nvSpPr>
          <p:cNvPr id="7" name="service web"/>
          <p:cNvSpPr/>
          <p:nvPr/>
        </p:nvSpPr>
        <p:spPr>
          <a:xfrm>
            <a:off x="1097280" y="3017520"/>
            <a:ext cx="2194560" cy="1005840"/>
          </a:xfrm>
          <a:prstGeom prst="roundRect">
            <a:avLst>
              <a:gd name="adj" fmla="val 7273"/>
            </a:avLst>
          </a:prstGeom>
          <a:solidFill>
            <a:srgbClr val="FFFFFF"/>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1143000" y="3017520"/>
            <a:ext cx="2103120" cy="1005840"/>
          </a:xfrm>
          <a:prstGeom prst="rect">
            <a:avLst/>
          </a:prstGeom>
          <a:no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web</a:t>
            </a:r>
            <a:endParaRPr lang="en-US" sz="2400" dirty="0"/>
          </a:p>
        </p:txBody>
      </p:sp>
      <p:sp>
        <p:nvSpPr>
          <p:cNvPr id="9" name="service db"/>
          <p:cNvSpPr/>
          <p:nvPr/>
        </p:nvSpPr>
        <p:spPr>
          <a:xfrm>
            <a:off x="5852160" y="3017520"/>
            <a:ext cx="2194560" cy="1005840"/>
          </a:xfrm>
          <a:prstGeom prst="roundRect">
            <a:avLst>
              <a:gd name="adj" fmla="val 7273"/>
            </a:avLst>
          </a:prstGeom>
          <a:solidFill>
            <a:srgbClr val="FFFFFF"/>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5897880" y="3017520"/>
            <a:ext cx="2103120" cy="1005840"/>
          </a:xfrm>
          <a:prstGeom prst="rect">
            <a:avLst/>
          </a:prstGeom>
          <a:noFill/>
          <a:ln/>
        </p:spPr>
        <p:txBody>
          <a:bodyPr wrap="square" lIns="0" tIns="0" rIns="0" bIns="0" rtlCol="0" anchor="ctr"/>
          <a:lstStyle/>
          <a:p>
            <a:pPr algn="ctr" indent="0" marL="0">
              <a:buNone/>
            </a:pPr>
            <a:r>
              <a:rPr lang="en-US" sz="2400" b="1" dirty="0">
                <a:solidFill>
                  <a:schemeClr val="tx1"/>
                </a:solidFill>
                <a:latin typeface="Courier New" pitchFamily="34" charset="0"/>
                <a:ea typeface="Courier New" pitchFamily="34" charset="-122"/>
                <a:cs typeface="Courier New" pitchFamily="34" charset="-120"/>
              </a:rPr>
              <a:t>db</a:t>
            </a:r>
            <a:endParaRPr lang="en-US" sz="2400" dirty="0"/>
          </a:p>
        </p:txBody>
      </p:sp>
      <p:sp>
        <p:nvSpPr>
          <p:cNvPr id="11" name="name arrow"/>
          <p:cNvSpPr/>
          <p:nvPr/>
        </p:nvSpPr>
        <p:spPr>
          <a:xfrm>
            <a:off x="3474720" y="3337560"/>
            <a:ext cx="2194560" cy="365760"/>
          </a:xfrm>
          <a:prstGeom prst="rightArrow">
            <a:avLst/>
          </a:prstGeom>
          <a:solidFill>
            <a:srgbClr val="0969DA"/>
          </a:solidFill>
          <a:ln/>
        </p:spPr>
      </p:sp>
      <p:sp>
        <p:nvSpPr>
          <p:cNvPr id="12" name="Text 9"/>
          <p:cNvSpPr txBox="1"/>
          <p:nvPr/>
        </p:nvSpPr>
        <p:spPr>
          <a:xfrm>
            <a:off x="3291840" y="2880360"/>
            <a:ext cx="2560320" cy="365760"/>
          </a:xfrm>
          <a:prstGeom prst="rect">
            <a:avLst/>
          </a:prstGeom>
          <a:noFill/>
          <a:ln/>
        </p:spPr>
        <p:txBody>
          <a:bodyPr wrap="square" lIns="0" tIns="0" rIns="0" bIns="0" rtlCol="0" anchor="ctr"/>
          <a:lstStyle/>
          <a:p>
            <a:pPr algn="ctr" indent="0" marL="0">
              <a:buNone/>
            </a:pPr>
            <a:r>
              <a:rPr lang="en-US" sz="1800" b="1" dirty="0">
                <a:solidFill>
                  <a:srgbClr val="0969DA"/>
                </a:solidFill>
                <a:latin typeface="Courier New" pitchFamily="34" charset="0"/>
                <a:ea typeface="Courier New" pitchFamily="34" charset="-122"/>
                <a:cs typeface="Courier New" pitchFamily="34" charset="-120"/>
              </a:rPr>
              <a:t>PGHOST: db</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Live: web and a database</a:t>
            </a:r>
            <a:endParaRPr lang="en-US" sz="3400" dirty="0"/>
          </a:p>
        </p:txBody>
      </p:sp>
      <p:sp>
        <p:nvSpPr>
          <p:cNvPr id="4" name="Text 1"/>
          <p:cNvSpPr txBox="1"/>
          <p:nvPr/>
        </p:nvSpPr>
        <p:spPr>
          <a:xfrm>
            <a:off x="548640" y="1097280"/>
            <a:ext cx="8046720" cy="822960"/>
          </a:xfrm>
          <a:prstGeom prst="rect">
            <a:avLst/>
          </a:prstGeom>
          <a:noFill/>
          <a:ln/>
        </p:spPr>
        <p:txBody>
          <a:bodyPr wrap="square" lIns="0" tIns="0" rIns="0" bIns="0" rtlCol="0" anchor="ctr"/>
          <a:lstStyle/>
          <a:p>
            <a:pPr indent="0" marL="0">
              <a:buNone/>
            </a:pPr>
            <a:r>
              <a:rPr lang="en-US" sz="3000" b="1" dirty="0">
                <a:solidFill>
                  <a:schemeClr val="tx1"/>
                </a:solidFill>
                <a:latin typeface="Courier New" pitchFamily="34" charset="0"/>
                <a:ea typeface="Courier New" pitchFamily="34" charset="-122"/>
                <a:cs typeface="Courier New" pitchFamily="34" charset="-120"/>
              </a:rPr>
              <a:t>web</a:t>
            </a:r>
            <a:pPr indent="0" marL="0">
              <a:buNone/>
            </a:pPr>
            <a:r>
              <a:rPr lang="en-US" sz="3200" b="1" dirty="0">
                <a:solidFill>
                  <a:schemeClr val="tx1"/>
                </a:solidFill>
              </a:rPr>
              <a:t> is built. </a:t>
            </a:r>
            <a:pPr indent="0" marL="0">
              <a:buNone/>
            </a:pPr>
            <a:r>
              <a:rPr lang="en-US" sz="3000" b="1" dirty="0">
                <a:solidFill>
                  <a:schemeClr val="tx1"/>
                </a:solidFill>
                <a:latin typeface="Courier New" pitchFamily="34" charset="0"/>
                <a:ea typeface="Courier New" pitchFamily="34" charset="-122"/>
                <a:cs typeface="Courier New" pitchFamily="34" charset="-120"/>
              </a:rPr>
              <a:t>db</a:t>
            </a:r>
            <a:pPr indent="0" marL="0">
              <a:buNone/>
            </a:pPr>
            <a:r>
              <a:rPr lang="en-US" sz="3200" b="1" dirty="0">
                <a:solidFill>
                  <a:schemeClr val="tx1"/>
                </a:solidFill>
              </a:rPr>
              <a:t> is pulled.</a:t>
            </a:r>
            <a:endParaRPr lang="en-US" sz="3200" dirty="0"/>
          </a:p>
        </p:txBody>
      </p:sp>
      <p:sp>
        <p:nvSpPr>
          <p:cNvPr id="5" name="question panel"/>
          <p:cNvSpPr/>
          <p:nvPr/>
        </p:nvSpPr>
        <p:spPr>
          <a:xfrm>
            <a:off x="548640" y="2194560"/>
            <a:ext cx="8046720" cy="2377440"/>
          </a:xfrm>
          <a:prstGeom prst="roundRect">
            <a:avLst>
              <a:gd name="adj" fmla="val 3077"/>
            </a:avLst>
          </a:prstGeom>
          <a:solidFill>
            <a:schemeClr val="tx1"/>
          </a:solidFill>
          <a:ln/>
        </p:spPr>
      </p:sp>
      <p:sp>
        <p:nvSpPr>
          <p:cNvPr id="6" name="Text 3"/>
          <p:cNvSpPr txBox="1"/>
          <p:nvPr/>
        </p:nvSpPr>
        <p:spPr>
          <a:xfrm>
            <a:off x="914400" y="2194560"/>
            <a:ext cx="7315200" cy="2377440"/>
          </a:xfrm>
          <a:prstGeom prst="rect">
            <a:avLst/>
          </a:prstGeom>
          <a:noFill/>
          <a:ln/>
        </p:spPr>
        <p:txBody>
          <a:bodyPr wrap="square" lIns="0" tIns="0" rIns="0" bIns="0" rtlCol="0" anchor="ctr"/>
          <a:lstStyle/>
          <a:p>
            <a:pPr indent="0" marL="0">
              <a:buNone/>
            </a:pPr>
            <a:r>
              <a:rPr lang="en-US" sz="3400" b="1" dirty="0">
                <a:solidFill>
                  <a:schemeClr val="bg1"/>
                </a:solidFill>
              </a:rPr>
              <a:t>What do you expect when </a:t>
            </a:r>
            <a:pPr indent="0" marL="0">
              <a:buNone/>
            </a:pPr>
            <a:r>
              <a:rPr lang="en-US" sz="3200" b="1" dirty="0">
                <a:solidFill>
                  <a:schemeClr val="bg1"/>
                </a:solidFill>
                <a:latin typeface="Courier New" pitchFamily="34" charset="0"/>
                <a:ea typeface="Courier New" pitchFamily="34" charset="-122"/>
                <a:cs typeface="Courier New" pitchFamily="34" charset="-120"/>
              </a:rPr>
              <a:t>web</a:t>
            </a:r>
            <a:pPr indent="0" marL="0">
              <a:buNone/>
            </a:pPr>
            <a:r>
              <a:rPr lang="en-US" sz="3400" b="1" dirty="0">
                <a:solidFill>
                  <a:schemeClr val="bg1"/>
                </a:solidFill>
              </a:rPr>
              <a:t> asks for </a:t>
            </a:r>
            <a:pPr indent="0" marL="0">
              <a:buNone/>
            </a:pPr>
            <a:r>
              <a:rPr lang="en-US" sz="3200" b="1" dirty="0">
                <a:solidFill>
                  <a:schemeClr val="bg1"/>
                </a:solidFill>
                <a:latin typeface="Courier New" pitchFamily="34" charset="0"/>
                <a:ea typeface="Courier New" pitchFamily="34" charset="-122"/>
                <a:cs typeface="Courier New" pitchFamily="34" charset="-120"/>
              </a:rPr>
              <a:t>db</a:t>
            </a:r>
            <a:pPr indent="0" marL="0">
              <a:buNone/>
            </a:pPr>
            <a:r>
              <a:rPr lang="en-US" sz="3400" b="1" dirty="0">
                <a:solidFill>
                  <a:schemeClr val="bg1"/>
                </a:solidFill>
              </a:rPr>
              <a:t>?</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Run it</a:t>
            </a:r>
            <a:endParaRPr lang="en-US" sz="3400" dirty="0"/>
          </a:p>
        </p:txBody>
      </p:sp>
      <p:sp>
        <p:nvSpPr>
          <p:cNvPr id="4" name="step 1 circle"/>
          <p:cNvSpPr/>
          <p:nvPr/>
        </p:nvSpPr>
        <p:spPr>
          <a:xfrm>
            <a:off x="548640" y="1645920"/>
            <a:ext cx="457200" cy="457200"/>
          </a:xfrm>
          <a:prstGeom prst="ellipse">
            <a:avLst/>
          </a:prstGeom>
          <a:solidFill>
            <a:schemeClr val="accent1"/>
          </a:solidFill>
          <a:ln/>
        </p:spPr>
      </p:sp>
      <p:sp>
        <p:nvSpPr>
          <p:cNvPr id="5" name="step 1 letter"/>
          <p:cNvSpPr txBox="1"/>
          <p:nvPr/>
        </p:nvSpPr>
        <p:spPr>
          <a:xfrm>
            <a:off x="548640" y="164592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280160"/>
            <a:ext cx="7360920" cy="274320"/>
          </a:xfrm>
          <a:prstGeom prst="rect">
            <a:avLst/>
          </a:prstGeom>
          <a:noFill/>
          <a:ln/>
        </p:spPr>
        <p:txBody>
          <a:bodyPr wrap="square" lIns="0" tIns="0" rIns="0" bIns="0" rtlCol="0" anchor="ctr"/>
          <a:lstStyle/>
          <a:p>
            <a:pPr indent="0" marL="0">
              <a:buNone/>
            </a:pPr>
            <a:r>
              <a:rPr lang="en-US" sz="1600" b="1" dirty="0">
                <a:solidFill>
                  <a:schemeClr val="accent6"/>
                </a:solidFill>
              </a:rPr>
              <a:t>First terminal:</a:t>
            </a:r>
            <a:endParaRPr lang="en-US" sz="1600" dirty="0"/>
          </a:p>
        </p:txBody>
      </p:sp>
      <p:sp>
        <p:nvSpPr>
          <p:cNvPr id="7" name="command 1"/>
          <p:cNvSpPr/>
          <p:nvPr/>
        </p:nvSpPr>
        <p:spPr>
          <a:xfrm>
            <a:off x="1234440" y="1591056"/>
            <a:ext cx="7360920" cy="566928"/>
          </a:xfrm>
          <a:prstGeom prst="roundRect">
            <a:avLst>
              <a:gd name="adj" fmla="val 12903"/>
            </a:avLst>
          </a:prstGeom>
          <a:solidFill>
            <a:schemeClr val="tx1"/>
          </a:solidFill>
          <a:ln/>
        </p:spPr>
      </p:sp>
      <p:sp>
        <p:nvSpPr>
          <p:cNvPr id="8" name="code"/>
          <p:cNvSpPr txBox="1"/>
          <p:nvPr/>
        </p:nvSpPr>
        <p:spPr>
          <a:xfrm>
            <a:off x="1399032" y="1673352"/>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compose up --build</a:t>
            </a:r>
            <a:endParaRPr lang="en-US" sz="2000" dirty="0"/>
          </a:p>
        </p:txBody>
      </p:sp>
      <p:sp>
        <p:nvSpPr>
          <p:cNvPr id="9" name="step 2 circle"/>
          <p:cNvSpPr/>
          <p:nvPr/>
        </p:nvSpPr>
        <p:spPr>
          <a:xfrm>
            <a:off x="548640" y="2935224"/>
            <a:ext cx="457200" cy="457200"/>
          </a:xfrm>
          <a:prstGeom prst="ellipse">
            <a:avLst/>
          </a:prstGeom>
          <a:solidFill>
            <a:schemeClr val="accent1"/>
          </a:solidFill>
          <a:ln/>
        </p:spPr>
      </p:sp>
      <p:sp>
        <p:nvSpPr>
          <p:cNvPr id="10" name="step 2 letter"/>
          <p:cNvSpPr txBox="1"/>
          <p:nvPr/>
        </p:nvSpPr>
        <p:spPr>
          <a:xfrm>
            <a:off x="548640" y="2935224"/>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234440" y="2569464"/>
            <a:ext cx="7360920" cy="274320"/>
          </a:xfrm>
          <a:prstGeom prst="rect">
            <a:avLst/>
          </a:prstGeom>
          <a:noFill/>
          <a:ln/>
        </p:spPr>
        <p:txBody>
          <a:bodyPr wrap="square" lIns="0" tIns="0" rIns="0" bIns="0" rtlCol="0" anchor="ctr"/>
          <a:lstStyle/>
          <a:p>
            <a:pPr indent="0" marL="0">
              <a:buNone/>
            </a:pPr>
            <a:r>
              <a:rPr lang="en-US" sz="1600" b="1" dirty="0">
                <a:solidFill>
                  <a:schemeClr val="accent6"/>
                </a:solidFill>
              </a:rPr>
              <a:t>Second terminal:</a:t>
            </a:r>
            <a:endParaRPr lang="en-US" sz="1600" dirty="0"/>
          </a:p>
        </p:txBody>
      </p:sp>
      <p:sp>
        <p:nvSpPr>
          <p:cNvPr id="12" name="command 2"/>
          <p:cNvSpPr/>
          <p:nvPr/>
        </p:nvSpPr>
        <p:spPr>
          <a:xfrm>
            <a:off x="1234440" y="2880360"/>
            <a:ext cx="7360920" cy="566928"/>
          </a:xfrm>
          <a:prstGeom prst="roundRect">
            <a:avLst>
              <a:gd name="adj" fmla="val 12903"/>
            </a:avLst>
          </a:prstGeom>
          <a:solidFill>
            <a:schemeClr val="tx1"/>
          </a:solidFill>
          <a:ln/>
        </p:spPr>
      </p:sp>
      <p:sp>
        <p:nvSpPr>
          <p:cNvPr id="13" name="code"/>
          <p:cNvSpPr txBox="1"/>
          <p:nvPr/>
        </p:nvSpPr>
        <p:spPr>
          <a:xfrm>
            <a:off x="1399032" y="2962656"/>
            <a:ext cx="7031736" cy="402336"/>
          </a:xfrm>
          <a:prstGeom prst="rect">
            <a:avLst/>
          </a:prstGeom>
          <a:noFill/>
          <a:ln/>
        </p:spPr>
        <p:txBody>
          <a:bodyPr wrap="square" lIns="0" tIns="0" rIns="0" bIns="0" rtlCol="0" anchor="ctr"/>
          <a:lstStyle/>
          <a:p>
            <a:pPr indent="0" marL="0">
              <a:lnSpc>
                <a:spcPts val="2400"/>
              </a:lnSpc>
              <a:buNone/>
            </a:pPr>
            <a:r>
              <a:rPr lang="en-US" sz="2000" dirty="0">
                <a:solidFill>
                  <a:schemeClr val="bg2"/>
                </a:solidFill>
                <a:latin typeface="Courier New" pitchFamily="34" charset="0"/>
                <a:ea typeface="Courier New" pitchFamily="34" charset="-122"/>
                <a:cs typeface="Courier New" pitchFamily="34" charset="-120"/>
              </a:rPr>
              <a:t>docker compose logs -f db</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Last time</a:t>
            </a:r>
            <a:endParaRPr lang="en-US" sz="3400" dirty="0"/>
          </a:p>
        </p:txBody>
      </p:sp>
      <p:sp>
        <p:nvSpPr>
          <p:cNvPr id="4" name="question banner"/>
          <p:cNvSpPr/>
          <p:nvPr/>
        </p:nvSpPr>
        <p:spPr>
          <a:xfrm>
            <a:off x="320040" y="1005840"/>
            <a:ext cx="8503920" cy="457200"/>
          </a:xfrm>
          <a:prstGeom prst="roundRect">
            <a:avLst>
              <a:gd name="adj" fmla="val 16000"/>
            </a:avLst>
          </a:prstGeom>
          <a:solidFill>
            <a:schemeClr val="tx1"/>
          </a:solidFill>
          <a:ln/>
        </p:spPr>
      </p:sp>
      <p:sp>
        <p:nvSpPr>
          <p:cNvPr id="5" name="Text 2"/>
          <p:cNvSpPr txBox="1"/>
          <p:nvPr/>
        </p:nvSpPr>
        <p:spPr>
          <a:xfrm>
            <a:off x="548640" y="1005840"/>
            <a:ext cx="8046720" cy="457200"/>
          </a:xfrm>
          <a:prstGeom prst="rect">
            <a:avLst/>
          </a:prstGeom>
          <a:noFill/>
          <a:ln/>
        </p:spPr>
        <p:txBody>
          <a:bodyPr wrap="square" lIns="0" tIns="0" rIns="0" bIns="0" rtlCol="0" anchor="ctr"/>
          <a:lstStyle/>
          <a:p>
            <a:pPr indent="0" marL="0">
              <a:buNone/>
            </a:pPr>
            <a:r>
              <a:rPr lang="en-US" sz="2000" b="1" dirty="0">
                <a:solidFill>
                  <a:srgbClr val="E3B341"/>
                </a:solidFill>
              </a:rPr>
              <a:t>A network by hand and two long </a:t>
            </a:r>
            <a:pPr indent="0" marL="0">
              <a:buNone/>
            </a:pPr>
            <a:r>
              <a:rPr lang="en-US" sz="2000" b="1" dirty="0">
                <a:solidFill>
                  <a:srgbClr val="E3B341"/>
                </a:solidFill>
                <a:latin typeface="Courier New" pitchFamily="34" charset="0"/>
                <a:ea typeface="Courier New" pitchFamily="34" charset="-122"/>
                <a:cs typeface="Courier New" pitchFamily="34" charset="-120"/>
              </a:rPr>
              <a:t>docker run</a:t>
            </a:r>
            <a:pPr indent="0" marL="0">
              <a:buNone/>
            </a:pPr>
            <a:r>
              <a:rPr lang="en-US" sz="2000" b="1" dirty="0">
                <a:solidFill>
                  <a:srgbClr val="E3B341"/>
                </a:solidFill>
              </a:rPr>
              <a:t> lines.</a:t>
            </a:r>
            <a:endParaRPr lang="en-US" sz="2000" dirty="0"/>
          </a:p>
        </p:txBody>
      </p:sp>
      <p:sp>
        <p:nvSpPr>
          <p:cNvPr id="6" name="code panel"/>
          <p:cNvSpPr/>
          <p:nvPr/>
        </p:nvSpPr>
        <p:spPr>
          <a:xfrm>
            <a:off x="320040" y="1554480"/>
            <a:ext cx="8503920" cy="2011680"/>
          </a:xfrm>
          <a:prstGeom prst="roundRect">
            <a:avLst>
              <a:gd name="adj" fmla="val 3636"/>
            </a:avLst>
          </a:prstGeom>
          <a:solidFill>
            <a:schemeClr val="tx1"/>
          </a:solidFill>
          <a:ln/>
        </p:spPr>
      </p:sp>
      <p:sp>
        <p:nvSpPr>
          <p:cNvPr id="7" name="code"/>
          <p:cNvSpPr txBox="1"/>
          <p:nvPr/>
        </p:nvSpPr>
        <p:spPr>
          <a:xfrm>
            <a:off x="429768" y="1636776"/>
            <a:ext cx="8284464" cy="1847088"/>
          </a:xfrm>
          <a:prstGeom prst="rect">
            <a:avLst/>
          </a:prstGeom>
          <a:noFill/>
          <a:ln/>
        </p:spPr>
        <p:txBody>
          <a:bodyPr wrap="square" lIns="0" tIns="0" rIns="0" bIns="0" rtlCol="0" anchor="t"/>
          <a:lstStyle/>
          <a:p>
            <a:pPr indent="0" marL="0">
              <a:lnSpc>
                <a:spcPts val="2380"/>
              </a:lnSpc>
              <a:buNone/>
            </a:pPr>
            <a:r>
              <a:rPr lang="en-US" sz="1400" dirty="0">
                <a:solidFill>
                  <a:schemeClr val="bg2"/>
                </a:solidFill>
                <a:latin typeface="Courier New" pitchFamily="34" charset="0"/>
                <a:ea typeface="Courier New" pitchFamily="34" charset="-122"/>
                <a:cs typeface="Courier New" pitchFamily="34" charset="-120"/>
              </a:rPr>
              <a:t>docker network create tasks-net</a:t>
            </a:r>
            <a:endParaRPr lang="en-US" sz="1400" dirty="0"/>
          </a:p>
          <a:p>
            <a:pPr indent="0" marL="0">
              <a:lnSpc>
                <a:spcPts val="2380"/>
              </a:lnSpc>
              <a:buNone/>
            </a:pPr>
            <a:r>
              <a:rPr lang="en-US" sz="1400" dirty="0">
                <a:solidFill>
                  <a:schemeClr val="bg2"/>
                </a:solidFill>
                <a:latin typeface="Courier New" pitchFamily="34" charset="0"/>
                <a:ea typeface="Courier New" pitchFamily="34" charset="-122"/>
                <a:cs typeface="Courier New" pitchFamily="34" charset="-120"/>
              </a:rPr>
              <a:t>docker run --rm --name title-normalizer --network tasks-net title-normalizer</a:t>
            </a:r>
            <a:endParaRPr lang="en-US" sz="1400" dirty="0"/>
          </a:p>
          <a:p>
            <a:pPr indent="0" marL="0">
              <a:lnSpc>
                <a:spcPts val="2380"/>
              </a:lnSpc>
              <a:buNone/>
            </a:pPr>
            <a:r>
              <a:rPr lang="en-US" sz="1400" dirty="0">
                <a:solidFill>
                  <a:schemeClr val="bg2"/>
                </a:solidFill>
                <a:latin typeface="Courier New" pitchFamily="34" charset="0"/>
                <a:ea typeface="Courier New" pitchFamily="34" charset="-122"/>
                <a:cs typeface="Courier New" pitchFamily="34" charset="-120"/>
              </a:rPr>
              <a:t>docker run --rm --name tasks-api --network tasks-net \</a:t>
            </a:r>
            <a:endParaRPr lang="en-US" sz="1400" dirty="0"/>
          </a:p>
          <a:p>
            <a:pPr indent="0" marL="0">
              <a:lnSpc>
                <a:spcPts val="2380"/>
              </a:lnSpc>
              <a:buNone/>
            </a:pPr>
            <a:r>
              <a:rPr lang="en-US" sz="1400" dirty="0">
                <a:solidFill>
                  <a:schemeClr val="bg2"/>
                </a:solidFill>
                <a:latin typeface="Courier New" pitchFamily="34" charset="0"/>
                <a:ea typeface="Courier New" pitchFamily="34" charset="-122"/>
                <a:cs typeface="Courier New" pitchFamily="34" charset="-120"/>
              </a:rPr>
              <a:t>  -p 5000:5000 -e NORMALIZER_URL=http://title-normalizer:5001 tasks-api</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Why it fails here</a:t>
            </a:r>
            <a:endParaRPr lang="en-US" sz="3400" dirty="0"/>
          </a:p>
        </p:txBody>
      </p:sp>
      <p:sp>
        <p:nvSpPr>
          <p:cNvPr id="4" name="step 1 circle"/>
          <p:cNvSpPr/>
          <p:nvPr/>
        </p:nvSpPr>
        <p:spPr>
          <a:xfrm>
            <a:off x="548640" y="1298448"/>
            <a:ext cx="457200" cy="457200"/>
          </a:xfrm>
          <a:prstGeom prst="ellipse">
            <a:avLst/>
          </a:prstGeom>
          <a:solidFill>
            <a:schemeClr val="accent1"/>
          </a:solidFill>
          <a:ln/>
        </p:spPr>
      </p:sp>
      <p:sp>
        <p:nvSpPr>
          <p:cNvPr id="5" name="step 1 letter"/>
          <p:cNvSpPr txBox="1"/>
          <p:nvPr/>
        </p:nvSpPr>
        <p:spPr>
          <a:xfrm>
            <a:off x="548640" y="129844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280160"/>
            <a:ext cx="7360920" cy="493776"/>
          </a:xfrm>
          <a:prstGeom prst="rect">
            <a:avLst/>
          </a:prstGeom>
          <a:noFill/>
          <a:ln/>
        </p:spPr>
        <p:txBody>
          <a:bodyPr wrap="square" lIns="0" tIns="0" rIns="0" bIns="0" rtlCol="0" anchor="ctr"/>
          <a:lstStyle/>
          <a:p>
            <a:pPr indent="0" marL="0">
              <a:buNone/>
            </a:pPr>
            <a:r>
              <a:rPr lang="en-US" sz="2600" b="1" dirty="0">
                <a:solidFill>
                  <a:schemeClr val="tx1"/>
                </a:solidFill>
              </a:rPr>
              <a:t>The Codespace host has a firewall.</a:t>
            </a:r>
            <a:endParaRPr lang="en-US" sz="2600" dirty="0"/>
          </a:p>
        </p:txBody>
      </p:sp>
      <p:sp>
        <p:nvSpPr>
          <p:cNvPr id="7" name="step 2 circle"/>
          <p:cNvSpPr/>
          <p:nvPr/>
        </p:nvSpPr>
        <p:spPr>
          <a:xfrm>
            <a:off x="548640" y="2259307"/>
            <a:ext cx="457200" cy="457200"/>
          </a:xfrm>
          <a:prstGeom prst="ellipse">
            <a:avLst/>
          </a:prstGeom>
          <a:solidFill>
            <a:schemeClr val="accent1"/>
          </a:solidFill>
          <a:ln/>
        </p:spPr>
      </p:sp>
      <p:sp>
        <p:nvSpPr>
          <p:cNvPr id="8" name="step 2 letter"/>
          <p:cNvSpPr txBox="1"/>
          <p:nvPr/>
        </p:nvSpPr>
        <p:spPr>
          <a:xfrm>
            <a:off x="548640" y="2259307"/>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2048256"/>
            <a:ext cx="7360920" cy="879302"/>
          </a:xfrm>
          <a:prstGeom prst="rect">
            <a:avLst/>
          </a:prstGeom>
          <a:noFill/>
          <a:ln/>
        </p:spPr>
        <p:txBody>
          <a:bodyPr wrap="square" lIns="0" tIns="0" rIns="0" bIns="0" rtlCol="0" anchor="ctr"/>
          <a:lstStyle/>
          <a:p>
            <a:pPr indent="0" marL="0">
              <a:buNone/>
            </a:pPr>
            <a:r>
              <a:rPr lang="en-US" sz="2600" b="1" dirty="0">
                <a:solidFill>
                  <a:schemeClr val="tx1"/>
                </a:solidFill>
              </a:rPr>
              <a:t>Traffic between containers on a Docker network is forwarded traffic.</a:t>
            </a:r>
            <a:endParaRPr lang="en-US" sz="2600" dirty="0"/>
          </a:p>
        </p:txBody>
      </p:sp>
      <p:sp>
        <p:nvSpPr>
          <p:cNvPr id="10" name="step 3 circle"/>
          <p:cNvSpPr/>
          <p:nvPr/>
        </p:nvSpPr>
        <p:spPr>
          <a:xfrm>
            <a:off x="548640" y="3412929"/>
            <a:ext cx="457200" cy="457200"/>
          </a:xfrm>
          <a:prstGeom prst="ellipse">
            <a:avLst/>
          </a:prstGeom>
          <a:solidFill>
            <a:schemeClr val="accent1"/>
          </a:solidFill>
          <a:ln/>
        </p:spPr>
      </p:sp>
      <p:sp>
        <p:nvSpPr>
          <p:cNvPr id="11" name="step 3 letter"/>
          <p:cNvSpPr txBox="1"/>
          <p:nvPr/>
        </p:nvSpPr>
        <p:spPr>
          <a:xfrm>
            <a:off x="548640" y="3412929"/>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3201878"/>
            <a:ext cx="7360920" cy="879302"/>
          </a:xfrm>
          <a:prstGeom prst="rect">
            <a:avLst/>
          </a:prstGeom>
          <a:noFill/>
          <a:ln/>
        </p:spPr>
        <p:txBody>
          <a:bodyPr wrap="square" lIns="0" tIns="0" rIns="0" bIns="0" rtlCol="0" anchor="ctr"/>
          <a:lstStyle/>
          <a:p>
            <a:pPr indent="0" marL="0">
              <a:buNone/>
            </a:pPr>
            <a:r>
              <a:rPr lang="en-US" sz="2600" b="1" dirty="0">
                <a:solidFill>
                  <a:schemeClr val="tx1"/>
                </a:solidFill>
              </a:rPr>
              <a:t>Its default rule for forwarded traffic is DROP, so here it is dropped.</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firewall command</a:t>
            </a:r>
            <a:endParaRPr lang="en-US" sz="3400" dirty="0"/>
          </a:p>
        </p:txBody>
      </p:sp>
      <p:sp>
        <p:nvSpPr>
          <p:cNvPr id="4" name="command panel firewall"/>
          <p:cNvSpPr/>
          <p:nvPr/>
        </p:nvSpPr>
        <p:spPr>
          <a:xfrm>
            <a:off x="548640" y="1097280"/>
            <a:ext cx="8046720" cy="1188720"/>
          </a:xfrm>
          <a:prstGeom prst="roundRect">
            <a:avLst>
              <a:gd name="adj" fmla="val 6154"/>
            </a:avLst>
          </a:prstGeom>
          <a:solidFill>
            <a:schemeClr val="tx1"/>
          </a:solidFill>
          <a:ln/>
        </p:spPr>
      </p:sp>
      <p:sp>
        <p:nvSpPr>
          <p:cNvPr id="5" name="code"/>
          <p:cNvSpPr txBox="1"/>
          <p:nvPr/>
        </p:nvSpPr>
        <p:spPr>
          <a:xfrm>
            <a:off x="713232" y="1179576"/>
            <a:ext cx="7717536" cy="1024128"/>
          </a:xfrm>
          <a:prstGeom prst="rect">
            <a:avLst/>
          </a:prstGeom>
          <a:noFill/>
          <a:ln/>
        </p:spPr>
        <p:txBody>
          <a:bodyPr wrap="square" lIns="0" tIns="0" rIns="0" bIns="0" rtlCol="0" anchor="ctr"/>
          <a:lstStyle/>
          <a:p>
            <a:pPr indent="0" marL="0">
              <a:lnSpc>
                <a:spcPts val="3300"/>
              </a:lnSpc>
              <a:buNone/>
            </a:pPr>
            <a:r>
              <a:rPr lang="en-US" sz="2200" dirty="0">
                <a:solidFill>
                  <a:schemeClr val="bg2"/>
                </a:solidFill>
                <a:latin typeface="Courier New" pitchFamily="34" charset="0"/>
                <a:ea typeface="Courier New" pitchFamily="34" charset="-122"/>
                <a:cs typeface="Courier New" pitchFamily="34" charset="-120"/>
              </a:rPr>
              <a:t>sudo iptables-legacy -P FORWARD ACCEPT</a:t>
            </a:r>
            <a:endParaRPr lang="en-US" sz="2200" dirty="0"/>
          </a:p>
          <a:p>
            <a:pPr indent="0" marL="0">
              <a:lnSpc>
                <a:spcPts val="3300"/>
              </a:lnSpc>
              <a:buNone/>
            </a:pPr>
            <a:r>
              <a:rPr lang="en-US" sz="2200" dirty="0">
                <a:solidFill>
                  <a:schemeClr val="bg2"/>
                </a:solidFill>
                <a:latin typeface="Courier New" pitchFamily="34" charset="0"/>
                <a:ea typeface="Courier New" pitchFamily="34" charset="-122"/>
                <a:cs typeface="Courier New" pitchFamily="34" charset="-120"/>
              </a:rPr>
              <a:t>sudo iptables-legacy -S FORWARD | head -1</a:t>
            </a:r>
            <a:endParaRPr lang="en-US" sz="2200" dirty="0"/>
          </a:p>
        </p:txBody>
      </p:sp>
      <p:sp>
        <p:nvSpPr>
          <p:cNvPr id="6" name="captions"/>
          <p:cNvSpPr/>
          <p:nvPr/>
        </p:nvSpPr>
        <p:spPr>
          <a:xfrm>
            <a:off x="548640" y="2468880"/>
            <a:ext cx="8046720" cy="2286000"/>
          </a:xfrm>
          <a:prstGeom prst="roundRect">
            <a:avLst>
              <a:gd name="adj" fmla="val 32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2560320"/>
            <a:ext cx="7498080" cy="2103120"/>
          </a:xfrm>
          <a:prstGeom prst="rect">
            <a:avLst/>
          </a:prstGeom>
          <a:noFill/>
          <a:ln/>
        </p:spPr>
        <p:txBody>
          <a:bodyPr wrap="square" lIns="0" tIns="0" rIns="0" bIns="0" rtlCol="0" anchor="ctr"/>
          <a:lstStyle/>
          <a:p>
            <a:pPr indent="0" marL="0">
              <a:spcAft>
                <a:spcPts val="600"/>
              </a:spcAft>
              <a:buNone/>
            </a:pPr>
            <a:r>
              <a:rPr lang="en-US" sz="2200" b="1" dirty="0">
                <a:solidFill>
                  <a:schemeClr val="tx1"/>
                </a:solidFill>
              </a:rPr>
              <a:t>Changes the default to ACCEPT.</a:t>
            </a:r>
            <a:endParaRPr lang="en-US" sz="2200" dirty="0"/>
          </a:p>
          <a:p>
            <a:pPr indent="0" marL="0">
              <a:spcAft>
                <a:spcPts val="600"/>
              </a:spcAft>
              <a:buNone/>
            </a:pPr>
            <a:r>
              <a:rPr lang="en-US" sz="2200" b="1" dirty="0">
                <a:solidFill>
                  <a:schemeClr val="tx1"/>
                </a:solidFill>
              </a:rPr>
              <a:t>The first line says ACCEPT.</a:t>
            </a:r>
            <a:endParaRPr lang="en-US" sz="2200" dirty="0"/>
          </a:p>
          <a:p>
            <a:pPr indent="0" marL="0">
              <a:spcAft>
                <a:spcPts val="600"/>
              </a:spcAft>
              <a:buNone/>
            </a:pPr>
            <a:r>
              <a:rPr lang="en-US" sz="2200" b="1" dirty="0">
                <a:solidFill>
                  <a:schemeClr val="tx1"/>
                </a:solidFill>
              </a:rPr>
              <a:t>This Codespace only.</a:t>
            </a:r>
            <a:endParaRPr lang="en-US" sz="2200" dirty="0"/>
          </a:p>
          <a:p>
            <a:pPr indent="0" marL="0">
              <a:buNone/>
            </a:pPr>
            <a:r>
              <a:rPr lang="en-US" sz="2200" b="1" dirty="0">
                <a:solidFill>
                  <a:schemeClr val="tx1"/>
                </a:solidFill>
              </a:rPr>
              <a:t>For a throwaway dev environment, not for a server.</a:t>
            </a:r>
            <a:endParaRPr lang="en-US" sz="2200" dirty="0"/>
          </a:p>
        </p:txBody>
      </p:sp>
      <p:sp>
        <p:nvSpPr>
          <p:cNvPr id="8" name="Text 5"/>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Publish to a registry</a:t>
            </a:r>
            <a:endParaRPr lang="en-US" sz="3400" dirty="0"/>
          </a:p>
        </p:txBody>
      </p:sp>
      <p:sp>
        <p:nvSpPr>
          <p:cNvPr id="4" name="command panel image name"/>
          <p:cNvSpPr/>
          <p:nvPr/>
        </p:nvSpPr>
        <p:spPr>
          <a:xfrm>
            <a:off x="548640" y="1051560"/>
            <a:ext cx="8046720" cy="502920"/>
          </a:xfrm>
          <a:prstGeom prst="roundRect">
            <a:avLst>
              <a:gd name="adj" fmla="val 14545"/>
            </a:avLst>
          </a:prstGeom>
          <a:solidFill>
            <a:schemeClr val="tx1"/>
          </a:solidFill>
          <a:ln/>
        </p:spPr>
      </p:sp>
      <p:sp>
        <p:nvSpPr>
          <p:cNvPr id="5" name="code"/>
          <p:cNvSpPr txBox="1"/>
          <p:nvPr/>
        </p:nvSpPr>
        <p:spPr>
          <a:xfrm>
            <a:off x="713232" y="1133856"/>
            <a:ext cx="7717536" cy="338328"/>
          </a:xfrm>
          <a:prstGeom prst="rect">
            <a:avLst/>
          </a:prstGeom>
          <a:noFill/>
          <a:ln/>
        </p:spPr>
        <p:txBody>
          <a:bodyPr wrap="square" lIns="0" tIns="0" rIns="0" bIns="0" rtlCol="0" anchor="ctr"/>
          <a:lstStyle/>
          <a:p>
            <a:pPr indent="0" marL="0">
              <a:lnSpc>
                <a:spcPts val="2640"/>
              </a:lnSpc>
              <a:buNone/>
            </a:pPr>
            <a:r>
              <a:rPr lang="en-US" sz="2200" dirty="0">
                <a:solidFill>
                  <a:schemeClr val="bg2"/>
                </a:solidFill>
                <a:latin typeface="Courier New" pitchFamily="34" charset="0"/>
                <a:ea typeface="Courier New" pitchFamily="34" charset="-122"/>
                <a:cs typeface="Courier New" pitchFamily="34" charset="-120"/>
              </a:rPr>
              <a:t>ghcr.io/&lt;owner&gt;/tasks-api:version</a:t>
            </a:r>
            <a:endParaRPr lang="en-US" sz="2200" dirty="0"/>
          </a:p>
        </p:txBody>
      </p:sp>
      <p:sp>
        <p:nvSpPr>
          <p:cNvPr id="6" name="captions"/>
          <p:cNvSpPr/>
          <p:nvPr/>
        </p:nvSpPr>
        <p:spPr>
          <a:xfrm>
            <a:off x="548640" y="1627632"/>
            <a:ext cx="8046720" cy="1097280"/>
          </a:xfrm>
          <a:prstGeom prst="roundRect">
            <a:avLst>
              <a:gd name="adj" fmla="val 6667"/>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822960" y="1673352"/>
            <a:ext cx="7498080" cy="1005840"/>
          </a:xfrm>
          <a:prstGeom prst="rect">
            <a:avLst/>
          </a:prstGeom>
          <a:noFill/>
          <a:ln/>
        </p:spPr>
        <p:txBody>
          <a:bodyPr wrap="square" lIns="0" tIns="0" rIns="0" bIns="0" rtlCol="0" anchor="ctr"/>
          <a:lstStyle/>
          <a:p>
            <a:pPr indent="0" marL="0">
              <a:buNone/>
            </a:pPr>
            <a:r>
              <a:rPr lang="en-US" sz="1600" b="1" dirty="0">
                <a:solidFill>
                  <a:schemeClr val="tx1"/>
                </a:solidFill>
              </a:rPr>
              <a:t>Registry: </a:t>
            </a:r>
            <a:pPr indent="0" marL="0">
              <a:buNone/>
            </a:pPr>
            <a:r>
              <a:rPr lang="en-US" sz="1600" b="1" dirty="0">
                <a:solidFill>
                  <a:schemeClr val="tx1"/>
                </a:solidFill>
                <a:latin typeface="Courier New" pitchFamily="34" charset="0"/>
                <a:ea typeface="Courier New" pitchFamily="34" charset="-122"/>
                <a:cs typeface="Courier New" pitchFamily="34" charset="-120"/>
              </a:rPr>
              <a:t>ghcr.io</a:t>
            </a:r>
            <a:pPr indent="0" marL="0">
              <a:buNone/>
            </a:pPr>
            <a:r>
              <a:rPr lang="en-US" sz="1600" b="1" dirty="0">
                <a:solidFill>
                  <a:schemeClr val="tx1"/>
                </a:solidFill>
              </a:rPr>
              <a:t>, GitHub's.</a:t>
            </a:r>
            <a:endParaRPr lang="en-US" sz="1600" dirty="0"/>
          </a:p>
          <a:p>
            <a:pPr indent="0" marL="0">
              <a:buNone/>
            </a:pPr>
            <a:r>
              <a:rPr lang="en-US" sz="1600" b="1" dirty="0">
                <a:solidFill>
                  <a:schemeClr val="tx1"/>
                </a:solidFill>
              </a:rPr>
              <a:t>Owner: your GitHub username.</a:t>
            </a:r>
            <a:endParaRPr lang="en-US" sz="1600" dirty="0"/>
          </a:p>
          <a:p>
            <a:pPr indent="0" marL="0">
              <a:buNone/>
            </a:pPr>
            <a:r>
              <a:rPr lang="en-US" sz="1600" b="1" dirty="0">
                <a:solidFill>
                  <a:schemeClr val="tx1"/>
                </a:solidFill>
              </a:rPr>
              <a:t>Tag: version you are publishing or commit</a:t>
            </a:r>
            <a:endParaRPr lang="en-US" sz="1600" dirty="0"/>
          </a:p>
          <a:p>
            <a:pPr indent="0" marL="0">
              <a:buNone/>
            </a:pPr>
            <a:r>
              <a:rPr lang="en-US" sz="1600" b="1" dirty="0">
                <a:solidFill>
                  <a:schemeClr val="tx1"/>
                </a:solidFill>
              </a:rPr>
              <a:t>The job needs </a:t>
            </a:r>
            <a:pPr indent="0" marL="0">
              <a:buNone/>
            </a:pPr>
            <a:r>
              <a:rPr lang="en-US" sz="1600" b="1" dirty="0">
                <a:solidFill>
                  <a:schemeClr val="tx1"/>
                </a:solidFill>
                <a:latin typeface="Courier New" pitchFamily="34" charset="0"/>
                <a:ea typeface="Courier New" pitchFamily="34" charset="-122"/>
                <a:cs typeface="Courier New" pitchFamily="34" charset="-120"/>
              </a:rPr>
              <a:t>packages: write</a:t>
            </a:r>
            <a:pPr indent="0" marL="0">
              <a:buNone/>
            </a:pPr>
            <a:r>
              <a:rPr lang="en-US" sz="1600" b="1" dirty="0">
                <a:solidFill>
                  <a:schemeClr val="tx1"/>
                </a:solidFill>
              </a:rPr>
              <a:t>.</a:t>
            </a:r>
            <a:endParaRPr lang="en-US" sz="1600" dirty="0"/>
          </a:p>
        </p:txBody>
      </p:sp>
      <p:sp>
        <p:nvSpPr>
          <p:cNvPr id="8" name="command 1"/>
          <p:cNvSpPr/>
          <p:nvPr/>
        </p:nvSpPr>
        <p:spPr>
          <a:xfrm>
            <a:off x="548640" y="2816352"/>
            <a:ext cx="8046720" cy="365760"/>
          </a:xfrm>
          <a:prstGeom prst="roundRect">
            <a:avLst>
              <a:gd name="adj" fmla="val 20000"/>
            </a:avLst>
          </a:prstGeom>
          <a:solidFill>
            <a:schemeClr val="tx1"/>
          </a:solidFill>
          <a:ln/>
        </p:spPr>
      </p:sp>
      <p:sp>
        <p:nvSpPr>
          <p:cNvPr id="9" name="code"/>
          <p:cNvSpPr txBox="1"/>
          <p:nvPr/>
        </p:nvSpPr>
        <p:spPr>
          <a:xfrm>
            <a:off x="713232" y="2898648"/>
            <a:ext cx="7717536" cy="201168"/>
          </a:xfrm>
          <a:prstGeom prst="rect">
            <a:avLst/>
          </a:prstGeom>
          <a:noFill/>
          <a:ln/>
        </p:spPr>
        <p:txBody>
          <a:bodyPr wrap="square" lIns="0" tIns="0" rIns="0" bIns="0" rtlCol="0" anchor="ctr"/>
          <a:lstStyle/>
          <a:p>
            <a:pPr indent="0" marL="0">
              <a:lnSpc>
                <a:spcPts val="1560"/>
              </a:lnSpc>
              <a:buNone/>
            </a:pPr>
            <a:r>
              <a:rPr lang="en-US" sz="1300" dirty="0">
                <a:solidFill>
                  <a:schemeClr val="bg2"/>
                </a:solidFill>
                <a:latin typeface="Courier New" pitchFamily="34" charset="0"/>
                <a:ea typeface="Courier New" pitchFamily="34" charset="-122"/>
                <a:cs typeface="Courier New" pitchFamily="34" charset="-120"/>
              </a:rPr>
              <a:t>docker login ghcr.io</a:t>
            </a:r>
            <a:endParaRPr lang="en-US" sz="1300" dirty="0"/>
          </a:p>
        </p:txBody>
      </p:sp>
      <p:sp>
        <p:nvSpPr>
          <p:cNvPr id="10" name="Text 7"/>
          <p:cNvSpPr txBox="1"/>
          <p:nvPr/>
        </p:nvSpPr>
        <p:spPr>
          <a:xfrm>
            <a:off x="548640" y="3200400"/>
            <a:ext cx="8046720" cy="256032"/>
          </a:xfrm>
          <a:prstGeom prst="rect">
            <a:avLst/>
          </a:prstGeom>
          <a:noFill/>
          <a:ln/>
        </p:spPr>
        <p:txBody>
          <a:bodyPr wrap="square" lIns="0" tIns="0" rIns="0" bIns="0" rtlCol="0" anchor="ctr"/>
          <a:lstStyle/>
          <a:p>
            <a:pPr indent="0" marL="0">
              <a:buNone/>
            </a:pPr>
            <a:r>
              <a:rPr lang="en-US" sz="1600" b="1" dirty="0">
                <a:solidFill>
                  <a:schemeClr val="accent6"/>
                </a:solidFill>
              </a:rPr>
              <a:t>prove who you are; the token is </a:t>
            </a:r>
            <a:pPr indent="0" marL="0">
              <a:buNone/>
            </a:pPr>
            <a:r>
              <a:rPr lang="en-US" sz="1400" b="1" dirty="0">
                <a:solidFill>
                  <a:schemeClr val="accent6"/>
                </a:solidFill>
                <a:latin typeface="Courier New" pitchFamily="34" charset="0"/>
                <a:ea typeface="Courier New" pitchFamily="34" charset="-122"/>
                <a:cs typeface="Courier New" pitchFamily="34" charset="-120"/>
              </a:rPr>
              <a:t>${{ secrets.GITHUB_TOKEN }}</a:t>
            </a:r>
            <a:endParaRPr lang="en-US" sz="1600" dirty="0"/>
          </a:p>
        </p:txBody>
      </p:sp>
      <p:sp>
        <p:nvSpPr>
          <p:cNvPr id="11" name="command 2"/>
          <p:cNvSpPr/>
          <p:nvPr/>
        </p:nvSpPr>
        <p:spPr>
          <a:xfrm>
            <a:off x="548640" y="3502152"/>
            <a:ext cx="8046720" cy="365760"/>
          </a:xfrm>
          <a:prstGeom prst="roundRect">
            <a:avLst>
              <a:gd name="adj" fmla="val 20000"/>
            </a:avLst>
          </a:prstGeom>
          <a:solidFill>
            <a:schemeClr val="tx1"/>
          </a:solidFill>
          <a:ln/>
        </p:spPr>
      </p:sp>
      <p:sp>
        <p:nvSpPr>
          <p:cNvPr id="12" name="code"/>
          <p:cNvSpPr txBox="1"/>
          <p:nvPr/>
        </p:nvSpPr>
        <p:spPr>
          <a:xfrm>
            <a:off x="713232" y="3584448"/>
            <a:ext cx="7717536" cy="201168"/>
          </a:xfrm>
          <a:prstGeom prst="rect">
            <a:avLst/>
          </a:prstGeom>
          <a:noFill/>
          <a:ln/>
        </p:spPr>
        <p:txBody>
          <a:bodyPr wrap="square" lIns="0" tIns="0" rIns="0" bIns="0" rtlCol="0" anchor="ctr"/>
          <a:lstStyle/>
          <a:p>
            <a:pPr indent="0" marL="0">
              <a:lnSpc>
                <a:spcPts val="1560"/>
              </a:lnSpc>
              <a:buNone/>
            </a:pPr>
            <a:r>
              <a:rPr lang="en-US" sz="1300" dirty="0">
                <a:solidFill>
                  <a:schemeClr val="bg2"/>
                </a:solidFill>
                <a:latin typeface="Courier New" pitchFamily="34" charset="0"/>
                <a:ea typeface="Courier New" pitchFamily="34" charset="-122"/>
                <a:cs typeface="Courier New" pitchFamily="34" charset="-120"/>
              </a:rPr>
              <a:t>docker build -t ghcr.io/&lt;owner&gt;/&lt;service&gt;:&lt;tag&gt; services/&lt;service&gt;</a:t>
            </a:r>
            <a:endParaRPr lang="en-US" sz="1300" dirty="0"/>
          </a:p>
        </p:txBody>
      </p:sp>
      <p:sp>
        <p:nvSpPr>
          <p:cNvPr id="13" name="Text 10"/>
          <p:cNvSpPr txBox="1"/>
          <p:nvPr/>
        </p:nvSpPr>
        <p:spPr>
          <a:xfrm>
            <a:off x="548640" y="3886200"/>
            <a:ext cx="8046720" cy="256032"/>
          </a:xfrm>
          <a:prstGeom prst="rect">
            <a:avLst/>
          </a:prstGeom>
          <a:noFill/>
          <a:ln/>
        </p:spPr>
        <p:txBody>
          <a:bodyPr wrap="square" lIns="0" tIns="0" rIns="0" bIns="0" rtlCol="0" anchor="ctr"/>
          <a:lstStyle/>
          <a:p>
            <a:pPr indent="0" marL="0">
              <a:buNone/>
            </a:pPr>
            <a:r>
              <a:rPr lang="en-US" sz="1600" b="1" dirty="0">
                <a:solidFill>
                  <a:schemeClr val="accent6"/>
                </a:solidFill>
              </a:rPr>
              <a:t>build and name it</a:t>
            </a:r>
            <a:endParaRPr lang="en-US" sz="1600" dirty="0"/>
          </a:p>
        </p:txBody>
      </p:sp>
      <p:sp>
        <p:nvSpPr>
          <p:cNvPr id="14" name="command 3"/>
          <p:cNvSpPr/>
          <p:nvPr/>
        </p:nvSpPr>
        <p:spPr>
          <a:xfrm>
            <a:off x="548640" y="4187952"/>
            <a:ext cx="8046720" cy="365760"/>
          </a:xfrm>
          <a:prstGeom prst="roundRect">
            <a:avLst>
              <a:gd name="adj" fmla="val 20000"/>
            </a:avLst>
          </a:prstGeom>
          <a:solidFill>
            <a:schemeClr val="tx1"/>
          </a:solidFill>
          <a:ln/>
        </p:spPr>
      </p:sp>
      <p:sp>
        <p:nvSpPr>
          <p:cNvPr id="15" name="code"/>
          <p:cNvSpPr txBox="1"/>
          <p:nvPr/>
        </p:nvSpPr>
        <p:spPr>
          <a:xfrm>
            <a:off x="713232" y="4270248"/>
            <a:ext cx="7717536" cy="201168"/>
          </a:xfrm>
          <a:prstGeom prst="rect">
            <a:avLst/>
          </a:prstGeom>
          <a:noFill/>
          <a:ln/>
        </p:spPr>
        <p:txBody>
          <a:bodyPr wrap="square" lIns="0" tIns="0" rIns="0" bIns="0" rtlCol="0" anchor="ctr"/>
          <a:lstStyle/>
          <a:p>
            <a:pPr indent="0" marL="0">
              <a:lnSpc>
                <a:spcPts val="1560"/>
              </a:lnSpc>
              <a:buNone/>
            </a:pPr>
            <a:r>
              <a:rPr lang="en-US" sz="1300" dirty="0">
                <a:solidFill>
                  <a:schemeClr val="bg2"/>
                </a:solidFill>
                <a:latin typeface="Courier New" pitchFamily="34" charset="0"/>
                <a:ea typeface="Courier New" pitchFamily="34" charset="-122"/>
                <a:cs typeface="Courier New" pitchFamily="34" charset="-120"/>
              </a:rPr>
              <a:t>docker push ghcr.io/&lt;owner&gt;/&lt;service&gt;:&lt;tag&gt;</a:t>
            </a:r>
            <a:endParaRPr lang="en-US" sz="1300" dirty="0"/>
          </a:p>
        </p:txBody>
      </p:sp>
      <p:sp>
        <p:nvSpPr>
          <p:cNvPr id="16" name="Text 13"/>
          <p:cNvSpPr txBox="1"/>
          <p:nvPr/>
        </p:nvSpPr>
        <p:spPr>
          <a:xfrm>
            <a:off x="548640" y="4572000"/>
            <a:ext cx="8046720" cy="256032"/>
          </a:xfrm>
          <a:prstGeom prst="rect">
            <a:avLst/>
          </a:prstGeom>
          <a:noFill/>
          <a:ln/>
        </p:spPr>
        <p:txBody>
          <a:bodyPr wrap="square" lIns="0" tIns="0" rIns="0" bIns="0" rtlCol="0" anchor="ctr"/>
          <a:lstStyle/>
          <a:p>
            <a:pPr indent="0" marL="0">
              <a:buNone/>
            </a:pPr>
            <a:r>
              <a:rPr lang="en-US" sz="1600" b="1" dirty="0">
                <a:solidFill>
                  <a:schemeClr val="accent6"/>
                </a:solidFill>
              </a:rPr>
              <a:t>send it</a:t>
            </a:r>
            <a:endParaRPr lang="en-US" sz="1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Three steps</a:t>
            </a:r>
            <a:endParaRPr lang="en-US" sz="3400" dirty="0"/>
          </a:p>
        </p:txBody>
      </p:sp>
      <p:sp>
        <p:nvSpPr>
          <p:cNvPr id="4" name="step 1"/>
          <p:cNvSpPr/>
          <p:nvPr/>
        </p:nvSpPr>
        <p:spPr>
          <a:xfrm>
            <a:off x="548640" y="128016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731520" y="1417320"/>
            <a:ext cx="457200" cy="457200"/>
          </a:xfrm>
          <a:prstGeom prst="ellipse">
            <a:avLst/>
          </a:prstGeom>
          <a:solidFill>
            <a:schemeClr val="accent1"/>
          </a:solidFill>
          <a:ln/>
        </p:spPr>
      </p:sp>
      <p:sp>
        <p:nvSpPr>
          <p:cNvPr id="6" name="Text 3"/>
          <p:cNvSpPr txBox="1"/>
          <p:nvPr/>
        </p:nvSpPr>
        <p:spPr>
          <a:xfrm>
            <a:off x="731520" y="141732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417320" y="1280160"/>
            <a:ext cx="7040880" cy="731520"/>
          </a:xfrm>
          <a:prstGeom prst="rect">
            <a:avLst/>
          </a:prstGeom>
          <a:noFill/>
          <a:ln/>
        </p:spPr>
        <p:txBody>
          <a:bodyPr wrap="square" lIns="0" tIns="0" rIns="0" bIns="0" rtlCol="0" anchor="ctr"/>
          <a:lstStyle/>
          <a:p>
            <a:pPr indent="0" marL="0">
              <a:buNone/>
            </a:pPr>
            <a:r>
              <a:rPr lang="en-US" sz="2200" b="1" dirty="0">
                <a:solidFill>
                  <a:schemeClr val="tx1"/>
                </a:solidFill>
              </a:rPr>
              <a:t>A </a:t>
            </a:r>
            <a:pPr indent="0" marL="0">
              <a:buNone/>
            </a:pPr>
            <a:r>
              <a:rPr lang="en-US" sz="2000" b="1" dirty="0">
                <a:solidFill>
                  <a:schemeClr val="tx1"/>
                </a:solidFill>
                <a:latin typeface="Courier New" pitchFamily="34" charset="0"/>
                <a:ea typeface="Courier New" pitchFamily="34" charset="-122"/>
                <a:cs typeface="Courier New" pitchFamily="34" charset="-120"/>
              </a:rPr>
              <a:t>compose.yaml</a:t>
            </a:r>
            <a:pPr indent="0" marL="0">
              <a:buNone/>
            </a:pPr>
            <a:r>
              <a:rPr lang="en-US" sz="2200" b="1" dirty="0">
                <a:solidFill>
                  <a:schemeClr val="tx1"/>
                </a:solidFill>
              </a:rPr>
              <a:t> that starts both services.</a:t>
            </a:r>
            <a:endParaRPr lang="en-US" sz="2200" dirty="0"/>
          </a:p>
        </p:txBody>
      </p:sp>
      <p:sp>
        <p:nvSpPr>
          <p:cNvPr id="8" name="step 2"/>
          <p:cNvSpPr/>
          <p:nvPr/>
        </p:nvSpPr>
        <p:spPr>
          <a:xfrm>
            <a:off x="548640" y="214884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badge 2"/>
          <p:cNvSpPr/>
          <p:nvPr/>
        </p:nvSpPr>
        <p:spPr>
          <a:xfrm>
            <a:off x="731520" y="2286000"/>
            <a:ext cx="457200" cy="457200"/>
          </a:xfrm>
          <a:prstGeom prst="ellipse">
            <a:avLst/>
          </a:prstGeom>
          <a:solidFill>
            <a:schemeClr val="accent1"/>
          </a:solidFill>
          <a:ln/>
        </p:spPr>
      </p:sp>
      <p:sp>
        <p:nvSpPr>
          <p:cNvPr id="10" name="Text 7"/>
          <p:cNvSpPr txBox="1"/>
          <p:nvPr/>
        </p:nvSpPr>
        <p:spPr>
          <a:xfrm>
            <a:off x="731520" y="22860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417320" y="2148840"/>
            <a:ext cx="7040880" cy="731520"/>
          </a:xfrm>
          <a:prstGeom prst="rect">
            <a:avLst/>
          </a:prstGeom>
          <a:noFill/>
          <a:ln/>
        </p:spPr>
        <p:txBody>
          <a:bodyPr wrap="square" lIns="0" tIns="0" rIns="0" bIns="0" rtlCol="0" anchor="ctr"/>
          <a:lstStyle/>
          <a:p>
            <a:pPr indent="0" marL="0">
              <a:buNone/>
            </a:pPr>
            <a:r>
              <a:rPr lang="en-US" sz="2000" b="1" dirty="0">
                <a:solidFill>
                  <a:schemeClr val="tx1"/>
                </a:solidFill>
                <a:latin typeface="Courier New" pitchFamily="34" charset="0"/>
                <a:ea typeface="Courier New" pitchFamily="34" charset="-122"/>
                <a:cs typeface="Courier New" pitchFamily="34" charset="-120"/>
              </a:rPr>
              <a:t>tasks-api</a:t>
            </a:r>
            <a:pPr indent="0" marL="0">
              <a:buNone/>
            </a:pPr>
            <a:r>
              <a:rPr lang="en-US" sz="2200" b="1" dirty="0">
                <a:solidFill>
                  <a:schemeClr val="tx1"/>
                </a:solidFill>
              </a:rPr>
              <a:t> finds </a:t>
            </a:r>
            <a:pPr indent="0" marL="0">
              <a:buNone/>
            </a:pPr>
            <a:r>
              <a:rPr lang="en-US" sz="2000" b="1" dirty="0">
                <a:solidFill>
                  <a:schemeClr val="tx1"/>
                </a:solidFill>
                <a:latin typeface="Courier New" pitchFamily="34" charset="0"/>
                <a:ea typeface="Courier New" pitchFamily="34" charset="-122"/>
                <a:cs typeface="Courier New" pitchFamily="34" charset="-120"/>
              </a:rPr>
              <a:t>title-normalizer</a:t>
            </a:r>
            <a:pPr indent="0" marL="0">
              <a:buNone/>
            </a:pPr>
            <a:r>
              <a:rPr lang="en-US" sz="2200" b="1" dirty="0">
                <a:solidFill>
                  <a:schemeClr val="tx1"/>
                </a:solidFill>
              </a:rPr>
              <a:t> by its name.</a:t>
            </a:r>
            <a:endParaRPr lang="en-US" sz="2200" dirty="0"/>
          </a:p>
        </p:txBody>
      </p:sp>
      <p:sp>
        <p:nvSpPr>
          <p:cNvPr id="12" name="step 3"/>
          <p:cNvSpPr/>
          <p:nvPr/>
        </p:nvSpPr>
        <p:spPr>
          <a:xfrm>
            <a:off x="548640" y="3017520"/>
            <a:ext cx="8046720" cy="731520"/>
          </a:xfrm>
          <a:prstGeom prst="roundRect">
            <a:avLst>
              <a:gd name="adj" fmla="val 1000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badge 3"/>
          <p:cNvSpPr/>
          <p:nvPr/>
        </p:nvSpPr>
        <p:spPr>
          <a:xfrm>
            <a:off x="731520" y="3154680"/>
            <a:ext cx="457200" cy="457200"/>
          </a:xfrm>
          <a:prstGeom prst="ellipse">
            <a:avLst/>
          </a:prstGeom>
          <a:solidFill>
            <a:schemeClr val="accent1"/>
          </a:solidFill>
          <a:ln/>
        </p:spPr>
      </p:sp>
      <p:sp>
        <p:nvSpPr>
          <p:cNvPr id="14" name="Text 11"/>
          <p:cNvSpPr txBox="1"/>
          <p:nvPr/>
        </p:nvSpPr>
        <p:spPr>
          <a:xfrm>
            <a:off x="731520" y="3154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5" name="Text 12"/>
          <p:cNvSpPr txBox="1"/>
          <p:nvPr/>
        </p:nvSpPr>
        <p:spPr>
          <a:xfrm>
            <a:off x="1417320" y="3017520"/>
            <a:ext cx="7040880" cy="731520"/>
          </a:xfrm>
          <a:prstGeom prst="rect">
            <a:avLst/>
          </a:prstGeom>
          <a:noFill/>
          <a:ln/>
        </p:spPr>
        <p:txBody>
          <a:bodyPr wrap="square" lIns="0" tIns="0" rIns="0" bIns="0" rtlCol="0" anchor="ctr"/>
          <a:lstStyle/>
          <a:p>
            <a:pPr indent="0" marL="0">
              <a:buNone/>
            </a:pPr>
            <a:r>
              <a:rPr lang="en-US" sz="2200" b="1" dirty="0">
                <a:solidFill>
                  <a:schemeClr val="tx1"/>
                </a:solidFill>
              </a:rPr>
              <a:t>A job that publishes both images.</a:t>
            </a:r>
            <a:endParaRPr lang="en-US" sz="2200" dirty="0"/>
          </a:p>
        </p:txBody>
      </p:sp>
      <p:sp>
        <p:nvSpPr>
          <p:cNvPr id="16" name="Text 13"/>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600" b="1" dirty="0">
                <a:solidFill>
                  <a:schemeClr val="accent2"/>
                </a:solidFill>
              </a:rPr>
              <a:t>Write each one yourself.</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Where to look</a:t>
            </a:r>
            <a:endParaRPr lang="en-US" sz="3400" dirty="0"/>
          </a:p>
        </p:txBody>
      </p:sp>
      <p:sp>
        <p:nvSpPr>
          <p:cNvPr id="4" name="box Your earlier steps"/>
          <p:cNvSpPr/>
          <p:nvPr/>
        </p:nvSpPr>
        <p:spPr>
          <a:xfrm>
            <a:off x="548640" y="1188720"/>
            <a:ext cx="2286000" cy="914400"/>
          </a:xfrm>
          <a:prstGeom prst="roundRect">
            <a:avLst>
              <a:gd name="adj" fmla="val 8000"/>
            </a:avLst>
          </a:prstGeom>
          <a:solidFill>
            <a:srgbClr val="1A7F37"/>
          </a:solidFill>
          <a:ln/>
        </p:spPr>
      </p:sp>
      <p:sp>
        <p:nvSpPr>
          <p:cNvPr id="5" name="Text 2"/>
          <p:cNvSpPr txBox="1"/>
          <p:nvPr/>
        </p:nvSpPr>
        <p:spPr>
          <a:xfrm>
            <a:off x="640080" y="1188720"/>
            <a:ext cx="2103120" cy="914400"/>
          </a:xfrm>
          <a:prstGeom prst="rect">
            <a:avLst/>
          </a:prstGeom>
          <a:noFill/>
          <a:ln/>
        </p:spPr>
        <p:txBody>
          <a:bodyPr wrap="square" lIns="0" tIns="0" rIns="0" bIns="0" rtlCol="0" anchor="ctr"/>
          <a:lstStyle/>
          <a:p>
            <a:pPr algn="ctr" indent="0" marL="0">
              <a:buNone/>
            </a:pPr>
            <a:r>
              <a:rPr lang="en-US" sz="2000" b="1" dirty="0">
                <a:solidFill>
                  <a:schemeClr val="bg1"/>
                </a:solidFill>
              </a:rPr>
              <a:t>Your earlier steps</a:t>
            </a:r>
            <a:endParaRPr lang="en-US" sz="2000" dirty="0"/>
          </a:p>
        </p:txBody>
      </p:sp>
      <p:sp>
        <p:nvSpPr>
          <p:cNvPr id="6" name="arrow"/>
          <p:cNvSpPr/>
          <p:nvPr/>
        </p:nvSpPr>
        <p:spPr>
          <a:xfrm>
            <a:off x="2994660" y="1499616"/>
            <a:ext cx="274320" cy="292608"/>
          </a:xfrm>
          <a:prstGeom prst="rightArrow">
            <a:avLst/>
          </a:prstGeom>
          <a:solidFill>
            <a:schemeClr val="accent6"/>
          </a:solidFill>
          <a:ln/>
        </p:spPr>
      </p:sp>
      <p:sp>
        <p:nvSpPr>
          <p:cNvPr id="7" name="box The docs"/>
          <p:cNvSpPr/>
          <p:nvPr/>
        </p:nvSpPr>
        <p:spPr>
          <a:xfrm>
            <a:off x="3429000" y="1188720"/>
            <a:ext cx="2286000" cy="914400"/>
          </a:xfrm>
          <a:prstGeom prst="roundRect">
            <a:avLst>
              <a:gd name="adj" fmla="val 8000"/>
            </a:avLst>
          </a:prstGeom>
          <a:solidFill>
            <a:srgbClr val="1A7F37"/>
          </a:solidFill>
          <a:ln/>
        </p:spPr>
      </p:sp>
      <p:sp>
        <p:nvSpPr>
          <p:cNvPr id="8" name="Text 5"/>
          <p:cNvSpPr txBox="1"/>
          <p:nvPr/>
        </p:nvSpPr>
        <p:spPr>
          <a:xfrm>
            <a:off x="3520440" y="1188720"/>
            <a:ext cx="2103120" cy="914400"/>
          </a:xfrm>
          <a:prstGeom prst="rect">
            <a:avLst/>
          </a:prstGeom>
          <a:noFill/>
          <a:ln/>
        </p:spPr>
        <p:txBody>
          <a:bodyPr wrap="square" lIns="0" tIns="0" rIns="0" bIns="0" rtlCol="0" anchor="ctr"/>
          <a:lstStyle/>
          <a:p>
            <a:pPr algn="ctr" indent="0" marL="0">
              <a:buNone/>
            </a:pPr>
            <a:r>
              <a:rPr lang="en-US" sz="2000" b="1" dirty="0">
                <a:solidFill>
                  <a:schemeClr val="bg1"/>
                </a:solidFill>
              </a:rPr>
              <a:t>The docs</a:t>
            </a:r>
            <a:endParaRPr lang="en-US" sz="2000" dirty="0"/>
          </a:p>
        </p:txBody>
      </p:sp>
      <p:sp>
        <p:nvSpPr>
          <p:cNvPr id="9" name="arrow"/>
          <p:cNvSpPr/>
          <p:nvPr/>
        </p:nvSpPr>
        <p:spPr>
          <a:xfrm>
            <a:off x="5875020" y="1499616"/>
            <a:ext cx="274320" cy="292608"/>
          </a:xfrm>
          <a:prstGeom prst="rightArrow">
            <a:avLst/>
          </a:prstGeom>
          <a:solidFill>
            <a:schemeClr val="accent6"/>
          </a:solidFill>
          <a:ln/>
        </p:spPr>
      </p:sp>
      <p:sp>
        <p:nvSpPr>
          <p:cNvPr id="10" name="box Raise your hand"/>
          <p:cNvSpPr/>
          <p:nvPr/>
        </p:nvSpPr>
        <p:spPr>
          <a:xfrm>
            <a:off x="6309360" y="1188720"/>
            <a:ext cx="2286000" cy="914400"/>
          </a:xfrm>
          <a:prstGeom prst="roundRect">
            <a:avLst>
              <a:gd name="adj" fmla="val 8000"/>
            </a:avLst>
          </a:prstGeom>
          <a:solidFill>
            <a:schemeClr val="accent2"/>
          </a:solidFill>
          <a:ln/>
        </p:spPr>
      </p:sp>
      <p:sp>
        <p:nvSpPr>
          <p:cNvPr id="11" name="Text 8"/>
          <p:cNvSpPr txBox="1"/>
          <p:nvPr/>
        </p:nvSpPr>
        <p:spPr>
          <a:xfrm>
            <a:off x="6400800" y="1188720"/>
            <a:ext cx="2103120" cy="914400"/>
          </a:xfrm>
          <a:prstGeom prst="rect">
            <a:avLst/>
          </a:prstGeom>
          <a:noFill/>
          <a:ln/>
        </p:spPr>
        <p:txBody>
          <a:bodyPr wrap="square" lIns="0" tIns="0" rIns="0" bIns="0" rtlCol="0" anchor="ctr"/>
          <a:lstStyle/>
          <a:p>
            <a:pPr algn="ctr" indent="0" marL="0">
              <a:buNone/>
            </a:pPr>
            <a:r>
              <a:rPr lang="en-US" sz="2000" b="1" dirty="0">
                <a:solidFill>
                  <a:schemeClr val="bg1"/>
                </a:solidFill>
              </a:rPr>
              <a:t>Raise your hand</a:t>
            </a:r>
            <a:endParaRPr lang="en-US" sz="2000" dirty="0"/>
          </a:p>
        </p:txBody>
      </p:sp>
      <p:sp>
        <p:nvSpPr>
          <p:cNvPr id="12" name="docs pages"/>
          <p:cNvSpPr/>
          <p:nvPr/>
        </p:nvSpPr>
        <p:spPr>
          <a:xfrm>
            <a:off x="548640" y="2331720"/>
            <a:ext cx="8046720" cy="1600200"/>
          </a:xfrm>
          <a:prstGeom prst="roundRect">
            <a:avLst>
              <a:gd name="adj" fmla="val 4571"/>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22960" y="2395728"/>
            <a:ext cx="7498080" cy="320040"/>
          </a:xfrm>
          <a:prstGeom prst="rect">
            <a:avLst/>
          </a:prstGeom>
          <a:noFill/>
          <a:ln/>
        </p:spPr>
        <p:txBody>
          <a:bodyPr wrap="square" lIns="0" tIns="0" rIns="0" bIns="0" rtlCol="0" anchor="t"/>
          <a:lstStyle/>
          <a:p>
            <a:pPr indent="0" marL="0">
              <a:buNone/>
            </a:pPr>
            <a:r>
              <a:rPr lang="en-US" sz="1400" b="1" dirty="0">
                <a:solidFill>
                  <a:schemeClr val="accent6"/>
                </a:solidFill>
              </a:rPr>
              <a:t>Docs pages</a:t>
            </a:r>
            <a:endParaRPr lang="en-US" sz="1400" dirty="0"/>
          </a:p>
        </p:txBody>
      </p:sp>
      <p:sp>
        <p:nvSpPr>
          <p:cNvPr id="14" name="Text 11"/>
          <p:cNvSpPr txBox="1"/>
          <p:nvPr/>
        </p:nvSpPr>
        <p:spPr>
          <a:xfrm>
            <a:off x="822960" y="2743200"/>
            <a:ext cx="7498080" cy="1097280"/>
          </a:xfrm>
          <a:prstGeom prst="rect">
            <a:avLst/>
          </a:prstGeom>
          <a:noFill/>
          <a:ln/>
        </p:spPr>
        <p:txBody>
          <a:bodyPr wrap="square" lIns="0" tIns="0" rIns="0" bIns="0" rtlCol="0" anchor="t"/>
          <a:lstStyle/>
          <a:p>
            <a:pPr marL="177800" indent="-177800">
              <a:spcAft>
                <a:spcPts val="400"/>
              </a:spcAft>
              <a:buSzPct val="100000"/>
              <a:buChar char="•"/>
            </a:pPr>
            <a:r>
              <a:rPr lang="en-US" sz="1800" b="1" dirty="0">
                <a:solidFill>
                  <a:schemeClr val="tx1"/>
                </a:solidFill>
              </a:rPr>
              <a:t>Compose file reference</a:t>
            </a:r>
            <a:endParaRPr lang="en-US" sz="1800" dirty="0"/>
          </a:p>
          <a:p>
            <a:pPr marL="177800" indent="-177800">
              <a:spcAft>
                <a:spcPts val="400"/>
              </a:spcAft>
              <a:buSzPct val="100000"/>
              <a:buChar char="•"/>
            </a:pPr>
            <a:r>
              <a:rPr lang="en-US" sz="1800" b="1" dirty="0">
                <a:solidFill>
                  <a:schemeClr val="tx1"/>
                </a:solidFill>
              </a:rPr>
              <a:t>docker compose up</a:t>
            </a:r>
            <a:endParaRPr lang="en-US" sz="1800" dirty="0"/>
          </a:p>
          <a:p>
            <a:pPr marL="177800" indent="-177800">
              <a:spcAft>
                <a:spcPts val="400"/>
              </a:spcAft>
              <a:buSzPct val="100000"/>
              <a:buChar char="•"/>
            </a:pPr>
            <a:r>
              <a:rPr lang="en-US" sz="1800" b="1" dirty="0">
                <a:solidFill>
                  <a:schemeClr val="tx1"/>
                </a:solidFill>
              </a:rPr>
              <a:t>Working with the Container registry</a:t>
            </a:r>
            <a:endParaRPr lang="en-US" sz="1800" dirty="0"/>
          </a:p>
        </p:txBody>
      </p:sp>
      <p:sp>
        <p:nvSpPr>
          <p:cNvPr id="15" name="Text 12"/>
          <p:cNvSpPr txBox="1"/>
          <p:nvPr/>
        </p:nvSpPr>
        <p:spPr>
          <a:xfrm>
            <a:off x="548640" y="4114800"/>
            <a:ext cx="8046720" cy="548640"/>
          </a:xfrm>
          <a:prstGeom prst="rect">
            <a:avLst/>
          </a:prstGeom>
          <a:noFill/>
          <a:ln/>
        </p:spPr>
        <p:txBody>
          <a:bodyPr wrap="square" lIns="0" tIns="0" rIns="0" bIns="0" rtlCol="0" anchor="ctr"/>
          <a:lstStyle/>
          <a:p>
            <a:pPr indent="0" marL="0">
              <a:buNone/>
            </a:pPr>
            <a:r>
              <a:rPr lang="en-US" sz="2600" b="1" dirty="0">
                <a:solidFill>
                  <a:schemeClr val="accent2"/>
                </a:solidFill>
              </a:rPr>
              <a:t>Paste only what you can explain.</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A red run is information</a:t>
            </a:r>
            <a:endParaRPr lang="en-US" sz="3400" dirty="0"/>
          </a:p>
        </p:txBody>
      </p:sp>
      <p:sp>
        <p:nvSpPr>
          <p:cNvPr id="4" name="Text 1"/>
          <p:cNvSpPr txBox="1"/>
          <p:nvPr/>
        </p:nvSpPr>
        <p:spPr>
          <a:xfrm>
            <a:off x="548640" y="1188720"/>
            <a:ext cx="8046720" cy="640080"/>
          </a:xfrm>
          <a:prstGeom prst="rect">
            <a:avLst/>
          </a:prstGeom>
          <a:noFill/>
          <a:ln/>
        </p:spPr>
        <p:txBody>
          <a:bodyPr wrap="square" lIns="0" tIns="0" rIns="0" bIns="0" rtlCol="0" anchor="ctr"/>
          <a:lstStyle/>
          <a:p>
            <a:pPr indent="0" marL="0">
              <a:buNone/>
            </a:pPr>
            <a:r>
              <a:rPr lang="en-US" sz="2800" b="1" dirty="0">
                <a:solidFill>
                  <a:schemeClr val="tx1"/>
                </a:solidFill>
              </a:rPr>
              <a:t>Read the error before you change anything.</a:t>
            </a:r>
            <a:endParaRPr lang="en-US" sz="2800" dirty="0"/>
          </a:p>
        </p:txBody>
      </p:sp>
      <p:sp>
        <p:nvSpPr>
          <p:cNvPr id="5" name="Text 2"/>
          <p:cNvSpPr txBox="1"/>
          <p:nvPr/>
        </p:nvSpPr>
        <p:spPr>
          <a:xfrm>
            <a:off x="548640" y="1920240"/>
            <a:ext cx="8046720" cy="640080"/>
          </a:xfrm>
          <a:prstGeom prst="rect">
            <a:avLst/>
          </a:prstGeom>
          <a:noFill/>
          <a:ln/>
        </p:spPr>
        <p:txBody>
          <a:bodyPr wrap="square" lIns="0" tIns="0" rIns="0" bIns="0" rtlCol="0" anchor="ctr"/>
          <a:lstStyle/>
          <a:p>
            <a:pPr indent="0" marL="0">
              <a:buNone/>
            </a:pPr>
            <a:r>
              <a:rPr lang="en-US" sz="2800" b="1" dirty="0">
                <a:solidFill>
                  <a:schemeClr val="accent2"/>
                </a:solidFill>
              </a:rPr>
              <a:t>Change one thing at a time.</a:t>
            </a:r>
            <a:endParaRPr lang="en-US" sz="2800" dirty="0"/>
          </a:p>
        </p:txBody>
      </p:sp>
      <p:sp>
        <p:nvSpPr>
          <p:cNvPr id="6" name="test output banner"/>
          <p:cNvSpPr/>
          <p:nvPr/>
        </p:nvSpPr>
        <p:spPr>
          <a:xfrm>
            <a:off x="548640" y="3017520"/>
            <a:ext cx="8046720" cy="1280160"/>
          </a:xfrm>
          <a:prstGeom prst="roundRect">
            <a:avLst>
              <a:gd name="adj" fmla="val 5714"/>
            </a:avLst>
          </a:prstGeom>
          <a:solidFill>
            <a:schemeClr val="tx1"/>
          </a:solidFill>
          <a:ln/>
        </p:spPr>
      </p:sp>
      <p:sp>
        <p:nvSpPr>
          <p:cNvPr id="7" name="Text 4"/>
          <p:cNvSpPr txBox="1"/>
          <p:nvPr/>
        </p:nvSpPr>
        <p:spPr>
          <a:xfrm>
            <a:off x="822960" y="3017520"/>
            <a:ext cx="7498080" cy="1280160"/>
          </a:xfrm>
          <a:prstGeom prst="rect">
            <a:avLst/>
          </a:prstGeom>
          <a:noFill/>
          <a:ln/>
        </p:spPr>
        <p:txBody>
          <a:bodyPr wrap="square" lIns="0" tIns="0" rIns="0" bIns="0" rtlCol="0" anchor="ctr"/>
          <a:lstStyle/>
          <a:p>
            <a:pPr indent="0" marL="0">
              <a:buNone/>
            </a:pPr>
            <a:r>
              <a:rPr lang="en-US" sz="2400" b="1" dirty="0">
                <a:solidFill>
                  <a:schemeClr val="bg1"/>
                </a:solidFill>
              </a:rPr>
              <a:t>A failed run tells you the line.</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The demo Compose file</a:t>
            </a:r>
            <a:endParaRPr lang="en-US" sz="3400" dirty="0"/>
          </a:p>
        </p:txBody>
      </p:sp>
      <p:sp>
        <p:nvSpPr>
          <p:cNvPr id="4" name="code panel"/>
          <p:cNvSpPr/>
          <p:nvPr/>
        </p:nvSpPr>
        <p:spPr>
          <a:xfrm>
            <a:off x="320040" y="1005840"/>
            <a:ext cx="8503920" cy="3749040"/>
          </a:xfrm>
          <a:prstGeom prst="roundRect">
            <a:avLst>
              <a:gd name="adj" fmla="val 1951"/>
            </a:avLst>
          </a:prstGeom>
          <a:solidFill>
            <a:schemeClr val="tx1"/>
          </a:solidFill>
          <a:ln/>
        </p:spPr>
      </p:sp>
      <p:sp>
        <p:nvSpPr>
          <p:cNvPr id="5" name="code"/>
          <p:cNvSpPr txBox="1"/>
          <p:nvPr/>
        </p:nvSpPr>
        <p:spPr>
          <a:xfrm>
            <a:off x="429768" y="1088136"/>
            <a:ext cx="8284464" cy="3584448"/>
          </a:xfrm>
          <a:prstGeom prst="rect">
            <a:avLst/>
          </a:prstGeom>
          <a:noFill/>
          <a:ln/>
        </p:spPr>
        <p:txBody>
          <a:bodyPr wrap="square" lIns="0" tIns="0" rIns="0" bIns="0" rtlCol="0" anchor="t"/>
          <a:lstStyle/>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services:</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web:</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build: .</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ports:</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 "3000:3000"</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environment:</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PGHOST: db</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PGUSER: postgres</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PGPASSWORD: example</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PGDATABASE: postgres</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db:</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image: postgres:18</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environment:</a:t>
            </a:r>
            <a:endParaRPr lang="en-US" sz="1550" dirty="0"/>
          </a:p>
          <a:p>
            <a:pPr indent="0" marL="0">
              <a:lnSpc>
                <a:spcPts val="2015"/>
              </a:lnSpc>
              <a:buNone/>
            </a:pPr>
            <a:r>
              <a:rPr lang="en-US" sz="1550" dirty="0">
                <a:solidFill>
                  <a:schemeClr val="bg2"/>
                </a:solidFill>
                <a:latin typeface="Courier New" pitchFamily="34" charset="0"/>
                <a:ea typeface="Courier New" pitchFamily="34" charset="-122"/>
                <a:cs typeface="Courier New" pitchFamily="34" charset="-120"/>
              </a:rPr>
              <a:t>      POSTGRES_PASSWORD: example</a:t>
            </a:r>
            <a:endParaRPr lang="en-US" sz="15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a:t>
            </a:r>
            <a:endParaRPr lang="en-US" sz="3400" dirty="0"/>
          </a:p>
        </p:txBody>
      </p:sp>
      <p:sp>
        <p:nvSpPr>
          <p:cNvPr id="4" name="requirement"/>
          <p:cNvSpPr/>
          <p:nvPr/>
        </p:nvSpPr>
        <p:spPr>
          <a:xfrm>
            <a:off x="548640" y="1280160"/>
            <a:ext cx="8046720" cy="3108960"/>
          </a:xfrm>
          <a:prstGeom prst="roundRect">
            <a:avLst>
              <a:gd name="adj" fmla="val 235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3108960"/>
          </a:xfrm>
          <a:prstGeom prst="rect">
            <a:avLst/>
          </a:prstGeom>
          <a:solidFill>
            <a:schemeClr val="accent1"/>
          </a:solidFill>
          <a:ln/>
        </p:spPr>
      </p:sp>
      <p:sp>
        <p:nvSpPr>
          <p:cNvPr id="6" name="Text 3"/>
          <p:cNvSpPr txBox="1"/>
          <p:nvPr/>
        </p:nvSpPr>
        <p:spPr>
          <a:xfrm>
            <a:off x="914400" y="1371600"/>
            <a:ext cx="7498080" cy="2926080"/>
          </a:xfrm>
          <a:prstGeom prst="rect">
            <a:avLst/>
          </a:prstGeom>
          <a:noFill/>
          <a:ln/>
        </p:spPr>
        <p:txBody>
          <a:bodyPr wrap="square" lIns="0" tIns="0" rIns="0" bIns="0" rtlCol="0" anchor="ctr"/>
          <a:lstStyle/>
          <a:p>
            <a:pPr indent="0" marL="0">
              <a:spcAft>
                <a:spcPts val="800"/>
              </a:spcAft>
              <a:buNone/>
            </a:pPr>
            <a:r>
              <a:rPr lang="en-US" sz="2600" dirty="0">
                <a:solidFill>
                  <a:schemeClr val="tx1"/>
                </a:solidFill>
              </a:rPr>
              <a:t>Create </a:t>
            </a:r>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compose.yaml</a:t>
            </a:r>
            <a:pPr indent="0" marL="0">
              <a:spcAft>
                <a:spcPts val="800"/>
              </a:spcAft>
              <a:buNone/>
            </a:pPr>
            <a:r>
              <a:rPr lang="en-US" sz="2600" dirty="0">
                <a:solidFill>
                  <a:schemeClr val="tx1"/>
                </a:solidFill>
              </a:rPr>
              <a:t> in the repo root.</a:t>
            </a:r>
            <a:endParaRPr lang="en-US" sz="2600" dirty="0"/>
          </a:p>
          <a:p>
            <a:pPr indent="0" marL="0">
              <a:spcAft>
                <a:spcPts val="800"/>
              </a:spcAft>
              <a:buNone/>
            </a:pPr>
            <a:r>
              <a:rPr lang="en-US" sz="2600" dirty="0">
                <a:solidFill>
                  <a:schemeClr val="tx1"/>
                </a:solidFill>
              </a:rPr>
              <a:t>Two services, built from their folders.</a:t>
            </a:r>
            <a:endParaRPr lang="en-US" sz="2600" dirty="0"/>
          </a:p>
          <a:p>
            <a:pPr indent="0" marL="0">
              <a:spcAft>
                <a:spcPts val="800"/>
              </a:spcAft>
              <a:buNone/>
            </a:pPr>
            <a:r>
              <a:rPr lang="en-US" sz="2600" dirty="0">
                <a:solidFill>
                  <a:schemeClr val="tx1"/>
                </a:solidFill>
              </a:rPr>
              <a:t>Ports published.</a:t>
            </a:r>
            <a:endParaRPr lang="en-US" sz="2600" dirty="0"/>
          </a:p>
          <a:p>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docker compose up --build</a:t>
            </a:r>
            <a:pPr indent="0" marL="0">
              <a:spcAft>
                <a:spcPts val="800"/>
              </a:spcAft>
              <a:buNone/>
            </a:pPr>
            <a:r>
              <a:rPr lang="en-US" sz="2600" dirty="0">
                <a:solidFill>
                  <a:schemeClr val="tx1"/>
                </a:solidFill>
              </a:rPr>
              <a:t>.</a:t>
            </a:r>
            <a:endParaRPr lang="en-US" sz="2600" dirty="0"/>
          </a:p>
          <a:p>
            <a:pPr indent="0" marL="0">
              <a:buNone/>
            </a:pPr>
            <a:r>
              <a:rPr lang="en-US" sz="2600" dirty="0">
                <a:solidFill>
                  <a:schemeClr val="tx1"/>
                </a:solidFill>
              </a:rPr>
              <a:t>Both services run.</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hints</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compose.yaml</a:t>
            </a:r>
            <a:pPr indent="0" marL="0">
              <a:buNone/>
            </a:pPr>
            <a:r>
              <a:rPr lang="en-US" sz="1600" b="1" dirty="0">
                <a:solidFill>
                  <a:schemeClr val="bg1"/>
                </a:solidFill>
              </a:rPr>
              <a:t> with two services, </a:t>
            </a:r>
            <a:pPr indent="0" marL="0">
              <a:buNone/>
            </a:pPr>
            <a:r>
              <a:rPr lang="en-US" sz="1600" b="1" dirty="0">
                <a:solidFill>
                  <a:schemeClr val="bg1"/>
                </a:solidFill>
                <a:latin typeface="Courier New" pitchFamily="34" charset="0"/>
                <a:ea typeface="Courier New" pitchFamily="34" charset="-122"/>
                <a:cs typeface="Courier New" pitchFamily="34" charset="-120"/>
              </a:rPr>
              <a:t>docker compose up --build</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585722"/>
            <a:ext cx="329184" cy="329184"/>
          </a:xfrm>
          <a:prstGeom prst="ellipse">
            <a:avLst/>
          </a:prstGeom>
          <a:solidFill>
            <a:schemeClr val="accent2"/>
          </a:solidFill>
          <a:ln/>
        </p:spPr>
      </p:sp>
      <p:sp>
        <p:nvSpPr>
          <p:cNvPr id="8" name="hint a letter"/>
          <p:cNvSpPr txBox="1"/>
          <p:nvPr/>
        </p:nvSpPr>
        <p:spPr>
          <a:xfrm>
            <a:off x="640080" y="158572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537972"/>
          </a:xfrm>
          <a:prstGeom prst="rect">
            <a:avLst/>
          </a:prstGeom>
          <a:noFill/>
          <a:ln/>
        </p:spPr>
        <p:txBody>
          <a:bodyPr wrap="square" lIns="0" tIns="0" rIns="0" bIns="0" rtlCol="0" anchor="ctr"/>
          <a:lstStyle/>
          <a:p>
            <a:pPr indent="0" marL="0">
              <a:buNone/>
            </a:pPr>
            <a:r>
              <a:rPr lang="en-US" sz="1800" dirty="0">
                <a:solidFill>
                  <a:schemeClr val="tx1"/>
                </a:solidFill>
              </a:rPr>
              <a:t>Start with </a:t>
            </a:r>
            <a:pPr indent="0" marL="0">
              <a:buNone/>
            </a:pPr>
            <a:r>
              <a:rPr lang="en-US" sz="1800" dirty="0">
                <a:solidFill>
                  <a:schemeClr val="tx1"/>
                </a:solidFill>
                <a:latin typeface="Courier New" pitchFamily="34" charset="0"/>
                <a:ea typeface="Courier New" pitchFamily="34" charset="-122"/>
                <a:cs typeface="Courier New" pitchFamily="34" charset="-120"/>
              </a:rPr>
              <a:t>services:</a:t>
            </a:r>
            <a:pPr indent="0" marL="0">
              <a:buNone/>
            </a:pPr>
            <a:r>
              <a:rPr lang="en-US" sz="1800" dirty="0">
                <a:solidFill>
                  <a:schemeClr val="tx1"/>
                </a:solidFill>
              </a:rPr>
              <a:t> and one block per service.</a:t>
            </a:r>
            <a:endParaRPr lang="en-US" sz="1800" dirty="0"/>
          </a:p>
        </p:txBody>
      </p:sp>
      <p:sp>
        <p:nvSpPr>
          <p:cNvPr id="10" name="hint b card"/>
          <p:cNvSpPr/>
          <p:nvPr/>
        </p:nvSpPr>
        <p:spPr>
          <a:xfrm>
            <a:off x="548640" y="2055876"/>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160270"/>
            <a:ext cx="329184" cy="329184"/>
          </a:xfrm>
          <a:prstGeom prst="ellipse">
            <a:avLst/>
          </a:prstGeom>
          <a:solidFill>
            <a:schemeClr val="accent2"/>
          </a:solidFill>
          <a:ln/>
        </p:spPr>
      </p:sp>
      <p:sp>
        <p:nvSpPr>
          <p:cNvPr id="12" name="hint b letter"/>
          <p:cNvSpPr txBox="1"/>
          <p:nvPr/>
        </p:nvSpPr>
        <p:spPr>
          <a:xfrm>
            <a:off x="640080" y="216027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055876"/>
            <a:ext cx="7443216" cy="537972"/>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build:</a:t>
            </a:r>
            <a:pPr indent="0" marL="0">
              <a:buNone/>
            </a:pPr>
            <a:r>
              <a:rPr lang="en-US" sz="1800" dirty="0">
                <a:solidFill>
                  <a:schemeClr val="tx1"/>
                </a:solidFill>
              </a:rPr>
              <a:t> points at the folder with the Dockerfile.</a:t>
            </a:r>
            <a:endParaRPr lang="en-US" sz="1800" dirty="0"/>
          </a:p>
        </p:txBody>
      </p:sp>
      <p:sp>
        <p:nvSpPr>
          <p:cNvPr id="14" name="hint c card"/>
          <p:cNvSpPr/>
          <p:nvPr/>
        </p:nvSpPr>
        <p:spPr>
          <a:xfrm>
            <a:off x="548640" y="2630424"/>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2734818"/>
            <a:ext cx="329184" cy="329184"/>
          </a:xfrm>
          <a:prstGeom prst="ellipse">
            <a:avLst/>
          </a:prstGeom>
          <a:solidFill>
            <a:schemeClr val="accent2"/>
          </a:solidFill>
          <a:ln/>
        </p:spPr>
      </p:sp>
      <p:sp>
        <p:nvSpPr>
          <p:cNvPr id="16" name="hint c letter"/>
          <p:cNvSpPr txBox="1"/>
          <p:nvPr/>
        </p:nvSpPr>
        <p:spPr>
          <a:xfrm>
            <a:off x="640080" y="273481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2630424"/>
            <a:ext cx="7443216" cy="537972"/>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ports:</a:t>
            </a:r>
            <a:pPr indent="0" marL="0">
              <a:buNone/>
            </a:pPr>
            <a:r>
              <a:rPr lang="en-US" sz="1800" dirty="0">
                <a:solidFill>
                  <a:schemeClr val="tx1"/>
                </a:solidFill>
              </a:rPr>
              <a:t> is a list: </a:t>
            </a:r>
            <a:pPr indent="0" marL="0">
              <a:buNone/>
            </a:pPr>
            <a:r>
              <a:rPr lang="en-US" sz="1800" dirty="0">
                <a:solidFill>
                  <a:schemeClr val="tx1"/>
                </a:solidFill>
                <a:latin typeface="Courier New" pitchFamily="34" charset="0"/>
                <a:ea typeface="Courier New" pitchFamily="34" charset="-122"/>
                <a:cs typeface="Courier New" pitchFamily="34" charset="-120"/>
              </a:rPr>
              <a:t>- "5000:5000"</a:t>
            </a:r>
            <a:pPr indent="0" marL="0">
              <a:buNone/>
            </a:pPr>
            <a:r>
              <a:rPr lang="en-US" sz="1800" dirty="0">
                <a:solidFill>
                  <a:schemeClr val="tx1"/>
                </a:solidFill>
              </a:rPr>
              <a:t>; the second service uses 5001.</a:t>
            </a:r>
            <a:endParaRPr lang="en-US" sz="1800" dirty="0"/>
          </a:p>
        </p:txBody>
      </p:sp>
      <p:sp>
        <p:nvSpPr>
          <p:cNvPr id="18" name="hint d card"/>
          <p:cNvSpPr/>
          <p:nvPr/>
        </p:nvSpPr>
        <p:spPr>
          <a:xfrm>
            <a:off x="548640" y="3204972"/>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3309366"/>
            <a:ext cx="329184" cy="329184"/>
          </a:xfrm>
          <a:prstGeom prst="ellipse">
            <a:avLst/>
          </a:prstGeom>
          <a:solidFill>
            <a:schemeClr val="accent2"/>
          </a:solidFill>
          <a:ln/>
        </p:spPr>
      </p:sp>
      <p:sp>
        <p:nvSpPr>
          <p:cNvPr id="20" name="hint d letter"/>
          <p:cNvSpPr txBox="1"/>
          <p:nvPr/>
        </p:nvSpPr>
        <p:spPr>
          <a:xfrm>
            <a:off x="640080" y="330936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3204972"/>
            <a:ext cx="7443216" cy="537972"/>
          </a:xfrm>
          <a:prstGeom prst="rect">
            <a:avLst/>
          </a:prstGeom>
          <a:noFill/>
          <a:ln/>
        </p:spPr>
        <p:txBody>
          <a:bodyPr wrap="square" lIns="0" tIns="0" rIns="0" bIns="0" rtlCol="0" anchor="ctr"/>
          <a:lstStyle/>
          <a:p>
            <a:pPr indent="0" marL="0">
              <a:buNone/>
            </a:pPr>
            <a:r>
              <a:rPr lang="en-US" sz="1800" dirty="0">
                <a:solidFill>
                  <a:schemeClr val="tx1"/>
                </a:solidFill>
              </a:rPr>
              <a:t>Name each service like its folder.</a:t>
            </a:r>
            <a:endParaRPr lang="en-US" sz="1800" dirty="0"/>
          </a:p>
        </p:txBody>
      </p:sp>
      <p:sp>
        <p:nvSpPr>
          <p:cNvPr id="22" name="hint e card"/>
          <p:cNvSpPr/>
          <p:nvPr/>
        </p:nvSpPr>
        <p:spPr>
          <a:xfrm>
            <a:off x="548640" y="3779520"/>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3" name="hint e circle"/>
          <p:cNvSpPr/>
          <p:nvPr/>
        </p:nvSpPr>
        <p:spPr>
          <a:xfrm>
            <a:off x="640080" y="3883914"/>
            <a:ext cx="329184" cy="329184"/>
          </a:xfrm>
          <a:prstGeom prst="ellipse">
            <a:avLst/>
          </a:prstGeom>
          <a:solidFill>
            <a:schemeClr val="accent2"/>
          </a:solidFill>
          <a:ln/>
        </p:spPr>
      </p:sp>
      <p:sp>
        <p:nvSpPr>
          <p:cNvPr id="24" name="hint e letter"/>
          <p:cNvSpPr txBox="1"/>
          <p:nvPr/>
        </p:nvSpPr>
        <p:spPr>
          <a:xfrm>
            <a:off x="640080" y="388391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25" name="hint e text"/>
          <p:cNvSpPr txBox="1"/>
          <p:nvPr/>
        </p:nvSpPr>
        <p:spPr>
          <a:xfrm>
            <a:off x="1060704" y="3779520"/>
            <a:ext cx="7443216" cy="537972"/>
          </a:xfrm>
          <a:prstGeom prst="rect">
            <a:avLst/>
          </a:prstGeom>
          <a:noFill/>
          <a:ln/>
        </p:spPr>
        <p:txBody>
          <a:bodyPr wrap="square" lIns="0" tIns="0" rIns="0" bIns="0" rtlCol="0" anchor="ctr"/>
          <a:lstStyle/>
          <a:p>
            <a:pPr indent="0" marL="0">
              <a:buNone/>
            </a:pPr>
            <a:r>
              <a:rPr lang="en-US" sz="1800" dirty="0">
                <a:solidFill>
                  <a:schemeClr val="tx1"/>
                </a:solidFill>
              </a:rPr>
              <a:t>If it is not up, read </a:t>
            </a:r>
            <a:pPr indent="0" marL="0">
              <a:buNone/>
            </a:pPr>
            <a:r>
              <a:rPr lang="en-US" sz="1800" dirty="0">
                <a:solidFill>
                  <a:schemeClr val="tx1"/>
                </a:solidFill>
                <a:latin typeface="Courier New" pitchFamily="34" charset="0"/>
                <a:ea typeface="Courier New" pitchFamily="34" charset="-122"/>
                <a:cs typeface="Courier New" pitchFamily="34" charset="-120"/>
              </a:rPr>
              <a:t>docker compose logs</a:t>
            </a:r>
            <a:pPr indent="0" marL="0">
              <a:buNone/>
            </a:pPr>
            <a:r>
              <a:rPr lang="en-US" sz="1800" dirty="0">
                <a:solidFill>
                  <a:schemeClr val="tx1"/>
                </a:solidFill>
              </a:rPr>
              <a:t>.</a:t>
            </a:r>
            <a:endParaRPr lang="en-US" sz="1800" dirty="0"/>
          </a:p>
        </p:txBody>
      </p:sp>
      <p:sp>
        <p:nvSpPr>
          <p:cNvPr id="26" name="hint f card"/>
          <p:cNvSpPr/>
          <p:nvPr/>
        </p:nvSpPr>
        <p:spPr>
          <a:xfrm>
            <a:off x="548640" y="435406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7" name="hint f circle"/>
          <p:cNvSpPr/>
          <p:nvPr/>
        </p:nvSpPr>
        <p:spPr>
          <a:xfrm>
            <a:off x="640080" y="4458462"/>
            <a:ext cx="329184" cy="329184"/>
          </a:xfrm>
          <a:prstGeom prst="ellipse">
            <a:avLst/>
          </a:prstGeom>
          <a:solidFill>
            <a:schemeClr val="accent2"/>
          </a:solidFill>
          <a:ln/>
        </p:spPr>
      </p:sp>
      <p:sp>
        <p:nvSpPr>
          <p:cNvPr id="28" name="hint f letter"/>
          <p:cNvSpPr txBox="1"/>
          <p:nvPr/>
        </p:nvSpPr>
        <p:spPr>
          <a:xfrm>
            <a:off x="640080" y="445846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29" name="hint f text"/>
          <p:cNvSpPr txBox="1"/>
          <p:nvPr/>
        </p:nvSpPr>
        <p:spPr>
          <a:xfrm>
            <a:off x="1060704" y="4354068"/>
            <a:ext cx="7443216" cy="537972"/>
          </a:xfrm>
          <a:prstGeom prst="rect">
            <a:avLst/>
          </a:prstGeom>
          <a:noFill/>
          <a:ln/>
        </p:spPr>
        <p:txBody>
          <a:bodyPr wrap="square" lIns="0" tIns="0" rIns="0" bIns="0" rtlCol="0" anchor="ctr"/>
          <a:lstStyle/>
          <a:p>
            <a:pPr indent="0" marL="0">
              <a:buNone/>
            </a:pPr>
            <a:r>
              <a:rPr lang="en-US" sz="1800" dirty="0">
                <a:solidFill>
                  <a:schemeClr val="tx1"/>
                </a:solidFill>
              </a:rPr>
              <a:t>If a port is in use, run </a:t>
            </a:r>
            <a:pPr indent="0" marL="0">
              <a:buNone/>
            </a:pPr>
            <a:r>
              <a:rPr lang="en-US" sz="1800" dirty="0">
                <a:solidFill>
                  <a:schemeClr val="tx1"/>
                </a:solidFill>
                <a:latin typeface="Courier New" pitchFamily="34" charset="0"/>
                <a:ea typeface="Courier New" pitchFamily="34" charset="-122"/>
                <a:cs typeface="Courier New" pitchFamily="34" charset="-120"/>
              </a:rPr>
              <a:t>docker ps</a:t>
            </a:r>
            <a:pPr indent="0" marL="0">
              <a:buNone/>
            </a:pPr>
            <a:r>
              <a:rPr lang="en-US" sz="1800" dirty="0">
                <a:solidFill>
                  <a:schemeClr val="tx1"/>
                </a:solidFill>
              </a:rPr>
              <a:t> and remove the old container.</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P spid="23" grpId="0" animBg="1"/>
      <p:bldP spid="24" grpId="0"/>
      <p:bldP spid="25" grpId="0"/>
      <p:bldP spid="27" grpId="0" animBg="1"/>
      <p:bldP spid="28" grpId="0"/>
      <p:bldP spid="29"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the file with gaps</a:t>
            </a:r>
            <a:endParaRPr lang="en-US" sz="3400" dirty="0"/>
          </a:p>
        </p:txBody>
      </p:sp>
      <p:sp>
        <p:nvSpPr>
          <p:cNvPr id="4" name="behind banner"/>
          <p:cNvSpPr/>
          <p:nvPr/>
        </p:nvSpPr>
        <p:spPr>
          <a:xfrm>
            <a:off x="548640" y="1143000"/>
            <a:ext cx="8046720" cy="640080"/>
          </a:xfrm>
          <a:prstGeom prst="roundRect">
            <a:avLst>
              <a:gd name="adj" fmla="val 11429"/>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77240" y="1143000"/>
            <a:ext cx="7589520" cy="640080"/>
          </a:xfrm>
          <a:prstGeom prst="rect">
            <a:avLst/>
          </a:prstGeom>
          <a:noFill/>
          <a:ln/>
        </p:spPr>
        <p:txBody>
          <a:bodyPr wrap="square" lIns="0" tIns="0" rIns="0" bIns="0" rtlCol="0" anchor="ctr"/>
          <a:lstStyle/>
          <a:p>
            <a:pPr indent="0" marL="0">
              <a:buNone/>
            </a:pPr>
            <a:r>
              <a:rPr lang="en-US" sz="2000" b="1" dirty="0">
                <a:solidFill>
                  <a:schemeClr val="tx1"/>
                </a:solidFill>
              </a:rPr>
              <a:t>The gaps are yours.</a:t>
            </a:r>
            <a:endParaRPr lang="en-US" sz="2000" dirty="0"/>
          </a:p>
        </p:txBody>
      </p:sp>
      <p:sp>
        <p:nvSpPr>
          <p:cNvPr id="6" name="code panel"/>
          <p:cNvSpPr/>
          <p:nvPr/>
        </p:nvSpPr>
        <p:spPr>
          <a:xfrm>
            <a:off x="548640" y="1920240"/>
            <a:ext cx="8046720" cy="2834640"/>
          </a:xfrm>
          <a:prstGeom prst="roundRect">
            <a:avLst>
              <a:gd name="adj" fmla="val 2581"/>
            </a:avLst>
          </a:prstGeom>
          <a:solidFill>
            <a:schemeClr val="tx1"/>
          </a:solidFill>
          <a:ln/>
        </p:spPr>
      </p:sp>
      <p:sp>
        <p:nvSpPr>
          <p:cNvPr id="7" name="code"/>
          <p:cNvSpPr txBox="1"/>
          <p:nvPr/>
        </p:nvSpPr>
        <p:spPr>
          <a:xfrm>
            <a:off x="713232" y="2029968"/>
            <a:ext cx="7717536" cy="2615184"/>
          </a:xfrm>
          <a:prstGeom prst="rect">
            <a:avLst/>
          </a:prstGeom>
          <a:noFill/>
          <a:ln/>
        </p:spPr>
        <p:txBody>
          <a:bodyPr wrap="square" lIns="0" tIns="0" rIns="0" bIns="0" rtlCol="0" anchor="t"/>
          <a:lstStyle/>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services:</a:t>
            </a:r>
            <a:endParaRPr lang="en-US" sz="1800" dirty="0"/>
          </a:p>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  tasks-api:</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 build ?</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 ports ?</a:t>
            </a:r>
            <a:endParaRPr lang="en-US" sz="1800" dirty="0"/>
          </a:p>
          <a:p>
            <a:pPr indent="0" marL="0">
              <a:lnSpc>
                <a:spcPts val="2520"/>
              </a:lnSpc>
              <a:buNone/>
            </a:pPr>
            <a:r>
              <a:rPr lang="en-US" sz="1800" dirty="0">
                <a:solidFill>
                  <a:srgbClr val="9DA7B3"/>
                </a:solidFill>
                <a:latin typeface="Courier New" pitchFamily="34" charset="0"/>
                <a:ea typeface="Courier New" pitchFamily="34" charset="-122"/>
                <a:cs typeface="Courier New" pitchFamily="34" charset="-120"/>
              </a:rPr>
              <a:t>  title-normalizer:</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 build ?</a:t>
            </a:r>
            <a:endParaRPr lang="en-US" sz="1800" dirty="0"/>
          </a:p>
          <a:p>
            <a:pPr indent="0" marL="0">
              <a:lnSpc>
                <a:spcPts val="2520"/>
              </a:lnSpc>
              <a:buNone/>
            </a:pPr>
            <a:r>
              <a:rPr lang="en-US" sz="1800" b="1" dirty="0">
                <a:solidFill>
                  <a:srgbClr val="E3B341"/>
                </a:solidFill>
                <a:latin typeface="Courier New" pitchFamily="34" charset="0"/>
                <a:ea typeface="Courier New" pitchFamily="34" charset="-122"/>
                <a:cs typeface="Courier New" pitchFamily="34" charset="-120"/>
              </a:rPr>
              <a:t>    # ports ?</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1: answer</a:t>
            </a:r>
            <a:endParaRPr lang="en-US" sz="3400" dirty="0"/>
          </a:p>
        </p:txBody>
      </p:sp>
      <p:sp>
        <p:nvSpPr>
          <p:cNvPr id="4" name="code panel compose"/>
          <p:cNvSpPr/>
          <p:nvPr/>
        </p:nvSpPr>
        <p:spPr>
          <a:xfrm>
            <a:off x="320040" y="1005840"/>
            <a:ext cx="8503920" cy="2697480"/>
          </a:xfrm>
          <a:prstGeom prst="roundRect">
            <a:avLst>
              <a:gd name="adj" fmla="val 2712"/>
            </a:avLst>
          </a:prstGeom>
          <a:solidFill>
            <a:schemeClr val="tx1"/>
          </a:solidFill>
          <a:ln/>
        </p:spPr>
      </p:sp>
      <p:sp>
        <p:nvSpPr>
          <p:cNvPr id="5" name="code"/>
          <p:cNvSpPr txBox="1"/>
          <p:nvPr/>
        </p:nvSpPr>
        <p:spPr>
          <a:xfrm>
            <a:off x="429768" y="1088136"/>
            <a:ext cx="8284464" cy="2532888"/>
          </a:xfrm>
          <a:prstGeom prst="rect">
            <a:avLst/>
          </a:prstGeom>
          <a:noFill/>
          <a:ln/>
        </p:spPr>
        <p:txBody>
          <a:bodyPr wrap="square" lIns="0" tIns="0" rIns="0" bIns="0" rtlCol="0" anchor="t"/>
          <a:lstStyle/>
          <a:p>
            <a:pPr indent="0" marL="0">
              <a:lnSpc>
                <a:spcPts val="2170"/>
              </a:lnSpc>
              <a:buNone/>
            </a:pPr>
            <a:r>
              <a:rPr lang="en-US" sz="1550" dirty="0">
                <a:solidFill>
                  <a:srgbClr val="9DA7B3"/>
                </a:solidFill>
                <a:latin typeface="Courier New" pitchFamily="34" charset="0"/>
                <a:ea typeface="Courier New" pitchFamily="34" charset="-122"/>
                <a:cs typeface="Courier New" pitchFamily="34" charset="-120"/>
              </a:rPr>
              <a:t>services:</a:t>
            </a:r>
            <a:endParaRPr lang="en-US" sz="1550" dirty="0"/>
          </a:p>
          <a:p>
            <a:pPr indent="0" marL="0">
              <a:lnSpc>
                <a:spcPts val="2170"/>
              </a:lnSpc>
              <a:buNone/>
            </a:pPr>
            <a:r>
              <a:rPr lang="en-US" sz="1550" dirty="0">
                <a:solidFill>
                  <a:srgbClr val="9DA7B3"/>
                </a:solidFill>
                <a:latin typeface="Courier New" pitchFamily="34" charset="0"/>
                <a:ea typeface="Courier New" pitchFamily="34" charset="-122"/>
                <a:cs typeface="Courier New" pitchFamily="34" charset="-120"/>
              </a:rPr>
              <a:t>  tasks-api:</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build: services/tasks-api</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ports:</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 "5000:5000"</a:t>
            </a:r>
            <a:endParaRPr lang="en-US" sz="1550" dirty="0"/>
          </a:p>
          <a:p>
            <a:pPr indent="0" marL="0">
              <a:lnSpc>
                <a:spcPts val="2170"/>
              </a:lnSpc>
              <a:buNone/>
            </a:pPr>
            <a:r>
              <a:rPr lang="en-US" sz="1550" dirty="0">
                <a:solidFill>
                  <a:srgbClr val="9DA7B3"/>
                </a:solidFill>
                <a:latin typeface="Courier New" pitchFamily="34" charset="0"/>
                <a:ea typeface="Courier New" pitchFamily="34" charset="-122"/>
                <a:cs typeface="Courier New" pitchFamily="34" charset="-120"/>
              </a:rPr>
              <a:t>  title-normalizer:</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build: services/title-normalizer</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ports:</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      - "5001:5001"</a:t>
            </a:r>
            <a:endParaRPr lang="en-US" sz="1550" dirty="0"/>
          </a:p>
        </p:txBody>
      </p:sp>
      <p:sp>
        <p:nvSpPr>
          <p:cNvPr id="6" name="code panel commands"/>
          <p:cNvSpPr/>
          <p:nvPr/>
        </p:nvSpPr>
        <p:spPr>
          <a:xfrm>
            <a:off x="320040" y="3840480"/>
            <a:ext cx="8503920" cy="868680"/>
          </a:xfrm>
          <a:prstGeom prst="roundRect">
            <a:avLst>
              <a:gd name="adj" fmla="val 8421"/>
            </a:avLst>
          </a:prstGeom>
          <a:solidFill>
            <a:schemeClr val="tx1"/>
          </a:solidFill>
          <a:ln/>
        </p:spPr>
      </p:sp>
      <p:sp>
        <p:nvSpPr>
          <p:cNvPr id="7" name="code"/>
          <p:cNvSpPr txBox="1"/>
          <p:nvPr/>
        </p:nvSpPr>
        <p:spPr>
          <a:xfrm>
            <a:off x="429768" y="3922776"/>
            <a:ext cx="8284464" cy="704088"/>
          </a:xfrm>
          <a:prstGeom prst="rect">
            <a:avLst/>
          </a:prstGeom>
          <a:noFill/>
          <a:ln/>
        </p:spPr>
        <p:txBody>
          <a:bodyPr wrap="square" lIns="0" tIns="0" rIns="0" bIns="0" rtlCol="0" anchor="t"/>
          <a:lstStyle/>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docker compose up --build</a:t>
            </a:r>
            <a:endParaRPr lang="en-US" sz="1550" dirty="0"/>
          </a:p>
          <a:p>
            <a:pPr indent="0" marL="0">
              <a:lnSpc>
                <a:spcPts val="2170"/>
              </a:lnSpc>
              <a:buNone/>
            </a:pPr>
            <a:r>
              <a:rPr lang="en-US" sz="1550" b="1" dirty="0">
                <a:solidFill>
                  <a:srgbClr val="56D364"/>
                </a:solidFill>
                <a:highlight>
                  <a:srgbClr val="1B3A28"/>
                </a:highlight>
                <a:latin typeface="Courier New" pitchFamily="34" charset="0"/>
                <a:ea typeface="Courier New" pitchFamily="34" charset="-122"/>
                <a:cs typeface="Courier New" pitchFamily="34" charset="-120"/>
              </a:rPr>
              <a:t>docker compose ps</a:t>
            </a:r>
            <a:endParaRPr lang="en-US" sz="1550" dirty="0"/>
          </a:p>
        </p:txBody>
      </p:sp>
      <p:sp>
        <p:nvSpPr>
          <p:cNvPr id="8" name="Text 5"/>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a:t>
            </a:r>
            <a:endParaRPr lang="en-US" sz="3400" dirty="0"/>
          </a:p>
        </p:txBody>
      </p:sp>
      <p:sp>
        <p:nvSpPr>
          <p:cNvPr id="4" name="requirement"/>
          <p:cNvSpPr/>
          <p:nvPr/>
        </p:nvSpPr>
        <p:spPr>
          <a:xfrm>
            <a:off x="548640" y="1280160"/>
            <a:ext cx="8046720" cy="2743200"/>
          </a:xfrm>
          <a:prstGeom prst="roundRect">
            <a:avLst>
              <a:gd name="adj" fmla="val 2667"/>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2743200"/>
          </a:xfrm>
          <a:prstGeom prst="rect">
            <a:avLst/>
          </a:prstGeom>
          <a:solidFill>
            <a:schemeClr val="accent1"/>
          </a:solidFill>
          <a:ln/>
        </p:spPr>
      </p:sp>
      <p:sp>
        <p:nvSpPr>
          <p:cNvPr id="6" name="Text 3"/>
          <p:cNvSpPr txBox="1"/>
          <p:nvPr/>
        </p:nvSpPr>
        <p:spPr>
          <a:xfrm>
            <a:off x="914400" y="1371600"/>
            <a:ext cx="7498080" cy="2560320"/>
          </a:xfrm>
          <a:prstGeom prst="rect">
            <a:avLst/>
          </a:prstGeom>
          <a:noFill/>
          <a:ln/>
        </p:spPr>
        <p:txBody>
          <a:bodyPr wrap="square" lIns="0" tIns="0" rIns="0" bIns="0" rtlCol="0" anchor="ctr"/>
          <a:lstStyle/>
          <a:p>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tasks-api</a:t>
            </a:r>
            <a:pPr indent="0" marL="0">
              <a:spcAft>
                <a:spcPts val="800"/>
              </a:spcAft>
              <a:buNone/>
            </a:pPr>
            <a:r>
              <a:rPr lang="en-US" sz="2600" dirty="0">
                <a:solidFill>
                  <a:schemeClr val="tx1"/>
                </a:solidFill>
              </a:rPr>
              <a:t> finds </a:t>
            </a:r>
            <a:pPr indent="0" marL="0">
              <a:spcAft>
                <a:spcPts val="800"/>
              </a:spcAft>
              <a:buNone/>
            </a:pPr>
            <a:r>
              <a:rPr lang="en-US" sz="2600" dirty="0">
                <a:solidFill>
                  <a:schemeClr val="tx1"/>
                </a:solidFill>
                <a:latin typeface="Courier New" pitchFamily="34" charset="0"/>
                <a:ea typeface="Courier New" pitchFamily="34" charset="-122"/>
                <a:cs typeface="Courier New" pitchFamily="34" charset="-120"/>
              </a:rPr>
              <a:t>title-normalizer</a:t>
            </a:r>
            <a:pPr indent="0" marL="0">
              <a:spcAft>
                <a:spcPts val="800"/>
              </a:spcAft>
              <a:buNone/>
            </a:pPr>
            <a:r>
              <a:rPr lang="en-US" sz="2600" dirty="0">
                <a:solidFill>
                  <a:schemeClr val="tx1"/>
                </a:solidFill>
              </a:rPr>
              <a:t> by its service name.</a:t>
            </a:r>
            <a:endParaRPr lang="en-US" sz="2600" dirty="0"/>
          </a:p>
          <a:p>
            <a:pPr indent="0" marL="0">
              <a:buNone/>
            </a:pPr>
            <a:r>
              <a:rPr lang="en-US" sz="2600" dirty="0">
                <a:solidFill>
                  <a:schemeClr val="tx1"/>
                </a:solidFill>
                <a:latin typeface="Courier New" pitchFamily="34" charset="0"/>
                <a:ea typeface="Courier New" pitchFamily="34" charset="-122"/>
                <a:cs typeface="Courier New" pitchFamily="34" charset="-120"/>
              </a:rPr>
              <a:t>POST /tasks</a:t>
            </a:r>
            <a:pPr indent="0" marL="0">
              <a:buNone/>
            </a:pPr>
            <a:r>
              <a:rPr lang="en-US" sz="2600" dirty="0">
                <a:solidFill>
                  <a:schemeClr val="tx1"/>
                </a:solidFill>
              </a:rPr>
              <a:t> with the title </a:t>
            </a:r>
            <a:pPr indent="0" marL="0">
              <a:buNone/>
            </a:pPr>
            <a:r>
              <a:rPr lang="en-US" sz="2600" dirty="0">
                <a:solidFill>
                  <a:schemeClr val="tx1"/>
                </a:solidFill>
                <a:latin typeface="Courier New" pitchFamily="34" charset="0"/>
                <a:ea typeface="Courier New" pitchFamily="34" charset="-122"/>
                <a:cs typeface="Courier New" pitchFamily="34" charset="-120"/>
              </a:rPr>
              <a:t>  buy   MILK </a:t>
            </a:r>
            <a:pPr indent="0" marL="0">
              <a:buNone/>
            </a:pPr>
            <a:r>
              <a:rPr lang="en-US" sz="2600" dirty="0">
                <a:solidFill>
                  <a:schemeClr val="tx1"/>
                </a:solidFill>
              </a:rPr>
              <a:t> returns </a:t>
            </a:r>
            <a:pPr indent="0" marL="0">
              <a:buNone/>
            </a:pPr>
            <a:r>
              <a:rPr lang="en-US" sz="2600" dirty="0">
                <a:solidFill>
                  <a:schemeClr val="tx1"/>
                </a:solidFill>
                <a:latin typeface="Courier New" pitchFamily="34" charset="0"/>
                <a:ea typeface="Courier New" pitchFamily="34" charset="-122"/>
                <a:cs typeface="Courier New" pitchFamily="34" charset="-120"/>
              </a:rPr>
              <a:t>"title": "Buy MILK"</a:t>
            </a:r>
            <a:pPr indent="0" marL="0">
              <a:buNone/>
            </a:pPr>
            <a:r>
              <a:rPr lang="en-US" sz="2600" dirty="0">
                <a:solidFill>
                  <a:schemeClr val="tx1"/>
                </a:solidFill>
              </a:rPr>
              <a:t> and </a:t>
            </a:r>
            <a:pPr indent="0" marL="0">
              <a:buNone/>
            </a:pPr>
            <a:r>
              <a:rPr lang="en-US" sz="2600" dirty="0">
                <a:solidFill>
                  <a:schemeClr val="tx1"/>
                </a:solidFill>
                <a:latin typeface="Courier New" pitchFamily="34" charset="0"/>
                <a:ea typeface="Courier New" pitchFamily="34" charset="-122"/>
                <a:cs typeface="Courier New" pitchFamily="34" charset="-120"/>
              </a:rPr>
              <a:t>"normalized": true</a:t>
            </a:r>
            <a:pPr indent="0" marL="0">
              <a:buNone/>
            </a:pPr>
            <a:r>
              <a:rPr lang="en-US" sz="2600" dirty="0">
                <a:solidFill>
                  <a:schemeClr val="tx1"/>
                </a:solidFill>
              </a:rPr>
              <a:t>.</a:t>
            </a:r>
            <a:endParaRPr lang="en-US" sz="26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 hints</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tasks-api</a:t>
            </a:r>
            <a:pPr indent="0" marL="0">
              <a:buNone/>
            </a:pPr>
            <a:r>
              <a:rPr lang="en-US" sz="1600" b="1" dirty="0">
                <a:solidFill>
                  <a:schemeClr val="bg1"/>
                </a:solidFill>
              </a:rPr>
              <a:t> reaches </a:t>
            </a:r>
            <a:pPr indent="0" marL="0">
              <a:buNone/>
            </a:pPr>
            <a:r>
              <a:rPr lang="en-US" sz="1600" b="1" dirty="0">
                <a:solidFill>
                  <a:schemeClr val="bg1"/>
                </a:solidFill>
                <a:latin typeface="Courier New" pitchFamily="34" charset="0"/>
                <a:ea typeface="Courier New" pitchFamily="34" charset="-122"/>
                <a:cs typeface="Courier New" pitchFamily="34" charset="-120"/>
              </a:rPr>
              <a:t>title-normalizer</a:t>
            </a:r>
            <a:pPr indent="0" marL="0">
              <a:buNone/>
            </a:pPr>
            <a:r>
              <a:rPr lang="en-US" sz="1600" b="1" dirty="0">
                <a:solidFill>
                  <a:schemeClr val="bg1"/>
                </a:solidFill>
              </a:rPr>
              <a:t> by name.</a:t>
            </a:r>
            <a:endParaRPr lang="en-US" sz="1600" dirty="0"/>
          </a:p>
        </p:txBody>
      </p:sp>
      <p:sp>
        <p:nvSpPr>
          <p:cNvPr id="6" name="hint a card"/>
          <p:cNvSpPr/>
          <p:nvPr/>
        </p:nvSpPr>
        <p:spPr>
          <a:xfrm>
            <a:off x="548640" y="148132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585722"/>
            <a:ext cx="329184" cy="329184"/>
          </a:xfrm>
          <a:prstGeom prst="ellipse">
            <a:avLst/>
          </a:prstGeom>
          <a:solidFill>
            <a:schemeClr val="accent2"/>
          </a:solidFill>
          <a:ln/>
        </p:spPr>
      </p:sp>
      <p:sp>
        <p:nvSpPr>
          <p:cNvPr id="8" name="hint a letter"/>
          <p:cNvSpPr txBox="1"/>
          <p:nvPr/>
        </p:nvSpPr>
        <p:spPr>
          <a:xfrm>
            <a:off x="640080" y="158572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537972"/>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tasks-api</a:t>
            </a:r>
            <a:pPr indent="0" marL="0">
              <a:buNone/>
            </a:pPr>
            <a:r>
              <a:rPr lang="en-US" sz="1800" dirty="0">
                <a:solidFill>
                  <a:schemeClr val="tx1"/>
                </a:solidFill>
              </a:rPr>
              <a:t> reads its URL from a variable: see README, Run.</a:t>
            </a:r>
            <a:endParaRPr lang="en-US" sz="1800" dirty="0"/>
          </a:p>
        </p:txBody>
      </p:sp>
      <p:sp>
        <p:nvSpPr>
          <p:cNvPr id="10" name="hint b card"/>
          <p:cNvSpPr/>
          <p:nvPr/>
        </p:nvSpPr>
        <p:spPr>
          <a:xfrm>
            <a:off x="548640" y="2055876"/>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160270"/>
            <a:ext cx="329184" cy="329184"/>
          </a:xfrm>
          <a:prstGeom prst="ellipse">
            <a:avLst/>
          </a:prstGeom>
          <a:solidFill>
            <a:schemeClr val="accent2"/>
          </a:solidFill>
          <a:ln/>
        </p:spPr>
      </p:sp>
      <p:sp>
        <p:nvSpPr>
          <p:cNvPr id="12" name="hint b letter"/>
          <p:cNvSpPr txBox="1"/>
          <p:nvPr/>
        </p:nvSpPr>
        <p:spPr>
          <a:xfrm>
            <a:off x="640080" y="216027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2055876"/>
            <a:ext cx="7443216" cy="537972"/>
          </a:xfrm>
          <a:prstGeom prst="rect">
            <a:avLst/>
          </a:prstGeom>
          <a:noFill/>
          <a:ln/>
        </p:spPr>
        <p:txBody>
          <a:bodyPr wrap="square" lIns="0" tIns="0" rIns="0" bIns="0" rtlCol="0" anchor="ctr"/>
          <a:lstStyle/>
          <a:p>
            <a:pPr indent="0" marL="0">
              <a:buNone/>
            </a:pPr>
            <a:r>
              <a:rPr lang="en-US" sz="1800" dirty="0">
                <a:solidFill>
                  <a:schemeClr val="tx1"/>
                </a:solidFill>
                <a:latin typeface="Courier New" pitchFamily="34" charset="0"/>
                <a:ea typeface="Courier New" pitchFamily="34" charset="-122"/>
                <a:cs typeface="Courier New" pitchFamily="34" charset="-120"/>
              </a:rPr>
              <a:t>environment:</a:t>
            </a:r>
            <a:pPr indent="0" marL="0">
              <a:buNone/>
            </a:pPr>
            <a:r>
              <a:rPr lang="en-US" sz="1800" dirty="0">
                <a:solidFill>
                  <a:schemeClr val="tx1"/>
                </a:solidFill>
              </a:rPr>
              <a:t> sets a variable inside the container.</a:t>
            </a:r>
            <a:endParaRPr lang="en-US" sz="1800" dirty="0"/>
          </a:p>
        </p:txBody>
      </p:sp>
      <p:sp>
        <p:nvSpPr>
          <p:cNvPr id="14" name="hint c card"/>
          <p:cNvSpPr/>
          <p:nvPr/>
        </p:nvSpPr>
        <p:spPr>
          <a:xfrm>
            <a:off x="548640" y="2630424"/>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2734818"/>
            <a:ext cx="329184" cy="329184"/>
          </a:xfrm>
          <a:prstGeom prst="ellipse">
            <a:avLst/>
          </a:prstGeom>
          <a:solidFill>
            <a:schemeClr val="accent2"/>
          </a:solidFill>
          <a:ln/>
        </p:spPr>
      </p:sp>
      <p:sp>
        <p:nvSpPr>
          <p:cNvPr id="16" name="hint c letter"/>
          <p:cNvSpPr txBox="1"/>
          <p:nvPr/>
        </p:nvSpPr>
        <p:spPr>
          <a:xfrm>
            <a:off x="640080" y="273481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2630424"/>
            <a:ext cx="7443216" cy="537972"/>
          </a:xfrm>
          <a:prstGeom prst="rect">
            <a:avLst/>
          </a:prstGeom>
          <a:noFill/>
          <a:ln/>
        </p:spPr>
        <p:txBody>
          <a:bodyPr wrap="square" lIns="0" tIns="0" rIns="0" bIns="0" rtlCol="0" anchor="ctr"/>
          <a:lstStyle/>
          <a:p>
            <a:pPr indent="0" marL="0">
              <a:buNone/>
            </a:pPr>
            <a:r>
              <a:rPr lang="en-US" sz="1800" dirty="0">
                <a:solidFill>
                  <a:schemeClr val="tx1"/>
                </a:solidFill>
              </a:rPr>
              <a:t>The host in the URL is the service name, not </a:t>
            </a:r>
            <a:pPr indent="0" marL="0">
              <a:buNone/>
            </a:pPr>
            <a:r>
              <a:rPr lang="en-US" sz="1800" dirty="0">
                <a:solidFill>
                  <a:schemeClr val="tx1"/>
                </a:solidFill>
                <a:latin typeface="Courier New" pitchFamily="34" charset="0"/>
                <a:ea typeface="Courier New" pitchFamily="34" charset="-122"/>
                <a:cs typeface="Courier New" pitchFamily="34" charset="-120"/>
              </a:rPr>
              <a:t>localhost</a:t>
            </a:r>
            <a:pPr indent="0" marL="0">
              <a:buNone/>
            </a:pPr>
            <a:r>
              <a:rPr lang="en-US" sz="1800" dirty="0">
                <a:solidFill>
                  <a:schemeClr val="tx1"/>
                </a:solidFill>
              </a:rPr>
              <a:t>.</a:t>
            </a:r>
            <a:endParaRPr lang="en-US" sz="1800" dirty="0"/>
          </a:p>
        </p:txBody>
      </p:sp>
      <p:sp>
        <p:nvSpPr>
          <p:cNvPr id="18" name="hint d card"/>
          <p:cNvSpPr/>
          <p:nvPr/>
        </p:nvSpPr>
        <p:spPr>
          <a:xfrm>
            <a:off x="548640" y="3204972"/>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3309366"/>
            <a:ext cx="329184" cy="329184"/>
          </a:xfrm>
          <a:prstGeom prst="ellipse">
            <a:avLst/>
          </a:prstGeom>
          <a:solidFill>
            <a:schemeClr val="accent2"/>
          </a:solidFill>
          <a:ln/>
        </p:spPr>
      </p:sp>
      <p:sp>
        <p:nvSpPr>
          <p:cNvPr id="20" name="hint d letter"/>
          <p:cNvSpPr txBox="1"/>
          <p:nvPr/>
        </p:nvSpPr>
        <p:spPr>
          <a:xfrm>
            <a:off x="640080" y="330936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3204972"/>
            <a:ext cx="7443216" cy="537972"/>
          </a:xfrm>
          <a:prstGeom prst="rect">
            <a:avLst/>
          </a:prstGeom>
          <a:noFill/>
          <a:ln/>
        </p:spPr>
        <p:txBody>
          <a:bodyPr wrap="square" lIns="0" tIns="0" rIns="0" bIns="0" rtlCol="0" anchor="ctr"/>
          <a:lstStyle/>
          <a:p>
            <a:pPr indent="0" marL="0">
              <a:buNone/>
            </a:pPr>
            <a:r>
              <a:rPr lang="en-US" sz="1800" dirty="0">
                <a:solidFill>
                  <a:schemeClr val="tx1"/>
                </a:solidFill>
              </a:rPr>
              <a:t>If it is still false, run the firewall command again.</a:t>
            </a:r>
            <a:endParaRPr lang="en-US" sz="1800" dirty="0"/>
          </a:p>
        </p:txBody>
      </p:sp>
      <p:sp>
        <p:nvSpPr>
          <p:cNvPr id="22" name="hint e card"/>
          <p:cNvSpPr/>
          <p:nvPr/>
        </p:nvSpPr>
        <p:spPr>
          <a:xfrm>
            <a:off x="548640" y="3779520"/>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3" name="hint e circle"/>
          <p:cNvSpPr/>
          <p:nvPr/>
        </p:nvSpPr>
        <p:spPr>
          <a:xfrm>
            <a:off x="640080" y="3883914"/>
            <a:ext cx="329184" cy="329184"/>
          </a:xfrm>
          <a:prstGeom prst="ellipse">
            <a:avLst/>
          </a:prstGeom>
          <a:solidFill>
            <a:schemeClr val="accent2"/>
          </a:solidFill>
          <a:ln/>
        </p:spPr>
      </p:sp>
      <p:sp>
        <p:nvSpPr>
          <p:cNvPr id="24" name="hint e letter"/>
          <p:cNvSpPr txBox="1"/>
          <p:nvPr/>
        </p:nvSpPr>
        <p:spPr>
          <a:xfrm>
            <a:off x="640080" y="388391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25" name="hint e text"/>
          <p:cNvSpPr txBox="1"/>
          <p:nvPr/>
        </p:nvSpPr>
        <p:spPr>
          <a:xfrm>
            <a:off x="1060704" y="3779520"/>
            <a:ext cx="7443216" cy="537972"/>
          </a:xfrm>
          <a:prstGeom prst="rect">
            <a:avLst/>
          </a:prstGeom>
          <a:noFill/>
          <a:ln/>
        </p:spPr>
        <p:txBody>
          <a:bodyPr wrap="square" lIns="0" tIns="0" rIns="0" bIns="0" rtlCol="0" anchor="ctr"/>
          <a:lstStyle/>
          <a:p>
            <a:pPr indent="0" marL="0">
              <a:buNone/>
            </a:pPr>
            <a:r>
              <a:rPr lang="en-US" sz="1800" dirty="0">
                <a:solidFill>
                  <a:schemeClr val="tx1"/>
                </a:solidFill>
              </a:rPr>
              <a:t>Compare </a:t>
            </a:r>
            <a:pPr indent="0" marL="0">
              <a:buNone/>
            </a:pPr>
            <a:r>
              <a:rPr lang="en-US" sz="1800" dirty="0">
                <a:solidFill>
                  <a:schemeClr val="tx1"/>
                </a:solidFill>
                <a:latin typeface="Courier New" pitchFamily="34" charset="0"/>
                <a:ea typeface="Courier New" pitchFamily="34" charset="-122"/>
                <a:cs typeface="Courier New" pitchFamily="34" charset="-120"/>
              </a:rPr>
              <a:t>docker compose config</a:t>
            </a:r>
            <a:pPr indent="0" marL="0">
              <a:buNone/>
            </a:pPr>
            <a:r>
              <a:rPr lang="en-US" sz="1800" dirty="0">
                <a:solidFill>
                  <a:schemeClr val="tx1"/>
                </a:solidFill>
              </a:rPr>
              <a:t> with what you meant.</a:t>
            </a:r>
            <a:endParaRPr lang="en-US" sz="1800" dirty="0"/>
          </a:p>
        </p:txBody>
      </p:sp>
      <p:sp>
        <p:nvSpPr>
          <p:cNvPr id="26" name="hint f card"/>
          <p:cNvSpPr/>
          <p:nvPr/>
        </p:nvSpPr>
        <p:spPr>
          <a:xfrm>
            <a:off x="548640" y="4354068"/>
            <a:ext cx="8046720" cy="537972"/>
          </a:xfrm>
          <a:prstGeom prst="roundRect">
            <a:avLst>
              <a:gd name="adj" fmla="val 13598"/>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7" name="hint f circle"/>
          <p:cNvSpPr/>
          <p:nvPr/>
        </p:nvSpPr>
        <p:spPr>
          <a:xfrm>
            <a:off x="640080" y="4458462"/>
            <a:ext cx="329184" cy="329184"/>
          </a:xfrm>
          <a:prstGeom prst="ellipse">
            <a:avLst/>
          </a:prstGeom>
          <a:solidFill>
            <a:schemeClr val="accent2"/>
          </a:solidFill>
          <a:ln/>
        </p:spPr>
      </p:sp>
      <p:sp>
        <p:nvSpPr>
          <p:cNvPr id="28" name="hint f letter"/>
          <p:cNvSpPr txBox="1"/>
          <p:nvPr/>
        </p:nvSpPr>
        <p:spPr>
          <a:xfrm>
            <a:off x="640080" y="445846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29" name="hint f text"/>
          <p:cNvSpPr txBox="1"/>
          <p:nvPr/>
        </p:nvSpPr>
        <p:spPr>
          <a:xfrm>
            <a:off x="1060704" y="4354068"/>
            <a:ext cx="7443216" cy="537972"/>
          </a:xfrm>
          <a:prstGeom prst="rect">
            <a:avLst/>
          </a:prstGeom>
          <a:noFill/>
          <a:ln/>
        </p:spPr>
        <p:txBody>
          <a:bodyPr wrap="square" lIns="0" tIns="0" rIns="0" bIns="0" rtlCol="0" anchor="ctr"/>
          <a:lstStyle/>
          <a:p>
            <a:pPr indent="0" marL="0">
              <a:buNone/>
            </a:pPr>
            <a:r>
              <a:rPr lang="en-US" sz="1800" dirty="0">
                <a:solidFill>
                  <a:schemeClr val="tx1"/>
                </a:solidFill>
              </a:rPr>
              <a:t>After you change the file: run </a:t>
            </a:r>
            <a:pPr indent="0" marL="0">
              <a:buNone/>
            </a:pPr>
            <a:r>
              <a:rPr lang="en-US" sz="1800" dirty="0">
                <a:solidFill>
                  <a:schemeClr val="tx1"/>
                </a:solidFill>
                <a:latin typeface="Courier New" pitchFamily="34" charset="0"/>
                <a:ea typeface="Courier New" pitchFamily="34" charset="-122"/>
                <a:cs typeface="Courier New" pitchFamily="34" charset="-120"/>
              </a:rPr>
              <a:t>docker compose up</a:t>
            </a:r>
            <a:pPr indent="0" marL="0">
              <a:buNone/>
            </a:pPr>
            <a:r>
              <a:rPr lang="en-US" sz="1800" dirty="0">
                <a:solidFill>
                  <a:schemeClr val="tx1"/>
                </a:solidFill>
              </a:rPr>
              <a:t> again.</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P spid="23" grpId="0" animBg="1"/>
      <p:bldP spid="24" grpId="0"/>
      <p:bldP spid="25" grpId="0"/>
      <p:bldP spid="27" grpId="0" animBg="1"/>
      <p:bldP spid="28" grpId="0"/>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2: answer</a:t>
            </a:r>
            <a:endParaRPr lang="en-US" sz="3400" dirty="0"/>
          </a:p>
        </p:txBody>
      </p:sp>
      <p:sp>
        <p:nvSpPr>
          <p:cNvPr id="4" name="code panel compose"/>
          <p:cNvSpPr/>
          <p:nvPr/>
        </p:nvSpPr>
        <p:spPr>
          <a:xfrm>
            <a:off x="320040" y="960120"/>
            <a:ext cx="8503920" cy="2926080"/>
          </a:xfrm>
          <a:prstGeom prst="roundRect">
            <a:avLst>
              <a:gd name="adj" fmla="val 2500"/>
            </a:avLst>
          </a:prstGeom>
          <a:solidFill>
            <a:schemeClr val="tx1"/>
          </a:solidFill>
          <a:ln/>
        </p:spPr>
      </p:sp>
      <p:sp>
        <p:nvSpPr>
          <p:cNvPr id="5" name="code"/>
          <p:cNvSpPr txBox="1"/>
          <p:nvPr/>
        </p:nvSpPr>
        <p:spPr>
          <a:xfrm>
            <a:off x="429768" y="1042416"/>
            <a:ext cx="8284464" cy="2761488"/>
          </a:xfrm>
          <a:prstGeom prst="rect">
            <a:avLst/>
          </a:prstGeom>
          <a:noFill/>
          <a:ln/>
        </p:spPr>
        <p:txBody>
          <a:bodyPr wrap="square" lIns="0" tIns="0" rIns="0" bIns="0" rtlCol="0" anchor="t"/>
          <a:lstStyle/>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services:</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tasks-api:</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build: services/tasks-api</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ports:</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 "5000:5000"</a:t>
            </a:r>
            <a:endParaRPr lang="en-US" sz="1400" dirty="0"/>
          </a:p>
          <a:p>
            <a:pPr indent="0" marL="0">
              <a:lnSpc>
                <a:spcPts val="196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environment:</a:t>
            </a:r>
            <a:endParaRPr lang="en-US" sz="1400" dirty="0"/>
          </a:p>
          <a:p>
            <a:pPr indent="0" marL="0">
              <a:lnSpc>
                <a:spcPts val="1960"/>
              </a:lnSpc>
              <a:buNone/>
            </a:pPr>
            <a:r>
              <a:rPr lang="en-US" sz="1400" b="1" dirty="0">
                <a:solidFill>
                  <a:srgbClr val="56D364"/>
                </a:solidFill>
                <a:highlight>
                  <a:srgbClr val="1B3A28"/>
                </a:highlight>
                <a:latin typeface="Courier New" pitchFamily="34" charset="0"/>
                <a:ea typeface="Courier New" pitchFamily="34" charset="-122"/>
                <a:cs typeface="Courier New" pitchFamily="34" charset="-120"/>
              </a:rPr>
              <a:t>      NORMALIZER_URL: http://title-normalizer:5001</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title-normalizer:</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build: services/title-normalizer</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ports:</a:t>
            </a:r>
            <a:endParaRPr lang="en-US" sz="1400" dirty="0"/>
          </a:p>
          <a:p>
            <a:pPr indent="0" marL="0">
              <a:lnSpc>
                <a:spcPts val="1960"/>
              </a:lnSpc>
              <a:buNone/>
            </a:pPr>
            <a:r>
              <a:rPr lang="en-US" sz="1400" dirty="0">
                <a:solidFill>
                  <a:srgbClr val="9DA7B3"/>
                </a:solidFill>
                <a:latin typeface="Courier New" pitchFamily="34" charset="0"/>
                <a:ea typeface="Courier New" pitchFamily="34" charset="-122"/>
                <a:cs typeface="Courier New" pitchFamily="34" charset="-120"/>
              </a:rPr>
              <a:t>      - "5001:5001"</a:t>
            </a:r>
            <a:endParaRPr lang="en-US" sz="1400" dirty="0"/>
          </a:p>
        </p:txBody>
      </p:sp>
      <p:sp>
        <p:nvSpPr>
          <p:cNvPr id="6" name="code panel curl"/>
          <p:cNvSpPr/>
          <p:nvPr/>
        </p:nvSpPr>
        <p:spPr>
          <a:xfrm>
            <a:off x="320040" y="3977640"/>
            <a:ext cx="8503920" cy="777240"/>
          </a:xfrm>
          <a:prstGeom prst="roundRect">
            <a:avLst>
              <a:gd name="adj" fmla="val 9412"/>
            </a:avLst>
          </a:prstGeom>
          <a:solidFill>
            <a:schemeClr val="tx1"/>
          </a:solidFill>
          <a:ln/>
        </p:spPr>
      </p:sp>
      <p:sp>
        <p:nvSpPr>
          <p:cNvPr id="7" name="code"/>
          <p:cNvSpPr txBox="1"/>
          <p:nvPr/>
        </p:nvSpPr>
        <p:spPr>
          <a:xfrm>
            <a:off x="429768" y="4059936"/>
            <a:ext cx="8284464" cy="612648"/>
          </a:xfrm>
          <a:prstGeom prst="rect">
            <a:avLst/>
          </a:prstGeom>
          <a:noFill/>
          <a:ln/>
        </p:spPr>
        <p:txBody>
          <a:bodyPr wrap="square" lIns="0" tIns="0" rIns="0" bIns="0" rtlCol="0" anchor="t"/>
          <a:lstStyle/>
          <a:p>
            <a:pPr indent="0" marL="0">
              <a:lnSpc>
                <a:spcPts val="1960"/>
              </a:lnSpc>
              <a:buNone/>
            </a:pPr>
            <a:r>
              <a:rPr lang="en-US" sz="1400" dirty="0">
                <a:solidFill>
                  <a:schemeClr val="bg2"/>
                </a:solidFill>
                <a:latin typeface="Courier New" pitchFamily="34" charset="0"/>
                <a:ea typeface="Courier New" pitchFamily="34" charset="-122"/>
                <a:cs typeface="Courier New" pitchFamily="34" charset="-120"/>
              </a:rPr>
              <a:t>curl -X POST localhost:5000/tasks -H 'Content-Type: application/json' \</a:t>
            </a:r>
            <a:endParaRPr lang="en-US" sz="1400" dirty="0"/>
          </a:p>
          <a:p>
            <a:pPr indent="0" marL="0">
              <a:lnSpc>
                <a:spcPts val="1960"/>
              </a:lnSpc>
              <a:buNone/>
            </a:pPr>
            <a:r>
              <a:rPr lang="en-US" sz="1400" dirty="0">
                <a:solidFill>
                  <a:schemeClr val="bg2"/>
                </a:solidFill>
                <a:latin typeface="Courier New" pitchFamily="34" charset="0"/>
                <a:ea typeface="Courier New" pitchFamily="34" charset="-122"/>
                <a:cs typeface="Courier New" pitchFamily="34" charset="-120"/>
              </a:rPr>
              <a:t>  -d '{"title": "  buy   MILK "}'</a:t>
            </a:r>
            <a:endParaRPr lang="en-US" sz="1400" dirty="0"/>
          </a:p>
        </p:txBody>
      </p:sp>
      <p:sp>
        <p:nvSpPr>
          <p:cNvPr id="8" name="Text 5"/>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a:t>
            </a:r>
            <a:endParaRPr lang="en-US" sz="3400" dirty="0"/>
          </a:p>
        </p:txBody>
      </p:sp>
      <p:sp>
        <p:nvSpPr>
          <p:cNvPr id="4" name="requirement"/>
          <p:cNvSpPr/>
          <p:nvPr/>
        </p:nvSpPr>
        <p:spPr>
          <a:xfrm>
            <a:off x="548640" y="1280160"/>
            <a:ext cx="8046720" cy="3108960"/>
          </a:xfrm>
          <a:prstGeom prst="roundRect">
            <a:avLst>
              <a:gd name="adj" fmla="val 235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requirement bar"/>
          <p:cNvSpPr/>
          <p:nvPr/>
        </p:nvSpPr>
        <p:spPr>
          <a:xfrm>
            <a:off x="548640" y="1280160"/>
            <a:ext cx="91440" cy="3108960"/>
          </a:xfrm>
          <a:prstGeom prst="rect">
            <a:avLst/>
          </a:prstGeom>
          <a:solidFill>
            <a:schemeClr val="accent1"/>
          </a:solidFill>
          <a:ln/>
        </p:spPr>
      </p:sp>
      <p:sp>
        <p:nvSpPr>
          <p:cNvPr id="6" name="Text 3"/>
          <p:cNvSpPr txBox="1"/>
          <p:nvPr/>
        </p:nvSpPr>
        <p:spPr>
          <a:xfrm>
            <a:off x="914400" y="1371600"/>
            <a:ext cx="7498080" cy="2926080"/>
          </a:xfrm>
          <a:prstGeom prst="rect">
            <a:avLst/>
          </a:prstGeom>
          <a:noFill/>
          <a:ln/>
        </p:spPr>
        <p:txBody>
          <a:bodyPr wrap="square" lIns="0" tIns="0" rIns="0" bIns="0" rtlCol="0" anchor="ctr"/>
          <a:lstStyle/>
          <a:p>
            <a:pPr indent="0" marL="0">
              <a:spcAft>
                <a:spcPts val="800"/>
              </a:spcAft>
              <a:buNone/>
            </a:pPr>
            <a:r>
              <a:rPr lang="en-US" sz="2400" dirty="0">
                <a:solidFill>
                  <a:schemeClr val="tx1"/>
                </a:solidFill>
              </a:rPr>
              <a:t>Add a job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publish_images</a:t>
            </a:r>
            <a:pPr indent="0" marL="0">
              <a:spcAft>
                <a:spcPts val="800"/>
              </a:spcAft>
              <a:buNone/>
            </a:pPr>
            <a:r>
              <a:rPr lang="en-US" sz="2400" dirty="0">
                <a:solidFill>
                  <a:schemeClr val="tx1"/>
                </a:solidFill>
              </a:rPr>
              <a:t> to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ci.yml</a:t>
            </a:r>
            <a:pPr indent="0" marL="0">
              <a:spcAft>
                <a:spcPts val="800"/>
              </a:spcAft>
              <a:buNone/>
            </a:pPr>
            <a:r>
              <a:rPr lang="en-US" sz="2400" dirty="0">
                <a:solidFill>
                  <a:schemeClr val="tx1"/>
                </a:solidFill>
              </a:rPr>
              <a:t>.</a:t>
            </a:r>
            <a:endParaRPr lang="en-US" sz="2400" dirty="0"/>
          </a:p>
          <a:p>
            <a:pPr indent="0" marL="0">
              <a:spcAft>
                <a:spcPts val="800"/>
              </a:spcAft>
              <a:buNone/>
            </a:pPr>
            <a:r>
              <a:rPr lang="en-US" sz="2400" dirty="0">
                <a:solidFill>
                  <a:schemeClr val="tx1"/>
                </a:solidFill>
              </a:rPr>
              <a:t>It runs only on a push, not on a pull request, after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build_images</a:t>
            </a:r>
            <a:pPr indent="0" marL="0">
              <a:spcAft>
                <a:spcPts val="800"/>
              </a:spcAft>
              <a:buNone/>
            </a:pPr>
            <a:r>
              <a:rPr lang="en-US" sz="2400" dirty="0">
                <a:solidFill>
                  <a:schemeClr val="tx1"/>
                </a:solidFill>
              </a:rPr>
              <a:t>.</a:t>
            </a:r>
            <a:endParaRPr lang="en-US" sz="2400" dirty="0"/>
          </a:p>
          <a:p>
            <a:pPr indent="0" marL="0">
              <a:spcAft>
                <a:spcPts val="800"/>
              </a:spcAft>
              <a:buNone/>
            </a:pPr>
            <a:r>
              <a:rPr lang="en-US" sz="2400" dirty="0">
                <a:solidFill>
                  <a:schemeClr val="tx1"/>
                </a:solidFill>
              </a:rPr>
              <a:t>For both services: push the image to </a:t>
            </a:r>
            <a:pPr indent="0" marL="0">
              <a:spcAft>
                <a:spcPts val="800"/>
              </a:spcAft>
              <a:buNone/>
            </a:pPr>
            <a:r>
              <a:rPr lang="en-US" sz="2400" dirty="0">
                <a:solidFill>
                  <a:schemeClr val="tx1"/>
                </a:solidFill>
                <a:latin typeface="Courier New" pitchFamily="34" charset="0"/>
                <a:ea typeface="Courier New" pitchFamily="34" charset="-122"/>
                <a:cs typeface="Courier New" pitchFamily="34" charset="-120"/>
              </a:rPr>
              <a:t>ghcr.io/&lt;owner&gt;/&lt;service&gt;</a:t>
            </a:r>
            <a:pPr indent="0" marL="0">
              <a:spcAft>
                <a:spcPts val="800"/>
              </a:spcAft>
              <a:buNone/>
            </a:pPr>
            <a:r>
              <a:rPr lang="en-US" sz="2400" dirty="0">
                <a:solidFill>
                  <a:schemeClr val="tx1"/>
                </a:solidFill>
              </a:rPr>
              <a:t>, tagged with the commit.</a:t>
            </a:r>
            <a:endParaRPr lang="en-US" sz="2400" dirty="0"/>
          </a:p>
          <a:p>
            <a:pPr indent="0" marL="0">
              <a:buNone/>
            </a:pPr>
            <a:r>
              <a:rPr lang="en-US" sz="2400" dirty="0">
                <a:solidFill>
                  <a:schemeClr val="tx1"/>
                </a:solidFill>
              </a:rPr>
              <a:t>Push to </a:t>
            </a:r>
            <a:pPr indent="0" marL="0">
              <a:buNone/>
            </a:pPr>
            <a:r>
              <a:rPr lang="en-US" sz="2400" dirty="0">
                <a:solidFill>
                  <a:schemeClr val="tx1"/>
                </a:solidFill>
                <a:latin typeface="Courier New" pitchFamily="34" charset="0"/>
                <a:ea typeface="Courier New" pitchFamily="34" charset="-122"/>
                <a:cs typeface="Courier New" pitchFamily="34" charset="-120"/>
              </a:rPr>
              <a:t>main</a:t>
            </a:r>
            <a:pPr indent="0" marL="0">
              <a:buNone/>
            </a:pPr>
            <a:r>
              <a:rPr lang="en-US" sz="2400" dirty="0">
                <a:solidFill>
                  <a:schemeClr val="tx1"/>
                </a:solidFill>
              </a:rPr>
              <a:t>. The image shows up on GitHub as a package: find it.</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 hints</a:t>
            </a:r>
            <a:endParaRPr lang="en-US" sz="3400" dirty="0"/>
          </a:p>
        </p:txBody>
      </p:sp>
      <p:sp>
        <p:nvSpPr>
          <p:cNvPr id="4" name="requirement line"/>
          <p:cNvSpPr/>
          <p:nvPr/>
        </p:nvSpPr>
        <p:spPr>
          <a:xfrm>
            <a:off x="548640" y="1060704"/>
            <a:ext cx="8046720" cy="347472"/>
          </a:xfrm>
          <a:prstGeom prst="roundRect">
            <a:avLst>
              <a:gd name="adj" fmla="val 21053"/>
            </a:avLst>
          </a:prstGeom>
          <a:solidFill>
            <a:schemeClr val="tx1"/>
          </a:solidFill>
          <a:ln/>
        </p:spPr>
      </p:sp>
      <p:sp>
        <p:nvSpPr>
          <p:cNvPr id="5" name="Text 2"/>
          <p:cNvSpPr txBox="1"/>
          <p:nvPr/>
        </p:nvSpPr>
        <p:spPr>
          <a:xfrm>
            <a:off x="777240" y="1060704"/>
            <a:ext cx="7589520" cy="347472"/>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publish_images</a:t>
            </a:r>
            <a:pPr indent="0" marL="0">
              <a:buNone/>
            </a:pPr>
            <a:r>
              <a:rPr lang="en-US" sz="1600" b="1" dirty="0">
                <a:solidFill>
                  <a:schemeClr val="bg1"/>
                </a:solidFill>
              </a:rPr>
              <a:t>: both images to </a:t>
            </a:r>
            <a:pPr indent="0" marL="0">
              <a:buNone/>
            </a:pPr>
            <a:r>
              <a:rPr lang="en-US" sz="1600" b="1" dirty="0">
                <a:solidFill>
                  <a:schemeClr val="bg1"/>
                </a:solidFill>
                <a:latin typeface="Courier New" pitchFamily="34" charset="0"/>
                <a:ea typeface="Courier New" pitchFamily="34" charset="-122"/>
                <a:cs typeface="Courier New" pitchFamily="34" charset="-120"/>
              </a:rPr>
              <a:t>ghcr.io</a:t>
            </a:r>
            <a:pPr indent="0" marL="0">
              <a:buNone/>
            </a:pPr>
            <a:r>
              <a:rPr lang="en-US" sz="1600" b="1" dirty="0">
                <a:solidFill>
                  <a:schemeClr val="bg1"/>
                </a:solidFill>
              </a:rPr>
              <a:t>.</a:t>
            </a:r>
            <a:endParaRPr lang="en-US" sz="1600" dirty="0"/>
          </a:p>
        </p:txBody>
      </p:sp>
      <p:sp>
        <p:nvSpPr>
          <p:cNvPr id="6" name="hint a card"/>
          <p:cNvSpPr/>
          <p:nvPr/>
        </p:nvSpPr>
        <p:spPr>
          <a:xfrm>
            <a:off x="548640" y="1481328"/>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7" name="hint a circle"/>
          <p:cNvSpPr/>
          <p:nvPr/>
        </p:nvSpPr>
        <p:spPr>
          <a:xfrm>
            <a:off x="640080" y="1544683"/>
            <a:ext cx="329184" cy="329184"/>
          </a:xfrm>
          <a:prstGeom prst="ellipse">
            <a:avLst/>
          </a:prstGeom>
          <a:solidFill>
            <a:schemeClr val="accent2"/>
          </a:solidFill>
          <a:ln/>
        </p:spPr>
      </p:sp>
      <p:sp>
        <p:nvSpPr>
          <p:cNvPr id="8" name="hint a letter"/>
          <p:cNvSpPr txBox="1"/>
          <p:nvPr/>
        </p:nvSpPr>
        <p:spPr>
          <a:xfrm>
            <a:off x="640080" y="154468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9" name="hint a text"/>
          <p:cNvSpPr txBox="1"/>
          <p:nvPr/>
        </p:nvSpPr>
        <p:spPr>
          <a:xfrm>
            <a:off x="1060704" y="1481328"/>
            <a:ext cx="7443216" cy="455894"/>
          </a:xfrm>
          <a:prstGeom prst="rect">
            <a:avLst/>
          </a:prstGeom>
          <a:noFill/>
          <a:ln/>
        </p:spPr>
        <p:txBody>
          <a:bodyPr wrap="square" lIns="0" tIns="0" rIns="0" bIns="0" rtlCol="0" anchor="ctr"/>
          <a:lstStyle/>
          <a:p>
            <a:pPr indent="0" marL="0">
              <a:buNone/>
            </a:pPr>
            <a:r>
              <a:rPr lang="en-US" sz="1400" dirty="0">
                <a:solidFill>
                  <a:schemeClr val="tx1"/>
                </a:solidFill>
              </a:rPr>
              <a:t>The docs page Working with the Container registry has all three commands.</a:t>
            </a:r>
            <a:endParaRPr lang="en-US" sz="1400" dirty="0"/>
          </a:p>
        </p:txBody>
      </p:sp>
      <p:sp>
        <p:nvSpPr>
          <p:cNvPr id="10" name="hint b card"/>
          <p:cNvSpPr/>
          <p:nvPr/>
        </p:nvSpPr>
        <p:spPr>
          <a:xfrm>
            <a:off x="548640" y="1973798"/>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1" name="hint b circle"/>
          <p:cNvSpPr/>
          <p:nvPr/>
        </p:nvSpPr>
        <p:spPr>
          <a:xfrm>
            <a:off x="640080" y="2037153"/>
            <a:ext cx="329184" cy="329184"/>
          </a:xfrm>
          <a:prstGeom prst="ellipse">
            <a:avLst/>
          </a:prstGeom>
          <a:solidFill>
            <a:schemeClr val="accent2"/>
          </a:solidFill>
          <a:ln/>
        </p:spPr>
      </p:sp>
      <p:sp>
        <p:nvSpPr>
          <p:cNvPr id="12" name="hint b letter"/>
          <p:cNvSpPr txBox="1"/>
          <p:nvPr/>
        </p:nvSpPr>
        <p:spPr>
          <a:xfrm>
            <a:off x="640080" y="203715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3" name="hint b text"/>
          <p:cNvSpPr txBox="1"/>
          <p:nvPr/>
        </p:nvSpPr>
        <p:spPr>
          <a:xfrm>
            <a:off x="1060704" y="1973798"/>
            <a:ext cx="7443216" cy="455894"/>
          </a:xfrm>
          <a:prstGeom prst="rect">
            <a:avLst/>
          </a:prstGeom>
          <a:noFill/>
          <a:ln/>
        </p:spPr>
        <p:txBody>
          <a:bodyPr wrap="square" lIns="0" tIns="0" rIns="0" bIns="0" rtlCol="0" anchor="ctr"/>
          <a:lstStyle/>
          <a:p>
            <a:pPr indent="0" marL="0">
              <a:buNone/>
            </a:pPr>
            <a:r>
              <a:rPr lang="en-US" sz="1400" dirty="0">
                <a:solidFill>
                  <a:schemeClr val="tx1"/>
                </a:solidFill>
              </a:rPr>
              <a:t>Add </a:t>
            </a:r>
            <a:pPr indent="0" marL="0">
              <a:buNone/>
            </a:pPr>
            <a:r>
              <a:rPr lang="en-US" sz="1400" dirty="0">
                <a:solidFill>
                  <a:schemeClr val="tx1"/>
                </a:solidFill>
                <a:latin typeface="Courier New" pitchFamily="34" charset="0"/>
                <a:ea typeface="Courier New" pitchFamily="34" charset="-122"/>
                <a:cs typeface="Courier New" pitchFamily="34" charset="-120"/>
              </a:rPr>
              <a:t>needs: build_images</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permissions:</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packages: write</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contents: read</a:t>
            </a:r>
            <a:pPr indent="0" marL="0">
              <a:buNone/>
            </a:pPr>
            <a:r>
              <a:rPr lang="en-US" sz="1400" dirty="0">
                <a:solidFill>
                  <a:schemeClr val="tx1"/>
                </a:solidFill>
              </a:rPr>
              <a:t>.</a:t>
            </a:r>
            <a:endParaRPr lang="en-US" sz="1400" dirty="0"/>
          </a:p>
        </p:txBody>
      </p:sp>
      <p:sp>
        <p:nvSpPr>
          <p:cNvPr id="14" name="hint c card"/>
          <p:cNvSpPr/>
          <p:nvPr/>
        </p:nvSpPr>
        <p:spPr>
          <a:xfrm>
            <a:off x="548640" y="2466267"/>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5" name="hint c circle"/>
          <p:cNvSpPr/>
          <p:nvPr/>
        </p:nvSpPr>
        <p:spPr>
          <a:xfrm>
            <a:off x="640080" y="2529622"/>
            <a:ext cx="329184" cy="329184"/>
          </a:xfrm>
          <a:prstGeom prst="ellipse">
            <a:avLst/>
          </a:prstGeom>
          <a:solidFill>
            <a:schemeClr val="accent2"/>
          </a:solidFill>
          <a:ln/>
        </p:spPr>
      </p:sp>
      <p:sp>
        <p:nvSpPr>
          <p:cNvPr id="16" name="hint c letter"/>
          <p:cNvSpPr txBox="1"/>
          <p:nvPr/>
        </p:nvSpPr>
        <p:spPr>
          <a:xfrm>
            <a:off x="640080" y="252962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17" name="hint c text"/>
          <p:cNvSpPr txBox="1"/>
          <p:nvPr/>
        </p:nvSpPr>
        <p:spPr>
          <a:xfrm>
            <a:off x="1060704" y="2466267"/>
            <a:ext cx="7443216" cy="455894"/>
          </a:xfrm>
          <a:prstGeom prst="rect">
            <a:avLst/>
          </a:prstGeom>
          <a:noFill/>
          <a:ln/>
        </p:spPr>
        <p:txBody>
          <a:bodyPr wrap="square" lIns="0" tIns="0" rIns="0" bIns="0" rtlCol="0" anchor="ctr"/>
          <a:lstStyle/>
          <a:p>
            <a:pPr indent="0" marL="0">
              <a:buNone/>
            </a:pPr>
            <a:r>
              <a:rPr lang="en-US" sz="1400" dirty="0">
                <a:solidFill>
                  <a:schemeClr val="tx1"/>
                </a:solidFill>
              </a:rPr>
              <a:t>Log in: </a:t>
            </a:r>
            <a:pPr indent="0" marL="0">
              <a:buNone/>
            </a:pPr>
            <a:r>
              <a:rPr lang="en-US" sz="1400" dirty="0">
                <a:solidFill>
                  <a:schemeClr val="tx1"/>
                </a:solidFill>
                <a:latin typeface="Courier New" pitchFamily="34" charset="0"/>
                <a:ea typeface="Courier New" pitchFamily="34" charset="-122"/>
                <a:cs typeface="Courier New" pitchFamily="34" charset="-120"/>
              </a:rPr>
              <a:t>docker login ghcr.io -u ${{ github.actor }} --password-stdin</a:t>
            </a:r>
            <a:endParaRPr lang="en-US" sz="1400" dirty="0"/>
          </a:p>
        </p:txBody>
      </p:sp>
      <p:sp>
        <p:nvSpPr>
          <p:cNvPr id="18" name="hint d card"/>
          <p:cNvSpPr/>
          <p:nvPr/>
        </p:nvSpPr>
        <p:spPr>
          <a:xfrm>
            <a:off x="548640" y="2958737"/>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9" name="hint d circle"/>
          <p:cNvSpPr/>
          <p:nvPr/>
        </p:nvSpPr>
        <p:spPr>
          <a:xfrm>
            <a:off x="640080" y="3022092"/>
            <a:ext cx="329184" cy="329184"/>
          </a:xfrm>
          <a:prstGeom prst="ellipse">
            <a:avLst/>
          </a:prstGeom>
          <a:solidFill>
            <a:schemeClr val="accent2"/>
          </a:solidFill>
          <a:ln/>
        </p:spPr>
      </p:sp>
      <p:sp>
        <p:nvSpPr>
          <p:cNvPr id="20" name="hint d letter"/>
          <p:cNvSpPr txBox="1"/>
          <p:nvPr/>
        </p:nvSpPr>
        <p:spPr>
          <a:xfrm>
            <a:off x="640080" y="30220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21" name="hint d text"/>
          <p:cNvSpPr txBox="1"/>
          <p:nvPr/>
        </p:nvSpPr>
        <p:spPr>
          <a:xfrm>
            <a:off x="1060704" y="2958737"/>
            <a:ext cx="7443216" cy="455894"/>
          </a:xfrm>
          <a:prstGeom prst="rect">
            <a:avLst/>
          </a:prstGeom>
          <a:noFill/>
          <a:ln/>
        </p:spPr>
        <p:txBody>
          <a:bodyPr wrap="square" lIns="0" tIns="0" rIns="0" bIns="0" rtlCol="0" anchor="ctr"/>
          <a:lstStyle/>
          <a:p>
            <a:pPr indent="0" marL="0">
              <a:buNone/>
            </a:pPr>
            <a:r>
              <a:rPr lang="en-US" sz="1400" dirty="0">
                <a:solidFill>
                  <a:schemeClr val="tx1"/>
                </a:solidFill>
              </a:rPr>
              <a:t>In </a:t>
            </a:r>
            <a:pPr indent="0" marL="0">
              <a:buNone/>
            </a:pPr>
            <a:r>
              <a:rPr lang="en-US" sz="1400" dirty="0">
                <a:solidFill>
                  <a:schemeClr val="tx1"/>
                </a:solidFill>
                <a:latin typeface="Courier New" pitchFamily="34" charset="0"/>
                <a:ea typeface="Courier New" pitchFamily="34" charset="-122"/>
                <a:cs typeface="Courier New" pitchFamily="34" charset="-120"/>
              </a:rPr>
              <a:t>run:</a:t>
            </a:r>
            <a:pPr indent="0" marL="0">
              <a:buNone/>
            </a:pPr>
            <a:r>
              <a:rPr lang="en-US" sz="1400" dirty="0">
                <a:solidFill>
                  <a:schemeClr val="tx1"/>
                </a:solidFill>
              </a:rPr>
              <a:t>, </a:t>
            </a:r>
            <a:pPr indent="0" marL="0">
              <a:buNone/>
            </a:pPr>
            <a:r>
              <a:rPr lang="en-US" sz="1400" dirty="0">
                <a:solidFill>
                  <a:schemeClr val="tx1"/>
                </a:solidFill>
                <a:latin typeface="Courier New" pitchFamily="34" charset="0"/>
                <a:ea typeface="Courier New" pitchFamily="34" charset="-122"/>
                <a:cs typeface="Courier New" pitchFamily="34" charset="-120"/>
              </a:rPr>
              <a:t>${GITHUB_REPOSITORY_OWNER,,}</a:t>
            </a:r>
            <a:pPr indent="0" marL="0">
              <a:buNone/>
            </a:pPr>
            <a:r>
              <a:rPr lang="en-US" sz="1400" dirty="0">
                <a:solidFill>
                  <a:schemeClr val="tx1"/>
                </a:solidFill>
              </a:rPr>
              <a:t> makes the owner lowercase.</a:t>
            </a:r>
            <a:endParaRPr lang="en-US" sz="1400" dirty="0"/>
          </a:p>
        </p:txBody>
      </p:sp>
      <p:sp>
        <p:nvSpPr>
          <p:cNvPr id="22" name="hint e card"/>
          <p:cNvSpPr/>
          <p:nvPr/>
        </p:nvSpPr>
        <p:spPr>
          <a:xfrm>
            <a:off x="548640" y="3451207"/>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3" name="hint e circle"/>
          <p:cNvSpPr/>
          <p:nvPr/>
        </p:nvSpPr>
        <p:spPr>
          <a:xfrm>
            <a:off x="640080" y="3514562"/>
            <a:ext cx="329184" cy="329184"/>
          </a:xfrm>
          <a:prstGeom prst="ellipse">
            <a:avLst/>
          </a:prstGeom>
          <a:solidFill>
            <a:schemeClr val="accent2"/>
          </a:solidFill>
          <a:ln/>
        </p:spPr>
      </p:sp>
      <p:sp>
        <p:nvSpPr>
          <p:cNvPr id="24" name="hint e letter"/>
          <p:cNvSpPr txBox="1"/>
          <p:nvPr/>
        </p:nvSpPr>
        <p:spPr>
          <a:xfrm>
            <a:off x="640080" y="351456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25" name="hint e text"/>
          <p:cNvSpPr txBox="1"/>
          <p:nvPr/>
        </p:nvSpPr>
        <p:spPr>
          <a:xfrm>
            <a:off x="1060704" y="3451207"/>
            <a:ext cx="7443216" cy="455894"/>
          </a:xfrm>
          <a:prstGeom prst="rect">
            <a:avLst/>
          </a:prstGeom>
          <a:noFill/>
          <a:ln/>
        </p:spPr>
        <p:txBody>
          <a:bodyPr wrap="square" lIns="0" tIns="0" rIns="0" bIns="0" rtlCol="0" anchor="ctr"/>
          <a:lstStyle/>
          <a:p>
            <a:pPr indent="0" marL="0">
              <a:buNone/>
            </a:pPr>
            <a:r>
              <a:rPr lang="en-US" sz="1400" dirty="0">
                <a:solidFill>
                  <a:schemeClr val="tx1"/>
                </a:solidFill>
              </a:rPr>
              <a:t>Tag it </a:t>
            </a:r>
            <a:pPr indent="0" marL="0">
              <a:buNone/>
            </a:pPr>
            <a:r>
              <a:rPr lang="en-US" sz="1400" dirty="0">
                <a:solidFill>
                  <a:schemeClr val="tx1"/>
                </a:solidFill>
                <a:latin typeface="Courier New" pitchFamily="34" charset="0"/>
                <a:ea typeface="Courier New" pitchFamily="34" charset="-122"/>
                <a:cs typeface="Courier New" pitchFamily="34" charset="-120"/>
              </a:rPr>
              <a:t>${{ github.sha }}</a:t>
            </a:r>
            <a:pPr indent="0" marL="0">
              <a:buNone/>
            </a:pPr>
            <a:r>
              <a:rPr lang="en-US" sz="1400" dirty="0">
                <a:solidFill>
                  <a:schemeClr val="tx1"/>
                </a:solidFill>
              </a:rPr>
              <a:t> with the braces: </a:t>
            </a:r>
            <a:pPr indent="0" marL="0">
              <a:buNone/>
            </a:pPr>
            <a:r>
              <a:rPr lang="en-US" sz="1400" dirty="0">
                <a:solidFill>
                  <a:schemeClr val="tx1"/>
                </a:solidFill>
                <a:latin typeface="Courier New" pitchFamily="34" charset="0"/>
                <a:ea typeface="Courier New" pitchFamily="34" charset="-122"/>
                <a:cs typeface="Courier New" pitchFamily="34" charset="-120"/>
              </a:rPr>
              <a:t>docker build -t</a:t>
            </a:r>
            <a:pPr indent="0" marL="0">
              <a:buNone/>
            </a:pPr>
            <a:r>
              <a:rPr lang="en-US" sz="1400" dirty="0">
                <a:solidFill>
                  <a:schemeClr val="tx1"/>
                </a:solidFill>
              </a:rPr>
              <a:t>, then </a:t>
            </a:r>
            <a:pPr indent="0" marL="0">
              <a:buNone/>
            </a:pPr>
            <a:r>
              <a:rPr lang="en-US" sz="1400" dirty="0">
                <a:solidFill>
                  <a:schemeClr val="tx1"/>
                </a:solidFill>
                <a:latin typeface="Courier New" pitchFamily="34" charset="0"/>
                <a:ea typeface="Courier New" pitchFamily="34" charset="-122"/>
                <a:cs typeface="Courier New" pitchFamily="34" charset="-120"/>
              </a:rPr>
              <a:t>docker push</a:t>
            </a:r>
            <a:pPr indent="0" marL="0">
              <a:buNone/>
            </a:pPr>
            <a:r>
              <a:rPr lang="en-US" sz="1400" dirty="0">
                <a:solidFill>
                  <a:schemeClr val="tx1"/>
                </a:solidFill>
              </a:rPr>
              <a:t>.</a:t>
            </a:r>
            <a:endParaRPr lang="en-US" sz="1400" dirty="0"/>
          </a:p>
        </p:txBody>
      </p:sp>
      <p:sp>
        <p:nvSpPr>
          <p:cNvPr id="26" name="hint f card"/>
          <p:cNvSpPr/>
          <p:nvPr/>
        </p:nvSpPr>
        <p:spPr>
          <a:xfrm>
            <a:off x="548640" y="3943677"/>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7" name="hint f circle"/>
          <p:cNvSpPr/>
          <p:nvPr/>
        </p:nvSpPr>
        <p:spPr>
          <a:xfrm>
            <a:off x="640080" y="4007031"/>
            <a:ext cx="329184" cy="329184"/>
          </a:xfrm>
          <a:prstGeom prst="ellipse">
            <a:avLst/>
          </a:prstGeom>
          <a:solidFill>
            <a:schemeClr val="accent2"/>
          </a:solidFill>
          <a:ln/>
        </p:spPr>
      </p:sp>
      <p:sp>
        <p:nvSpPr>
          <p:cNvPr id="28" name="hint f letter"/>
          <p:cNvSpPr txBox="1"/>
          <p:nvPr/>
        </p:nvSpPr>
        <p:spPr>
          <a:xfrm>
            <a:off x="640080" y="400703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f</a:t>
            </a:r>
            <a:endParaRPr lang="en-US" sz="1200" dirty="0"/>
          </a:p>
        </p:txBody>
      </p:sp>
      <p:sp>
        <p:nvSpPr>
          <p:cNvPr id="29" name="hint f text"/>
          <p:cNvSpPr txBox="1"/>
          <p:nvPr/>
        </p:nvSpPr>
        <p:spPr>
          <a:xfrm>
            <a:off x="1060704" y="3943677"/>
            <a:ext cx="7443216" cy="455894"/>
          </a:xfrm>
          <a:prstGeom prst="rect">
            <a:avLst/>
          </a:prstGeom>
          <a:noFill/>
          <a:ln/>
        </p:spPr>
        <p:txBody>
          <a:bodyPr wrap="square" lIns="0" tIns="0" rIns="0" bIns="0" rtlCol="0" anchor="ctr"/>
          <a:lstStyle/>
          <a:p>
            <a:pPr indent="0" marL="0">
              <a:buNone/>
            </a:pPr>
            <a:r>
              <a:rPr lang="en-US" sz="1400" dirty="0">
                <a:solidFill>
                  <a:schemeClr val="tx1"/>
                </a:solidFill>
              </a:rPr>
              <a:t>Only on a push: an </a:t>
            </a:r>
            <a:pPr indent="0" marL="0">
              <a:buNone/>
            </a:pPr>
            <a:r>
              <a:rPr lang="en-US" sz="1400" dirty="0">
                <a:solidFill>
                  <a:schemeClr val="tx1"/>
                </a:solidFill>
                <a:latin typeface="Courier New" pitchFamily="34" charset="0"/>
                <a:ea typeface="Courier New" pitchFamily="34" charset="-122"/>
                <a:cs typeface="Courier New" pitchFamily="34" charset="-120"/>
              </a:rPr>
              <a:t>if</a:t>
            </a:r>
            <a:pPr indent="0" marL="0">
              <a:buNone/>
            </a:pPr>
            <a:r>
              <a:rPr lang="en-US" sz="1400" dirty="0">
                <a:solidFill>
                  <a:schemeClr val="tx1"/>
                </a:solidFill>
              </a:rPr>
              <a:t> on </a:t>
            </a:r>
            <a:pPr indent="0" marL="0">
              <a:buNone/>
            </a:pPr>
            <a:r>
              <a:rPr lang="en-US" sz="1400" dirty="0">
                <a:solidFill>
                  <a:schemeClr val="tx1"/>
                </a:solidFill>
                <a:latin typeface="Courier New" pitchFamily="34" charset="0"/>
                <a:ea typeface="Courier New" pitchFamily="34" charset="-122"/>
                <a:cs typeface="Courier New" pitchFamily="34" charset="-120"/>
              </a:rPr>
              <a:t>github.event_name</a:t>
            </a:r>
            <a:pPr indent="0" marL="0">
              <a:buNone/>
            </a:pPr>
            <a:r>
              <a:rPr lang="en-US" sz="1400" dirty="0">
                <a:solidFill>
                  <a:schemeClr val="tx1"/>
                </a:solidFill>
              </a:rPr>
              <a:t>.</a:t>
            </a:r>
            <a:endParaRPr lang="en-US" sz="1400" dirty="0"/>
          </a:p>
        </p:txBody>
      </p:sp>
      <p:sp>
        <p:nvSpPr>
          <p:cNvPr id="30" name="hint g card"/>
          <p:cNvSpPr/>
          <p:nvPr/>
        </p:nvSpPr>
        <p:spPr>
          <a:xfrm>
            <a:off x="548640" y="4436146"/>
            <a:ext cx="8046720" cy="455894"/>
          </a:xfrm>
          <a:prstGeom prst="roundRect">
            <a:avLst>
              <a:gd name="adj" fmla="val 1604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31" name="hint g circle"/>
          <p:cNvSpPr/>
          <p:nvPr/>
        </p:nvSpPr>
        <p:spPr>
          <a:xfrm>
            <a:off x="640080" y="4499501"/>
            <a:ext cx="329184" cy="329184"/>
          </a:xfrm>
          <a:prstGeom prst="ellipse">
            <a:avLst/>
          </a:prstGeom>
          <a:solidFill>
            <a:schemeClr val="accent2"/>
          </a:solidFill>
          <a:ln/>
        </p:spPr>
      </p:sp>
      <p:sp>
        <p:nvSpPr>
          <p:cNvPr id="32" name="hint g letter"/>
          <p:cNvSpPr txBox="1"/>
          <p:nvPr/>
        </p:nvSpPr>
        <p:spPr>
          <a:xfrm>
            <a:off x="640080" y="449950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g</a:t>
            </a:r>
            <a:endParaRPr lang="en-US" sz="1200" dirty="0"/>
          </a:p>
        </p:txBody>
      </p:sp>
      <p:sp>
        <p:nvSpPr>
          <p:cNvPr id="33" name="hint g text"/>
          <p:cNvSpPr txBox="1"/>
          <p:nvPr/>
        </p:nvSpPr>
        <p:spPr>
          <a:xfrm>
            <a:off x="1060704" y="4436146"/>
            <a:ext cx="7443216" cy="455894"/>
          </a:xfrm>
          <a:prstGeom prst="rect">
            <a:avLst/>
          </a:prstGeom>
          <a:noFill/>
          <a:ln/>
        </p:spPr>
        <p:txBody>
          <a:bodyPr wrap="square" lIns="0" tIns="0" rIns="0" bIns="0" rtlCol="0" anchor="ctr"/>
          <a:lstStyle/>
          <a:p>
            <a:pPr indent="0" marL="0">
              <a:buNone/>
            </a:pPr>
            <a:r>
              <a:rPr lang="en-US" sz="1400" dirty="0">
                <a:solidFill>
                  <a:schemeClr val="tx1"/>
                </a:solidFill>
              </a:rPr>
              <a:t>Find the package: Packages tab of your profile or repo.</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1" grpId="0" animBg="1"/>
      <p:bldP spid="12" grpId="0"/>
      <p:bldP spid="13" grpId="0"/>
      <p:bldP spid="15" grpId="0" animBg="1"/>
      <p:bldP spid="16" grpId="0"/>
      <p:bldP spid="17" grpId="0"/>
      <p:bldP spid="19" grpId="0" animBg="1"/>
      <p:bldP spid="20" grpId="0"/>
      <p:bldP spid="21" grpId="0"/>
      <p:bldP spid="23" grpId="0" animBg="1"/>
      <p:bldP spid="24" grpId="0"/>
      <p:bldP spid="25" grpId="0"/>
      <p:bldP spid="27" grpId="0" animBg="1"/>
      <p:bldP spid="28" grpId="0"/>
      <p:bldP spid="29" grpId="0"/>
      <p:bldP spid="31" grpId="0" animBg="1"/>
      <p:bldP spid="32" grpId="0"/>
      <p:bldP spid="33" grpId="0"/>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 the file with gaps</a:t>
            </a:r>
            <a:endParaRPr lang="en-US" sz="3400" dirty="0"/>
          </a:p>
        </p:txBody>
      </p:sp>
      <p:sp>
        <p:nvSpPr>
          <p:cNvPr id="4" name="gaps banner"/>
          <p:cNvSpPr/>
          <p:nvPr/>
        </p:nvSpPr>
        <p:spPr>
          <a:xfrm>
            <a:off x="548640" y="1051560"/>
            <a:ext cx="8046720" cy="548640"/>
          </a:xfrm>
          <a:prstGeom prst="roundRect">
            <a:avLst>
              <a:gd name="adj" fmla="val 13333"/>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77240" y="1051560"/>
            <a:ext cx="7589520" cy="548640"/>
          </a:xfrm>
          <a:prstGeom prst="rect">
            <a:avLst/>
          </a:prstGeom>
          <a:noFill/>
          <a:ln/>
        </p:spPr>
        <p:txBody>
          <a:bodyPr wrap="square" lIns="0" tIns="0" rIns="0" bIns="0" rtlCol="0" anchor="ctr"/>
          <a:lstStyle/>
          <a:p>
            <a:pPr indent="0" marL="0">
              <a:buNone/>
            </a:pPr>
            <a:r>
              <a:rPr lang="en-US" sz="2000" b="1" dirty="0">
                <a:solidFill>
                  <a:schemeClr val="tx1"/>
                </a:solidFill>
              </a:rPr>
              <a:t>The gaps are yours.</a:t>
            </a:r>
            <a:endParaRPr lang="en-US" sz="2000" dirty="0"/>
          </a:p>
        </p:txBody>
      </p:sp>
      <p:sp>
        <p:nvSpPr>
          <p:cNvPr id="6" name="code panel"/>
          <p:cNvSpPr/>
          <p:nvPr/>
        </p:nvSpPr>
        <p:spPr>
          <a:xfrm>
            <a:off x="548640" y="1691640"/>
            <a:ext cx="8046720" cy="3154680"/>
          </a:xfrm>
          <a:prstGeom prst="roundRect">
            <a:avLst>
              <a:gd name="adj" fmla="val 2319"/>
            </a:avLst>
          </a:prstGeom>
          <a:solidFill>
            <a:schemeClr val="tx1"/>
          </a:solidFill>
          <a:ln/>
        </p:spPr>
      </p:sp>
      <p:sp>
        <p:nvSpPr>
          <p:cNvPr id="7" name="code"/>
          <p:cNvSpPr txBox="1"/>
          <p:nvPr/>
        </p:nvSpPr>
        <p:spPr>
          <a:xfrm>
            <a:off x="713232" y="1783080"/>
            <a:ext cx="7717536" cy="2971800"/>
          </a:xfrm>
          <a:prstGeom prst="rect">
            <a:avLst/>
          </a:prstGeom>
          <a:noFill/>
          <a:ln/>
        </p:spPr>
        <p:txBody>
          <a:bodyPr wrap="square" lIns="0" tIns="0" rIns="0" bIns="0" rtlCol="0" anchor="t"/>
          <a:lstStyle/>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publish_images:</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runs after build_images</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runs only on a push: github.event_name</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runs-on: ubuntu-latest</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the two permissions the job needs</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strategy:</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matrix:</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service: [tasks-api, title-normalizer] # ${{matrix.service}}</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steps:</a:t>
            </a:r>
            <a:endParaRPr lang="en-US" sz="1250" dirty="0"/>
          </a:p>
          <a:p>
            <a:pPr indent="0" marL="0">
              <a:lnSpc>
                <a:spcPts val="1563"/>
              </a:lnSpc>
              <a:buNone/>
            </a:pPr>
            <a:r>
              <a:rPr lang="en-US" sz="1250" dirty="0">
                <a:solidFill>
                  <a:srgbClr val="9DA7B3"/>
                </a:solidFill>
                <a:latin typeface="Courier New" pitchFamily="34" charset="0"/>
                <a:ea typeface="Courier New" pitchFamily="34" charset="-122"/>
                <a:cs typeface="Courier New" pitchFamily="34" charset="-120"/>
              </a:rPr>
              <a:t>      - uses: actions/checkout@v7</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pipe ${{ secrets.GITHUB_TOKEN }} to docker login --password-stdin</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build ghcr.io/&lt;owner&gt;/&lt;service&gt;:${{ github.sha }} from services/&lt;service&gt;</a:t>
            </a:r>
            <a:endParaRPr lang="en-US" sz="1250" dirty="0"/>
          </a:p>
          <a:p>
            <a:pPr indent="0" marL="0">
              <a:lnSpc>
                <a:spcPts val="1563"/>
              </a:lnSpc>
              <a:buNone/>
            </a:pPr>
            <a:r>
              <a:rPr lang="en-US" sz="1250" b="1" dirty="0">
                <a:solidFill>
                  <a:srgbClr val="E3B341"/>
                </a:solidFill>
                <a:latin typeface="Courier New" pitchFamily="34" charset="0"/>
                <a:ea typeface="Courier New" pitchFamily="34" charset="-122"/>
                <a:cs typeface="Courier New" pitchFamily="34" charset="-120"/>
              </a:rPr>
              <a:t>      # push the image</a:t>
            </a:r>
            <a:endParaRPr lang="en-US" sz="125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Step 3: answer</a:t>
            </a:r>
            <a:endParaRPr lang="en-US" sz="3400" dirty="0"/>
          </a:p>
        </p:txBody>
      </p:sp>
      <p:sp>
        <p:nvSpPr>
          <p:cNvPr id="4" name="code panel"/>
          <p:cNvSpPr/>
          <p:nvPr/>
        </p:nvSpPr>
        <p:spPr>
          <a:xfrm>
            <a:off x="320040" y="1005840"/>
            <a:ext cx="8503920" cy="3931920"/>
          </a:xfrm>
          <a:prstGeom prst="roundRect">
            <a:avLst>
              <a:gd name="adj" fmla="val 1860"/>
            </a:avLst>
          </a:prstGeom>
          <a:solidFill>
            <a:schemeClr val="tx1"/>
          </a:solidFill>
          <a:ln/>
        </p:spPr>
      </p:sp>
      <p:sp>
        <p:nvSpPr>
          <p:cNvPr id="5" name="code"/>
          <p:cNvSpPr txBox="1"/>
          <p:nvPr/>
        </p:nvSpPr>
        <p:spPr>
          <a:xfrm>
            <a:off x="429768" y="1051560"/>
            <a:ext cx="8284464" cy="3840480"/>
          </a:xfrm>
          <a:prstGeom prst="rect">
            <a:avLst/>
          </a:prstGeom>
          <a:noFill/>
          <a:ln/>
        </p:spPr>
        <p:txBody>
          <a:bodyPr wrap="square" lIns="0" tIns="0" rIns="0" bIns="0" rtlCol="0" anchor="t"/>
          <a:lstStyle/>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publish_images:</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needs: build_images</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if: github.event_name == 'push'</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runs-on: ubuntu-latest</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permissions:</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contents: read</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packages: write</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strategy:</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matrix:</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service: [tasks-api, title-normalizer] # ${{matrix.service}}</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steps:</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 uses: actions/checkout@v7</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 run: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echo "${{ secrets.GITHUB_TOKEN }}"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docker login ghcr.io -u ${{ github.actor }} --password-stdin</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 run: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IMAGE="ghcr.io/${GITHUB_REPOSITORY_OWNER,,}/${{matrix.service}}"</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IMAGE="$IMAGE:${{ github.sha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SOURCE="https://github.com/${{ github.repository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docker build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--label "org.opencontainers.image.source=$SOURCE" \</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-t "$IMAGE" services/${{matrix.service}}</a:t>
            </a:r>
            <a:endParaRPr lang="en-US" sz="1300" dirty="0"/>
          </a:p>
          <a:p>
            <a:pPr indent="0" marL="0">
              <a:lnSpc>
                <a:spcPts val="1300"/>
              </a:lnSpc>
              <a:buNone/>
            </a:pPr>
            <a:r>
              <a:rPr lang="en-US" sz="1300" b="1" dirty="0">
                <a:solidFill>
                  <a:srgbClr val="56D364"/>
                </a:solidFill>
                <a:highlight>
                  <a:srgbClr val="1B3A28"/>
                </a:highlight>
                <a:latin typeface="Courier New" pitchFamily="34" charset="0"/>
                <a:ea typeface="Courier New" pitchFamily="34" charset="-122"/>
                <a:cs typeface="Courier New" pitchFamily="34" charset="-120"/>
              </a:rPr>
              <a:t>          docker push "$IMAGE"</a:t>
            </a:r>
            <a:endParaRPr lang="en-US" sz="1300" dirty="0"/>
          </a:p>
        </p:txBody>
      </p:sp>
      <p:sp>
        <p:nvSpPr>
          <p:cNvPr id="6" name="Text 3"/>
          <p:cNvSpPr txBox="1"/>
          <p:nvPr/>
        </p:nvSpPr>
        <p:spPr>
          <a:xfrm>
            <a:off x="3383280" y="411480"/>
            <a:ext cx="5577840" cy="502920"/>
          </a:xfrm>
          <a:prstGeom prst="rect">
            <a:avLst/>
          </a:prstGeom>
          <a:noFill/>
          <a:ln/>
        </p:spPr>
        <p:txBody>
          <a:bodyPr wrap="square" lIns="0" tIns="0" rIns="0" bIns="0" rtlCol="0" anchor="ctr"/>
          <a:lstStyle/>
          <a:p>
            <a:pPr algn="r" indent="0" marL="0">
              <a:buNone/>
            </a:pPr>
            <a:r>
              <a:rPr lang="en-US" sz="1400" b="1" dirty="0">
                <a:solidFill>
                  <a:schemeClr val="accent1"/>
                </a:solidFill>
              </a:rPr>
              <a:t>Type this. Jobs level, after </a:t>
            </a:r>
            <a:pPr algn="r" indent="0" marL="0">
              <a:buNone/>
            </a:pPr>
            <a:r>
              <a:rPr lang="en-US" sz="1400" b="1" dirty="0">
                <a:solidFill>
                  <a:schemeClr val="accent1"/>
                </a:solidFill>
                <a:latin typeface="Courier New" pitchFamily="34" charset="0"/>
                <a:ea typeface="Courier New" pitchFamily="34" charset="-122"/>
                <a:cs typeface="Courier New" pitchFamily="34" charset="-120"/>
              </a:rPr>
              <a:t>build_images</a:t>
            </a:r>
            <a:pPr algn="r" indent="0" marL="0">
              <a:buNone/>
            </a:pPr>
            <a:r>
              <a:rPr lang="en-US" sz="1400" b="1" dirty="0">
                <a:solidFill>
                  <a:schemeClr val="accent1"/>
                </a:solidFill>
              </a:rPr>
              <a:t>.</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F3F5F7"/>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Two more tasks</a:t>
            </a:r>
            <a:endParaRPr lang="en-US" sz="3400" dirty="0"/>
          </a:p>
        </p:txBody>
      </p:sp>
      <p:sp>
        <p:nvSpPr>
          <p:cNvPr id="4" name="task 1"/>
          <p:cNvSpPr/>
          <p:nvPr/>
        </p:nvSpPr>
        <p:spPr>
          <a:xfrm>
            <a:off x="548640" y="1280160"/>
            <a:ext cx="8046720" cy="1234440"/>
          </a:xfrm>
          <a:prstGeom prst="roundRect">
            <a:avLst>
              <a:gd name="adj" fmla="val 5926"/>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5" name="task 1 bar"/>
          <p:cNvSpPr/>
          <p:nvPr/>
        </p:nvSpPr>
        <p:spPr>
          <a:xfrm>
            <a:off x="548640" y="1280160"/>
            <a:ext cx="91440" cy="1234440"/>
          </a:xfrm>
          <a:prstGeom prst="rect">
            <a:avLst/>
          </a:prstGeom>
          <a:solidFill>
            <a:schemeClr val="accent1"/>
          </a:solidFill>
          <a:ln/>
        </p:spPr>
      </p:sp>
      <p:sp>
        <p:nvSpPr>
          <p:cNvPr id="6" name="task 1 circle"/>
          <p:cNvSpPr/>
          <p:nvPr/>
        </p:nvSpPr>
        <p:spPr>
          <a:xfrm>
            <a:off x="868680" y="1668780"/>
            <a:ext cx="457200" cy="457200"/>
          </a:xfrm>
          <a:prstGeom prst="ellipse">
            <a:avLst/>
          </a:prstGeom>
          <a:solidFill>
            <a:schemeClr val="accent1"/>
          </a:solidFill>
          <a:ln/>
        </p:spPr>
      </p:sp>
      <p:sp>
        <p:nvSpPr>
          <p:cNvPr id="7" name="task 1 letter"/>
          <p:cNvSpPr txBox="1"/>
          <p:nvPr/>
        </p:nvSpPr>
        <p:spPr>
          <a:xfrm>
            <a:off x="868680" y="16687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554480" y="1371600"/>
            <a:ext cx="6858000" cy="1051560"/>
          </a:xfrm>
          <a:prstGeom prst="rect">
            <a:avLst/>
          </a:prstGeom>
          <a:noFill/>
          <a:ln/>
        </p:spPr>
        <p:txBody>
          <a:bodyPr wrap="square" lIns="0" tIns="0" rIns="0" bIns="0" rtlCol="0" anchor="ctr"/>
          <a:lstStyle/>
          <a:p>
            <a:pPr indent="0" marL="0">
              <a:buNone/>
            </a:pPr>
            <a:r>
              <a:rPr lang="en-US" sz="2000" dirty="0">
                <a:solidFill>
                  <a:schemeClr val="tx1"/>
                </a:solidFill>
              </a:rPr>
              <a:t>A healthcheck on </a:t>
            </a:r>
            <a:pPr indent="0" marL="0">
              <a:buNone/>
            </a:pPr>
            <a:r>
              <a:rPr lang="en-US" sz="2000" dirty="0">
                <a:solidFill>
                  <a:schemeClr val="tx1"/>
                </a:solidFill>
                <a:latin typeface="Courier New" pitchFamily="34" charset="0"/>
                <a:ea typeface="Courier New" pitchFamily="34" charset="-122"/>
                <a:cs typeface="Courier New" pitchFamily="34" charset="-120"/>
              </a:rPr>
              <a:t>title-normalizer</a:t>
            </a:r>
            <a:pPr indent="0" marL="0">
              <a:buNone/>
            </a:pPr>
            <a:r>
              <a:rPr lang="en-US" sz="2000" dirty="0">
                <a:solidFill>
                  <a:schemeClr val="tx1"/>
                </a:solidFill>
              </a:rPr>
              <a:t>, and </a:t>
            </a:r>
            <a:pPr indent="0" marL="0">
              <a:buNone/>
            </a:pPr>
            <a:r>
              <a:rPr lang="en-US" sz="2000" dirty="0">
                <a:solidFill>
                  <a:schemeClr val="tx1"/>
                </a:solidFill>
                <a:latin typeface="Courier New" pitchFamily="34" charset="0"/>
                <a:ea typeface="Courier New" pitchFamily="34" charset="-122"/>
                <a:cs typeface="Courier New" pitchFamily="34" charset="-120"/>
              </a:rPr>
              <a:t>tasks-api</a:t>
            </a:r>
            <a:pPr indent="0" marL="0">
              <a:buNone/>
            </a:pPr>
            <a:r>
              <a:rPr lang="en-US" sz="2000" dirty="0">
                <a:solidFill>
                  <a:schemeClr val="tx1"/>
                </a:solidFill>
              </a:rPr>
              <a:t> starts only when it is healthy. Check: </a:t>
            </a:r>
            <a:pPr indent="0" marL="0">
              <a:buNone/>
            </a:pPr>
            <a:r>
              <a:rPr lang="en-US" sz="2000" dirty="0">
                <a:solidFill>
                  <a:schemeClr val="tx1"/>
                </a:solidFill>
                <a:latin typeface="Courier New" pitchFamily="34" charset="0"/>
                <a:ea typeface="Courier New" pitchFamily="34" charset="-122"/>
                <a:cs typeface="Courier New" pitchFamily="34" charset="-120"/>
              </a:rPr>
              <a:t>docker compose ps</a:t>
            </a:r>
            <a:pPr indent="0" marL="0">
              <a:buNone/>
            </a:pPr>
            <a:r>
              <a:rPr lang="en-US" sz="2000" dirty="0">
                <a:solidFill>
                  <a:schemeClr val="tx1"/>
                </a:solidFill>
              </a:rPr>
              <a:t> shows </a:t>
            </a:r>
            <a:pPr indent="0" marL="0">
              <a:buNone/>
            </a:pPr>
            <a:r>
              <a:rPr lang="en-US" sz="2000" dirty="0">
                <a:solidFill>
                  <a:schemeClr val="tx1"/>
                </a:solidFill>
                <a:latin typeface="Courier New" pitchFamily="34" charset="0"/>
                <a:ea typeface="Courier New" pitchFamily="34" charset="-122"/>
                <a:cs typeface="Courier New" pitchFamily="34" charset="-120"/>
              </a:rPr>
              <a:t>healthy</a:t>
            </a:r>
            <a:pPr indent="0" marL="0">
              <a:buNone/>
            </a:pPr>
            <a:r>
              <a:rPr lang="en-US" sz="2000" dirty="0">
                <a:solidFill>
                  <a:schemeClr val="tx1"/>
                </a:solidFill>
              </a:rPr>
              <a:t>.</a:t>
            </a:r>
            <a:endParaRPr lang="en-US" sz="2000" dirty="0"/>
          </a:p>
        </p:txBody>
      </p:sp>
      <p:sp>
        <p:nvSpPr>
          <p:cNvPr id="9" name="task 2"/>
          <p:cNvSpPr/>
          <p:nvPr/>
        </p:nvSpPr>
        <p:spPr>
          <a:xfrm>
            <a:off x="548640" y="2651760"/>
            <a:ext cx="8046720" cy="1539240"/>
          </a:xfrm>
          <a:prstGeom prst="roundRect">
            <a:avLst>
              <a:gd name="adj" fmla="val 4752"/>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0" name="task 2 bar"/>
          <p:cNvSpPr/>
          <p:nvPr/>
        </p:nvSpPr>
        <p:spPr>
          <a:xfrm>
            <a:off x="548640" y="2651760"/>
            <a:ext cx="91440" cy="1539240"/>
          </a:xfrm>
          <a:prstGeom prst="rect">
            <a:avLst/>
          </a:prstGeom>
          <a:solidFill>
            <a:schemeClr val="accent1"/>
          </a:solidFill>
          <a:ln/>
        </p:spPr>
      </p:sp>
      <p:sp>
        <p:nvSpPr>
          <p:cNvPr id="11" name="task 2 circle"/>
          <p:cNvSpPr/>
          <p:nvPr/>
        </p:nvSpPr>
        <p:spPr>
          <a:xfrm>
            <a:off x="868680" y="3192780"/>
            <a:ext cx="457200" cy="457200"/>
          </a:xfrm>
          <a:prstGeom prst="ellipse">
            <a:avLst/>
          </a:prstGeom>
          <a:solidFill>
            <a:schemeClr val="accent1"/>
          </a:solidFill>
          <a:ln/>
        </p:spPr>
      </p:sp>
      <p:sp>
        <p:nvSpPr>
          <p:cNvPr id="12" name="task 2 letter"/>
          <p:cNvSpPr txBox="1"/>
          <p:nvPr/>
        </p:nvSpPr>
        <p:spPr>
          <a:xfrm>
            <a:off x="868680" y="31927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0"/>
          <p:cNvSpPr txBox="1"/>
          <p:nvPr/>
        </p:nvSpPr>
        <p:spPr>
          <a:xfrm>
            <a:off x="1554480" y="2743200"/>
            <a:ext cx="6858000" cy="1356360"/>
          </a:xfrm>
          <a:prstGeom prst="rect">
            <a:avLst/>
          </a:prstGeom>
          <a:noFill/>
          <a:ln/>
        </p:spPr>
        <p:txBody>
          <a:bodyPr wrap="square" lIns="0" tIns="0" rIns="0" bIns="0" rtlCol="0" anchor="ctr"/>
          <a:lstStyle/>
          <a:p>
            <a:pPr indent="0" marL="0">
              <a:buNone/>
            </a:pPr>
            <a:r>
              <a:rPr lang="en-US" sz="2000" dirty="0">
                <a:solidFill>
                  <a:schemeClr val="tx1"/>
                </a:solidFill>
              </a:rPr>
              <a:t>A job </a:t>
            </a:r>
            <a:pPr indent="0" marL="0">
              <a:buNone/>
            </a:pPr>
            <a:r>
              <a:rPr lang="en-US" sz="2000" dirty="0">
                <a:solidFill>
                  <a:schemeClr val="tx1"/>
                </a:solidFill>
                <a:latin typeface="Courier New" pitchFamily="34" charset="0"/>
                <a:ea typeface="Courier New" pitchFamily="34" charset="-122"/>
                <a:cs typeface="Courier New" pitchFamily="34" charset="-120"/>
              </a:rPr>
              <a:t>smoke_test</a:t>
            </a:r>
            <a:pPr indent="0" marL="0">
              <a:buNone/>
            </a:pPr>
            <a:r>
              <a:rPr lang="en-US" sz="2000" dirty="0">
                <a:solidFill>
                  <a:schemeClr val="tx1"/>
                </a:solidFill>
              </a:rPr>
              <a:t> in </a:t>
            </a:r>
            <a:pPr indent="0" marL="0">
              <a:buNone/>
            </a:pPr>
            <a:r>
              <a:rPr lang="en-US" sz="2000" dirty="0">
                <a:solidFill>
                  <a:schemeClr val="tx1"/>
                </a:solidFill>
                <a:latin typeface="Courier New" pitchFamily="34" charset="0"/>
                <a:ea typeface="Courier New" pitchFamily="34" charset="-122"/>
                <a:cs typeface="Courier New" pitchFamily="34" charset="-120"/>
              </a:rPr>
              <a:t>ci.yml</a:t>
            </a:r>
            <a:pPr indent="0" marL="0">
              <a:buNone/>
            </a:pPr>
            <a:r>
              <a:rPr lang="en-US" sz="2000" dirty="0">
                <a:solidFill>
                  <a:schemeClr val="tx1"/>
                </a:solidFill>
              </a:rPr>
              <a:t>: start the stack with Compose, post a task, fail when </a:t>
            </a:r>
            <a:pPr indent="0" marL="0">
              <a:buNone/>
            </a:pPr>
            <a:r>
              <a:rPr lang="en-US" sz="2000" dirty="0">
                <a:solidFill>
                  <a:schemeClr val="tx1"/>
                </a:solidFill>
                <a:latin typeface="Courier New" pitchFamily="34" charset="0"/>
                <a:ea typeface="Courier New" pitchFamily="34" charset="-122"/>
                <a:cs typeface="Courier New" pitchFamily="34" charset="-120"/>
              </a:rPr>
              <a:t>normalized</a:t>
            </a:r>
            <a:pPr indent="0" marL="0">
              <a:buNone/>
            </a:pPr>
            <a:r>
              <a:rPr lang="en-US" sz="2000" dirty="0">
                <a:solidFill>
                  <a:schemeClr val="tx1"/>
                </a:solidFill>
              </a:rPr>
              <a:t> is not true, shut it down. Check: green, and red when </a:t>
            </a:r>
            <a:pPr indent="0" marL="0">
              <a:buNone/>
            </a:pPr>
            <a:r>
              <a:rPr lang="en-US" sz="2000" dirty="0">
                <a:solidFill>
                  <a:schemeClr val="tx1"/>
                </a:solidFill>
                <a:latin typeface="Courier New" pitchFamily="34" charset="0"/>
                <a:ea typeface="Courier New" pitchFamily="34" charset="-122"/>
                <a:cs typeface="Courier New" pitchFamily="34" charset="-120"/>
              </a:rPr>
              <a:t>NORMALIZER_URL</a:t>
            </a:r>
            <a:pPr indent="0" marL="0">
              <a:buNone/>
            </a:pPr>
            <a:r>
              <a:rPr lang="en-US" sz="2000" dirty="0">
                <a:solidFill>
                  <a:schemeClr val="tx1"/>
                </a:solidFill>
              </a:rPr>
              <a:t> is wrong.</a:t>
            </a:r>
            <a:endParaRPr lang="en-US" sz="2000" dirty="0"/>
          </a:p>
        </p:txBody>
      </p:sp>
      <p:sp>
        <p:nvSpPr>
          <p:cNvPr id="14" name="Text 11"/>
          <p:cNvSpPr txBox="1"/>
          <p:nvPr/>
        </p:nvSpPr>
        <p:spPr>
          <a:xfrm>
            <a:off x="548640" y="4373880"/>
            <a:ext cx="8046720" cy="411480"/>
          </a:xfrm>
          <a:prstGeom prst="rect">
            <a:avLst/>
          </a:prstGeom>
          <a:noFill/>
          <a:ln/>
        </p:spPr>
        <p:txBody>
          <a:bodyPr wrap="square" lIns="0" tIns="0" rIns="0" bIns="0" rtlCol="0" anchor="ctr"/>
          <a:lstStyle/>
          <a:p>
            <a:pPr indent="0" marL="0">
              <a:buNone/>
            </a:pPr>
            <a:r>
              <a:rPr lang="en-US" sz="2000" i="1" dirty="0">
                <a:solidFill>
                  <a:schemeClr val="accent6"/>
                </a:solidFill>
              </a:rPr>
              <a:t>Choose one, or do both. You decide how.</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Two more tasks: hints</a:t>
            </a:r>
            <a:endParaRPr lang="en-US" sz="3400" dirty="0"/>
          </a:p>
        </p:txBody>
      </p:sp>
      <p:sp>
        <p:nvSpPr>
          <p:cNvPr id="4" name="column 1 head"/>
          <p:cNvSpPr/>
          <p:nvPr/>
        </p:nvSpPr>
        <p:spPr>
          <a:xfrm>
            <a:off x="411480" y="1060704"/>
            <a:ext cx="4069080" cy="347472"/>
          </a:xfrm>
          <a:prstGeom prst="roundRect">
            <a:avLst>
              <a:gd name="adj" fmla="val 21053"/>
            </a:avLst>
          </a:prstGeom>
          <a:solidFill>
            <a:schemeClr val="tx1"/>
          </a:solidFill>
          <a:ln/>
        </p:spPr>
      </p:sp>
      <p:sp>
        <p:nvSpPr>
          <p:cNvPr id="5" name="Text 2"/>
          <p:cNvSpPr txBox="1"/>
          <p:nvPr/>
        </p:nvSpPr>
        <p:spPr>
          <a:xfrm>
            <a:off x="594360" y="1060704"/>
            <a:ext cx="3794760" cy="347472"/>
          </a:xfrm>
          <a:prstGeom prst="rect">
            <a:avLst/>
          </a:prstGeom>
          <a:noFill/>
          <a:ln/>
        </p:spPr>
        <p:txBody>
          <a:bodyPr wrap="square" lIns="0" tIns="0" rIns="0" bIns="0" rtlCol="0" anchor="ctr"/>
          <a:lstStyle/>
          <a:p>
            <a:pPr indent="0" marL="0">
              <a:buNone/>
            </a:pPr>
            <a:r>
              <a:rPr lang="en-US" sz="1600" b="1" dirty="0">
                <a:solidFill>
                  <a:schemeClr val="bg1"/>
                </a:solidFill>
              </a:rPr>
              <a:t>1. Healthcheck</a:t>
            </a:r>
            <a:endParaRPr lang="en-US" sz="1600" dirty="0"/>
          </a:p>
        </p:txBody>
      </p:sp>
      <p:sp>
        <p:nvSpPr>
          <p:cNvPr id="6" name="column 2 head"/>
          <p:cNvSpPr/>
          <p:nvPr/>
        </p:nvSpPr>
        <p:spPr>
          <a:xfrm>
            <a:off x="4572000" y="1060704"/>
            <a:ext cx="4069080" cy="347472"/>
          </a:xfrm>
          <a:prstGeom prst="roundRect">
            <a:avLst>
              <a:gd name="adj" fmla="val 21053"/>
            </a:avLst>
          </a:prstGeom>
          <a:solidFill>
            <a:schemeClr val="tx1"/>
          </a:solidFill>
          <a:ln/>
        </p:spPr>
      </p:sp>
      <p:sp>
        <p:nvSpPr>
          <p:cNvPr id="7" name="Text 4"/>
          <p:cNvSpPr txBox="1"/>
          <p:nvPr/>
        </p:nvSpPr>
        <p:spPr>
          <a:xfrm>
            <a:off x="4754880" y="1060704"/>
            <a:ext cx="3794760" cy="347472"/>
          </a:xfrm>
          <a:prstGeom prst="rect">
            <a:avLst/>
          </a:prstGeom>
          <a:noFill/>
          <a:ln/>
        </p:spPr>
        <p:txBody>
          <a:bodyPr wrap="square" lIns="0" tIns="0" rIns="0" bIns="0" rtlCol="0" anchor="ctr"/>
          <a:lstStyle/>
          <a:p>
            <a:pPr indent="0" marL="0">
              <a:buNone/>
            </a:pPr>
            <a:r>
              <a:rPr lang="en-US" sz="1600" b="1" dirty="0">
                <a:solidFill>
                  <a:schemeClr val="bg1"/>
                </a:solidFill>
              </a:rPr>
              <a:t>2. Smoke test</a:t>
            </a:r>
            <a:endParaRPr lang="en-US" sz="1600" dirty="0"/>
          </a:p>
        </p:txBody>
      </p:sp>
      <p:sp>
        <p:nvSpPr>
          <p:cNvPr id="8" name="hint L1 card"/>
          <p:cNvSpPr/>
          <p:nvPr/>
        </p:nvSpPr>
        <p:spPr>
          <a:xfrm>
            <a:off x="411480" y="1481328"/>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9" name="hint L1 circle"/>
          <p:cNvSpPr/>
          <p:nvPr/>
        </p:nvSpPr>
        <p:spPr>
          <a:xfrm>
            <a:off x="502920" y="1646834"/>
            <a:ext cx="329184" cy="329184"/>
          </a:xfrm>
          <a:prstGeom prst="ellipse">
            <a:avLst/>
          </a:prstGeom>
          <a:solidFill>
            <a:schemeClr val="accent2"/>
          </a:solidFill>
          <a:ln/>
        </p:spPr>
      </p:sp>
      <p:sp>
        <p:nvSpPr>
          <p:cNvPr id="10" name="hint L1 letter"/>
          <p:cNvSpPr txBox="1"/>
          <p:nvPr/>
        </p:nvSpPr>
        <p:spPr>
          <a:xfrm>
            <a:off x="502920" y="164683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1" name="hint L1 text"/>
          <p:cNvSpPr txBox="1"/>
          <p:nvPr/>
        </p:nvSpPr>
        <p:spPr>
          <a:xfrm>
            <a:off x="923544" y="1481328"/>
            <a:ext cx="3465576" cy="660197"/>
          </a:xfrm>
          <a:prstGeom prst="rect">
            <a:avLst/>
          </a:prstGeom>
          <a:noFill/>
          <a:ln/>
        </p:spPr>
        <p:txBody>
          <a:bodyPr wrap="square" lIns="0" tIns="0" rIns="0" bIns="0" rtlCol="0" anchor="ctr"/>
          <a:lstStyle/>
          <a:p>
            <a:pPr indent="0" marL="0">
              <a:buNone/>
            </a:pPr>
            <a:r>
              <a:rPr lang="en-US" sz="1400" dirty="0">
                <a:solidFill>
                  <a:schemeClr val="tx1"/>
                </a:solidFill>
              </a:rPr>
              <a:t>A </a:t>
            </a:r>
            <a:pPr indent="0" marL="0">
              <a:buNone/>
            </a:pPr>
            <a:r>
              <a:rPr lang="en-US" sz="1400" dirty="0">
                <a:solidFill>
                  <a:schemeClr val="tx1"/>
                </a:solidFill>
                <a:latin typeface="Courier New" pitchFamily="34" charset="0"/>
                <a:ea typeface="Courier New" pitchFamily="34" charset="-122"/>
                <a:cs typeface="Courier New" pitchFamily="34" charset="-120"/>
              </a:rPr>
              <a:t>healthcheck:</a:t>
            </a:r>
            <a:pPr indent="0" marL="0">
              <a:buNone/>
            </a:pPr>
            <a:r>
              <a:rPr lang="en-US" sz="1400" dirty="0">
                <a:solidFill>
                  <a:schemeClr val="tx1"/>
                </a:solidFill>
              </a:rPr>
              <a:t> key; its </a:t>
            </a:r>
            <a:pPr indent="0" marL="0">
              <a:buNone/>
            </a:pPr>
            <a:r>
              <a:rPr lang="en-US" sz="1400" dirty="0">
                <a:solidFill>
                  <a:schemeClr val="tx1"/>
                </a:solidFill>
                <a:latin typeface="Courier New" pitchFamily="34" charset="0"/>
                <a:ea typeface="Courier New" pitchFamily="34" charset="-122"/>
                <a:cs typeface="Courier New" pitchFamily="34" charset="-120"/>
              </a:rPr>
              <a:t>test:</a:t>
            </a:r>
            <a:pPr indent="0" marL="0">
              <a:buNone/>
            </a:pPr>
            <a:r>
              <a:rPr lang="en-US" sz="1400" dirty="0">
                <a:solidFill>
                  <a:schemeClr val="tx1"/>
                </a:solidFill>
              </a:rPr>
              <a:t> runs inside the container.</a:t>
            </a:r>
            <a:endParaRPr lang="en-US" sz="1400" dirty="0"/>
          </a:p>
        </p:txBody>
      </p:sp>
      <p:sp>
        <p:nvSpPr>
          <p:cNvPr id="12" name="hint R1 card"/>
          <p:cNvSpPr/>
          <p:nvPr/>
        </p:nvSpPr>
        <p:spPr>
          <a:xfrm>
            <a:off x="4572000" y="1481328"/>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3" name="hint R1 circle"/>
          <p:cNvSpPr/>
          <p:nvPr/>
        </p:nvSpPr>
        <p:spPr>
          <a:xfrm>
            <a:off x="4663440" y="1646834"/>
            <a:ext cx="329184" cy="329184"/>
          </a:xfrm>
          <a:prstGeom prst="ellipse">
            <a:avLst/>
          </a:prstGeom>
          <a:solidFill>
            <a:schemeClr val="accent2"/>
          </a:solidFill>
          <a:ln/>
        </p:spPr>
      </p:sp>
      <p:sp>
        <p:nvSpPr>
          <p:cNvPr id="14" name="hint R1 letter"/>
          <p:cNvSpPr txBox="1"/>
          <p:nvPr/>
        </p:nvSpPr>
        <p:spPr>
          <a:xfrm>
            <a:off x="4663440" y="164683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a</a:t>
            </a:r>
            <a:endParaRPr lang="en-US" sz="1200" dirty="0"/>
          </a:p>
        </p:txBody>
      </p:sp>
      <p:sp>
        <p:nvSpPr>
          <p:cNvPr id="15" name="hint R1 text"/>
          <p:cNvSpPr txBox="1"/>
          <p:nvPr/>
        </p:nvSpPr>
        <p:spPr>
          <a:xfrm>
            <a:off x="5084064" y="1481328"/>
            <a:ext cx="3465576" cy="660197"/>
          </a:xfrm>
          <a:prstGeom prst="rect">
            <a:avLst/>
          </a:prstGeom>
          <a:noFill/>
          <a:ln/>
        </p:spPr>
        <p:txBody>
          <a:bodyPr wrap="square" lIns="0" tIns="0" rIns="0" bIns="0" rtlCol="0" anchor="ctr"/>
          <a:lstStyle/>
          <a:p>
            <a:pPr indent="0" marL="0">
              <a:buNone/>
            </a:pPr>
            <a:r>
              <a:rPr lang="en-US" sz="1400" dirty="0">
                <a:solidFill>
                  <a:schemeClr val="tx1"/>
                </a:solidFill>
              </a:rPr>
              <a:t>Copy </a:t>
            </a:r>
            <a:pPr indent="0" marL="0">
              <a:buNone/>
            </a:pPr>
            <a:r>
              <a:rPr lang="en-US" sz="1400" dirty="0">
                <a:solidFill>
                  <a:schemeClr val="tx1"/>
                </a:solidFill>
                <a:latin typeface="Courier New" pitchFamily="34" charset="0"/>
                <a:ea typeface="Courier New" pitchFamily="34" charset="-122"/>
                <a:cs typeface="Courier New" pitchFamily="34" charset="-120"/>
              </a:rPr>
              <a:t>runs-on</a:t>
            </a:r>
            <a:pPr indent="0" marL="0">
              <a:buNone/>
            </a:pPr>
            <a:r>
              <a:rPr lang="en-US" sz="1400" dirty="0">
                <a:solidFill>
                  <a:schemeClr val="tx1"/>
                </a:solidFill>
              </a:rPr>
              <a:t> and </a:t>
            </a:r>
            <a:pPr indent="0" marL="0">
              <a:buNone/>
            </a:pPr>
            <a:r>
              <a:rPr lang="en-US" sz="1400" dirty="0">
                <a:solidFill>
                  <a:schemeClr val="tx1"/>
                </a:solidFill>
                <a:latin typeface="Courier New" pitchFamily="34" charset="0"/>
                <a:ea typeface="Courier New" pitchFamily="34" charset="-122"/>
                <a:cs typeface="Courier New" pitchFamily="34" charset="-120"/>
              </a:rPr>
              <a:t>checkout</a:t>
            </a:r>
            <a:pPr indent="0" marL="0">
              <a:buNone/>
            </a:pPr>
            <a:r>
              <a:rPr lang="en-US" sz="1400" dirty="0">
                <a:solidFill>
                  <a:schemeClr val="tx1"/>
                </a:solidFill>
              </a:rPr>
              <a:t> from </a:t>
            </a:r>
            <a:pPr indent="0" marL="0">
              <a:buNone/>
            </a:pPr>
            <a:r>
              <a:rPr lang="en-US" sz="1400" dirty="0">
                <a:solidFill>
                  <a:schemeClr val="tx1"/>
                </a:solidFill>
                <a:latin typeface="Courier New" pitchFamily="34" charset="0"/>
                <a:ea typeface="Courier New" pitchFamily="34" charset="-122"/>
                <a:cs typeface="Courier New" pitchFamily="34" charset="-120"/>
              </a:rPr>
              <a:t>build_images</a:t>
            </a:r>
            <a:pPr indent="0" marL="0">
              <a:buNone/>
            </a:pPr>
            <a:r>
              <a:rPr lang="en-US" sz="1400" dirty="0">
                <a:solidFill>
                  <a:schemeClr val="tx1"/>
                </a:solidFill>
              </a:rPr>
              <a:t> (your </a:t>
            </a:r>
            <a:pPr indent="0" marL="0">
              <a:buNone/>
            </a:pPr>
            <a:r>
              <a:rPr lang="en-US" sz="1400" dirty="0">
                <a:solidFill>
                  <a:schemeClr val="tx1"/>
                </a:solidFill>
                <a:latin typeface="Courier New" pitchFamily="34" charset="0"/>
                <a:ea typeface="Courier New" pitchFamily="34" charset="-122"/>
                <a:cs typeface="Courier New" pitchFamily="34" charset="-120"/>
              </a:rPr>
              <a:t>ci.yml</a:t>
            </a:r>
            <a:pPr indent="0" marL="0">
              <a:buNone/>
            </a:pPr>
            <a:r>
              <a:rPr lang="en-US" sz="1400" dirty="0">
                <a:solidFill>
                  <a:schemeClr val="tx1"/>
                </a:solidFill>
              </a:rPr>
              <a:t>).</a:t>
            </a:r>
            <a:endParaRPr lang="en-US" sz="1400" dirty="0"/>
          </a:p>
        </p:txBody>
      </p:sp>
      <p:sp>
        <p:nvSpPr>
          <p:cNvPr id="16" name="hint L2 card"/>
          <p:cNvSpPr/>
          <p:nvPr/>
        </p:nvSpPr>
        <p:spPr>
          <a:xfrm>
            <a:off x="411480" y="2168957"/>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17" name="hint L2 circle"/>
          <p:cNvSpPr/>
          <p:nvPr/>
        </p:nvSpPr>
        <p:spPr>
          <a:xfrm>
            <a:off x="502920" y="2334463"/>
            <a:ext cx="329184" cy="329184"/>
          </a:xfrm>
          <a:prstGeom prst="ellipse">
            <a:avLst/>
          </a:prstGeom>
          <a:solidFill>
            <a:schemeClr val="accent2"/>
          </a:solidFill>
          <a:ln/>
        </p:spPr>
      </p:sp>
      <p:sp>
        <p:nvSpPr>
          <p:cNvPr id="18" name="hint L2 letter"/>
          <p:cNvSpPr txBox="1"/>
          <p:nvPr/>
        </p:nvSpPr>
        <p:spPr>
          <a:xfrm>
            <a:off x="502920" y="233446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19" name="hint L2 text"/>
          <p:cNvSpPr txBox="1"/>
          <p:nvPr/>
        </p:nvSpPr>
        <p:spPr>
          <a:xfrm>
            <a:off x="923544" y="2168957"/>
            <a:ext cx="3465576" cy="660197"/>
          </a:xfrm>
          <a:prstGeom prst="rect">
            <a:avLst/>
          </a:prstGeom>
          <a:noFill/>
          <a:ln/>
        </p:spPr>
        <p:txBody>
          <a:bodyPr wrap="square" lIns="0" tIns="0" rIns="0" bIns="0" rtlCol="0" anchor="ctr"/>
          <a:lstStyle/>
          <a:p>
            <a:pPr indent="0" marL="0">
              <a:buNone/>
            </a:pPr>
            <a:r>
              <a:rPr lang="en-US" sz="1400" dirty="0">
                <a:solidFill>
                  <a:schemeClr val="tx1"/>
                </a:solidFill>
              </a:rPr>
              <a:t>The slim image has no </a:t>
            </a:r>
            <a:pPr indent="0" marL="0">
              <a:buNone/>
            </a:pPr>
            <a:r>
              <a:rPr lang="en-US" sz="1400" dirty="0">
                <a:solidFill>
                  <a:schemeClr val="tx1"/>
                </a:solidFill>
                <a:latin typeface="Courier New" pitchFamily="34" charset="0"/>
                <a:ea typeface="Courier New" pitchFamily="34" charset="-122"/>
                <a:cs typeface="Courier New" pitchFamily="34" charset="-120"/>
              </a:rPr>
              <a:t>curl</a:t>
            </a:r>
            <a:pPr indent="0" marL="0">
              <a:buNone/>
            </a:pPr>
            <a:r>
              <a:rPr lang="en-US" sz="1400" dirty="0">
                <a:solidFill>
                  <a:schemeClr val="tx1"/>
                </a:solidFill>
              </a:rPr>
              <a:t>. Use </a:t>
            </a:r>
            <a:pPr indent="0" marL="0">
              <a:buNone/>
            </a:pPr>
            <a:r>
              <a:rPr lang="en-US" sz="1400" dirty="0">
                <a:solidFill>
                  <a:schemeClr val="tx1"/>
                </a:solidFill>
                <a:latin typeface="Courier New" pitchFamily="34" charset="0"/>
                <a:ea typeface="Courier New" pitchFamily="34" charset="-122"/>
                <a:cs typeface="Courier New" pitchFamily="34" charset="-120"/>
              </a:rPr>
              <a:t>python</a:t>
            </a:r>
            <a:pPr indent="0" marL="0">
              <a:buNone/>
            </a:pPr>
            <a:r>
              <a:rPr lang="en-US" sz="1400" dirty="0">
                <a:solidFill>
                  <a:schemeClr val="tx1"/>
                </a:solidFill>
              </a:rPr>
              <a:t>.</a:t>
            </a:r>
            <a:endParaRPr lang="en-US" sz="1400" dirty="0"/>
          </a:p>
        </p:txBody>
      </p:sp>
      <p:sp>
        <p:nvSpPr>
          <p:cNvPr id="20" name="hint R2 card"/>
          <p:cNvSpPr/>
          <p:nvPr/>
        </p:nvSpPr>
        <p:spPr>
          <a:xfrm>
            <a:off x="4572000" y="2168957"/>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1" name="hint R2 circle"/>
          <p:cNvSpPr/>
          <p:nvPr/>
        </p:nvSpPr>
        <p:spPr>
          <a:xfrm>
            <a:off x="4663440" y="2334463"/>
            <a:ext cx="329184" cy="329184"/>
          </a:xfrm>
          <a:prstGeom prst="ellipse">
            <a:avLst/>
          </a:prstGeom>
          <a:solidFill>
            <a:schemeClr val="accent2"/>
          </a:solidFill>
          <a:ln/>
        </p:spPr>
      </p:sp>
      <p:sp>
        <p:nvSpPr>
          <p:cNvPr id="22" name="hint R2 letter"/>
          <p:cNvSpPr txBox="1"/>
          <p:nvPr/>
        </p:nvSpPr>
        <p:spPr>
          <a:xfrm>
            <a:off x="4663440" y="2334463"/>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b</a:t>
            </a:r>
            <a:endParaRPr lang="en-US" sz="1200" dirty="0"/>
          </a:p>
        </p:txBody>
      </p:sp>
      <p:sp>
        <p:nvSpPr>
          <p:cNvPr id="23" name="hint R2 text"/>
          <p:cNvSpPr txBox="1"/>
          <p:nvPr/>
        </p:nvSpPr>
        <p:spPr>
          <a:xfrm>
            <a:off x="5084064" y="2168957"/>
            <a:ext cx="3465576" cy="660197"/>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docker compose up -d --build</a:t>
            </a:r>
            <a:pPr indent="0" marL="0">
              <a:buNone/>
            </a:pPr>
            <a:r>
              <a:rPr lang="en-US" sz="1400" dirty="0">
                <a:solidFill>
                  <a:schemeClr val="tx1"/>
                </a:solidFill>
              </a:rPr>
              <a:t> starts the stack.</a:t>
            </a:r>
            <a:endParaRPr lang="en-US" sz="1400" dirty="0"/>
          </a:p>
        </p:txBody>
      </p:sp>
      <p:sp>
        <p:nvSpPr>
          <p:cNvPr id="24" name="hint L3 card"/>
          <p:cNvSpPr/>
          <p:nvPr/>
        </p:nvSpPr>
        <p:spPr>
          <a:xfrm>
            <a:off x="411480" y="2856586"/>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5" name="hint L3 circle"/>
          <p:cNvSpPr/>
          <p:nvPr/>
        </p:nvSpPr>
        <p:spPr>
          <a:xfrm>
            <a:off x="502920" y="3022092"/>
            <a:ext cx="329184" cy="329184"/>
          </a:xfrm>
          <a:prstGeom prst="ellipse">
            <a:avLst/>
          </a:prstGeom>
          <a:solidFill>
            <a:schemeClr val="accent2"/>
          </a:solidFill>
          <a:ln/>
        </p:spPr>
      </p:sp>
      <p:sp>
        <p:nvSpPr>
          <p:cNvPr id="26" name="hint L3 letter"/>
          <p:cNvSpPr txBox="1"/>
          <p:nvPr/>
        </p:nvSpPr>
        <p:spPr>
          <a:xfrm>
            <a:off x="502920" y="30220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27" name="hint L3 text"/>
          <p:cNvSpPr txBox="1"/>
          <p:nvPr/>
        </p:nvSpPr>
        <p:spPr>
          <a:xfrm>
            <a:off x="923544" y="2856586"/>
            <a:ext cx="3465576" cy="660197"/>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depends_on:</a:t>
            </a:r>
            <a:pPr indent="0" marL="0">
              <a:buNone/>
            </a:pPr>
            <a:r>
              <a:rPr lang="en-US" sz="1400" dirty="0">
                <a:solidFill>
                  <a:schemeClr val="tx1"/>
                </a:solidFill>
              </a:rPr>
              <a:t> takes a condition, not just a name.</a:t>
            </a:r>
            <a:endParaRPr lang="en-US" sz="1400" dirty="0"/>
          </a:p>
        </p:txBody>
      </p:sp>
      <p:sp>
        <p:nvSpPr>
          <p:cNvPr id="28" name="hint R3 card"/>
          <p:cNvSpPr/>
          <p:nvPr/>
        </p:nvSpPr>
        <p:spPr>
          <a:xfrm>
            <a:off x="4572000" y="2856586"/>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29" name="hint R3 circle"/>
          <p:cNvSpPr/>
          <p:nvPr/>
        </p:nvSpPr>
        <p:spPr>
          <a:xfrm>
            <a:off x="4663440" y="3022092"/>
            <a:ext cx="329184" cy="329184"/>
          </a:xfrm>
          <a:prstGeom prst="ellipse">
            <a:avLst/>
          </a:prstGeom>
          <a:solidFill>
            <a:schemeClr val="accent2"/>
          </a:solidFill>
          <a:ln/>
        </p:spPr>
      </p:sp>
      <p:sp>
        <p:nvSpPr>
          <p:cNvPr id="30" name="hint R3 letter"/>
          <p:cNvSpPr txBox="1"/>
          <p:nvPr/>
        </p:nvSpPr>
        <p:spPr>
          <a:xfrm>
            <a:off x="4663440" y="30220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c</a:t>
            </a:r>
            <a:endParaRPr lang="en-US" sz="1200" dirty="0"/>
          </a:p>
        </p:txBody>
      </p:sp>
      <p:sp>
        <p:nvSpPr>
          <p:cNvPr id="31" name="hint R3 text"/>
          <p:cNvSpPr txBox="1"/>
          <p:nvPr/>
        </p:nvSpPr>
        <p:spPr>
          <a:xfrm>
            <a:off x="5084064" y="2856586"/>
            <a:ext cx="3465576" cy="660197"/>
          </a:xfrm>
          <a:prstGeom prst="rect">
            <a:avLst/>
          </a:prstGeom>
          <a:noFill/>
          <a:ln/>
        </p:spPr>
        <p:txBody>
          <a:bodyPr wrap="square" lIns="0" tIns="0" rIns="0" bIns="0" rtlCol="0" anchor="ctr"/>
          <a:lstStyle/>
          <a:p>
            <a:pPr indent="0" marL="0">
              <a:buNone/>
            </a:pPr>
            <a:r>
              <a:rPr lang="en-US" sz="1400" dirty="0">
                <a:solidFill>
                  <a:schemeClr val="tx1"/>
                </a:solidFill>
              </a:rPr>
              <a:t>Wait until </a:t>
            </a:r>
            <a:pPr indent="0" marL="0">
              <a:buNone/>
            </a:pPr>
            <a:r>
              <a:rPr lang="en-US" sz="1400" dirty="0">
                <a:solidFill>
                  <a:schemeClr val="tx1"/>
                </a:solidFill>
                <a:latin typeface="Courier New" pitchFamily="34" charset="0"/>
                <a:ea typeface="Courier New" pitchFamily="34" charset="-122"/>
                <a:cs typeface="Courier New" pitchFamily="34" charset="-120"/>
              </a:rPr>
              <a:t>/health</a:t>
            </a:r>
            <a:pPr indent="0" marL="0">
              <a:buNone/>
            </a:pPr>
            <a:r>
              <a:rPr lang="en-US" sz="1400" dirty="0">
                <a:solidFill>
                  <a:schemeClr val="tx1"/>
                </a:solidFill>
              </a:rPr>
              <a:t> answers, then </a:t>
            </a:r>
            <a:pPr indent="0" marL="0">
              <a:buNone/>
            </a:pPr>
            <a:r>
              <a:rPr lang="en-US" sz="1400" dirty="0">
                <a:solidFill>
                  <a:schemeClr val="tx1"/>
                </a:solidFill>
                <a:latin typeface="Courier New" pitchFamily="34" charset="0"/>
                <a:ea typeface="Courier New" pitchFamily="34" charset="-122"/>
                <a:cs typeface="Courier New" pitchFamily="34" charset="-120"/>
              </a:rPr>
              <a:t>curl</a:t>
            </a:r>
            <a:pPr indent="0" marL="0">
              <a:buNone/>
            </a:pPr>
            <a:r>
              <a:rPr lang="en-US" sz="1400" dirty="0">
                <a:solidFill>
                  <a:schemeClr val="tx1"/>
                </a:solidFill>
              </a:rPr>
              <a:t> the </a:t>
            </a:r>
            <a:pPr indent="0" marL="0">
              <a:buNone/>
            </a:pPr>
            <a:r>
              <a:rPr lang="en-US" sz="1400" dirty="0">
                <a:solidFill>
                  <a:schemeClr val="tx1"/>
                </a:solidFill>
                <a:latin typeface="Courier New" pitchFamily="34" charset="0"/>
                <a:ea typeface="Courier New" pitchFamily="34" charset="-122"/>
                <a:cs typeface="Courier New" pitchFamily="34" charset="-120"/>
              </a:rPr>
              <a:t>POST</a:t>
            </a:r>
            <a:pPr indent="0" marL="0">
              <a:buNone/>
            </a:pPr>
            <a:r>
              <a:rPr lang="en-US" sz="1400" dirty="0">
                <a:solidFill>
                  <a:schemeClr val="tx1"/>
                </a:solidFill>
              </a:rPr>
              <a:t>.</a:t>
            </a:r>
            <a:endParaRPr lang="en-US" sz="1400" dirty="0"/>
          </a:p>
        </p:txBody>
      </p:sp>
      <p:sp>
        <p:nvSpPr>
          <p:cNvPr id="32" name="hint L4 card"/>
          <p:cNvSpPr/>
          <p:nvPr/>
        </p:nvSpPr>
        <p:spPr>
          <a:xfrm>
            <a:off x="411480" y="3544214"/>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33" name="hint L4 circle"/>
          <p:cNvSpPr/>
          <p:nvPr/>
        </p:nvSpPr>
        <p:spPr>
          <a:xfrm>
            <a:off x="502920" y="3709721"/>
            <a:ext cx="329184" cy="329184"/>
          </a:xfrm>
          <a:prstGeom prst="ellipse">
            <a:avLst/>
          </a:prstGeom>
          <a:solidFill>
            <a:schemeClr val="accent2"/>
          </a:solidFill>
          <a:ln/>
        </p:spPr>
      </p:sp>
      <p:sp>
        <p:nvSpPr>
          <p:cNvPr id="34" name="hint L4 letter"/>
          <p:cNvSpPr txBox="1"/>
          <p:nvPr/>
        </p:nvSpPr>
        <p:spPr>
          <a:xfrm>
            <a:off x="502920" y="370972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35" name="hint L4 text"/>
          <p:cNvSpPr txBox="1"/>
          <p:nvPr/>
        </p:nvSpPr>
        <p:spPr>
          <a:xfrm>
            <a:off x="923544" y="3544214"/>
            <a:ext cx="3465576" cy="660197"/>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docker compose ps</a:t>
            </a:r>
            <a:pPr indent="0" marL="0">
              <a:buNone/>
            </a:pPr>
            <a:r>
              <a:rPr lang="en-US" sz="1400" dirty="0">
                <a:solidFill>
                  <a:schemeClr val="tx1"/>
                </a:solidFill>
              </a:rPr>
              <a:t> shows the health state.</a:t>
            </a:r>
            <a:endParaRPr lang="en-US" sz="1400" dirty="0"/>
          </a:p>
        </p:txBody>
      </p:sp>
      <p:sp>
        <p:nvSpPr>
          <p:cNvPr id="36" name="hint R4 card"/>
          <p:cNvSpPr/>
          <p:nvPr/>
        </p:nvSpPr>
        <p:spPr>
          <a:xfrm>
            <a:off x="4572000" y="3544214"/>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37" name="hint R4 circle"/>
          <p:cNvSpPr/>
          <p:nvPr/>
        </p:nvSpPr>
        <p:spPr>
          <a:xfrm>
            <a:off x="4663440" y="3709721"/>
            <a:ext cx="329184" cy="329184"/>
          </a:xfrm>
          <a:prstGeom prst="ellipse">
            <a:avLst/>
          </a:prstGeom>
          <a:solidFill>
            <a:schemeClr val="accent2"/>
          </a:solidFill>
          <a:ln/>
        </p:spPr>
      </p:sp>
      <p:sp>
        <p:nvSpPr>
          <p:cNvPr id="38" name="hint R4 letter"/>
          <p:cNvSpPr txBox="1"/>
          <p:nvPr/>
        </p:nvSpPr>
        <p:spPr>
          <a:xfrm>
            <a:off x="4663440" y="3709721"/>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d</a:t>
            </a:r>
            <a:endParaRPr lang="en-US" sz="1200" dirty="0"/>
          </a:p>
        </p:txBody>
      </p:sp>
      <p:sp>
        <p:nvSpPr>
          <p:cNvPr id="39" name="hint R4 text"/>
          <p:cNvSpPr txBox="1"/>
          <p:nvPr/>
        </p:nvSpPr>
        <p:spPr>
          <a:xfrm>
            <a:off x="5084064" y="3544214"/>
            <a:ext cx="3465576" cy="660197"/>
          </a:xfrm>
          <a:prstGeom prst="rect">
            <a:avLst/>
          </a:prstGeom>
          <a:noFill/>
          <a:ln/>
        </p:spPr>
        <p:txBody>
          <a:bodyPr wrap="square" lIns="0" tIns="0" rIns="0" bIns="0" rtlCol="0" anchor="ctr"/>
          <a:lstStyle/>
          <a:p>
            <a:pPr indent="0" marL="0">
              <a:buNone/>
            </a:pPr>
            <a:r>
              <a:rPr lang="en-US" sz="1400" dirty="0">
                <a:solidFill>
                  <a:schemeClr val="tx1"/>
                </a:solidFill>
              </a:rPr>
              <a:t>Check the answer for </a:t>
            </a:r>
            <a:pPr indent="0" marL="0">
              <a:buNone/>
            </a:pPr>
            <a:r>
              <a:rPr lang="en-US" sz="1400" dirty="0">
                <a:solidFill>
                  <a:schemeClr val="tx1"/>
                </a:solidFill>
                <a:latin typeface="Courier New" pitchFamily="34" charset="0"/>
                <a:ea typeface="Courier New" pitchFamily="34" charset="-122"/>
                <a:cs typeface="Courier New" pitchFamily="34" charset="-120"/>
              </a:rPr>
              <a:t>"normalized":true</a:t>
            </a:r>
            <a:pPr indent="0" marL="0">
              <a:buNone/>
            </a:pPr>
            <a:r>
              <a:rPr lang="en-US" sz="1400" dirty="0">
                <a:solidFill>
                  <a:schemeClr val="tx1"/>
                </a:solidFill>
              </a:rPr>
              <a:t>, fail otherwise.</a:t>
            </a:r>
            <a:endParaRPr lang="en-US" sz="1400" dirty="0"/>
          </a:p>
        </p:txBody>
      </p:sp>
      <p:sp>
        <p:nvSpPr>
          <p:cNvPr id="40" name="hint L5 card"/>
          <p:cNvSpPr/>
          <p:nvPr/>
        </p:nvSpPr>
        <p:spPr>
          <a:xfrm>
            <a:off x="411480" y="4231843"/>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41" name="hint L5 circle"/>
          <p:cNvSpPr/>
          <p:nvPr/>
        </p:nvSpPr>
        <p:spPr>
          <a:xfrm>
            <a:off x="502920" y="4397350"/>
            <a:ext cx="329184" cy="329184"/>
          </a:xfrm>
          <a:prstGeom prst="ellipse">
            <a:avLst/>
          </a:prstGeom>
          <a:solidFill>
            <a:schemeClr val="accent2"/>
          </a:solidFill>
          <a:ln/>
        </p:spPr>
      </p:sp>
      <p:sp>
        <p:nvSpPr>
          <p:cNvPr id="42" name="hint L5 letter"/>
          <p:cNvSpPr txBox="1"/>
          <p:nvPr/>
        </p:nvSpPr>
        <p:spPr>
          <a:xfrm>
            <a:off x="502920" y="439735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43" name="hint L5 text"/>
          <p:cNvSpPr txBox="1"/>
          <p:nvPr/>
        </p:nvSpPr>
        <p:spPr>
          <a:xfrm>
            <a:off x="923544" y="4231843"/>
            <a:ext cx="3465576" cy="660197"/>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interval:</a:t>
            </a:r>
            <a:pPr indent="0" marL="0">
              <a:buNone/>
            </a:pPr>
            <a:r>
              <a:rPr lang="en-US" sz="1400" dirty="0">
                <a:solidFill>
                  <a:schemeClr val="tx1"/>
                </a:solidFill>
              </a:rPr>
              <a:t> sets how often it checks. The default is 30 s.</a:t>
            </a:r>
            <a:endParaRPr lang="en-US" sz="1400" dirty="0"/>
          </a:p>
        </p:txBody>
      </p:sp>
      <p:sp>
        <p:nvSpPr>
          <p:cNvPr id="44" name="hint R5 card"/>
          <p:cNvSpPr/>
          <p:nvPr/>
        </p:nvSpPr>
        <p:spPr>
          <a:xfrm>
            <a:off x="4572000" y="4231843"/>
            <a:ext cx="4069080" cy="660197"/>
          </a:xfrm>
          <a:prstGeom prst="roundRect">
            <a:avLst>
              <a:gd name="adj" fmla="val 11080"/>
            </a:avLst>
          </a:prstGeom>
          <a:solidFill>
            <a:srgbClr val="E8ECF0"/>
          </a:solidFill>
          <a:ln w="9525">
            <a:solidFill>
              <a:srgbClr val="D0D7DE"/>
            </a:solidFill>
            <a:prstDash val="solid"/>
          </a:ln>
          <a:effectLst>
            <a:outerShdw sx="100000" sy="100000" kx="0" ky="0" algn="bl" rotWithShape="0" blurRad="76200" dist="25400" dir="5400000">
              <a:srgbClr val="000000">
                <a:alpha val="12000"/>
              </a:srgbClr>
            </a:outerShdw>
          </a:effectLst>
        </p:spPr>
      </p:sp>
      <p:sp>
        <p:nvSpPr>
          <p:cNvPr id="45" name="hint R5 circle"/>
          <p:cNvSpPr/>
          <p:nvPr/>
        </p:nvSpPr>
        <p:spPr>
          <a:xfrm>
            <a:off x="4663440" y="4397350"/>
            <a:ext cx="329184" cy="329184"/>
          </a:xfrm>
          <a:prstGeom prst="ellipse">
            <a:avLst/>
          </a:prstGeom>
          <a:solidFill>
            <a:schemeClr val="accent2"/>
          </a:solidFill>
          <a:ln/>
        </p:spPr>
      </p:sp>
      <p:sp>
        <p:nvSpPr>
          <p:cNvPr id="46" name="hint R5 letter"/>
          <p:cNvSpPr txBox="1"/>
          <p:nvPr/>
        </p:nvSpPr>
        <p:spPr>
          <a:xfrm>
            <a:off x="4663440" y="439735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e</a:t>
            </a:r>
            <a:endParaRPr lang="en-US" sz="1200" dirty="0"/>
          </a:p>
        </p:txBody>
      </p:sp>
      <p:sp>
        <p:nvSpPr>
          <p:cNvPr id="47" name="hint R5 text"/>
          <p:cNvSpPr txBox="1"/>
          <p:nvPr/>
        </p:nvSpPr>
        <p:spPr>
          <a:xfrm>
            <a:off x="5084064" y="4231843"/>
            <a:ext cx="3465576" cy="660197"/>
          </a:xfrm>
          <a:prstGeom prst="rect">
            <a:avLst/>
          </a:prstGeom>
          <a:noFill/>
          <a:ln/>
        </p:spPr>
        <p:txBody>
          <a:bodyPr wrap="square" lIns="0" tIns="0" rIns="0" bIns="0" rtlCol="0" anchor="ctr"/>
          <a:lstStyle/>
          <a:p>
            <a:pPr indent="0" marL="0">
              <a:buNone/>
            </a:pPr>
            <a:r>
              <a:rPr lang="en-US" sz="1400" dirty="0">
                <a:solidFill>
                  <a:schemeClr val="tx1"/>
                </a:solidFill>
              </a:rPr>
              <a:t>Always end with </a:t>
            </a:r>
            <a:pPr indent="0" marL="0">
              <a:buNone/>
            </a:pPr>
            <a:r>
              <a:rPr lang="en-US" sz="1400" dirty="0">
                <a:solidFill>
                  <a:schemeClr val="tx1"/>
                </a:solidFill>
                <a:latin typeface="Courier New" pitchFamily="34" charset="0"/>
                <a:ea typeface="Courier New" pitchFamily="34" charset="-122"/>
                <a:cs typeface="Courier New" pitchFamily="34" charset="-120"/>
              </a:rPr>
              <a:t>docker compose down</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8"/>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13" grpId="0" animBg="1"/>
      <p:bldP spid="14" grpId="0"/>
      <p:bldP spid="15" grpId="0"/>
      <p:bldP spid="17" grpId="0" animBg="1"/>
      <p:bldP spid="18" grpId="0"/>
      <p:bldP spid="19" grpId="0"/>
      <p:bldP spid="21" grpId="0" animBg="1"/>
      <p:bldP spid="22" grpId="0"/>
      <p:bldP spid="23" grpId="0"/>
      <p:bldP spid="25" grpId="0" animBg="1"/>
      <p:bldP spid="26" grpId="0"/>
      <p:bldP spid="27" grpId="0"/>
      <p:bldP spid="29" grpId="0" animBg="1"/>
      <p:bldP spid="30" grpId="0"/>
      <p:bldP spid="31" grpId="0"/>
      <p:bldP spid="33" grpId="0" animBg="1"/>
      <p:bldP spid="34" grpId="0"/>
      <p:bldP spid="35" grpId="0"/>
      <p:bldP spid="37" grpId="0" animBg="1"/>
      <p:bldP spid="38" grpId="0"/>
      <p:bldP spid="39" grpId="0"/>
      <p:bldP spid="41" grpId="0" animBg="1"/>
      <p:bldP spid="42" grpId="0"/>
      <p:bldP spid="43" grpId="0"/>
      <p:bldP spid="45" grpId="0" animBg="1"/>
      <p:bldP spid="46" grpId="0"/>
      <p:bldP spid="47"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Wrap up</a:t>
            </a:r>
            <a:endParaRPr lang="en-US" sz="3400" dirty="0"/>
          </a:p>
        </p:txBody>
      </p:sp>
      <p:sp>
        <p:nvSpPr>
          <p:cNvPr id="4" name="step 1 circle"/>
          <p:cNvSpPr/>
          <p:nvPr/>
        </p:nvSpPr>
        <p:spPr>
          <a:xfrm>
            <a:off x="548640" y="1051560"/>
            <a:ext cx="457200" cy="457200"/>
          </a:xfrm>
          <a:prstGeom prst="ellipse">
            <a:avLst/>
          </a:prstGeom>
          <a:solidFill>
            <a:schemeClr val="accent1"/>
          </a:solidFill>
          <a:ln/>
        </p:spPr>
      </p:sp>
      <p:sp>
        <p:nvSpPr>
          <p:cNvPr id="5" name="step 1 letter"/>
          <p:cNvSpPr txBox="1"/>
          <p:nvPr/>
        </p:nvSpPr>
        <p:spPr>
          <a:xfrm>
            <a:off x="548640" y="105156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234440" y="105156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On </a:t>
            </a:r>
            <a:pPr indent="0" marL="0">
              <a:buNone/>
            </a:pPr>
            <a:r>
              <a:rPr lang="en-US" sz="2400" b="1" dirty="0">
                <a:solidFill>
                  <a:schemeClr val="bg1"/>
                </a:solidFill>
                <a:latin typeface="Courier New" pitchFamily="34" charset="0"/>
                <a:ea typeface="Courier New" pitchFamily="34" charset="-122"/>
                <a:cs typeface="Courier New" pitchFamily="34" charset="-120"/>
              </a:rPr>
              <a:t>main</a:t>
            </a:r>
            <a:pPr indent="0" marL="0">
              <a:buNone/>
            </a:pPr>
            <a:r>
              <a:rPr lang="en-US" sz="2400" b="1" dirty="0">
                <a:solidFill>
                  <a:schemeClr val="bg1"/>
                </a:solidFill>
              </a:rPr>
              <a:t>:</a:t>
            </a:r>
            <a:endParaRPr lang="en-US" sz="2400" dirty="0"/>
          </a:p>
        </p:txBody>
      </p:sp>
      <p:sp>
        <p:nvSpPr>
          <p:cNvPr id="7" name="step 2 circle"/>
          <p:cNvSpPr/>
          <p:nvPr/>
        </p:nvSpPr>
        <p:spPr>
          <a:xfrm>
            <a:off x="548640" y="3063240"/>
            <a:ext cx="457200" cy="457200"/>
          </a:xfrm>
          <a:prstGeom prst="ellipse">
            <a:avLst/>
          </a:prstGeom>
          <a:solidFill>
            <a:schemeClr val="accent1"/>
          </a:solidFill>
          <a:ln/>
        </p:spPr>
      </p:sp>
      <p:sp>
        <p:nvSpPr>
          <p:cNvPr id="8" name="step 2 letter"/>
          <p:cNvSpPr txBox="1"/>
          <p:nvPr/>
        </p:nvSpPr>
        <p:spPr>
          <a:xfrm>
            <a:off x="548640" y="30632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6"/>
          <p:cNvSpPr txBox="1"/>
          <p:nvPr/>
        </p:nvSpPr>
        <p:spPr>
          <a:xfrm>
            <a:off x="1234440" y="3063240"/>
            <a:ext cx="7360920" cy="457200"/>
          </a:xfrm>
          <a:prstGeom prst="rect">
            <a:avLst/>
          </a:prstGeom>
          <a:noFill/>
          <a:ln/>
        </p:spPr>
        <p:txBody>
          <a:bodyPr wrap="square" lIns="0" tIns="0" rIns="0" bIns="0" rtlCol="0" anchor="ctr"/>
          <a:lstStyle/>
          <a:p>
            <a:pPr indent="0" marL="0">
              <a:buNone/>
            </a:pPr>
            <a:r>
              <a:rPr lang="en-US" sz="2400" b="1" dirty="0">
                <a:solidFill>
                  <a:schemeClr val="bg1"/>
                </a:solidFill>
                <a:latin typeface="Courier New" pitchFamily="34" charset="0"/>
                <a:ea typeface="Courier New" pitchFamily="34" charset="-122"/>
                <a:cs typeface="Courier New" pitchFamily="34" charset="-120"/>
              </a:rPr>
              <a:t>docker compose down</a:t>
            </a:r>
            <a:pPr indent="0" marL="0">
              <a:buNone/>
            </a:pPr>
            <a:r>
              <a:rPr lang="en-US" sz="2400" b="1" dirty="0">
                <a:solidFill>
                  <a:schemeClr val="bg1"/>
                </a:solidFill>
              </a:rPr>
              <a:t>.</a:t>
            </a:r>
            <a:endParaRPr lang="en-US" sz="2400" dirty="0"/>
          </a:p>
        </p:txBody>
      </p:sp>
      <p:sp>
        <p:nvSpPr>
          <p:cNvPr id="10" name="step 3 circle"/>
          <p:cNvSpPr/>
          <p:nvPr/>
        </p:nvSpPr>
        <p:spPr>
          <a:xfrm>
            <a:off x="548640" y="3657600"/>
            <a:ext cx="457200" cy="457200"/>
          </a:xfrm>
          <a:prstGeom prst="ellipse">
            <a:avLst/>
          </a:prstGeom>
          <a:solidFill>
            <a:schemeClr val="accent1"/>
          </a:solidFill>
          <a:ln/>
        </p:spPr>
      </p:sp>
      <p:sp>
        <p:nvSpPr>
          <p:cNvPr id="11" name="step 3 letter"/>
          <p:cNvSpPr txBox="1"/>
          <p:nvPr/>
        </p:nvSpPr>
        <p:spPr>
          <a:xfrm>
            <a:off x="548640" y="365760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9"/>
          <p:cNvSpPr txBox="1"/>
          <p:nvPr/>
        </p:nvSpPr>
        <p:spPr>
          <a:xfrm>
            <a:off x="1234440" y="365760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Stop your Codespace.</a:t>
            </a:r>
            <a:endParaRPr lang="en-US" sz="2400" dirty="0"/>
          </a:p>
        </p:txBody>
      </p:sp>
      <p:sp>
        <p:nvSpPr>
          <p:cNvPr id="13" name="step 4 circle"/>
          <p:cNvSpPr/>
          <p:nvPr/>
        </p:nvSpPr>
        <p:spPr>
          <a:xfrm>
            <a:off x="548640" y="4251960"/>
            <a:ext cx="457200" cy="457200"/>
          </a:xfrm>
          <a:prstGeom prst="ellipse">
            <a:avLst/>
          </a:prstGeom>
          <a:solidFill>
            <a:schemeClr val="accent1"/>
          </a:solidFill>
          <a:ln/>
        </p:spPr>
      </p:sp>
      <p:sp>
        <p:nvSpPr>
          <p:cNvPr id="14" name="step 4 letter"/>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2"/>
          <p:cNvSpPr txBox="1"/>
          <p:nvPr/>
        </p:nvSpPr>
        <p:spPr>
          <a:xfrm>
            <a:off x="1234440" y="4251960"/>
            <a:ext cx="7360920" cy="457200"/>
          </a:xfrm>
          <a:prstGeom prst="rect">
            <a:avLst/>
          </a:prstGeom>
          <a:noFill/>
          <a:ln/>
        </p:spPr>
        <p:txBody>
          <a:bodyPr wrap="square" lIns="0" tIns="0" rIns="0" bIns="0" rtlCol="0" anchor="ctr"/>
          <a:lstStyle/>
          <a:p>
            <a:pPr indent="0" marL="0">
              <a:buNone/>
            </a:pPr>
            <a:r>
              <a:rPr lang="en-US" sz="2400" b="1" dirty="0">
                <a:solidFill>
                  <a:schemeClr val="bg1"/>
                </a:solidFill>
              </a:rPr>
              <a:t>Sign out of GitHub.</a:t>
            </a:r>
            <a:endParaRPr lang="en-US" sz="2400" dirty="0"/>
          </a:p>
        </p:txBody>
      </p:sp>
      <p:sp>
        <p:nvSpPr>
          <p:cNvPr id="16" name="command panel"/>
          <p:cNvSpPr/>
          <p:nvPr/>
        </p:nvSpPr>
        <p:spPr>
          <a:xfrm>
            <a:off x="1234440" y="1600200"/>
            <a:ext cx="7360920" cy="1280160"/>
          </a:xfrm>
          <a:prstGeom prst="roundRect">
            <a:avLst>
              <a:gd name="adj" fmla="val 5714"/>
            </a:avLst>
          </a:prstGeom>
          <a:solidFill>
            <a:srgbClr val="30363D"/>
          </a:solidFill>
          <a:ln/>
        </p:spPr>
      </p:sp>
      <p:sp>
        <p:nvSpPr>
          <p:cNvPr id="17" name="code"/>
          <p:cNvSpPr txBox="1"/>
          <p:nvPr/>
        </p:nvSpPr>
        <p:spPr>
          <a:xfrm>
            <a:off x="1399032" y="1682496"/>
            <a:ext cx="7031736" cy="1115568"/>
          </a:xfrm>
          <a:prstGeom prst="rect">
            <a:avLst/>
          </a:prstGeom>
          <a:noFill/>
          <a:ln/>
        </p:spPr>
        <p:txBody>
          <a:bodyPr wrap="square" lIns="0" tIns="0" rIns="0" bIns="0" rtlCol="0" anchor="ctr"/>
          <a:lstStyle/>
          <a:p>
            <a:pPr indent="0" marL="0">
              <a:lnSpc>
                <a:spcPts val="2800"/>
              </a:lnSpc>
              <a:buNone/>
            </a:pPr>
            <a:r>
              <a:rPr lang="en-US" sz="2000" dirty="0">
                <a:solidFill>
                  <a:schemeClr val="bg2"/>
                </a:solidFill>
                <a:latin typeface="Courier New" pitchFamily="34" charset="0"/>
                <a:ea typeface="Courier New" pitchFamily="34" charset="-122"/>
                <a:cs typeface="Courier New" pitchFamily="34" charset="-120"/>
              </a:rPr>
              <a:t>git add -A</a:t>
            </a:r>
            <a:endParaRPr lang="en-US" sz="2000" dirty="0"/>
          </a:p>
          <a:p>
            <a:pPr indent="0" marL="0">
              <a:lnSpc>
                <a:spcPts val="2800"/>
              </a:lnSpc>
              <a:buNone/>
            </a:pPr>
            <a:r>
              <a:rPr lang="en-US" sz="2000" dirty="0">
                <a:solidFill>
                  <a:schemeClr val="bg2"/>
                </a:solidFill>
                <a:latin typeface="Courier New" pitchFamily="34" charset="0"/>
                <a:ea typeface="Courier New" pitchFamily="34" charset="-122"/>
                <a:cs typeface="Courier New" pitchFamily="34" charset="-120"/>
              </a:rPr>
              <a:t>git commit -m compose</a:t>
            </a:r>
            <a:endParaRPr lang="en-US" sz="2000" dirty="0"/>
          </a:p>
          <a:p>
            <a:pPr indent="0" marL="0">
              <a:lnSpc>
                <a:spcPts val="2800"/>
              </a:lnSpc>
              <a:buNone/>
            </a:pPr>
            <a:r>
              <a:rPr lang="en-US" sz="2000" dirty="0">
                <a:solidFill>
                  <a:schemeClr val="bg2"/>
                </a:solidFill>
                <a:latin typeface="Courier New" pitchFamily="34" charset="0"/>
                <a:ea typeface="Courier New" pitchFamily="34" charset="-122"/>
                <a:cs typeface="Courier New" pitchFamily="34" charset="-120"/>
              </a:rPr>
              <a:t>git push</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DevOps Terminal">
  <a:themeElements>
    <a:clrScheme name="DevOps Terminal">
      <a:dk1>
        <a:srgbClr val="161B22"/>
      </a:dk1>
      <a:lt1>
        <a:srgbClr val="FFFFFF"/>
      </a:lt1>
      <a:dk2>
        <a:srgbClr val="30363D"/>
      </a:dk2>
      <a:lt2>
        <a:srgbClr val="F3F5F7"/>
      </a:lt2>
      <a:accent1>
        <a:srgbClr val="1A7F37"/>
      </a:accent1>
      <a:accent2>
        <a:srgbClr val="9A6700"/>
      </a:accent2>
      <a:accent3>
        <a:srgbClr val="D1242F"/>
      </a:accent3>
      <a:accent4>
        <a:srgbClr val="0969DA"/>
      </a:accent4>
      <a:accent5>
        <a:srgbClr val="8957E5"/>
      </a:accent5>
      <a:accent6>
        <a:srgbClr val="57606A"/>
      </a:accent6>
      <a:hlink>
        <a:srgbClr val="0969DA"/>
      </a:hlink>
      <a:folHlink>
        <a:srgbClr val="8957E5"/>
      </a:folHlink>
    </a:clrScheme>
    <a:fontScheme name="DevOps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workshop - meeting 5</dc:title>
  <dc:subject>PptxGenJS Presentation</dc:subject>
  <dc:creator>Instructor</dc:creator>
  <cp:lastModifiedBy>Instructor</cp:lastModifiedBy>
  <cp:revision>1</cp:revision>
  <dcterms:created xsi:type="dcterms:W3CDTF">2026-10-29T23:49:25Z</dcterms:created>
  <dcterms:modified xsi:type="dcterms:W3CDTF">2026-10-29T23:49:25Z</dcterms:modified>
</cp:coreProperties>
</file>