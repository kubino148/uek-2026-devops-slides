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tup" id="{d8df1391-344e-1f96-219e-138ce64bae84}">
          <p14:sldIdLst>
            <p14:sldId id="256"/>
            <p14:sldId id="257"/>
            <p14:sldId id="258"/>
          </p14:sldIdLst>
        </p14:section>
        <p14:section name="Image and container" id="{1bbdfb15-2783-e4f2-fc7a-04aba38ee0d7}">
          <p14:sldIdLst>
            <p14:sldId id="259"/>
            <p14:sldId id="260"/>
            <p14:sldId id="261"/>
            <p14:sldId id="262"/>
            <p14:sldId id="263"/>
            <p14:sldId id="264"/>
            <p14:sldId id="265"/>
            <p14:sldId id="266"/>
            <p14:sldId id="267"/>
          </p14:sldIdLst>
        </p14:section>
        <p14:section name="Layers" id="{344cdfb8-050b-0a5c-dabe-90a309035d17}">
          <p14:sldIdLst>
            <p14:sldId id="268"/>
            <p14:sldId id="269"/>
          </p14:sldIdLst>
        </p14:section>
        <p14:section name="Live demo" id="{0a954046-60e6-93de-0a47-47a11662eb61}">
          <p14:sldIdLst>
            <p14:sldId id="270"/>
            <p14:sldId id="271"/>
          </p14:sldIdLst>
        </p14:section>
        <p14:section name="From demo to your service" id="{8a96fa69-d92b-8b0d-6787-f12993eab6b9}">
          <p14:sldIdLst>
            <p14:sldId id="272"/>
            <p14:sldId id="273"/>
          </p14:sldIdLst>
        </p14:section>
        <p14:section name="Containers are disposable" id="{1706ced8-e3f0-4d4d-456e-f54ea0946d79}">
          <p14:sldIdLst>
            <p14:sldId id="274"/>
            <p14:sldId id="275"/>
          </p14:sldIdLst>
        </p14:section>
        <p14:section name="Start" id="{2364e6b2-88da-7260-f2be-721bb9d46bfe}">
          <p14:sldIdLst>
            <p14:sldId id="276"/>
            <p14:sldId id="277"/>
            <p14:sldId id="278"/>
            <p14:sldId id="279"/>
          </p14:sldIdLst>
        </p14:section>
        <p14:section name="Step 1" id="{21abbb1e-a957-1a02-8cd3-52d502cae6cb}">
          <p14:sldIdLst>
            <p14:sldId id="280"/>
            <p14:sldId id="281"/>
            <p14:sldId id="282"/>
            <p14:sldId id="283"/>
          </p14:sldIdLst>
        </p14:section>
        <p14:section name="Step 2" id="{d1cb75c8-3bc5-7d08-462d-0d1b4a8005fd}">
          <p14:sldIdLst>
            <p14:sldId id="284"/>
            <p14:sldId id="285"/>
            <p14:sldId id="286"/>
          </p14:sldIdLst>
        </p14:section>
        <p14:section name="Step 3" id="{c373429b-b4b1-27b8-61dd-a9916b8f2c79}">
          <p14:sldIdLst>
            <p14:sldId id="287"/>
            <p14:sldId id="288"/>
            <p14:sldId id="289"/>
            <p14:sldId id="290"/>
          </p14:sldIdLst>
        </p14:section>
        <p14:section name="Step 4" id="{4a47ed59-2540-c7fb-88bf-f229757ee8b4}">
          <p14:sldIdLst>
            <p14:sldId id="291"/>
            <p14:sldId id="292"/>
            <p14:sldId id="293"/>
          </p14:sldIdLst>
        </p14:section>
        <p14:section name="Two more tasks" id="{42dc89ad-6c8c-f8f4-7abc-08e2c6e18ea7}">
          <p14:sldIdLst>
            <p14:sldId id="294"/>
            <p14:sldId id="295"/>
          </p14:sldIdLst>
        </p14:section>
        <p14:section name="Wrap up" id="{72e4fb97-80ab-9132-ccaa-3804d945cd60}">
          <p14:sldIdLst>
            <p14:sldId id="2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slide, shown once, typed address, no QR. Say aloud: "then continue with the next slide, Your repo."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Done in the browser on github.com. Say: "Nobody compares, everyone copies." Say: "The Pages Source setting, GitHub Actions, is as last time; the README lists both settings." About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is the docker command you type. Server is the engine that does the work. Question at 0:07: "Who has one workflow named Test and Scan and both service folders?" Then: "Who sees both Client and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can differ between your machine and a server?" Wait 7 seconds.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two Linux machines can behave differently for the same program. Say: apk is Alpine's package manager. glibc and musl are two C libraries, the code every program calls.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image carries the files, the tools and the libraries. Once built, it does not change.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image brings everything except the kernel. One image, many containers.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once: "pull means download."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"left is the Codespace, right is inside the container." Show the Ports tab: it forwards a port of your Codespace to your browser. Open the address and play for about twenty seconds. Ask: "What happens to the container when I press Ctrl-C?" Press it: it is gone. Say: "This is a whole game that somebody else packaged. You did not install anything." Say: "This is someone else's image from Docker Hub. I run it in a throwaway Codespace; only run images you trust."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runs it together. Say: "same machine, another operating system, gone after exit." Say: --rm removes the container when it stops.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base image for Step 1." Say: python:3.12-slim is also Debian 13 with Python added. Tell the room: raise a hand if you see red text. Then: "a Dockerfile builds an image."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Docker's docs recommend the Alpine image as tightly controlled and small in size (under 6 MB). Alpine uses musl instead of glibc, the C library most Linux images use. The musl resolver differs from glibc's: its search and domain behaviour differs slightly, and DNS over TCP was not supported until musl 1.2.4. Small is not free. This course uses the slim Debian images. About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Dockerfile builds an image." It is a list of instructions, read top to bottom. Ask: "I change one line of my code. Which layers are built again?" Wait 7 seconds. The next slide answers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order of the lines matters. Keep this for Step 1.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when the Dockerfile is typed. Then the projector goes to the Codespace. Questions during the demo: "The container runs and the browser gets nothing. What is wrong?" and "What does -p 3000:3000 connect?" Say: "demo is the image, the container has its own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Stays up while you run the demo the last time. Say: "demo is the image name; Step 1 uses the same flag." Say: "EXPOSE only documents the port; -p connects it." Show curl in a second terminal: Step 1 uses it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once: "Flask's built-in server is a development server; the log will say so. It is fine for today. A production service uses another server. The services folder stays as it is." Ask: "Which port does tasks-api listen on, and where do you read it?" About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the projector to the Codespace and show where each answer lives. Do not say the answers.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each in the demo Codespace; copy the name from docker ps. Ask before docker stop: "I remove the container and run the image again. Is the counter still there?" Say while it waits: "stop waits up to ten seconds for the program to end." Then docker rm, run the image again and reload.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server process started again and its memory is empty. Stop only stops the process. Last slide of the talk. At the start of the break say exactly: "Break. Keep this Codespace, do not delete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of the hands-on. About 15 seconds. Early-finisher line: "Done early? Start the next step. If you finish everything, read your Dockerfiles and explain each line to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help rule. Say the docs pages: "Dockerfile reference", "Building best practices", "Forwarding ports in your codespace". Say: "Paste only what you can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red run is information. Where to read: the last lines of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to follow. Your answers to the four questions differ. About 15 seconds, then Step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0:51. The requirement alone for 3 minutes, nothing else on screen. Say after the first build starts: pip prints yellow text, it is not an error. Say once they saw it running: Ctrl+C stops a foreground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0:54, b at 0:55, c at 0:56, d at 0:57, e and f together at 0:58. Then the next slide, Step 1: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0:59, about one minute after the last click. Never go Back to the hints. Click through in seconds if nobody is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1:00. Read the Dockerfile top to bottom: base image, folder, requirements first, then the code, the port, the command. Checkpoint at 1:04: "Does /health answer, and did POST /tasks create a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1:04, alone for 1 minute: it is the same recipe.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1:05, b and c together at 1:06.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1:07. Checkpoint at 1:09: "Do /health and /invoke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"Inside the tasks-api container, what is localhost?" Say: the container itself, so the normalizer cannot be there. About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1:11, alone for 2 minutes. Say: three terminals, one per container and one for curl. Name them aloud: normalizer, api, curl. Say: "The variable goes after -e, inside the docker run line." Say: "Here the name is the address; I name each container like its image." Say: a wrong result is silent, there is no error text: look at the normalized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1:13, b at 1:14, c at 1:15, d and e together at 1:16.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1:17. Checkpoint at 1:19: "Does POST /tasks return Buy milk with normalized true?" Then say once: "The commands you typed are what a file will hold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"If you finish Step 3 early, the next step is in ci.yml: add a job named build_images that builds both images." Alone for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hint per minute, c and d together. Ask informally: "What is the matrix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at its mark. Ask: "pushed?" Checkpoint: "Green build_images on your pull request?" Explain the matrix line and the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"Keep your Codespace until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"Try each hint before the next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before anyone merges: "If deploy goes red after the merge, read its text: it names what is missing, for example the rule from the start. build_images is the line that counts today." Then: "Merge your pull request." Then: "No pull request? On main: git add -A, git commit -m docker, git push." Then: stop your Codespace, sign out of GitHub on the lab PC. If asked: "The README of kubino148/tasks-app-reference lists both settings in its GitHub Pages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320040"/>
            <a:ext cx="804672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r>
              <a:rPr lang="en-US" sz="3400" b="1" dirty="0">
                <a:solidFill>
                  <a:schemeClr val="bg1"/>
                </a:solidFill>
              </a:rPr>
              <a:t>Title</a:t>
            </a:r>
            <a:endParaRPr lang="en-US" sz="3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1"/>
          </a:solidFill>
          <a:ln/>
        </p:spPr>
      </p:sp>
      <p:sp>
        <p:nvSpPr>
          <p:cNvPr id="3" name="Text 1"/>
          <p:cNvSpPr/>
          <p:nvPr>
            <p:ph idx="101" type="title" hasCustomPrompt="1"/>
          </p:nvPr>
        </p:nvSpPr>
        <p:spPr>
          <a:xfrm>
            <a:off x="548640" y="320040"/>
            <a:ext cx="804672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r>
              <a:rPr lang="en-US" sz="3400" b="1" dirty="0">
                <a:solidFill>
                  <a:schemeClr val="tx1"/>
                </a:solidFill>
              </a:rPr>
              <a:t>Title</a:t>
            </a:r>
            <a:endParaRPr lang="en-US" sz="3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No repo yet?</a:t>
            </a:r>
            <a:endParaRPr lang="en-US" sz="3400" dirty="0"/>
          </a:p>
        </p:txBody>
      </p:sp>
      <p:sp>
        <p:nvSpPr>
          <p:cNvPr id="4" name="step 1 circle"/>
          <p:cNvSpPr/>
          <p:nvPr/>
        </p:nvSpPr>
        <p:spPr>
          <a:xfrm>
            <a:off x="548640" y="1643085"/>
            <a:ext cx="457200" cy="457200"/>
          </a:xfrm>
          <a:prstGeom prst="ellipse">
            <a:avLst/>
          </a:prstGeom>
          <a:solidFill>
            <a:schemeClr val="accent1"/>
          </a:solidFill>
          <a:ln/>
        </p:spPr>
      </p:sp>
      <p:sp>
        <p:nvSpPr>
          <p:cNvPr id="5" name="step 1 letter"/>
          <p:cNvSpPr txBox="1"/>
          <p:nvPr/>
        </p:nvSpPr>
        <p:spPr>
          <a:xfrm>
            <a:off x="548640" y="1643085"/>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234440" y="1463040"/>
            <a:ext cx="7360920" cy="817291"/>
          </a:xfrm>
          <a:prstGeom prst="rect">
            <a:avLst/>
          </a:prstGeom>
          <a:noFill/>
          <a:ln/>
        </p:spPr>
        <p:txBody>
          <a:bodyPr wrap="square" lIns="0" tIns="0" rIns="0" bIns="0" rtlCol="0" anchor="ctr"/>
          <a:lstStyle/>
          <a:p>
            <a:pPr indent="0" marL="0">
              <a:buNone/>
            </a:pPr>
            <a:r>
              <a:rPr lang="en-US" sz="2400" b="1" dirty="0">
                <a:solidFill>
                  <a:schemeClr val="tx1"/>
                </a:solidFill>
              </a:rPr>
              <a:t>Sign in to GitHub and open </a:t>
            </a:r>
            <a:pPr indent="0" marL="0">
              <a:buNone/>
            </a:pPr>
            <a:r>
              <a:rPr lang="en-US" sz="2400" b="1" dirty="0">
                <a:solidFill>
                  <a:schemeClr val="tx1"/>
                </a:solidFill>
                <a:latin typeface="Courier New" pitchFamily="34" charset="0"/>
                <a:ea typeface="Courier New" pitchFamily="34" charset="-122"/>
                <a:cs typeface="Courier New" pitchFamily="34" charset="-120"/>
              </a:rPr>
              <a:t>github.com/kubino148/tasks-app</a:t>
            </a:r>
            <a:pPr indent="0" marL="0">
              <a:buNone/>
            </a:pPr>
            <a:r>
              <a:rPr lang="en-US" sz="2400" b="1" dirty="0">
                <a:solidFill>
                  <a:schemeClr val="tx1"/>
                </a:solidFill>
              </a:rPr>
              <a:t>.</a:t>
            </a:r>
            <a:endParaRPr lang="en-US" sz="2400" dirty="0"/>
          </a:p>
        </p:txBody>
      </p:sp>
      <p:sp>
        <p:nvSpPr>
          <p:cNvPr id="7" name="step 2 circle"/>
          <p:cNvSpPr/>
          <p:nvPr/>
        </p:nvSpPr>
        <p:spPr>
          <a:xfrm>
            <a:off x="548640" y="2734696"/>
            <a:ext cx="457200" cy="457200"/>
          </a:xfrm>
          <a:prstGeom prst="ellipse">
            <a:avLst/>
          </a:prstGeom>
          <a:solidFill>
            <a:schemeClr val="accent1"/>
          </a:solidFill>
          <a:ln/>
        </p:spPr>
      </p:sp>
      <p:sp>
        <p:nvSpPr>
          <p:cNvPr id="8" name="step 2 letter"/>
          <p:cNvSpPr txBox="1"/>
          <p:nvPr/>
        </p:nvSpPr>
        <p:spPr>
          <a:xfrm>
            <a:off x="548640" y="2734696"/>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6"/>
          <p:cNvSpPr txBox="1"/>
          <p:nvPr/>
        </p:nvSpPr>
        <p:spPr>
          <a:xfrm>
            <a:off x="1234440" y="2554651"/>
            <a:ext cx="7360920" cy="817291"/>
          </a:xfrm>
          <a:prstGeom prst="rect">
            <a:avLst/>
          </a:prstGeom>
          <a:noFill/>
          <a:ln/>
        </p:spPr>
        <p:txBody>
          <a:bodyPr wrap="square" lIns="0" tIns="0" rIns="0" bIns="0" rtlCol="0" anchor="ctr"/>
          <a:lstStyle/>
          <a:p>
            <a:pPr indent="0" marL="0">
              <a:buNone/>
            </a:pPr>
            <a:r>
              <a:rPr lang="en-US" sz="2400" b="1" dirty="0">
                <a:solidFill>
                  <a:schemeClr val="tx1"/>
                </a:solidFill>
              </a:rPr>
              <a:t>Use this template, then Create a new repository. Any name, Public.</a:t>
            </a:r>
            <a:endParaRPr lang="en-US" sz="2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bg1"/>
                </a:solidFill>
              </a:rPr>
              <a:t>Your repo</a:t>
            </a:r>
            <a:endParaRPr lang="en-US" sz="3400" dirty="0"/>
          </a:p>
        </p:txBody>
      </p:sp>
      <p:sp>
        <p:nvSpPr>
          <p:cNvPr id="4" name="Text 1"/>
          <p:cNvSpPr txBox="1"/>
          <p:nvPr/>
        </p:nvSpPr>
        <p:spPr>
          <a:xfrm>
            <a:off x="548640" y="1051560"/>
            <a:ext cx="8046720" cy="365760"/>
          </a:xfrm>
          <a:prstGeom prst="rect">
            <a:avLst/>
          </a:prstGeom>
          <a:noFill/>
          <a:ln/>
        </p:spPr>
        <p:txBody>
          <a:bodyPr wrap="square" lIns="0" tIns="0" rIns="0" bIns="0" rtlCol="0" anchor="ctr"/>
          <a:lstStyle/>
          <a:p>
            <a:pPr indent="0" marL="0">
              <a:buNone/>
            </a:pPr>
            <a:r>
              <a:rPr lang="en-US" sz="2000" b="1" dirty="0">
                <a:solidFill>
                  <a:srgbClr val="E3B341"/>
                </a:solidFill>
              </a:rPr>
              <a:t>On github.com:</a:t>
            </a:r>
            <a:endParaRPr lang="en-US" sz="2000" dirty="0"/>
          </a:p>
        </p:txBody>
      </p:sp>
      <p:sp>
        <p:nvSpPr>
          <p:cNvPr id="5" name="step 1 circle"/>
          <p:cNvSpPr/>
          <p:nvPr/>
        </p:nvSpPr>
        <p:spPr>
          <a:xfrm>
            <a:off x="548640" y="1527048"/>
            <a:ext cx="457200" cy="457200"/>
          </a:xfrm>
          <a:prstGeom prst="ellipse">
            <a:avLst/>
          </a:prstGeom>
          <a:solidFill>
            <a:schemeClr val="accent1"/>
          </a:solidFill>
          <a:ln/>
        </p:spPr>
      </p:sp>
      <p:sp>
        <p:nvSpPr>
          <p:cNvPr id="6" name="step 1 letter"/>
          <p:cNvSpPr txBox="1"/>
          <p:nvPr/>
        </p:nvSpPr>
        <p:spPr>
          <a:xfrm>
            <a:off x="548640" y="1527048"/>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4"/>
          <p:cNvSpPr txBox="1"/>
          <p:nvPr/>
        </p:nvSpPr>
        <p:spPr>
          <a:xfrm>
            <a:off x="1234440" y="1508760"/>
            <a:ext cx="7360920" cy="493776"/>
          </a:xfrm>
          <a:prstGeom prst="rect">
            <a:avLst/>
          </a:prstGeom>
          <a:noFill/>
          <a:ln/>
        </p:spPr>
        <p:txBody>
          <a:bodyPr wrap="square" lIns="0" tIns="0" rIns="0" bIns="0" rtlCol="0" anchor="ctr"/>
          <a:lstStyle/>
          <a:p>
            <a:pPr indent="0" marL="0">
              <a:buNone/>
            </a:pPr>
            <a:r>
              <a:rPr lang="en-US" sz="2000" b="1" dirty="0">
                <a:solidFill>
                  <a:schemeClr val="bg1"/>
                </a:solidFill>
              </a:rPr>
              <a:t>Your repo must be Public, as for GitHub Pages.</a:t>
            </a:r>
            <a:endParaRPr lang="en-US" sz="2000" dirty="0"/>
          </a:p>
        </p:txBody>
      </p:sp>
      <p:sp>
        <p:nvSpPr>
          <p:cNvPr id="8" name="step 2 circle"/>
          <p:cNvSpPr/>
          <p:nvPr/>
        </p:nvSpPr>
        <p:spPr>
          <a:xfrm>
            <a:off x="548640" y="2403615"/>
            <a:ext cx="457200" cy="457200"/>
          </a:xfrm>
          <a:prstGeom prst="ellipse">
            <a:avLst/>
          </a:prstGeom>
          <a:solidFill>
            <a:schemeClr val="accent1"/>
          </a:solidFill>
          <a:ln/>
        </p:spPr>
      </p:sp>
      <p:sp>
        <p:nvSpPr>
          <p:cNvPr id="9" name="step 2 letter"/>
          <p:cNvSpPr txBox="1"/>
          <p:nvPr/>
        </p:nvSpPr>
        <p:spPr>
          <a:xfrm>
            <a:off x="548640" y="2403615"/>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7"/>
          <p:cNvSpPr txBox="1"/>
          <p:nvPr/>
        </p:nvSpPr>
        <p:spPr>
          <a:xfrm>
            <a:off x="1234440" y="2130552"/>
            <a:ext cx="7360920" cy="1003325"/>
          </a:xfrm>
          <a:prstGeom prst="rect">
            <a:avLst/>
          </a:prstGeom>
          <a:noFill/>
          <a:ln/>
        </p:spPr>
        <p:txBody>
          <a:bodyPr wrap="square" lIns="0" tIns="0" rIns="0" bIns="0" rtlCol="0" anchor="ctr"/>
          <a:lstStyle/>
          <a:p>
            <a:pPr indent="0" marL="0">
              <a:buNone/>
            </a:pPr>
            <a:r>
              <a:rPr lang="en-US" sz="2000" b="1" dirty="0">
                <a:solidFill>
                  <a:schemeClr val="bg1"/>
                </a:solidFill>
              </a:rPr>
              <a:t>Replace all of </a:t>
            </a:r>
            <a:pPr indent="0" marL="0">
              <a:buNone/>
            </a:pPr>
            <a:r>
              <a:rPr lang="en-US" sz="2000" b="1" dirty="0">
                <a:solidFill>
                  <a:schemeClr val="bg1"/>
                </a:solidFill>
                <a:latin typeface="Courier New" pitchFamily="34" charset="0"/>
                <a:ea typeface="Courier New" pitchFamily="34" charset="-122"/>
                <a:cs typeface="Courier New" pitchFamily="34" charset="-120"/>
              </a:rPr>
              <a:t>.github/workflows/ci.yml</a:t>
            </a:r>
            <a:pPr indent="0" marL="0">
              <a:buNone/>
            </a:pPr>
            <a:r>
              <a:rPr lang="en-US" sz="2000" b="1" dirty="0">
                <a:solidFill>
                  <a:schemeClr val="bg1"/>
                </a:solidFill>
              </a:rPr>
              <a:t> with the text of </a:t>
            </a:r>
            <a:pPr indent="0" marL="0">
              <a:buNone/>
            </a:pPr>
            <a:r>
              <a:rPr lang="en-US" sz="2000" b="1" dirty="0">
                <a:solidFill>
                  <a:schemeClr val="bg1"/>
                </a:solidFill>
                <a:latin typeface="Courier New" pitchFamily="34" charset="0"/>
                <a:ea typeface="Courier New" pitchFamily="34" charset="-122"/>
                <a:cs typeface="Courier New" pitchFamily="34" charset="-120"/>
              </a:rPr>
              <a:t>ci.yml</a:t>
            </a:r>
            <a:pPr indent="0" marL="0">
              <a:buNone/>
            </a:pPr>
            <a:r>
              <a:rPr lang="en-US" sz="2000" b="1" dirty="0">
                <a:solidFill>
                  <a:schemeClr val="bg1"/>
                </a:solidFill>
              </a:rPr>
              <a:t> from </a:t>
            </a:r>
            <a:pPr indent="0" marL="0">
              <a:buNone/>
            </a:pPr>
            <a:r>
              <a:rPr lang="en-US" sz="2000" b="1" dirty="0">
                <a:solidFill>
                  <a:schemeClr val="bg1"/>
                </a:solidFill>
                <a:latin typeface="Courier New" pitchFamily="34" charset="0"/>
                <a:ea typeface="Courier New" pitchFamily="34" charset="-122"/>
                <a:cs typeface="Courier New" pitchFamily="34" charset="-120"/>
              </a:rPr>
              <a:t>kubino148/tasks-app-reference</a:t>
            </a:r>
            <a:pPr indent="0" marL="0">
              <a:buNone/>
            </a:pPr>
            <a:r>
              <a:rPr lang="en-US" sz="2000" b="1" dirty="0">
                <a:solidFill>
                  <a:schemeClr val="bg1"/>
                </a:solidFill>
              </a:rPr>
              <a:t>. Commit to </a:t>
            </a:r>
            <a:pPr indent="0" marL="0">
              <a:buNone/>
            </a:pPr>
            <a:r>
              <a:rPr lang="en-US" sz="2000" b="1" dirty="0">
                <a:solidFill>
                  <a:schemeClr val="bg1"/>
                </a:solidFill>
                <a:latin typeface="Courier New" pitchFamily="34" charset="0"/>
                <a:ea typeface="Courier New" pitchFamily="34" charset="-122"/>
                <a:cs typeface="Courier New" pitchFamily="34" charset="-120"/>
              </a:rPr>
              <a:t>main</a:t>
            </a:r>
            <a:pPr indent="0" marL="0">
              <a:buNone/>
            </a:pPr>
            <a:r>
              <a:rPr lang="en-US" sz="2000" b="1" dirty="0">
                <a:solidFill>
                  <a:schemeClr val="bg1"/>
                </a:solidFill>
              </a:rPr>
              <a:t>.</a:t>
            </a:r>
            <a:endParaRPr lang="en-US" sz="2000" dirty="0"/>
          </a:p>
        </p:txBody>
      </p:sp>
      <p:sp>
        <p:nvSpPr>
          <p:cNvPr id="11" name="step 3 circle"/>
          <p:cNvSpPr/>
          <p:nvPr/>
        </p:nvSpPr>
        <p:spPr>
          <a:xfrm>
            <a:off x="548640" y="3280181"/>
            <a:ext cx="457200" cy="457200"/>
          </a:xfrm>
          <a:prstGeom prst="ellipse">
            <a:avLst/>
          </a:prstGeom>
          <a:solidFill>
            <a:schemeClr val="accent1"/>
          </a:solidFill>
          <a:ln/>
        </p:spPr>
      </p:sp>
      <p:sp>
        <p:nvSpPr>
          <p:cNvPr id="12" name="step 3 letter"/>
          <p:cNvSpPr txBox="1"/>
          <p:nvPr/>
        </p:nvSpPr>
        <p:spPr>
          <a:xfrm>
            <a:off x="548640" y="3280181"/>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0"/>
          <p:cNvSpPr txBox="1"/>
          <p:nvPr/>
        </p:nvSpPr>
        <p:spPr>
          <a:xfrm>
            <a:off x="1234440" y="3261893"/>
            <a:ext cx="7360920" cy="493776"/>
          </a:xfrm>
          <a:prstGeom prst="rect">
            <a:avLst/>
          </a:prstGeom>
          <a:noFill/>
          <a:ln/>
        </p:spPr>
        <p:txBody>
          <a:bodyPr wrap="square" lIns="0" tIns="0" rIns="0" bIns="0" rtlCol="0" anchor="ctr"/>
          <a:lstStyle/>
          <a:p>
            <a:pPr indent="0" marL="0">
              <a:buNone/>
            </a:pPr>
            <a:r>
              <a:rPr lang="en-US" sz="2000" b="1" dirty="0">
                <a:solidFill>
                  <a:schemeClr val="bg1"/>
                </a:solidFill>
              </a:rPr>
              <a:t>Delete every other file in </a:t>
            </a:r>
            <a:pPr indent="0" marL="0">
              <a:buNone/>
            </a:pPr>
            <a:r>
              <a:rPr lang="en-US" sz="2000" b="1" dirty="0">
                <a:solidFill>
                  <a:schemeClr val="bg1"/>
                </a:solidFill>
                <a:latin typeface="Courier New" pitchFamily="34" charset="0"/>
                <a:ea typeface="Courier New" pitchFamily="34" charset="-122"/>
                <a:cs typeface="Courier New" pitchFamily="34" charset="-120"/>
              </a:rPr>
              <a:t>.github/workflows</a:t>
            </a:r>
            <a:pPr indent="0" marL="0">
              <a:buNone/>
            </a:pPr>
            <a:r>
              <a:rPr lang="en-US" sz="2000" b="1" dirty="0">
                <a:solidFill>
                  <a:schemeClr val="bg1"/>
                </a:solidFill>
              </a:rPr>
              <a:t>.</a:t>
            </a:r>
            <a:endParaRPr lang="en-US" sz="2000" dirty="0"/>
          </a:p>
        </p:txBody>
      </p:sp>
      <p:sp>
        <p:nvSpPr>
          <p:cNvPr id="14" name="step 4 circle"/>
          <p:cNvSpPr/>
          <p:nvPr/>
        </p:nvSpPr>
        <p:spPr>
          <a:xfrm>
            <a:off x="548640" y="4001719"/>
            <a:ext cx="457200" cy="457200"/>
          </a:xfrm>
          <a:prstGeom prst="ellipse">
            <a:avLst/>
          </a:prstGeom>
          <a:solidFill>
            <a:schemeClr val="accent1"/>
          </a:solidFill>
          <a:ln/>
        </p:spPr>
      </p:sp>
      <p:sp>
        <p:nvSpPr>
          <p:cNvPr id="15" name="step 4 letter"/>
          <p:cNvSpPr txBox="1"/>
          <p:nvPr/>
        </p:nvSpPr>
        <p:spPr>
          <a:xfrm>
            <a:off x="548640" y="4001719"/>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6" name="Text 13"/>
          <p:cNvSpPr txBox="1"/>
          <p:nvPr/>
        </p:nvSpPr>
        <p:spPr>
          <a:xfrm>
            <a:off x="1234440" y="3883685"/>
            <a:ext cx="7360920" cy="693268"/>
          </a:xfrm>
          <a:prstGeom prst="rect">
            <a:avLst/>
          </a:prstGeom>
          <a:noFill/>
          <a:ln/>
        </p:spPr>
        <p:txBody>
          <a:bodyPr wrap="square" lIns="0" tIns="0" rIns="0" bIns="0" rtlCol="0" anchor="ctr"/>
          <a:lstStyle/>
          <a:p>
            <a:pPr indent="0" marL="0">
              <a:buNone/>
            </a:pPr>
            <a:r>
              <a:rPr lang="en-US" sz="2000" b="1" dirty="0">
                <a:solidFill>
                  <a:schemeClr val="bg1"/>
                </a:solidFill>
              </a:rPr>
              <a:t>Settings &gt; Environments &gt; github-pages &gt; Deployment branches and tags: add the rule </a:t>
            </a:r>
            <a:pPr indent="0" marL="0">
              <a:buNone/>
            </a:pPr>
            <a:r>
              <a:rPr lang="en-US" sz="2000" b="1" dirty="0">
                <a:solidFill>
                  <a:schemeClr val="bg1"/>
                </a:solidFill>
                <a:latin typeface="Courier New" pitchFamily="34" charset="0"/>
                <a:ea typeface="Courier New" pitchFamily="34" charset="-122"/>
                <a:cs typeface="Courier New" pitchFamily="34" charset="-120"/>
              </a:rPr>
              <a:t>refs/pull/*/merge</a:t>
            </a:r>
            <a:pPr indent="0" marL="0">
              <a:buNone/>
            </a:pPr>
            <a:r>
              <a:rPr lang="en-US" sz="2000" b="1" dirty="0">
                <a:solidFill>
                  <a:schemeClr val="bg1"/>
                </a:solidFill>
              </a:rPr>
              <a:t>.</a:t>
            </a:r>
            <a:endParaRPr lang="en-US" sz="2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Is Docker there?</a:t>
            </a:r>
            <a:endParaRPr lang="en-US" sz="3400" dirty="0"/>
          </a:p>
        </p:txBody>
      </p:sp>
      <p:sp>
        <p:nvSpPr>
          <p:cNvPr id="4" name="step 1 circle"/>
          <p:cNvSpPr/>
          <p:nvPr/>
        </p:nvSpPr>
        <p:spPr>
          <a:xfrm>
            <a:off x="548640" y="1207008"/>
            <a:ext cx="457200" cy="457200"/>
          </a:xfrm>
          <a:prstGeom prst="ellipse">
            <a:avLst/>
          </a:prstGeom>
          <a:solidFill>
            <a:schemeClr val="accent1"/>
          </a:solidFill>
          <a:ln/>
        </p:spPr>
      </p:sp>
      <p:sp>
        <p:nvSpPr>
          <p:cNvPr id="5" name="step 1 letter"/>
          <p:cNvSpPr txBox="1"/>
          <p:nvPr/>
        </p:nvSpPr>
        <p:spPr>
          <a:xfrm>
            <a:off x="548640" y="1207008"/>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234440" y="1188720"/>
            <a:ext cx="7360920" cy="493776"/>
          </a:xfrm>
          <a:prstGeom prst="rect">
            <a:avLst/>
          </a:prstGeom>
          <a:noFill/>
          <a:ln/>
        </p:spPr>
        <p:txBody>
          <a:bodyPr wrap="square" lIns="0" tIns="0" rIns="0" bIns="0" rtlCol="0" anchor="ctr"/>
          <a:lstStyle/>
          <a:p>
            <a:pPr indent="0" marL="0">
              <a:buNone/>
            </a:pPr>
            <a:r>
              <a:rPr lang="en-US" sz="2400" b="1" dirty="0">
                <a:solidFill>
                  <a:srgbClr val="000000"/>
                </a:solidFill>
              </a:rPr>
              <a:t>Open your Codespace on </a:t>
            </a:r>
            <a:pPr indent="0" marL="0">
              <a:buNone/>
            </a:pPr>
            <a:r>
              <a:rPr lang="en-US" sz="2400" b="1" dirty="0">
                <a:solidFill>
                  <a:srgbClr val="000000"/>
                </a:solidFill>
                <a:latin typeface="Courier New" pitchFamily="34" charset="0"/>
                <a:ea typeface="Courier New" pitchFamily="34" charset="-122"/>
                <a:cs typeface="Courier New" pitchFamily="34" charset="-120"/>
              </a:rPr>
              <a:t>main</a:t>
            </a:r>
            <a:endParaRPr lang="en-US" sz="2400" dirty="0"/>
          </a:p>
        </p:txBody>
      </p:sp>
      <p:sp>
        <p:nvSpPr>
          <p:cNvPr id="7" name="step 2 circle"/>
          <p:cNvSpPr/>
          <p:nvPr/>
        </p:nvSpPr>
        <p:spPr>
          <a:xfrm>
            <a:off x="548640" y="2231136"/>
            <a:ext cx="457200" cy="457200"/>
          </a:xfrm>
          <a:prstGeom prst="ellipse">
            <a:avLst/>
          </a:prstGeom>
          <a:solidFill>
            <a:schemeClr val="accent1"/>
          </a:solidFill>
          <a:ln/>
        </p:spPr>
      </p:sp>
      <p:sp>
        <p:nvSpPr>
          <p:cNvPr id="8" name="step 2 letter"/>
          <p:cNvSpPr txBox="1"/>
          <p:nvPr/>
        </p:nvSpPr>
        <p:spPr>
          <a:xfrm>
            <a:off x="548640" y="2231136"/>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6"/>
          <p:cNvSpPr txBox="1"/>
          <p:nvPr/>
        </p:nvSpPr>
        <p:spPr>
          <a:xfrm>
            <a:off x="1234440" y="1865376"/>
            <a:ext cx="7360920" cy="274320"/>
          </a:xfrm>
          <a:prstGeom prst="rect">
            <a:avLst/>
          </a:prstGeom>
          <a:noFill/>
          <a:ln/>
        </p:spPr>
        <p:txBody>
          <a:bodyPr wrap="square" lIns="0" tIns="0" rIns="0" bIns="0" rtlCol="0" anchor="ctr"/>
          <a:lstStyle/>
          <a:p>
            <a:pPr indent="0" marL="0">
              <a:buNone/>
            </a:pPr>
            <a:r>
              <a:rPr lang="en-US" sz="1600" b="1" dirty="0">
                <a:solidFill>
                  <a:schemeClr val="accent6"/>
                </a:solidFill>
              </a:rPr>
              <a:t>Run:</a:t>
            </a:r>
            <a:endParaRPr lang="en-US" sz="1600" dirty="0"/>
          </a:p>
        </p:txBody>
      </p:sp>
      <p:sp>
        <p:nvSpPr>
          <p:cNvPr id="10" name="command 2"/>
          <p:cNvSpPr/>
          <p:nvPr/>
        </p:nvSpPr>
        <p:spPr>
          <a:xfrm>
            <a:off x="1234440" y="2176272"/>
            <a:ext cx="7360920" cy="566928"/>
          </a:xfrm>
          <a:prstGeom prst="roundRect">
            <a:avLst>
              <a:gd name="adj" fmla="val 12903"/>
            </a:avLst>
          </a:prstGeom>
          <a:solidFill>
            <a:schemeClr val="tx1"/>
          </a:solidFill>
          <a:ln/>
        </p:spPr>
      </p:sp>
      <p:sp>
        <p:nvSpPr>
          <p:cNvPr id="11" name="code"/>
          <p:cNvSpPr txBox="1"/>
          <p:nvPr/>
        </p:nvSpPr>
        <p:spPr>
          <a:xfrm>
            <a:off x="1399032" y="2258568"/>
            <a:ext cx="7031736" cy="402336"/>
          </a:xfrm>
          <a:prstGeom prst="rect">
            <a:avLst/>
          </a:prstGeom>
          <a:noFill/>
          <a:ln/>
        </p:spPr>
        <p:txBody>
          <a:bodyPr wrap="square" lIns="0" tIns="0" rIns="0" bIns="0" rtlCol="0" anchor="ctr"/>
          <a:lstStyle/>
          <a:p>
            <a:pPr indent="0" marL="0">
              <a:lnSpc>
                <a:spcPts val="2400"/>
              </a:lnSpc>
              <a:buNone/>
            </a:pPr>
            <a:r>
              <a:rPr lang="en-US" sz="2000" dirty="0">
                <a:solidFill>
                  <a:schemeClr val="bg2"/>
                </a:solidFill>
                <a:latin typeface="Courier New" pitchFamily="34" charset="0"/>
                <a:ea typeface="Courier New" pitchFamily="34" charset="-122"/>
                <a:cs typeface="Courier New" pitchFamily="34" charset="-120"/>
              </a:rPr>
              <a:t>docker version</a:t>
            </a:r>
            <a:endParaRPr lang="en-US" sz="2000" dirty="0"/>
          </a:p>
        </p:txBody>
      </p:sp>
      <p:sp>
        <p:nvSpPr>
          <p:cNvPr id="12" name="step 3 circle"/>
          <p:cNvSpPr/>
          <p:nvPr/>
        </p:nvSpPr>
        <p:spPr>
          <a:xfrm>
            <a:off x="548640" y="2944368"/>
            <a:ext cx="457200" cy="457200"/>
          </a:xfrm>
          <a:prstGeom prst="ellipse">
            <a:avLst/>
          </a:prstGeom>
          <a:solidFill>
            <a:schemeClr val="accent1"/>
          </a:solidFill>
          <a:ln/>
        </p:spPr>
      </p:sp>
      <p:sp>
        <p:nvSpPr>
          <p:cNvPr id="13" name="step 3 letter"/>
          <p:cNvSpPr txBox="1"/>
          <p:nvPr/>
        </p:nvSpPr>
        <p:spPr>
          <a:xfrm>
            <a:off x="548640" y="2944368"/>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1"/>
          <p:cNvSpPr txBox="1"/>
          <p:nvPr/>
        </p:nvSpPr>
        <p:spPr>
          <a:xfrm>
            <a:off x="1234440" y="2926080"/>
            <a:ext cx="7360920" cy="493776"/>
          </a:xfrm>
          <a:prstGeom prst="rect">
            <a:avLst/>
          </a:prstGeom>
          <a:noFill/>
          <a:ln/>
        </p:spPr>
        <p:txBody>
          <a:bodyPr wrap="square" lIns="0" tIns="0" rIns="0" bIns="0" rtlCol="0" anchor="ctr"/>
          <a:lstStyle/>
          <a:p>
            <a:pPr indent="0" marL="0">
              <a:buNone/>
            </a:pPr>
            <a:r>
              <a:rPr lang="en-US" sz="2400" b="1" dirty="0">
                <a:solidFill>
                  <a:srgbClr val="000000"/>
                </a:solidFill>
              </a:rPr>
              <a:t>Do you see Client and Server?</a:t>
            </a:r>
            <a:endParaRPr lang="en-US" sz="2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It runs on my machine</a:t>
            </a:r>
            <a:endParaRPr lang="en-US" sz="3400" dirty="0"/>
          </a:p>
        </p:txBody>
      </p:sp>
      <p:sp>
        <p:nvSpPr>
          <p:cNvPr id="4" name="Text 1"/>
          <p:cNvSpPr txBox="1"/>
          <p:nvPr/>
        </p:nvSpPr>
        <p:spPr>
          <a:xfrm>
            <a:off x="548640" y="1097280"/>
            <a:ext cx="8046720" cy="731520"/>
          </a:xfrm>
          <a:prstGeom prst="rect">
            <a:avLst/>
          </a:prstGeom>
          <a:noFill/>
          <a:ln/>
        </p:spPr>
        <p:txBody>
          <a:bodyPr wrap="square" lIns="0" tIns="0" rIns="0" bIns="0" rtlCol="0" anchor="ctr"/>
          <a:lstStyle/>
          <a:p>
            <a:pPr indent="0" marL="0">
              <a:buNone/>
            </a:pPr>
            <a:r>
              <a:rPr lang="en-US" sz="3200" b="1" dirty="0">
                <a:solidFill>
                  <a:schemeClr val="tx1"/>
                </a:solidFill>
              </a:rPr>
              <a:t>Same code, another machine.</a:t>
            </a:r>
            <a:endParaRPr lang="en-US" sz="3200" dirty="0"/>
          </a:p>
        </p:txBody>
      </p:sp>
      <p:sp>
        <p:nvSpPr>
          <p:cNvPr id="5" name="difference 1"/>
          <p:cNvSpPr/>
          <p:nvPr/>
        </p:nvSpPr>
        <p:spPr>
          <a:xfrm>
            <a:off x="548640" y="2103120"/>
            <a:ext cx="3931920" cy="1143000"/>
          </a:xfrm>
          <a:prstGeom prst="roundRect">
            <a:avLst>
              <a:gd name="adj" fmla="val 640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731520" y="2103120"/>
            <a:ext cx="3566160" cy="1143000"/>
          </a:xfrm>
          <a:prstGeom prst="rect">
            <a:avLst/>
          </a:prstGeom>
          <a:noFill/>
          <a:ln/>
        </p:spPr>
        <p:txBody>
          <a:bodyPr wrap="square" lIns="0" tIns="0" rIns="0" bIns="0" rtlCol="0" anchor="ctr"/>
          <a:lstStyle/>
          <a:p>
            <a:pPr algn="ctr" indent="0" marL="0">
              <a:buNone/>
            </a:pPr>
            <a:r>
              <a:rPr lang="en-US" sz="2400" b="1" dirty="0">
                <a:solidFill>
                  <a:schemeClr val="tx1"/>
                </a:solidFill>
              </a:rPr>
              <a:t>Different operating system.</a:t>
            </a:r>
            <a:endParaRPr lang="en-US" sz="2400" dirty="0"/>
          </a:p>
        </p:txBody>
      </p:sp>
      <p:sp>
        <p:nvSpPr>
          <p:cNvPr id="7" name="difference 2"/>
          <p:cNvSpPr/>
          <p:nvPr/>
        </p:nvSpPr>
        <p:spPr>
          <a:xfrm>
            <a:off x="4663440" y="2103120"/>
            <a:ext cx="3931920" cy="1143000"/>
          </a:xfrm>
          <a:prstGeom prst="roundRect">
            <a:avLst>
              <a:gd name="adj" fmla="val 640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4846320" y="2103120"/>
            <a:ext cx="3566160" cy="1143000"/>
          </a:xfrm>
          <a:prstGeom prst="rect">
            <a:avLst/>
          </a:prstGeom>
          <a:noFill/>
          <a:ln/>
        </p:spPr>
        <p:txBody>
          <a:bodyPr wrap="square" lIns="0" tIns="0" rIns="0" bIns="0" rtlCol="0" anchor="ctr"/>
          <a:lstStyle/>
          <a:p>
            <a:pPr algn="ctr" indent="0" marL="0">
              <a:buNone/>
            </a:pPr>
            <a:r>
              <a:rPr lang="en-US" sz="2400" b="1" dirty="0">
                <a:solidFill>
                  <a:schemeClr val="tx1"/>
                </a:solidFill>
              </a:rPr>
              <a:t>Different versions.</a:t>
            </a:r>
            <a:endParaRPr lang="en-US" sz="2400" dirty="0"/>
          </a:p>
        </p:txBody>
      </p:sp>
      <p:sp>
        <p:nvSpPr>
          <p:cNvPr id="9" name="difference 3"/>
          <p:cNvSpPr/>
          <p:nvPr/>
        </p:nvSpPr>
        <p:spPr>
          <a:xfrm>
            <a:off x="548640" y="3429000"/>
            <a:ext cx="3931920" cy="1143000"/>
          </a:xfrm>
          <a:prstGeom prst="roundRect">
            <a:avLst>
              <a:gd name="adj" fmla="val 640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731520" y="3429000"/>
            <a:ext cx="3566160" cy="1143000"/>
          </a:xfrm>
          <a:prstGeom prst="rect">
            <a:avLst/>
          </a:prstGeom>
          <a:noFill/>
          <a:ln/>
        </p:spPr>
        <p:txBody>
          <a:bodyPr wrap="square" lIns="0" tIns="0" rIns="0" bIns="0" rtlCol="0" anchor="ctr"/>
          <a:lstStyle/>
          <a:p>
            <a:pPr algn="ctr" indent="0" marL="0">
              <a:buNone/>
            </a:pPr>
            <a:r>
              <a:rPr lang="en-US" sz="2400" b="1" dirty="0">
                <a:solidFill>
                  <a:schemeClr val="tx1"/>
                </a:solidFill>
              </a:rPr>
              <a:t>Different libraries.</a:t>
            </a:r>
            <a:endParaRPr lang="en-US" sz="2400" dirty="0"/>
          </a:p>
        </p:txBody>
      </p:sp>
      <p:sp>
        <p:nvSpPr>
          <p:cNvPr id="11" name="difference 4"/>
          <p:cNvSpPr/>
          <p:nvPr/>
        </p:nvSpPr>
        <p:spPr>
          <a:xfrm>
            <a:off x="4663440" y="3429000"/>
            <a:ext cx="3931920" cy="1143000"/>
          </a:xfrm>
          <a:prstGeom prst="roundRect">
            <a:avLst>
              <a:gd name="adj" fmla="val 640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4846320" y="3429000"/>
            <a:ext cx="3566160" cy="1143000"/>
          </a:xfrm>
          <a:prstGeom prst="rect">
            <a:avLst/>
          </a:prstGeom>
          <a:noFill/>
          <a:ln/>
        </p:spPr>
        <p:txBody>
          <a:bodyPr wrap="square" lIns="0" tIns="0" rIns="0" bIns="0" rtlCol="0" anchor="ctr"/>
          <a:lstStyle/>
          <a:p>
            <a:pPr algn="ctr" indent="0" marL="0">
              <a:buNone/>
            </a:pPr>
            <a:r>
              <a:rPr lang="en-US" sz="2400" b="1" dirty="0">
                <a:solidFill>
                  <a:schemeClr val="tx1"/>
                </a:solidFill>
              </a:rPr>
              <a:t>Different settings.</a:t>
            </a:r>
            <a:endParaRPr lang="en-US" sz="2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Even Linux differs</a:t>
            </a:r>
            <a:endParaRPr lang="en-US" sz="3400" dirty="0"/>
          </a:p>
        </p:txBody>
      </p:sp>
      <p:sp>
        <p:nvSpPr>
          <p:cNvPr id="4" name="Text 1"/>
          <p:cNvSpPr txBox="1"/>
          <p:nvPr/>
        </p:nvSpPr>
        <p:spPr>
          <a:xfrm>
            <a:off x="548640" y="1097280"/>
            <a:ext cx="8046720" cy="640080"/>
          </a:xfrm>
          <a:prstGeom prst="rect">
            <a:avLst/>
          </a:prstGeom>
          <a:noFill/>
          <a:ln/>
        </p:spPr>
        <p:txBody>
          <a:bodyPr wrap="square" lIns="0" tIns="0" rIns="0" bIns="0" rtlCol="0" anchor="ctr"/>
          <a:lstStyle/>
          <a:p>
            <a:pPr indent="0" marL="0">
              <a:buNone/>
            </a:pPr>
            <a:r>
              <a:rPr lang="en-US" sz="3200" b="1" dirty="0">
                <a:solidFill>
                  <a:schemeClr val="tx1"/>
                </a:solidFill>
              </a:rPr>
              <a:t>Linux is not one thing.</a:t>
            </a:r>
            <a:endParaRPr lang="en-US" sz="3200" dirty="0"/>
          </a:p>
        </p:txBody>
      </p:sp>
      <p:sp>
        <p:nvSpPr>
          <p:cNvPr id="5" name="Text 2"/>
          <p:cNvSpPr txBox="1"/>
          <p:nvPr/>
        </p:nvSpPr>
        <p:spPr>
          <a:xfrm>
            <a:off x="548640" y="1828800"/>
            <a:ext cx="8046720" cy="411480"/>
          </a:xfrm>
          <a:prstGeom prst="rect">
            <a:avLst/>
          </a:prstGeom>
          <a:noFill/>
          <a:ln/>
        </p:spPr>
        <p:txBody>
          <a:bodyPr wrap="square" lIns="0" tIns="0" rIns="0" bIns="0" rtlCol="0" anchor="ctr"/>
          <a:lstStyle/>
          <a:p>
            <a:pPr indent="0" marL="0">
              <a:buNone/>
            </a:pPr>
            <a:r>
              <a:rPr lang="en-US" sz="2200" b="1" dirty="0">
                <a:solidFill>
                  <a:schemeClr val="accent6"/>
                </a:solidFill>
              </a:rPr>
              <a:t>Distributions differ:</a:t>
            </a:r>
            <a:endParaRPr lang="en-US" sz="2200" dirty="0"/>
          </a:p>
        </p:txBody>
      </p:sp>
      <p:sp>
        <p:nvSpPr>
          <p:cNvPr id="6" name="pair 1"/>
          <p:cNvSpPr/>
          <p:nvPr/>
        </p:nvSpPr>
        <p:spPr>
          <a:xfrm>
            <a:off x="548640" y="2331720"/>
            <a:ext cx="3931920" cy="1005840"/>
          </a:xfrm>
          <a:prstGeom prst="roundRect">
            <a:avLst>
              <a:gd name="adj" fmla="val 7273"/>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548640" y="2331720"/>
            <a:ext cx="3931920" cy="1005840"/>
          </a:xfrm>
          <a:prstGeom prst="rect">
            <a:avLst/>
          </a:prstGeom>
          <a:noFill/>
          <a:ln/>
        </p:spPr>
        <p:txBody>
          <a:bodyPr wrap="square" lIns="0" tIns="0" rIns="0" bIns="0" rtlCol="0" anchor="ctr"/>
          <a:lstStyle/>
          <a:p>
            <a:pPr algn="ctr" indent="0" marL="0">
              <a:buNone/>
            </a:pPr>
            <a:r>
              <a:rPr lang="en-US" sz="2800" b="1" dirty="0">
                <a:solidFill>
                  <a:schemeClr val="tx1"/>
                </a:solidFill>
                <a:latin typeface="Courier New" pitchFamily="34" charset="0"/>
                <a:ea typeface="Courier New" pitchFamily="34" charset="-122"/>
                <a:cs typeface="Courier New" pitchFamily="34" charset="-120"/>
              </a:rPr>
              <a:t>apt</a:t>
            </a:r>
            <a:pPr algn="ctr" indent="0" marL="0">
              <a:buNone/>
            </a:pPr>
            <a:r>
              <a:rPr lang="en-US" sz="2800" b="1" dirty="0">
                <a:solidFill>
                  <a:schemeClr val="tx1"/>
                </a:solidFill>
              </a:rPr>
              <a:t> or </a:t>
            </a:r>
            <a:pPr algn="ctr" indent="0" marL="0">
              <a:buNone/>
            </a:pPr>
            <a:r>
              <a:rPr lang="en-US" sz="2800" b="1" dirty="0">
                <a:solidFill>
                  <a:schemeClr val="tx1"/>
                </a:solidFill>
                <a:latin typeface="Courier New" pitchFamily="34" charset="0"/>
                <a:ea typeface="Courier New" pitchFamily="34" charset="-122"/>
                <a:cs typeface="Courier New" pitchFamily="34" charset="-120"/>
              </a:rPr>
              <a:t>apk</a:t>
            </a:r>
            <a:endParaRPr lang="en-US" sz="2800" dirty="0"/>
          </a:p>
        </p:txBody>
      </p:sp>
      <p:sp>
        <p:nvSpPr>
          <p:cNvPr id="8" name="pair 2"/>
          <p:cNvSpPr/>
          <p:nvPr/>
        </p:nvSpPr>
        <p:spPr>
          <a:xfrm>
            <a:off x="4663440" y="2331720"/>
            <a:ext cx="3931920" cy="1005840"/>
          </a:xfrm>
          <a:prstGeom prst="roundRect">
            <a:avLst>
              <a:gd name="adj" fmla="val 7273"/>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663440" y="2331720"/>
            <a:ext cx="3931920" cy="1005840"/>
          </a:xfrm>
          <a:prstGeom prst="rect">
            <a:avLst/>
          </a:prstGeom>
          <a:noFill/>
          <a:ln/>
        </p:spPr>
        <p:txBody>
          <a:bodyPr wrap="square" lIns="0" tIns="0" rIns="0" bIns="0" rtlCol="0" anchor="ctr"/>
          <a:lstStyle/>
          <a:p>
            <a:pPr algn="ctr" indent="0" marL="0">
              <a:buNone/>
            </a:pPr>
            <a:r>
              <a:rPr lang="en-US" sz="2800" b="1" dirty="0">
                <a:solidFill>
                  <a:schemeClr val="tx1"/>
                </a:solidFill>
                <a:latin typeface="Courier New" pitchFamily="34" charset="0"/>
                <a:ea typeface="Courier New" pitchFamily="34" charset="-122"/>
                <a:cs typeface="Courier New" pitchFamily="34" charset="-120"/>
              </a:rPr>
              <a:t>glibc</a:t>
            </a:r>
            <a:pPr algn="ctr" indent="0" marL="0">
              <a:buNone/>
            </a:pPr>
            <a:r>
              <a:rPr lang="en-US" sz="2800" b="1" dirty="0">
                <a:solidFill>
                  <a:schemeClr val="tx1"/>
                </a:solidFill>
              </a:rPr>
              <a:t> or </a:t>
            </a:r>
            <a:pPr algn="ctr" indent="0" marL="0">
              <a:buNone/>
            </a:pPr>
            <a:r>
              <a:rPr lang="en-US" sz="2800" b="1" dirty="0">
                <a:solidFill>
                  <a:schemeClr val="tx1"/>
                </a:solidFill>
                <a:latin typeface="Courier New" pitchFamily="34" charset="0"/>
                <a:ea typeface="Courier New" pitchFamily="34" charset="-122"/>
                <a:cs typeface="Courier New" pitchFamily="34" charset="-120"/>
              </a:rPr>
              <a:t>musl</a:t>
            </a:r>
            <a:endParaRPr lang="en-US" sz="2800" dirty="0"/>
          </a:p>
        </p:txBody>
      </p:sp>
      <p:sp>
        <p:nvSpPr>
          <p:cNvPr id="10" name="Text 7"/>
          <p:cNvSpPr txBox="1"/>
          <p:nvPr/>
        </p:nvSpPr>
        <p:spPr>
          <a:xfrm>
            <a:off x="548640" y="3611880"/>
            <a:ext cx="8046720" cy="640080"/>
          </a:xfrm>
          <a:prstGeom prst="rect">
            <a:avLst/>
          </a:prstGeom>
          <a:noFill/>
          <a:ln/>
        </p:spPr>
        <p:txBody>
          <a:bodyPr wrap="square" lIns="0" tIns="0" rIns="0" bIns="0" rtlCol="0" anchor="ctr"/>
          <a:lstStyle/>
          <a:p>
            <a:pPr indent="0" marL="0">
              <a:buNone/>
            </a:pPr>
            <a:r>
              <a:rPr lang="en-US" sz="2600" b="1" dirty="0">
                <a:solidFill>
                  <a:schemeClr val="tx1"/>
                </a:solidFill>
              </a:rPr>
              <a:t>Other versions, other libraries, other paths.</a:t>
            </a:r>
            <a:endParaRPr lang="en-US" sz="26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Image</a:t>
            </a:r>
            <a:endParaRPr lang="en-US" sz="3400" dirty="0"/>
          </a:p>
        </p:txBody>
      </p:sp>
      <p:sp>
        <p:nvSpPr>
          <p:cNvPr id="4" name="Image circle"/>
          <p:cNvSpPr/>
          <p:nvPr/>
        </p:nvSpPr>
        <p:spPr>
          <a:xfrm>
            <a:off x="548640" y="1600200"/>
            <a:ext cx="1463040" cy="1463040"/>
          </a:xfrm>
          <a:prstGeom prst="ellipse">
            <a:avLst/>
          </a:prstGeom>
          <a:solidFill>
            <a:srgbClr val="1A7F37"/>
          </a:solidFill>
          <a:ln/>
        </p:spPr>
      </p:sp>
      <p:pic>
        <p:nvPicPr>
          <p:cNvPr id="5" name="Image image" descr="FaBox">    </p:cNvPr>
          <p:cNvPicPr>
            <a:picLocks noChangeAspect="1"/>
          </p:cNvPicPr>
          <p:nvPr/>
        </p:nvPicPr>
        <p:blipFill>
          <a:blip r:embed="rId1"/>
          <a:stretch>
            <a:fillRect/>
          </a:stretch>
        </p:blipFill>
        <p:spPr>
          <a:xfrm>
            <a:off x="914400" y="1965960"/>
            <a:ext cx="731520" cy="731520"/>
          </a:xfrm>
          <a:prstGeom prst="rect">
            <a:avLst/>
          </a:prstGeom>
        </p:spPr>
      </p:pic>
      <p:sp>
        <p:nvSpPr>
          <p:cNvPr id="6" name="Text 2"/>
          <p:cNvSpPr txBox="1"/>
          <p:nvPr/>
        </p:nvSpPr>
        <p:spPr>
          <a:xfrm>
            <a:off x="2377440" y="1280160"/>
            <a:ext cx="6217920" cy="2377440"/>
          </a:xfrm>
          <a:prstGeom prst="rect">
            <a:avLst/>
          </a:prstGeom>
          <a:noFill/>
          <a:ln/>
        </p:spPr>
        <p:txBody>
          <a:bodyPr wrap="square" lIns="0" tIns="0" rIns="0" bIns="0" rtlCol="0" anchor="ctr"/>
          <a:lstStyle/>
          <a:p>
            <a:pPr indent="0" marL="0">
              <a:buNone/>
            </a:pPr>
            <a:r>
              <a:rPr lang="en-US" sz="3000" b="1" dirty="0">
                <a:solidFill>
                  <a:schemeClr val="tx1"/>
                </a:solidFill>
              </a:rPr>
              <a:t>Image: a packaged app with everything it needs. It does not change.</a:t>
            </a:r>
            <a:endParaRPr lang="en-US" sz="3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Container</a:t>
            </a:r>
            <a:endParaRPr lang="en-US" sz="3400" dirty="0"/>
          </a:p>
        </p:txBody>
      </p:sp>
      <p:sp>
        <p:nvSpPr>
          <p:cNvPr id="4" name="Container circle"/>
          <p:cNvSpPr/>
          <p:nvPr/>
        </p:nvSpPr>
        <p:spPr>
          <a:xfrm>
            <a:off x="548640" y="1600200"/>
            <a:ext cx="1463040" cy="1463040"/>
          </a:xfrm>
          <a:prstGeom prst="ellipse">
            <a:avLst/>
          </a:prstGeom>
          <a:solidFill>
            <a:srgbClr val="1A7F37"/>
          </a:solidFill>
          <a:ln/>
        </p:spPr>
      </p:sp>
      <p:pic>
        <p:nvPicPr>
          <p:cNvPr id="5" name="Container image" descr="FaCube">    </p:cNvPr>
          <p:cNvPicPr>
            <a:picLocks noChangeAspect="1"/>
          </p:cNvPicPr>
          <p:nvPr/>
        </p:nvPicPr>
        <p:blipFill>
          <a:blip r:embed="rId1"/>
          <a:stretch>
            <a:fillRect/>
          </a:stretch>
        </p:blipFill>
        <p:spPr>
          <a:xfrm>
            <a:off x="914400" y="1965960"/>
            <a:ext cx="731520" cy="731520"/>
          </a:xfrm>
          <a:prstGeom prst="rect">
            <a:avLst/>
          </a:prstGeom>
        </p:spPr>
      </p:pic>
      <p:sp>
        <p:nvSpPr>
          <p:cNvPr id="6" name="Text 2"/>
          <p:cNvSpPr txBox="1"/>
          <p:nvPr/>
        </p:nvSpPr>
        <p:spPr>
          <a:xfrm>
            <a:off x="2377440" y="1280160"/>
            <a:ext cx="6217920" cy="2377440"/>
          </a:xfrm>
          <a:prstGeom prst="rect">
            <a:avLst/>
          </a:prstGeom>
          <a:noFill/>
          <a:ln/>
        </p:spPr>
        <p:txBody>
          <a:bodyPr wrap="square" lIns="0" tIns="0" rIns="0" bIns="0" rtlCol="0" anchor="ctr"/>
          <a:lstStyle/>
          <a:p>
            <a:pPr indent="0" marL="0">
              <a:buNone/>
            </a:pPr>
            <a:r>
              <a:rPr lang="en-US" sz="3000" b="1" dirty="0">
                <a:solidFill>
                  <a:schemeClr val="tx1"/>
                </a:solidFill>
              </a:rPr>
              <a:t>Container: a running instance of an image. An isolated process. It shares the kernel of the host.</a:t>
            </a:r>
            <a:endParaRPr lang="en-US" sz="3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Registry</a:t>
            </a:r>
            <a:endParaRPr lang="en-US" sz="3400" dirty="0"/>
          </a:p>
        </p:txBody>
      </p:sp>
      <p:sp>
        <p:nvSpPr>
          <p:cNvPr id="4" name="Text 1"/>
          <p:cNvSpPr txBox="1"/>
          <p:nvPr/>
        </p:nvSpPr>
        <p:spPr>
          <a:xfrm>
            <a:off x="548640" y="1188720"/>
            <a:ext cx="8046720" cy="1280160"/>
          </a:xfrm>
          <a:prstGeom prst="rect">
            <a:avLst/>
          </a:prstGeom>
          <a:noFill/>
          <a:ln/>
        </p:spPr>
        <p:txBody>
          <a:bodyPr wrap="square" lIns="0" tIns="0" rIns="0" bIns="0" rtlCol="0" anchor="ctr"/>
          <a:lstStyle/>
          <a:p>
            <a:pPr indent="0" marL="0">
              <a:buNone/>
            </a:pPr>
            <a:r>
              <a:rPr lang="en-US" sz="3000" b="1" dirty="0">
                <a:solidFill>
                  <a:schemeClr val="tx1"/>
                </a:solidFill>
              </a:rPr>
              <a:t>Images are stored in a registry </a:t>
            </a:r>
            <a:pPr indent="0" marL="0">
              <a:buNone/>
            </a:pPr>
            <a:r>
              <a:rPr lang="en-US" sz="2600" b="1" dirty="0">
                <a:solidFill>
                  <a:schemeClr val="tx1"/>
                </a:solidFill>
                <a:latin typeface="Courier New" pitchFamily="34" charset="0"/>
                <a:ea typeface="Courier New" pitchFamily="34" charset="-122"/>
                <a:cs typeface="Courier New" pitchFamily="34" charset="-120"/>
              </a:rPr>
              <a:t>docker pull</a:t>
            </a:r>
            <a:pPr indent="0" marL="0">
              <a:buNone/>
            </a:pPr>
            <a:r>
              <a:rPr lang="en-US" sz="3000" b="1" dirty="0">
                <a:solidFill>
                  <a:schemeClr val="tx1"/>
                </a:solidFill>
              </a:rPr>
              <a:t> downloads one.</a:t>
            </a:r>
            <a:endParaRPr lang="en-US" sz="3000" dirty="0"/>
          </a:p>
        </p:txBody>
      </p:sp>
      <p:sp>
        <p:nvSpPr>
          <p:cNvPr id="5" name="box registry"/>
          <p:cNvSpPr/>
          <p:nvPr/>
        </p:nvSpPr>
        <p:spPr>
          <a:xfrm>
            <a:off x="548640" y="2743200"/>
            <a:ext cx="2743200" cy="1463040"/>
          </a:xfrm>
          <a:prstGeom prst="roundRect">
            <a:avLst>
              <a:gd name="adj" fmla="val 5000"/>
            </a:avLst>
          </a:prstGeom>
          <a:solidFill>
            <a:srgbClr val="0969DA"/>
          </a:solidFill>
          <a:ln/>
        </p:spPr>
      </p:sp>
      <p:sp>
        <p:nvSpPr>
          <p:cNvPr id="6" name="Text 3"/>
          <p:cNvSpPr txBox="1"/>
          <p:nvPr/>
        </p:nvSpPr>
        <p:spPr>
          <a:xfrm>
            <a:off x="640080" y="2743200"/>
            <a:ext cx="2560320" cy="1463040"/>
          </a:xfrm>
          <a:prstGeom prst="rect">
            <a:avLst/>
          </a:prstGeom>
          <a:noFill/>
          <a:ln/>
        </p:spPr>
        <p:txBody>
          <a:bodyPr wrap="square" lIns="0" tIns="0" rIns="0" bIns="0" rtlCol="0" anchor="ctr"/>
          <a:lstStyle/>
          <a:p>
            <a:pPr algn="ctr" indent="0" marL="0">
              <a:buNone/>
            </a:pPr>
            <a:r>
              <a:rPr lang="en-US" sz="2200" b="1" dirty="0">
                <a:solidFill>
                  <a:schemeClr val="bg1"/>
                </a:solidFill>
                <a:latin typeface="Courier New" pitchFamily="34" charset="0"/>
                <a:ea typeface="Courier New" pitchFamily="34" charset="-122"/>
                <a:cs typeface="Courier New" pitchFamily="34" charset="-120"/>
              </a:rPr>
              <a:t>registry</a:t>
            </a:r>
            <a:endParaRPr lang="en-US" sz="2200" dirty="0"/>
          </a:p>
        </p:txBody>
      </p:sp>
      <p:sp>
        <p:nvSpPr>
          <p:cNvPr id="7" name="arrow"/>
          <p:cNvSpPr/>
          <p:nvPr/>
        </p:nvSpPr>
        <p:spPr>
          <a:xfrm>
            <a:off x="3611880" y="3291840"/>
            <a:ext cx="1920240" cy="365760"/>
          </a:xfrm>
          <a:prstGeom prst="rightArrow">
            <a:avLst/>
          </a:prstGeom>
          <a:solidFill>
            <a:schemeClr val="accent6"/>
          </a:solidFill>
          <a:ln/>
        </p:spPr>
      </p:sp>
      <p:sp>
        <p:nvSpPr>
          <p:cNvPr id="8" name="Text 5"/>
          <p:cNvSpPr txBox="1"/>
          <p:nvPr/>
        </p:nvSpPr>
        <p:spPr>
          <a:xfrm>
            <a:off x="3337560" y="2926080"/>
            <a:ext cx="2468880" cy="320040"/>
          </a:xfrm>
          <a:prstGeom prst="rect">
            <a:avLst/>
          </a:prstGeom>
          <a:noFill/>
          <a:ln/>
        </p:spPr>
        <p:txBody>
          <a:bodyPr wrap="square" lIns="0" tIns="0" rIns="0" bIns="0" rtlCol="0" anchor="b"/>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docker pull</a:t>
            </a:r>
            <a:endParaRPr lang="en-US" sz="1600" dirty="0"/>
          </a:p>
        </p:txBody>
      </p:sp>
      <p:sp>
        <p:nvSpPr>
          <p:cNvPr id="9" name="box your Codespace"/>
          <p:cNvSpPr/>
          <p:nvPr/>
        </p:nvSpPr>
        <p:spPr>
          <a:xfrm>
            <a:off x="5852160" y="2743200"/>
            <a:ext cx="2743200" cy="1463040"/>
          </a:xfrm>
          <a:prstGeom prst="roundRect">
            <a:avLst>
              <a:gd name="adj" fmla="val 5000"/>
            </a:avLst>
          </a:prstGeom>
          <a:solidFill>
            <a:srgbClr val="1A7F37"/>
          </a:solidFill>
          <a:ln/>
        </p:spPr>
      </p:sp>
      <p:sp>
        <p:nvSpPr>
          <p:cNvPr id="10" name="Text 7"/>
          <p:cNvSpPr txBox="1"/>
          <p:nvPr/>
        </p:nvSpPr>
        <p:spPr>
          <a:xfrm>
            <a:off x="5943600" y="2743200"/>
            <a:ext cx="2560320" cy="1463040"/>
          </a:xfrm>
          <a:prstGeom prst="rect">
            <a:avLst/>
          </a:prstGeom>
          <a:no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your Codespace</a:t>
            </a:r>
            <a:endParaRPr lang="en-US" sz="2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Run a real service</a:t>
            </a:r>
            <a:endParaRPr lang="en-US" sz="3400" dirty="0"/>
          </a:p>
        </p:txBody>
      </p:sp>
      <p:sp>
        <p:nvSpPr>
          <p:cNvPr id="4" name="Text 1"/>
          <p:cNvSpPr txBox="1"/>
          <p:nvPr/>
        </p:nvSpPr>
        <p:spPr>
          <a:xfrm>
            <a:off x="548640" y="1097280"/>
            <a:ext cx="8046720" cy="731520"/>
          </a:xfrm>
          <a:prstGeom prst="rect">
            <a:avLst/>
          </a:prstGeom>
          <a:noFill/>
          <a:ln/>
        </p:spPr>
        <p:txBody>
          <a:bodyPr wrap="square" lIns="0" tIns="0" rIns="0" bIns="0" rtlCol="0" anchor="ctr"/>
          <a:lstStyle/>
          <a:p>
            <a:pPr indent="0" marL="0">
              <a:buNone/>
            </a:pPr>
            <a:r>
              <a:rPr lang="en-US" sz="3000" b="1" dirty="0">
                <a:solidFill>
                  <a:schemeClr val="tx1"/>
                </a:solidFill>
              </a:rPr>
              <a:t>A whole game that somebody else packaged.</a:t>
            </a:r>
            <a:endParaRPr lang="en-US" sz="3000" dirty="0"/>
          </a:p>
        </p:txBody>
      </p:sp>
      <p:sp>
        <p:nvSpPr>
          <p:cNvPr id="5" name="command panel"/>
          <p:cNvSpPr/>
          <p:nvPr/>
        </p:nvSpPr>
        <p:spPr>
          <a:xfrm>
            <a:off x="548640" y="2011680"/>
            <a:ext cx="8046720" cy="822960"/>
          </a:xfrm>
          <a:prstGeom prst="roundRect">
            <a:avLst>
              <a:gd name="adj" fmla="val 8889"/>
            </a:avLst>
          </a:prstGeom>
          <a:solidFill>
            <a:schemeClr val="tx1"/>
          </a:solidFill>
          <a:ln/>
        </p:spPr>
      </p:sp>
      <p:sp>
        <p:nvSpPr>
          <p:cNvPr id="6" name="code"/>
          <p:cNvSpPr txBox="1"/>
          <p:nvPr/>
        </p:nvSpPr>
        <p:spPr>
          <a:xfrm>
            <a:off x="713232" y="2093976"/>
            <a:ext cx="7717536" cy="658368"/>
          </a:xfrm>
          <a:prstGeom prst="rect">
            <a:avLst/>
          </a:prstGeom>
          <a:noFill/>
          <a:ln/>
        </p:spPr>
        <p:txBody>
          <a:bodyPr wrap="square" lIns="0" tIns="0" rIns="0" bIns="0" rtlCol="0" anchor="ctr"/>
          <a:lstStyle/>
          <a:p>
            <a:pPr indent="0" marL="0">
              <a:lnSpc>
                <a:spcPts val="2220"/>
              </a:lnSpc>
              <a:buNone/>
            </a:pPr>
            <a:r>
              <a:rPr lang="en-US" sz="1850" dirty="0">
                <a:solidFill>
                  <a:schemeClr val="bg2"/>
                </a:solidFill>
                <a:latin typeface="Courier New" pitchFamily="34" charset="0"/>
                <a:ea typeface="Courier New" pitchFamily="34" charset="-122"/>
                <a:cs typeface="Courier New" pitchFamily="34" charset="-120"/>
              </a:rPr>
              <a:t>docker run --rm -p 8600:8080 pengbai/docker-supermario</a:t>
            </a:r>
            <a:endParaRPr lang="en-US" sz="185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Pull and run your first image</a:t>
            </a:r>
            <a:endParaRPr lang="en-US" sz="3400" dirty="0"/>
          </a:p>
        </p:txBody>
      </p:sp>
      <p:sp>
        <p:nvSpPr>
          <p:cNvPr id="4" name="step 1 circle"/>
          <p:cNvSpPr/>
          <p:nvPr/>
        </p:nvSpPr>
        <p:spPr>
          <a:xfrm>
            <a:off x="548640" y="1152144"/>
            <a:ext cx="457200" cy="457200"/>
          </a:xfrm>
          <a:prstGeom prst="ellipse">
            <a:avLst/>
          </a:prstGeom>
          <a:solidFill>
            <a:schemeClr val="accent1"/>
          </a:solidFill>
          <a:ln/>
        </p:spPr>
      </p:sp>
      <p:sp>
        <p:nvSpPr>
          <p:cNvPr id="5" name="step 1 letter"/>
          <p:cNvSpPr txBox="1"/>
          <p:nvPr/>
        </p:nvSpPr>
        <p:spPr>
          <a:xfrm>
            <a:off x="548640" y="1152144"/>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command 1"/>
          <p:cNvSpPr/>
          <p:nvPr/>
        </p:nvSpPr>
        <p:spPr>
          <a:xfrm>
            <a:off x="1234440" y="1097280"/>
            <a:ext cx="7360920" cy="566928"/>
          </a:xfrm>
          <a:prstGeom prst="roundRect">
            <a:avLst>
              <a:gd name="adj" fmla="val 12903"/>
            </a:avLst>
          </a:prstGeom>
          <a:solidFill>
            <a:schemeClr val="tx1"/>
          </a:solidFill>
          <a:ln/>
        </p:spPr>
      </p:sp>
      <p:sp>
        <p:nvSpPr>
          <p:cNvPr id="7" name="code"/>
          <p:cNvSpPr txBox="1"/>
          <p:nvPr/>
        </p:nvSpPr>
        <p:spPr>
          <a:xfrm>
            <a:off x="1399032" y="1179576"/>
            <a:ext cx="7031736" cy="402336"/>
          </a:xfrm>
          <a:prstGeom prst="rect">
            <a:avLst/>
          </a:prstGeom>
          <a:noFill/>
          <a:ln/>
        </p:spPr>
        <p:txBody>
          <a:bodyPr wrap="square" lIns="0" tIns="0" rIns="0" bIns="0" rtlCol="0" anchor="ctr"/>
          <a:lstStyle/>
          <a:p>
            <a:pPr indent="0" marL="0">
              <a:lnSpc>
                <a:spcPts val="2400"/>
              </a:lnSpc>
              <a:buNone/>
            </a:pPr>
            <a:r>
              <a:rPr lang="en-US" sz="2000" dirty="0">
                <a:solidFill>
                  <a:schemeClr val="bg2"/>
                </a:solidFill>
                <a:latin typeface="Courier New" pitchFamily="34" charset="0"/>
                <a:ea typeface="Courier New" pitchFamily="34" charset="-122"/>
                <a:cs typeface="Courier New" pitchFamily="34" charset="-120"/>
              </a:rPr>
              <a:t>docker run --rm -it debian:stable-slim bash</a:t>
            </a:r>
            <a:endParaRPr lang="en-US" sz="2000" dirty="0"/>
          </a:p>
        </p:txBody>
      </p:sp>
      <p:sp>
        <p:nvSpPr>
          <p:cNvPr id="8" name="step 2 circle"/>
          <p:cNvSpPr/>
          <p:nvPr/>
        </p:nvSpPr>
        <p:spPr>
          <a:xfrm>
            <a:off x="548640" y="1828800"/>
            <a:ext cx="457200" cy="457200"/>
          </a:xfrm>
          <a:prstGeom prst="ellipse">
            <a:avLst/>
          </a:prstGeom>
          <a:solidFill>
            <a:schemeClr val="accent1"/>
          </a:solidFill>
          <a:ln/>
        </p:spPr>
      </p:sp>
      <p:sp>
        <p:nvSpPr>
          <p:cNvPr id="9" name="step 2 letter"/>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command 2"/>
          <p:cNvSpPr/>
          <p:nvPr/>
        </p:nvSpPr>
        <p:spPr>
          <a:xfrm>
            <a:off x="1234440" y="1773936"/>
            <a:ext cx="7360920" cy="566928"/>
          </a:xfrm>
          <a:prstGeom prst="roundRect">
            <a:avLst>
              <a:gd name="adj" fmla="val 12903"/>
            </a:avLst>
          </a:prstGeom>
          <a:solidFill>
            <a:schemeClr val="tx1"/>
          </a:solidFill>
          <a:ln/>
        </p:spPr>
      </p:sp>
      <p:sp>
        <p:nvSpPr>
          <p:cNvPr id="11" name="code"/>
          <p:cNvSpPr txBox="1"/>
          <p:nvPr/>
        </p:nvSpPr>
        <p:spPr>
          <a:xfrm>
            <a:off x="1399032" y="1856232"/>
            <a:ext cx="7031736" cy="402336"/>
          </a:xfrm>
          <a:prstGeom prst="rect">
            <a:avLst/>
          </a:prstGeom>
          <a:noFill/>
          <a:ln/>
        </p:spPr>
        <p:txBody>
          <a:bodyPr wrap="square" lIns="0" tIns="0" rIns="0" bIns="0" rtlCol="0" anchor="ctr"/>
          <a:lstStyle/>
          <a:p>
            <a:pPr indent="0" marL="0">
              <a:lnSpc>
                <a:spcPts val="2400"/>
              </a:lnSpc>
              <a:buNone/>
            </a:pPr>
            <a:r>
              <a:rPr lang="en-US" sz="2000" dirty="0">
                <a:solidFill>
                  <a:schemeClr val="bg2"/>
                </a:solidFill>
                <a:latin typeface="Courier New" pitchFamily="34" charset="0"/>
                <a:ea typeface="Courier New" pitchFamily="34" charset="-122"/>
                <a:cs typeface="Courier New" pitchFamily="34" charset="-120"/>
              </a:rPr>
              <a:t>cat /etc/os-release</a:t>
            </a:r>
            <a:endParaRPr lang="en-US" sz="2000" dirty="0"/>
          </a:p>
        </p:txBody>
      </p:sp>
      <p:sp>
        <p:nvSpPr>
          <p:cNvPr id="12" name="step 3 circle"/>
          <p:cNvSpPr/>
          <p:nvPr/>
        </p:nvSpPr>
        <p:spPr>
          <a:xfrm>
            <a:off x="548640" y="2505456"/>
            <a:ext cx="457200" cy="457200"/>
          </a:xfrm>
          <a:prstGeom prst="ellipse">
            <a:avLst/>
          </a:prstGeom>
          <a:solidFill>
            <a:schemeClr val="accent1"/>
          </a:solidFill>
          <a:ln/>
        </p:spPr>
      </p:sp>
      <p:sp>
        <p:nvSpPr>
          <p:cNvPr id="13" name="step 3 letter"/>
          <p:cNvSpPr txBox="1"/>
          <p:nvPr/>
        </p:nvSpPr>
        <p:spPr>
          <a:xfrm>
            <a:off x="548640" y="2505456"/>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command 3"/>
          <p:cNvSpPr/>
          <p:nvPr/>
        </p:nvSpPr>
        <p:spPr>
          <a:xfrm>
            <a:off x="1234440" y="2450592"/>
            <a:ext cx="7360920" cy="566928"/>
          </a:xfrm>
          <a:prstGeom prst="roundRect">
            <a:avLst>
              <a:gd name="adj" fmla="val 12903"/>
            </a:avLst>
          </a:prstGeom>
          <a:solidFill>
            <a:schemeClr val="tx1"/>
          </a:solidFill>
          <a:ln/>
        </p:spPr>
      </p:sp>
      <p:sp>
        <p:nvSpPr>
          <p:cNvPr id="15" name="code"/>
          <p:cNvSpPr txBox="1"/>
          <p:nvPr/>
        </p:nvSpPr>
        <p:spPr>
          <a:xfrm>
            <a:off x="1399032" y="2532888"/>
            <a:ext cx="7031736" cy="402336"/>
          </a:xfrm>
          <a:prstGeom prst="rect">
            <a:avLst/>
          </a:prstGeom>
          <a:noFill/>
          <a:ln/>
        </p:spPr>
        <p:txBody>
          <a:bodyPr wrap="square" lIns="0" tIns="0" rIns="0" bIns="0" rtlCol="0" anchor="ctr"/>
          <a:lstStyle/>
          <a:p>
            <a:pPr indent="0" marL="0">
              <a:lnSpc>
                <a:spcPts val="2400"/>
              </a:lnSpc>
              <a:buNone/>
            </a:pPr>
            <a:r>
              <a:rPr lang="en-US" sz="2000" dirty="0">
                <a:solidFill>
                  <a:schemeClr val="bg2"/>
                </a:solidFill>
                <a:latin typeface="Courier New" pitchFamily="34" charset="0"/>
                <a:ea typeface="Courier New" pitchFamily="34" charset="-122"/>
                <a:cs typeface="Courier New" pitchFamily="34" charset="-120"/>
              </a:rPr>
              <a:t>exit</a:t>
            </a:r>
            <a:endParaRPr lang="en-US" sz="2000" dirty="0"/>
          </a:p>
        </p:txBody>
      </p:sp>
      <p:sp>
        <p:nvSpPr>
          <p:cNvPr id="16" name="step 4 circle"/>
          <p:cNvSpPr/>
          <p:nvPr/>
        </p:nvSpPr>
        <p:spPr>
          <a:xfrm>
            <a:off x="548640" y="3493008"/>
            <a:ext cx="457200" cy="457200"/>
          </a:xfrm>
          <a:prstGeom prst="ellipse">
            <a:avLst/>
          </a:prstGeom>
          <a:solidFill>
            <a:schemeClr val="accent1"/>
          </a:solidFill>
          <a:ln/>
        </p:spPr>
      </p:sp>
      <p:sp>
        <p:nvSpPr>
          <p:cNvPr id="17" name="step 4 letter"/>
          <p:cNvSpPr txBox="1"/>
          <p:nvPr/>
        </p:nvSpPr>
        <p:spPr>
          <a:xfrm>
            <a:off x="548640" y="3493008"/>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Text 15"/>
          <p:cNvSpPr txBox="1"/>
          <p:nvPr/>
        </p:nvSpPr>
        <p:spPr>
          <a:xfrm>
            <a:off x="1234440" y="3127248"/>
            <a:ext cx="7360920" cy="274320"/>
          </a:xfrm>
          <a:prstGeom prst="rect">
            <a:avLst/>
          </a:prstGeom>
          <a:noFill/>
          <a:ln/>
        </p:spPr>
        <p:txBody>
          <a:bodyPr wrap="square" lIns="0" tIns="0" rIns="0" bIns="0" rtlCol="0" anchor="ctr"/>
          <a:lstStyle/>
          <a:p>
            <a:pPr indent="0" marL="0">
              <a:buNone/>
            </a:pPr>
            <a:r>
              <a:rPr lang="en-US" sz="1600" b="1" dirty="0">
                <a:solidFill>
                  <a:schemeClr val="accent6"/>
                </a:solidFill>
              </a:rPr>
              <a:t>On your Codespace:</a:t>
            </a:r>
            <a:endParaRPr lang="en-US" sz="1600" dirty="0"/>
          </a:p>
        </p:txBody>
      </p:sp>
      <p:sp>
        <p:nvSpPr>
          <p:cNvPr id="19" name="command 4"/>
          <p:cNvSpPr/>
          <p:nvPr/>
        </p:nvSpPr>
        <p:spPr>
          <a:xfrm>
            <a:off x="1234440" y="3438144"/>
            <a:ext cx="7360920" cy="566928"/>
          </a:xfrm>
          <a:prstGeom prst="roundRect">
            <a:avLst>
              <a:gd name="adj" fmla="val 12903"/>
            </a:avLst>
          </a:prstGeom>
          <a:solidFill>
            <a:schemeClr val="tx1"/>
          </a:solidFill>
          <a:ln/>
        </p:spPr>
      </p:sp>
      <p:sp>
        <p:nvSpPr>
          <p:cNvPr id="20" name="code"/>
          <p:cNvSpPr txBox="1"/>
          <p:nvPr/>
        </p:nvSpPr>
        <p:spPr>
          <a:xfrm>
            <a:off x="1399032" y="3520440"/>
            <a:ext cx="7031736" cy="402336"/>
          </a:xfrm>
          <a:prstGeom prst="rect">
            <a:avLst/>
          </a:prstGeom>
          <a:noFill/>
          <a:ln/>
        </p:spPr>
        <p:txBody>
          <a:bodyPr wrap="square" lIns="0" tIns="0" rIns="0" bIns="0" rtlCol="0" anchor="ctr"/>
          <a:lstStyle/>
          <a:p>
            <a:pPr indent="0" marL="0">
              <a:lnSpc>
                <a:spcPts val="2400"/>
              </a:lnSpc>
              <a:buNone/>
            </a:pPr>
            <a:r>
              <a:rPr lang="en-US" sz="2000" dirty="0">
                <a:solidFill>
                  <a:schemeClr val="bg2"/>
                </a:solidFill>
                <a:latin typeface="Courier New" pitchFamily="34" charset="0"/>
                <a:ea typeface="Courier New" pitchFamily="34" charset="-122"/>
                <a:cs typeface="Courier New" pitchFamily="34" charset="-120"/>
              </a:rPr>
              <a:t>cat /etc/os-release</a:t>
            </a:r>
            <a:endParaRPr lang="en-US" sz="2000" dirty="0"/>
          </a:p>
        </p:txBody>
      </p:sp>
      <p:sp>
        <p:nvSpPr>
          <p:cNvPr id="21" name="Text 18"/>
          <p:cNvSpPr txBox="1"/>
          <p:nvPr/>
        </p:nvSpPr>
        <p:spPr>
          <a:xfrm>
            <a:off x="548640" y="4114800"/>
            <a:ext cx="8046720" cy="493776"/>
          </a:xfrm>
          <a:prstGeom prst="rect">
            <a:avLst/>
          </a:prstGeom>
          <a:noFill/>
          <a:ln/>
        </p:spPr>
        <p:txBody>
          <a:bodyPr wrap="square" lIns="0" tIns="0" rIns="0" bIns="0" rtlCol="0" anchor="ctr"/>
          <a:lstStyle/>
          <a:p>
            <a:pPr indent="0" marL="0">
              <a:buNone/>
            </a:pPr>
            <a:r>
              <a:rPr lang="en-US" sz="2600" b="1" dirty="0">
                <a:solidFill>
                  <a:srgbClr val="000000"/>
                </a:solidFill>
              </a:rPr>
              <a:t>Compare.</a:t>
            </a:r>
            <a:endParaRPr lang="en-US" sz="26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Base image</a:t>
            </a:r>
            <a:endParaRPr lang="en-US" sz="3400" dirty="0"/>
          </a:p>
        </p:txBody>
      </p:sp>
      <p:sp>
        <p:nvSpPr>
          <p:cNvPr id="4" name="Text 1"/>
          <p:cNvSpPr txBox="1"/>
          <p:nvPr/>
        </p:nvSpPr>
        <p:spPr>
          <a:xfrm>
            <a:off x="548640" y="1097280"/>
            <a:ext cx="8046720" cy="1554480"/>
          </a:xfrm>
          <a:prstGeom prst="rect">
            <a:avLst/>
          </a:prstGeom>
          <a:noFill/>
          <a:ln/>
        </p:spPr>
        <p:txBody>
          <a:bodyPr wrap="square" lIns="0" tIns="0" rIns="0" bIns="0" rtlCol="0" anchor="ctr"/>
          <a:lstStyle/>
          <a:p>
            <a:pPr indent="0" marL="0">
              <a:buNone/>
            </a:pPr>
            <a:r>
              <a:rPr lang="en-US" sz="2800" b="1" dirty="0">
                <a:solidFill>
                  <a:schemeClr val="tx1"/>
                </a:solidFill>
              </a:rPr>
              <a:t>Every Dockerfile starts from an image that exists: </a:t>
            </a:r>
            <a:pPr indent="0" marL="0">
              <a:buNone/>
            </a:pPr>
            <a:r>
              <a:rPr lang="en-US" sz="2600" b="1" dirty="0">
                <a:solidFill>
                  <a:schemeClr val="tx1"/>
                </a:solidFill>
                <a:latin typeface="Courier New" pitchFamily="34" charset="0"/>
                <a:ea typeface="Courier New" pitchFamily="34" charset="-122"/>
                <a:cs typeface="Courier New" pitchFamily="34" charset="-120"/>
              </a:rPr>
              <a:t>FROM</a:t>
            </a:r>
            <a:pPr indent="0" marL="0">
              <a:buNone/>
            </a:pPr>
            <a:r>
              <a:rPr lang="en-US" sz="2800" b="1" dirty="0">
                <a:solidFill>
                  <a:schemeClr val="tx1"/>
                </a:solidFill>
              </a:rPr>
              <a:t>. After the colon: the tag, the version.</a:t>
            </a:r>
            <a:endParaRPr lang="en-US" sz="2800" dirty="0"/>
          </a:p>
        </p:txBody>
      </p:sp>
      <p:sp>
        <p:nvSpPr>
          <p:cNvPr id="5" name="command panel"/>
          <p:cNvSpPr/>
          <p:nvPr/>
        </p:nvSpPr>
        <p:spPr>
          <a:xfrm>
            <a:off x="548640" y="2834640"/>
            <a:ext cx="8046720" cy="822960"/>
          </a:xfrm>
          <a:prstGeom prst="roundRect">
            <a:avLst>
              <a:gd name="adj" fmla="val 8889"/>
            </a:avLst>
          </a:prstGeom>
          <a:solidFill>
            <a:schemeClr val="tx1"/>
          </a:solidFill>
          <a:ln/>
        </p:spPr>
      </p:sp>
      <p:sp>
        <p:nvSpPr>
          <p:cNvPr id="6" name="code"/>
          <p:cNvSpPr txBox="1"/>
          <p:nvPr/>
        </p:nvSpPr>
        <p:spPr>
          <a:xfrm>
            <a:off x="713232" y="2916936"/>
            <a:ext cx="7717536" cy="658368"/>
          </a:xfrm>
          <a:prstGeom prst="rect">
            <a:avLst/>
          </a:prstGeom>
          <a:noFill/>
          <a:ln/>
        </p:spPr>
        <p:txBody>
          <a:bodyPr wrap="square" lIns="0" tIns="0" rIns="0" bIns="0" rtlCol="0" anchor="ctr"/>
          <a:lstStyle/>
          <a:p>
            <a:pPr indent="0" marL="0">
              <a:lnSpc>
                <a:spcPts val="2880"/>
              </a:lnSpc>
              <a:buNone/>
            </a:pPr>
            <a:r>
              <a:rPr lang="en-US" sz="2400" dirty="0">
                <a:solidFill>
                  <a:schemeClr val="bg2"/>
                </a:solidFill>
                <a:latin typeface="Courier New" pitchFamily="34" charset="0"/>
                <a:ea typeface="Courier New" pitchFamily="34" charset="-122"/>
                <a:cs typeface="Courier New" pitchFamily="34" charset="-120"/>
              </a:rPr>
              <a:t>docker pull python:3.12-slim</a:t>
            </a:r>
            <a:endParaRPr lang="en-US" sz="2400" dirty="0"/>
          </a:p>
        </p:txBody>
      </p:sp>
      <p:sp>
        <p:nvSpPr>
          <p:cNvPr id="7" name="Text 4"/>
          <p:cNvSpPr txBox="1"/>
          <p:nvPr/>
        </p:nvSpPr>
        <p:spPr>
          <a:xfrm>
            <a:off x="548640" y="3931920"/>
            <a:ext cx="8046720" cy="548640"/>
          </a:xfrm>
          <a:prstGeom prst="rect">
            <a:avLst/>
          </a:prstGeom>
          <a:noFill/>
          <a:ln/>
        </p:spPr>
        <p:txBody>
          <a:bodyPr wrap="square" lIns="0" tIns="0" rIns="0" bIns="0" rtlCol="0" anchor="ctr"/>
          <a:lstStyle/>
          <a:p>
            <a:pPr indent="0" marL="0">
              <a:buNone/>
            </a:pPr>
            <a:r>
              <a:rPr lang="en-US" sz="2600" b="1" dirty="0">
                <a:solidFill>
                  <a:schemeClr val="accent2"/>
                </a:solidFill>
              </a:rPr>
              <a:t>Leave it running.</a:t>
            </a:r>
            <a:endParaRPr lang="en-US" sz="26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Why not Alpine?</a:t>
            </a:r>
            <a:endParaRPr lang="en-US" sz="3400" dirty="0"/>
          </a:p>
        </p:txBody>
      </p:sp>
      <p:sp>
        <p:nvSpPr>
          <p:cNvPr id="4" name="step 1 circle"/>
          <p:cNvSpPr/>
          <p:nvPr/>
        </p:nvSpPr>
        <p:spPr>
          <a:xfrm>
            <a:off x="548640" y="1491211"/>
            <a:ext cx="457200" cy="457200"/>
          </a:xfrm>
          <a:prstGeom prst="ellipse">
            <a:avLst/>
          </a:prstGeom>
          <a:solidFill>
            <a:schemeClr val="accent1"/>
          </a:solidFill>
          <a:ln/>
        </p:spPr>
      </p:sp>
      <p:sp>
        <p:nvSpPr>
          <p:cNvPr id="5" name="step 1 letter"/>
          <p:cNvSpPr txBox="1"/>
          <p:nvPr/>
        </p:nvSpPr>
        <p:spPr>
          <a:xfrm>
            <a:off x="548640" y="1491211"/>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234440" y="1280160"/>
            <a:ext cx="7360920" cy="879302"/>
          </a:xfrm>
          <a:prstGeom prst="rect">
            <a:avLst/>
          </a:prstGeom>
          <a:noFill/>
          <a:ln/>
        </p:spPr>
        <p:txBody>
          <a:bodyPr wrap="square" lIns="0" tIns="0" rIns="0" bIns="0" rtlCol="0" anchor="ctr"/>
          <a:lstStyle/>
          <a:p>
            <a:pPr indent="0" marL="0">
              <a:buNone/>
            </a:pPr>
            <a:r>
              <a:rPr lang="en-US" sz="2600" b="1" dirty="0">
                <a:solidFill>
                  <a:schemeClr val="tx1"/>
                </a:solidFill>
              </a:rPr>
              <a:t>Alpine: tiny, under 6 MB. Docker recommends it.</a:t>
            </a:r>
            <a:endParaRPr lang="en-US" sz="2600" dirty="0"/>
          </a:p>
        </p:txBody>
      </p:sp>
      <p:sp>
        <p:nvSpPr>
          <p:cNvPr id="7" name="step 2 circle"/>
          <p:cNvSpPr/>
          <p:nvPr/>
        </p:nvSpPr>
        <p:spPr>
          <a:xfrm>
            <a:off x="548640" y="2406350"/>
            <a:ext cx="457200" cy="457200"/>
          </a:xfrm>
          <a:prstGeom prst="ellipse">
            <a:avLst/>
          </a:prstGeom>
          <a:solidFill>
            <a:schemeClr val="accent1"/>
          </a:solidFill>
          <a:ln/>
        </p:spPr>
      </p:sp>
      <p:sp>
        <p:nvSpPr>
          <p:cNvPr id="8" name="step 2 letter"/>
          <p:cNvSpPr txBox="1"/>
          <p:nvPr/>
        </p:nvSpPr>
        <p:spPr>
          <a:xfrm>
            <a:off x="548640" y="240635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6"/>
          <p:cNvSpPr txBox="1"/>
          <p:nvPr/>
        </p:nvSpPr>
        <p:spPr>
          <a:xfrm>
            <a:off x="1234440" y="2388062"/>
            <a:ext cx="7360920" cy="493776"/>
          </a:xfrm>
          <a:prstGeom prst="rect">
            <a:avLst/>
          </a:prstGeom>
          <a:noFill/>
          <a:ln/>
        </p:spPr>
        <p:txBody>
          <a:bodyPr wrap="square" lIns="0" tIns="0" rIns="0" bIns="0" rtlCol="0" anchor="ctr"/>
          <a:lstStyle/>
          <a:p>
            <a:pPr indent="0" marL="0">
              <a:buNone/>
            </a:pPr>
            <a:r>
              <a:rPr lang="en-US" sz="2600" b="1" dirty="0">
                <a:solidFill>
                  <a:schemeClr val="tx1"/>
                </a:solidFill>
              </a:rPr>
              <a:t>But it uses </a:t>
            </a:r>
            <a:pPr indent="0" marL="0">
              <a:buNone/>
            </a:pPr>
            <a:r>
              <a:rPr lang="en-US" sz="2600" b="1" dirty="0">
                <a:solidFill>
                  <a:schemeClr val="tx1"/>
                </a:solidFill>
                <a:latin typeface="Courier New" pitchFamily="34" charset="0"/>
                <a:ea typeface="Courier New" pitchFamily="34" charset="-122"/>
                <a:cs typeface="Courier New" pitchFamily="34" charset="-120"/>
              </a:rPr>
              <a:t>musl</a:t>
            </a:r>
            <a:pPr indent="0" marL="0">
              <a:buNone/>
            </a:pPr>
            <a:r>
              <a:rPr lang="en-US" sz="2600" b="1" dirty="0">
                <a:solidFill>
                  <a:schemeClr val="tx1"/>
                </a:solidFill>
              </a:rPr>
              <a:t>, not </a:t>
            </a:r>
            <a:pPr indent="0" marL="0">
              <a:buNone/>
            </a:pPr>
            <a:r>
              <a:rPr lang="en-US" sz="2600" b="1" dirty="0">
                <a:solidFill>
                  <a:schemeClr val="tx1"/>
                </a:solidFill>
                <a:latin typeface="Courier New" pitchFamily="34" charset="0"/>
                <a:ea typeface="Courier New" pitchFamily="34" charset="-122"/>
                <a:cs typeface="Courier New" pitchFamily="34" charset="-120"/>
              </a:rPr>
              <a:t>glibc</a:t>
            </a:r>
            <a:pPr indent="0" marL="0">
              <a:buNone/>
            </a:pPr>
            <a:r>
              <a:rPr lang="en-US" sz="2600" b="1" dirty="0">
                <a:solidFill>
                  <a:schemeClr val="tx1"/>
                </a:solidFill>
              </a:rPr>
              <a:t>.</a:t>
            </a:r>
            <a:endParaRPr lang="en-US" sz="2600" dirty="0"/>
          </a:p>
        </p:txBody>
      </p:sp>
      <p:sp>
        <p:nvSpPr>
          <p:cNvPr id="10" name="step 3 circle"/>
          <p:cNvSpPr/>
          <p:nvPr/>
        </p:nvSpPr>
        <p:spPr>
          <a:xfrm>
            <a:off x="548640" y="3128726"/>
            <a:ext cx="457200" cy="457200"/>
          </a:xfrm>
          <a:prstGeom prst="ellipse">
            <a:avLst/>
          </a:prstGeom>
          <a:solidFill>
            <a:schemeClr val="accent1"/>
          </a:solidFill>
          <a:ln/>
        </p:spPr>
      </p:sp>
      <p:sp>
        <p:nvSpPr>
          <p:cNvPr id="11" name="step 3 letter"/>
          <p:cNvSpPr txBox="1"/>
          <p:nvPr/>
        </p:nvSpPr>
        <p:spPr>
          <a:xfrm>
            <a:off x="548640" y="3128726"/>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2" name="Text 9"/>
          <p:cNvSpPr txBox="1"/>
          <p:nvPr/>
        </p:nvSpPr>
        <p:spPr>
          <a:xfrm>
            <a:off x="1234440" y="3110438"/>
            <a:ext cx="7360920" cy="493776"/>
          </a:xfrm>
          <a:prstGeom prst="rect">
            <a:avLst/>
          </a:prstGeom>
          <a:noFill/>
          <a:ln/>
        </p:spPr>
        <p:txBody>
          <a:bodyPr wrap="square" lIns="0" tIns="0" rIns="0" bIns="0" rtlCol="0" anchor="ctr"/>
          <a:lstStyle/>
          <a:p>
            <a:pPr indent="0" marL="0">
              <a:buNone/>
            </a:pPr>
            <a:r>
              <a:rPr lang="en-US" sz="2600" b="1" dirty="0">
                <a:solidFill>
                  <a:schemeClr val="tx1"/>
                </a:solidFill>
              </a:rPr>
              <a:t>Its DNS resolver differs from glibc's.</a:t>
            </a:r>
            <a:endParaRPr lang="en-US" sz="2600" dirty="0"/>
          </a:p>
        </p:txBody>
      </p:sp>
      <p:sp>
        <p:nvSpPr>
          <p:cNvPr id="13" name="Text 10"/>
          <p:cNvSpPr txBox="1"/>
          <p:nvPr/>
        </p:nvSpPr>
        <p:spPr>
          <a:xfrm>
            <a:off x="548640" y="3931920"/>
            <a:ext cx="8046720" cy="640080"/>
          </a:xfrm>
          <a:prstGeom prst="rect">
            <a:avLst/>
          </a:prstGeom>
          <a:noFill/>
          <a:ln/>
        </p:spPr>
        <p:txBody>
          <a:bodyPr wrap="square" lIns="0" tIns="0" rIns="0" bIns="0" rtlCol="0" anchor="ctr"/>
          <a:lstStyle/>
          <a:p>
            <a:pPr indent="0" marL="0">
              <a:buNone/>
            </a:pPr>
            <a:r>
              <a:rPr lang="en-US" sz="3200" b="1" dirty="0">
                <a:solidFill>
                  <a:schemeClr val="accent2"/>
                </a:solidFill>
              </a:rPr>
              <a:t>Small is not free.</a:t>
            </a:r>
            <a:endParaRPr lang="en-US" sz="3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Layers</a:t>
            </a:r>
            <a:endParaRPr lang="en-US" sz="3400" dirty="0"/>
          </a:p>
        </p:txBody>
      </p:sp>
      <p:sp>
        <p:nvSpPr>
          <p:cNvPr id="4" name="layer FROM"/>
          <p:cNvSpPr/>
          <p:nvPr/>
        </p:nvSpPr>
        <p:spPr>
          <a:xfrm>
            <a:off x="3200400" y="1097280"/>
            <a:ext cx="3108960" cy="420624"/>
          </a:xfrm>
          <a:prstGeom prst="roundRect">
            <a:avLst>
              <a:gd name="adj" fmla="val 1739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3246120" y="1097280"/>
            <a:ext cx="3017520" cy="420624"/>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FROM</a:t>
            </a:r>
            <a:endParaRPr lang="en-US" sz="1800" dirty="0"/>
          </a:p>
        </p:txBody>
      </p:sp>
      <p:sp>
        <p:nvSpPr>
          <p:cNvPr id="6" name="layer WORKDIR"/>
          <p:cNvSpPr/>
          <p:nvPr/>
        </p:nvSpPr>
        <p:spPr>
          <a:xfrm>
            <a:off x="3200400" y="1572768"/>
            <a:ext cx="3108960" cy="420624"/>
          </a:xfrm>
          <a:prstGeom prst="roundRect">
            <a:avLst>
              <a:gd name="adj" fmla="val 1739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3246120" y="1572768"/>
            <a:ext cx="3017520" cy="420624"/>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WORKDIR</a:t>
            </a:r>
            <a:endParaRPr lang="en-US" sz="1800" dirty="0"/>
          </a:p>
        </p:txBody>
      </p:sp>
      <p:sp>
        <p:nvSpPr>
          <p:cNvPr id="8" name="layer COPY"/>
          <p:cNvSpPr/>
          <p:nvPr/>
        </p:nvSpPr>
        <p:spPr>
          <a:xfrm>
            <a:off x="3200400" y="2048256"/>
            <a:ext cx="3108960" cy="420624"/>
          </a:xfrm>
          <a:prstGeom prst="roundRect">
            <a:avLst>
              <a:gd name="adj" fmla="val 1739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3246120" y="2048256"/>
            <a:ext cx="3017520" cy="420624"/>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COPY</a:t>
            </a:r>
            <a:endParaRPr lang="en-US" sz="1800" dirty="0"/>
          </a:p>
        </p:txBody>
      </p:sp>
      <p:sp>
        <p:nvSpPr>
          <p:cNvPr id="10" name="layer RUN"/>
          <p:cNvSpPr/>
          <p:nvPr/>
        </p:nvSpPr>
        <p:spPr>
          <a:xfrm>
            <a:off x="3200400" y="2523744"/>
            <a:ext cx="3108960" cy="420624"/>
          </a:xfrm>
          <a:prstGeom prst="roundRect">
            <a:avLst>
              <a:gd name="adj" fmla="val 1739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3246120" y="2523744"/>
            <a:ext cx="3017520" cy="420624"/>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RUN</a:t>
            </a:r>
            <a:endParaRPr lang="en-US" sz="1800" dirty="0"/>
          </a:p>
        </p:txBody>
      </p:sp>
      <p:sp>
        <p:nvSpPr>
          <p:cNvPr id="12" name="layer EXPOSE"/>
          <p:cNvSpPr/>
          <p:nvPr/>
        </p:nvSpPr>
        <p:spPr>
          <a:xfrm>
            <a:off x="3200400" y="2999232"/>
            <a:ext cx="3108960" cy="420624"/>
          </a:xfrm>
          <a:prstGeom prst="roundRect">
            <a:avLst>
              <a:gd name="adj" fmla="val 1739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3246120" y="2999232"/>
            <a:ext cx="3017520" cy="420624"/>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EXPOSE</a:t>
            </a:r>
            <a:endParaRPr lang="en-US" sz="1800" dirty="0"/>
          </a:p>
        </p:txBody>
      </p:sp>
      <p:sp>
        <p:nvSpPr>
          <p:cNvPr id="14" name="layer CMD"/>
          <p:cNvSpPr/>
          <p:nvPr/>
        </p:nvSpPr>
        <p:spPr>
          <a:xfrm>
            <a:off x="3200400" y="3474720"/>
            <a:ext cx="3108960" cy="420624"/>
          </a:xfrm>
          <a:prstGeom prst="roundRect">
            <a:avLst>
              <a:gd name="adj" fmla="val 1739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3246120" y="3474720"/>
            <a:ext cx="3017520" cy="420624"/>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CMD</a:t>
            </a:r>
            <a:endParaRPr lang="en-US" sz="1800" dirty="0"/>
          </a:p>
        </p:txBody>
      </p:sp>
      <p:sp>
        <p:nvSpPr>
          <p:cNvPr id="16" name="bracket"/>
          <p:cNvSpPr/>
          <p:nvPr/>
        </p:nvSpPr>
        <p:spPr>
          <a:xfrm>
            <a:off x="2743200" y="1097280"/>
            <a:ext cx="45720" cy="2798064"/>
          </a:xfrm>
          <a:prstGeom prst="rect">
            <a:avLst/>
          </a:prstGeom>
          <a:solidFill>
            <a:srgbClr val="57606A"/>
          </a:solidFill>
          <a:ln/>
        </p:spPr>
      </p:sp>
      <p:sp>
        <p:nvSpPr>
          <p:cNvPr id="17" name="bracket"/>
          <p:cNvSpPr/>
          <p:nvPr/>
        </p:nvSpPr>
        <p:spPr>
          <a:xfrm>
            <a:off x="2743200" y="1097280"/>
            <a:ext cx="256032" cy="45720"/>
          </a:xfrm>
          <a:prstGeom prst="rect">
            <a:avLst/>
          </a:prstGeom>
          <a:solidFill>
            <a:srgbClr val="57606A"/>
          </a:solidFill>
          <a:ln/>
        </p:spPr>
      </p:sp>
      <p:sp>
        <p:nvSpPr>
          <p:cNvPr id="18" name="bracket"/>
          <p:cNvSpPr/>
          <p:nvPr/>
        </p:nvSpPr>
        <p:spPr>
          <a:xfrm>
            <a:off x="2743200" y="3849624"/>
            <a:ext cx="256032" cy="45720"/>
          </a:xfrm>
          <a:prstGeom prst="rect">
            <a:avLst/>
          </a:prstGeom>
          <a:solidFill>
            <a:srgbClr val="57606A"/>
          </a:solidFill>
          <a:ln/>
        </p:spPr>
      </p:sp>
      <p:sp>
        <p:nvSpPr>
          <p:cNvPr id="19" name="Text 16"/>
          <p:cNvSpPr txBox="1"/>
          <p:nvPr/>
        </p:nvSpPr>
        <p:spPr>
          <a:xfrm>
            <a:off x="548640" y="1097280"/>
            <a:ext cx="2057400" cy="2798064"/>
          </a:xfrm>
          <a:prstGeom prst="rect">
            <a:avLst/>
          </a:prstGeom>
          <a:noFill/>
          <a:ln/>
        </p:spPr>
        <p:txBody>
          <a:bodyPr wrap="square" lIns="0" tIns="0" rIns="0" bIns="0" rtlCol="0" anchor="ctr"/>
          <a:lstStyle/>
          <a:p>
            <a:pPr algn="r" indent="0" marL="0">
              <a:buNone/>
            </a:pPr>
            <a:r>
              <a:rPr lang="en-US" sz="1800" b="1" dirty="0">
                <a:solidFill>
                  <a:schemeClr val="accent6"/>
                </a:solidFill>
              </a:rPr>
              <a:t>Dockerfile,</a:t>
            </a:r>
            <a:endParaRPr lang="en-US" sz="1800" dirty="0"/>
          </a:p>
          <a:p>
            <a:pPr algn="r" indent="0" marL="0">
              <a:buNone/>
            </a:pPr>
            <a:r>
              <a:rPr lang="en-US" sz="1800" b="1" dirty="0">
                <a:solidFill>
                  <a:schemeClr val="accent6"/>
                </a:solidFill>
              </a:rPr>
              <a:t>top to bottom</a:t>
            </a:r>
            <a:endParaRPr lang="en-US" sz="1800" dirty="0"/>
          </a:p>
        </p:txBody>
      </p:sp>
      <p:sp>
        <p:nvSpPr>
          <p:cNvPr id="20" name="Text 17"/>
          <p:cNvSpPr txBox="1"/>
          <p:nvPr/>
        </p:nvSpPr>
        <p:spPr>
          <a:xfrm>
            <a:off x="548640" y="4078224"/>
            <a:ext cx="8046720" cy="502920"/>
          </a:xfrm>
          <a:prstGeom prst="rect">
            <a:avLst/>
          </a:prstGeom>
          <a:noFill/>
          <a:ln/>
        </p:spPr>
        <p:txBody>
          <a:bodyPr wrap="square" lIns="0" tIns="0" rIns="0" bIns="0" rtlCol="0" anchor="ctr"/>
          <a:lstStyle/>
          <a:p>
            <a:pPr algn="ctr" indent="0" marL="0">
              <a:buNone/>
            </a:pPr>
            <a:r>
              <a:rPr lang="en-US" sz="2400" b="1" dirty="0">
                <a:solidFill>
                  <a:schemeClr val="tx1"/>
                </a:solidFill>
              </a:rPr>
              <a:t>Each instruction is one layer.</a:t>
            </a:r>
            <a:endParaRPr lang="en-US" sz="2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The layer rule</a:t>
            </a:r>
            <a:endParaRPr lang="en-US" sz="3400" dirty="0"/>
          </a:p>
        </p:txBody>
      </p:sp>
      <p:sp>
        <p:nvSpPr>
          <p:cNvPr id="4" name="Text 1"/>
          <p:cNvSpPr txBox="1"/>
          <p:nvPr/>
        </p:nvSpPr>
        <p:spPr>
          <a:xfrm>
            <a:off x="548640" y="1188720"/>
            <a:ext cx="8046720" cy="2011680"/>
          </a:xfrm>
          <a:prstGeom prst="rect">
            <a:avLst/>
          </a:prstGeom>
          <a:noFill/>
          <a:ln/>
        </p:spPr>
        <p:txBody>
          <a:bodyPr wrap="square" lIns="0" tIns="0" rIns="0" bIns="0" rtlCol="0" anchor="ctr"/>
          <a:lstStyle/>
          <a:p>
            <a:pPr indent="0" marL="0">
              <a:buNone/>
            </a:pPr>
            <a:r>
              <a:rPr lang="en-US" sz="3600" b="1" dirty="0">
                <a:solidFill>
                  <a:schemeClr val="tx1"/>
                </a:solidFill>
              </a:rPr>
              <a:t>A changed layer, and every layer after it, is built again.</a:t>
            </a:r>
            <a:endParaRPr lang="en-US" sz="3600" dirty="0"/>
          </a:p>
        </p:txBody>
      </p:sp>
      <p:sp>
        <p:nvSpPr>
          <p:cNvPr id="5" name="Text 2"/>
          <p:cNvSpPr txBox="1"/>
          <p:nvPr/>
        </p:nvSpPr>
        <p:spPr>
          <a:xfrm>
            <a:off x="548640" y="3474720"/>
            <a:ext cx="8046720" cy="731520"/>
          </a:xfrm>
          <a:prstGeom prst="rect">
            <a:avLst/>
          </a:prstGeom>
          <a:noFill/>
          <a:ln/>
        </p:spPr>
        <p:txBody>
          <a:bodyPr wrap="square" lIns="0" tIns="0" rIns="0" bIns="0" rtlCol="0" anchor="ctr"/>
          <a:lstStyle/>
          <a:p>
            <a:pPr indent="0" marL="0">
              <a:buNone/>
            </a:pPr>
            <a:r>
              <a:rPr lang="en-US" sz="2600" b="1" dirty="0">
                <a:solidFill>
                  <a:schemeClr val="accent2"/>
                </a:solidFill>
              </a:rPr>
              <a:t>Put what changes rarely first.</a:t>
            </a:r>
            <a:endParaRPr lang="en-US" sz="26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Live: your first Dockerfile</a:t>
            </a:r>
            <a:endParaRPr lang="en-US" sz="3400" dirty="0"/>
          </a:p>
        </p:txBody>
      </p:sp>
      <p:sp>
        <p:nvSpPr>
          <p:cNvPr id="4" name="question panel"/>
          <p:cNvSpPr/>
          <p:nvPr/>
        </p:nvSpPr>
        <p:spPr>
          <a:xfrm>
            <a:off x="548640" y="1371600"/>
            <a:ext cx="8046720" cy="2926080"/>
          </a:xfrm>
          <a:prstGeom prst="roundRect">
            <a:avLst>
              <a:gd name="adj" fmla="val 2500"/>
            </a:avLst>
          </a:prstGeom>
          <a:solidFill>
            <a:schemeClr val="tx1"/>
          </a:solidFill>
          <a:ln/>
        </p:spPr>
      </p:sp>
      <p:sp>
        <p:nvSpPr>
          <p:cNvPr id="5" name="Text 2"/>
          <p:cNvSpPr txBox="1"/>
          <p:nvPr/>
        </p:nvSpPr>
        <p:spPr>
          <a:xfrm>
            <a:off x="914400" y="1371600"/>
            <a:ext cx="7315200" cy="2926080"/>
          </a:xfrm>
          <a:prstGeom prst="rect">
            <a:avLst/>
          </a:prstGeom>
          <a:noFill/>
          <a:ln/>
        </p:spPr>
        <p:txBody>
          <a:bodyPr wrap="square" lIns="0" tIns="0" rIns="0" bIns="0" rtlCol="0" anchor="ctr"/>
          <a:lstStyle/>
          <a:p>
            <a:pPr indent="0" marL="0">
              <a:buNone/>
            </a:pPr>
            <a:r>
              <a:rPr lang="en-US" sz="3600" b="1" dirty="0">
                <a:solidFill>
                  <a:schemeClr val="bg1"/>
                </a:solidFill>
              </a:rPr>
              <a:t>Which line starts the server?</a:t>
            </a:r>
            <a:endParaRPr lang="en-US" sz="36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Build and run</a:t>
            </a:r>
            <a:endParaRPr lang="en-US" sz="3400" dirty="0"/>
          </a:p>
        </p:txBody>
      </p:sp>
      <p:sp>
        <p:nvSpPr>
          <p:cNvPr id="4" name="command panel"/>
          <p:cNvSpPr/>
          <p:nvPr/>
        </p:nvSpPr>
        <p:spPr>
          <a:xfrm>
            <a:off x="548640" y="1097280"/>
            <a:ext cx="8046720" cy="960120"/>
          </a:xfrm>
          <a:prstGeom prst="roundRect">
            <a:avLst>
              <a:gd name="adj" fmla="val 7619"/>
            </a:avLst>
          </a:prstGeom>
          <a:solidFill>
            <a:schemeClr val="tx1"/>
          </a:solidFill>
          <a:ln/>
        </p:spPr>
      </p:sp>
      <p:sp>
        <p:nvSpPr>
          <p:cNvPr id="5" name="code"/>
          <p:cNvSpPr txBox="1"/>
          <p:nvPr/>
        </p:nvSpPr>
        <p:spPr>
          <a:xfrm>
            <a:off x="713232" y="1179576"/>
            <a:ext cx="7717536" cy="795528"/>
          </a:xfrm>
          <a:prstGeom prst="rect">
            <a:avLst/>
          </a:prstGeom>
          <a:noFill/>
          <a:ln/>
        </p:spPr>
        <p:txBody>
          <a:bodyPr wrap="square" lIns="0" tIns="0" rIns="0" bIns="0" rtlCol="0" anchor="ctr"/>
          <a:lstStyle/>
          <a:p>
            <a:pPr indent="0" marL="0">
              <a:lnSpc>
                <a:spcPts val="2400"/>
              </a:lnSpc>
              <a:buNone/>
            </a:pPr>
            <a:r>
              <a:rPr lang="en-US" sz="2000" dirty="0">
                <a:solidFill>
                  <a:schemeClr val="bg2"/>
                </a:solidFill>
                <a:latin typeface="Courier New" pitchFamily="34" charset="0"/>
                <a:ea typeface="Courier New" pitchFamily="34" charset="-122"/>
                <a:cs typeface="Courier New" pitchFamily="34" charset="-120"/>
              </a:rPr>
              <a:t>docker build -t demo .</a:t>
            </a:r>
            <a:endParaRPr lang="en-US" sz="2000" dirty="0"/>
          </a:p>
          <a:p>
            <a:pPr indent="0" marL="0">
              <a:lnSpc>
                <a:spcPts val="2400"/>
              </a:lnSpc>
              <a:buNone/>
            </a:pPr>
            <a:r>
              <a:rPr lang="en-US" sz="2000" dirty="0">
                <a:solidFill>
                  <a:schemeClr val="bg2"/>
                </a:solidFill>
                <a:latin typeface="Courier New" pitchFamily="34" charset="0"/>
                <a:ea typeface="Courier New" pitchFamily="34" charset="-122"/>
                <a:cs typeface="Courier New" pitchFamily="34" charset="-120"/>
              </a:rPr>
              <a:t>docker run -p 3000:3000 demo</a:t>
            </a:r>
            <a:endParaRPr lang="en-US" sz="2000" dirty="0"/>
          </a:p>
        </p:txBody>
      </p:sp>
      <p:sp>
        <p:nvSpPr>
          <p:cNvPr id="6" name="Text 3"/>
          <p:cNvSpPr txBox="1"/>
          <p:nvPr/>
        </p:nvSpPr>
        <p:spPr>
          <a:xfrm>
            <a:off x="548640" y="2194560"/>
            <a:ext cx="8046720" cy="274320"/>
          </a:xfrm>
          <a:prstGeom prst="rect">
            <a:avLst/>
          </a:prstGeom>
          <a:noFill/>
          <a:ln/>
        </p:spPr>
        <p:txBody>
          <a:bodyPr wrap="square" lIns="0" tIns="0" rIns="0" bIns="0" rtlCol="0" anchor="ctr"/>
          <a:lstStyle/>
          <a:p>
            <a:pPr indent="0" marL="0">
              <a:buNone/>
            </a:pPr>
            <a:r>
              <a:rPr lang="en-US" sz="1600" b="1" dirty="0">
                <a:solidFill>
                  <a:schemeClr val="accent6"/>
                </a:solidFill>
              </a:rPr>
              <a:t>In a second terminal:</a:t>
            </a:r>
            <a:endParaRPr lang="en-US" sz="1600" dirty="0"/>
          </a:p>
        </p:txBody>
      </p:sp>
      <p:sp>
        <p:nvSpPr>
          <p:cNvPr id="7" name="command panel curl"/>
          <p:cNvSpPr/>
          <p:nvPr/>
        </p:nvSpPr>
        <p:spPr>
          <a:xfrm>
            <a:off x="548640" y="2514600"/>
            <a:ext cx="8046720" cy="548640"/>
          </a:xfrm>
          <a:prstGeom prst="roundRect">
            <a:avLst>
              <a:gd name="adj" fmla="val 13333"/>
            </a:avLst>
          </a:prstGeom>
          <a:solidFill>
            <a:schemeClr val="tx1"/>
          </a:solidFill>
          <a:ln/>
        </p:spPr>
      </p:sp>
      <p:sp>
        <p:nvSpPr>
          <p:cNvPr id="8" name="code"/>
          <p:cNvSpPr txBox="1"/>
          <p:nvPr/>
        </p:nvSpPr>
        <p:spPr>
          <a:xfrm>
            <a:off x="713232" y="2596896"/>
            <a:ext cx="7717536" cy="384048"/>
          </a:xfrm>
          <a:prstGeom prst="rect">
            <a:avLst/>
          </a:prstGeom>
          <a:noFill/>
          <a:ln/>
        </p:spPr>
        <p:txBody>
          <a:bodyPr wrap="square" lIns="0" tIns="0" rIns="0" bIns="0" rtlCol="0" anchor="ctr"/>
          <a:lstStyle/>
          <a:p>
            <a:pPr indent="0" marL="0">
              <a:lnSpc>
                <a:spcPts val="2400"/>
              </a:lnSpc>
              <a:buNone/>
            </a:pPr>
            <a:r>
              <a:rPr lang="en-US" sz="2000" dirty="0">
                <a:solidFill>
                  <a:schemeClr val="bg2"/>
                </a:solidFill>
                <a:latin typeface="Courier New" pitchFamily="34" charset="0"/>
                <a:ea typeface="Courier New" pitchFamily="34" charset="-122"/>
                <a:cs typeface="Courier New" pitchFamily="34" charset="-120"/>
              </a:rPr>
              <a:t>curl localhost:3000</a:t>
            </a:r>
            <a:endParaRPr lang="en-US" sz="2000" dirty="0"/>
          </a:p>
        </p:txBody>
      </p:sp>
      <p:sp>
        <p:nvSpPr>
          <p:cNvPr id="9" name="captions"/>
          <p:cNvSpPr/>
          <p:nvPr/>
        </p:nvSpPr>
        <p:spPr>
          <a:xfrm>
            <a:off x="548640" y="3291840"/>
            <a:ext cx="8046720" cy="1463040"/>
          </a:xfrm>
          <a:prstGeom prst="roundRect">
            <a:avLst>
              <a:gd name="adj" fmla="val 500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822960" y="3383280"/>
            <a:ext cx="7498080" cy="1280160"/>
          </a:xfrm>
          <a:prstGeom prst="rect">
            <a:avLst/>
          </a:prstGeom>
          <a:noFill/>
          <a:ln/>
        </p:spPr>
        <p:txBody>
          <a:bodyPr wrap="square" lIns="0" tIns="0" rIns="0" bIns="0" rtlCol="0" anchor="ctr"/>
          <a:lstStyle/>
          <a:p>
            <a:pPr indent="0" marL="0">
              <a:spcAft>
                <a:spcPts val="600"/>
              </a:spcAft>
              <a:buNone/>
            </a:pPr>
            <a:r>
              <a:rPr lang="en-US" sz="2000" b="1" dirty="0">
                <a:solidFill>
                  <a:schemeClr val="tx1"/>
                </a:solidFill>
                <a:latin typeface="Courier New" pitchFamily="34" charset="0"/>
                <a:ea typeface="Courier New" pitchFamily="34" charset="-122"/>
                <a:cs typeface="Courier New" pitchFamily="34" charset="-120"/>
              </a:rPr>
              <a:t>-t</a:t>
            </a:r>
            <a:pPr indent="0" marL="0">
              <a:spcAft>
                <a:spcPts val="600"/>
              </a:spcAft>
              <a:buNone/>
            </a:pPr>
            <a:r>
              <a:rPr lang="en-US" sz="2000" b="1" dirty="0">
                <a:solidFill>
                  <a:schemeClr val="tx1"/>
                </a:solidFill>
              </a:rPr>
              <a:t>: the image name.</a:t>
            </a:r>
            <a:endParaRPr lang="en-US" sz="2000" dirty="0"/>
          </a:p>
          <a:p>
            <a:pPr indent="0" marL="0">
              <a:spcAft>
                <a:spcPts val="600"/>
              </a:spcAft>
              <a:buNone/>
            </a:pPr>
            <a:r>
              <a:rPr lang="en-US" sz="2000" b="1" dirty="0">
                <a:solidFill>
                  <a:schemeClr val="tx1"/>
                </a:solidFill>
              </a:rPr>
              <a:t>The last argument: the context, the folder </a:t>
            </a:r>
            <a:pPr indent="0" marL="0">
              <a:spcAft>
                <a:spcPts val="600"/>
              </a:spcAft>
              <a:buNone/>
            </a:pPr>
            <a:r>
              <a:rPr lang="en-US" sz="2000" b="1" dirty="0">
                <a:solidFill>
                  <a:schemeClr val="tx1"/>
                </a:solidFill>
                <a:latin typeface="Courier New" pitchFamily="34" charset="0"/>
                <a:ea typeface="Courier New" pitchFamily="34" charset="-122"/>
                <a:cs typeface="Courier New" pitchFamily="34" charset="-120"/>
              </a:rPr>
              <a:t>COPY</a:t>
            </a:r>
            <a:pPr indent="0" marL="0">
              <a:spcAft>
                <a:spcPts val="600"/>
              </a:spcAft>
              <a:buNone/>
            </a:pPr>
            <a:r>
              <a:rPr lang="en-US" sz="2000" b="1" dirty="0">
                <a:solidFill>
                  <a:schemeClr val="tx1"/>
                </a:solidFill>
              </a:rPr>
              <a:t> can see.</a:t>
            </a:r>
            <a:endParaRPr lang="en-US" sz="2000" dirty="0"/>
          </a:p>
          <a:p>
            <a:pPr indent="0" marL="0">
              <a:buNone/>
            </a:pPr>
            <a:r>
              <a:rPr lang="en-US" sz="2000" b="1" dirty="0">
                <a:solidFill>
                  <a:schemeClr val="tx1"/>
                </a:solidFill>
                <a:latin typeface="Courier New" pitchFamily="34" charset="0"/>
                <a:ea typeface="Courier New" pitchFamily="34" charset="-122"/>
                <a:cs typeface="Courier New" pitchFamily="34" charset="-120"/>
              </a:rPr>
              <a:t>-p</a:t>
            </a:r>
            <a:pPr indent="0" marL="0">
              <a:buNone/>
            </a:pPr>
            <a:r>
              <a:rPr lang="en-US" sz="2000" b="1" dirty="0">
                <a:solidFill>
                  <a:schemeClr val="tx1"/>
                </a:solidFill>
              </a:rPr>
              <a:t>: host:container.</a:t>
            </a:r>
            <a:endParaRPr lang="en-US" sz="2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Four questions</a:t>
            </a:r>
            <a:endParaRPr lang="en-US" sz="3400" dirty="0"/>
          </a:p>
        </p:txBody>
      </p:sp>
      <p:sp>
        <p:nvSpPr>
          <p:cNvPr id="4" name="step 1 circle"/>
          <p:cNvSpPr/>
          <p:nvPr/>
        </p:nvSpPr>
        <p:spPr>
          <a:xfrm>
            <a:off x="548640" y="1305176"/>
            <a:ext cx="457200" cy="457200"/>
          </a:xfrm>
          <a:prstGeom prst="ellipse">
            <a:avLst/>
          </a:prstGeom>
          <a:solidFill>
            <a:schemeClr val="accent1"/>
          </a:solidFill>
          <a:ln/>
        </p:spPr>
      </p:sp>
      <p:sp>
        <p:nvSpPr>
          <p:cNvPr id="5" name="step 1 letter"/>
          <p:cNvSpPr txBox="1"/>
          <p:nvPr/>
        </p:nvSpPr>
        <p:spPr>
          <a:xfrm>
            <a:off x="548640" y="1305176"/>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234440" y="1280160"/>
            <a:ext cx="7360920" cy="507233"/>
          </a:xfrm>
          <a:prstGeom prst="rect">
            <a:avLst/>
          </a:prstGeom>
          <a:noFill/>
          <a:ln/>
        </p:spPr>
        <p:txBody>
          <a:bodyPr wrap="square" lIns="0" tIns="0" rIns="0" bIns="0" rtlCol="0" anchor="ctr"/>
          <a:lstStyle/>
          <a:p>
            <a:pPr indent="0" marL="0">
              <a:buNone/>
            </a:pPr>
            <a:r>
              <a:rPr lang="en-US" sz="2800" b="1" dirty="0">
                <a:solidFill>
                  <a:schemeClr val="tx1"/>
                </a:solidFill>
              </a:rPr>
              <a:t>Which base image?</a:t>
            </a:r>
            <a:endParaRPr lang="en-US" sz="2800" dirty="0"/>
          </a:p>
        </p:txBody>
      </p:sp>
      <p:sp>
        <p:nvSpPr>
          <p:cNvPr id="7" name="step 2 circle"/>
          <p:cNvSpPr/>
          <p:nvPr/>
        </p:nvSpPr>
        <p:spPr>
          <a:xfrm>
            <a:off x="548640" y="2086729"/>
            <a:ext cx="457200" cy="457200"/>
          </a:xfrm>
          <a:prstGeom prst="ellipse">
            <a:avLst/>
          </a:prstGeom>
          <a:solidFill>
            <a:schemeClr val="accent1"/>
          </a:solidFill>
          <a:ln/>
        </p:spPr>
      </p:sp>
      <p:sp>
        <p:nvSpPr>
          <p:cNvPr id="8" name="step 2 letter"/>
          <p:cNvSpPr txBox="1"/>
          <p:nvPr/>
        </p:nvSpPr>
        <p:spPr>
          <a:xfrm>
            <a:off x="548640" y="2086729"/>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6"/>
          <p:cNvSpPr txBox="1"/>
          <p:nvPr/>
        </p:nvSpPr>
        <p:spPr>
          <a:xfrm>
            <a:off x="1234440" y="2061713"/>
            <a:ext cx="7360920" cy="507233"/>
          </a:xfrm>
          <a:prstGeom prst="rect">
            <a:avLst/>
          </a:prstGeom>
          <a:noFill/>
          <a:ln/>
        </p:spPr>
        <p:txBody>
          <a:bodyPr wrap="square" lIns="0" tIns="0" rIns="0" bIns="0" rtlCol="0" anchor="ctr"/>
          <a:lstStyle/>
          <a:p>
            <a:pPr indent="0" marL="0">
              <a:buNone/>
            </a:pPr>
            <a:r>
              <a:rPr lang="en-US" sz="2800" b="1" dirty="0">
                <a:solidFill>
                  <a:schemeClr val="tx1"/>
                </a:solidFill>
              </a:rPr>
              <a:t>What must be installed?</a:t>
            </a:r>
            <a:endParaRPr lang="en-US" sz="2800" dirty="0"/>
          </a:p>
        </p:txBody>
      </p:sp>
      <p:sp>
        <p:nvSpPr>
          <p:cNvPr id="10" name="step 3 circle"/>
          <p:cNvSpPr/>
          <p:nvPr/>
        </p:nvSpPr>
        <p:spPr>
          <a:xfrm>
            <a:off x="548640" y="2868282"/>
            <a:ext cx="457200" cy="457200"/>
          </a:xfrm>
          <a:prstGeom prst="ellipse">
            <a:avLst/>
          </a:prstGeom>
          <a:solidFill>
            <a:schemeClr val="accent1"/>
          </a:solidFill>
          <a:ln/>
        </p:spPr>
      </p:sp>
      <p:sp>
        <p:nvSpPr>
          <p:cNvPr id="11" name="step 3 letter"/>
          <p:cNvSpPr txBox="1"/>
          <p:nvPr/>
        </p:nvSpPr>
        <p:spPr>
          <a:xfrm>
            <a:off x="548640" y="2868282"/>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2" name="Text 9"/>
          <p:cNvSpPr txBox="1"/>
          <p:nvPr/>
        </p:nvSpPr>
        <p:spPr>
          <a:xfrm>
            <a:off x="1234440" y="2843266"/>
            <a:ext cx="7360920" cy="507233"/>
          </a:xfrm>
          <a:prstGeom prst="rect">
            <a:avLst/>
          </a:prstGeom>
          <a:noFill/>
          <a:ln/>
        </p:spPr>
        <p:txBody>
          <a:bodyPr wrap="square" lIns="0" tIns="0" rIns="0" bIns="0" rtlCol="0" anchor="ctr"/>
          <a:lstStyle/>
          <a:p>
            <a:pPr indent="0" marL="0">
              <a:buNone/>
            </a:pPr>
            <a:r>
              <a:rPr lang="en-US" sz="2800" b="1" dirty="0">
                <a:solidFill>
                  <a:schemeClr val="tx1"/>
                </a:solidFill>
              </a:rPr>
              <a:t>What must be copied?</a:t>
            </a:r>
            <a:endParaRPr lang="en-US" sz="2800" dirty="0"/>
          </a:p>
        </p:txBody>
      </p:sp>
      <p:sp>
        <p:nvSpPr>
          <p:cNvPr id="13" name="step 4 circle"/>
          <p:cNvSpPr/>
          <p:nvPr/>
        </p:nvSpPr>
        <p:spPr>
          <a:xfrm>
            <a:off x="548640" y="3866876"/>
            <a:ext cx="457200" cy="457200"/>
          </a:xfrm>
          <a:prstGeom prst="ellipse">
            <a:avLst/>
          </a:prstGeom>
          <a:solidFill>
            <a:schemeClr val="accent1"/>
          </a:solidFill>
          <a:ln/>
        </p:spPr>
      </p:sp>
      <p:sp>
        <p:nvSpPr>
          <p:cNvPr id="14" name="step 4 letter"/>
          <p:cNvSpPr txBox="1"/>
          <p:nvPr/>
        </p:nvSpPr>
        <p:spPr>
          <a:xfrm>
            <a:off x="548640" y="3866876"/>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5" name="Text 12"/>
          <p:cNvSpPr txBox="1"/>
          <p:nvPr/>
        </p:nvSpPr>
        <p:spPr>
          <a:xfrm>
            <a:off x="1234440" y="3624819"/>
            <a:ext cx="7360920" cy="941314"/>
          </a:xfrm>
          <a:prstGeom prst="rect">
            <a:avLst/>
          </a:prstGeom>
          <a:noFill/>
          <a:ln/>
        </p:spPr>
        <p:txBody>
          <a:bodyPr wrap="square" lIns="0" tIns="0" rIns="0" bIns="0" rtlCol="0" anchor="ctr"/>
          <a:lstStyle/>
          <a:p>
            <a:pPr indent="0" marL="0">
              <a:buNone/>
            </a:pPr>
            <a:r>
              <a:rPr lang="en-US" sz="2800" b="1" dirty="0">
                <a:solidFill>
                  <a:schemeClr val="tx1"/>
                </a:solidFill>
              </a:rPr>
              <a:t>Which command starts it, and on which port?</a:t>
            </a:r>
            <a:endParaRPr lang="en-US" sz="28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Read the service</a:t>
            </a:r>
            <a:endParaRPr lang="en-US" sz="3400" dirty="0"/>
          </a:p>
        </p:txBody>
      </p:sp>
      <p:sp>
        <p:nvSpPr>
          <p:cNvPr id="4" name="file tree panel"/>
          <p:cNvSpPr/>
          <p:nvPr/>
        </p:nvSpPr>
        <p:spPr>
          <a:xfrm>
            <a:off x="548640" y="1143000"/>
            <a:ext cx="3840480" cy="2148840"/>
          </a:xfrm>
          <a:prstGeom prst="roundRect">
            <a:avLst>
              <a:gd name="adj" fmla="val 3404"/>
            </a:avLst>
          </a:prstGeom>
          <a:solidFill>
            <a:schemeClr val="tx1"/>
          </a:solidFill>
          <a:ln/>
        </p:spPr>
      </p:sp>
      <p:sp>
        <p:nvSpPr>
          <p:cNvPr id="5" name="Text 2"/>
          <p:cNvSpPr txBox="1"/>
          <p:nvPr/>
        </p:nvSpPr>
        <p:spPr>
          <a:xfrm>
            <a:off x="731520" y="1325880"/>
            <a:ext cx="3566160" cy="365760"/>
          </a:xfrm>
          <a:prstGeom prst="rect">
            <a:avLst/>
          </a:prstGeom>
          <a:noFill/>
          <a:ln/>
        </p:spPr>
        <p:txBody>
          <a:bodyPr wrap="square" lIns="0" tIns="0" rIns="0" bIns="0" rtlCol="0" anchor="ctr"/>
          <a:lstStyle/>
          <a:p>
            <a:pPr indent="0" marL="0">
              <a:buNone/>
            </a:pPr>
            <a:r>
              <a:rPr lang="en-US" sz="1800" b="1" dirty="0">
                <a:solidFill>
                  <a:srgbClr val="E3B341"/>
                </a:solidFill>
                <a:latin typeface="Courier New" pitchFamily="34" charset="0"/>
                <a:ea typeface="Courier New" pitchFamily="34" charset="-122"/>
                <a:cs typeface="Courier New" pitchFamily="34" charset="-120"/>
              </a:rPr>
              <a:t>services/tasks-api/</a:t>
            </a:r>
            <a:endParaRPr lang="en-US" sz="1800" dirty="0"/>
          </a:p>
        </p:txBody>
      </p:sp>
      <p:sp>
        <p:nvSpPr>
          <p:cNvPr id="6" name="Text 3"/>
          <p:cNvSpPr txBox="1"/>
          <p:nvPr/>
        </p:nvSpPr>
        <p:spPr>
          <a:xfrm>
            <a:off x="731520" y="1691640"/>
            <a:ext cx="3566160" cy="365760"/>
          </a:xfrm>
          <a:prstGeom prst="rect">
            <a:avLst/>
          </a:prstGeom>
          <a:noFill/>
          <a:ln/>
        </p:spPr>
        <p:txBody>
          <a:bodyPr wrap="square" lIns="0" tIns="0" rIns="0" bIns="0" rtlCol="0" anchor="ctr"/>
          <a:lstStyle/>
          <a:p>
            <a:pPr indent="0" marL="0">
              <a:buNone/>
            </a:pPr>
            <a:r>
              <a:rPr lang="en-US" sz="1800" dirty="0">
                <a:solidFill>
                  <a:schemeClr val="bg2"/>
                </a:solidFill>
                <a:latin typeface="Courier New" pitchFamily="34" charset="0"/>
                <a:ea typeface="Courier New" pitchFamily="34" charset="-122"/>
                <a:cs typeface="Courier New" pitchFamily="34" charset="-120"/>
              </a:rPr>
              <a:t>├── app/</a:t>
            </a:r>
            <a:endParaRPr lang="en-US" sz="1800" dirty="0"/>
          </a:p>
        </p:txBody>
      </p:sp>
      <p:sp>
        <p:nvSpPr>
          <p:cNvPr id="7" name="Text 4"/>
          <p:cNvSpPr txBox="1"/>
          <p:nvPr/>
        </p:nvSpPr>
        <p:spPr>
          <a:xfrm>
            <a:off x="731520" y="2057400"/>
            <a:ext cx="3566160" cy="365760"/>
          </a:xfrm>
          <a:prstGeom prst="rect">
            <a:avLst/>
          </a:prstGeom>
          <a:noFill/>
          <a:ln/>
        </p:spPr>
        <p:txBody>
          <a:bodyPr wrap="square" lIns="0" tIns="0" rIns="0" bIns="0" rtlCol="0" anchor="ctr"/>
          <a:lstStyle/>
          <a:p>
            <a:pPr indent="0" marL="0">
              <a:buNone/>
            </a:pPr>
            <a:r>
              <a:rPr lang="en-US" sz="1800" dirty="0">
                <a:solidFill>
                  <a:schemeClr val="bg2"/>
                </a:solidFill>
                <a:latin typeface="Courier New" pitchFamily="34" charset="0"/>
                <a:ea typeface="Courier New" pitchFamily="34" charset="-122"/>
                <a:cs typeface="Courier New" pitchFamily="34" charset="-120"/>
              </a:rPr>
              <a:t>├── requirements.txt</a:t>
            </a:r>
            <a:endParaRPr lang="en-US" sz="1800" dirty="0"/>
          </a:p>
        </p:txBody>
      </p:sp>
      <p:sp>
        <p:nvSpPr>
          <p:cNvPr id="8" name="Text 5"/>
          <p:cNvSpPr txBox="1"/>
          <p:nvPr/>
        </p:nvSpPr>
        <p:spPr>
          <a:xfrm>
            <a:off x="731520" y="2423160"/>
            <a:ext cx="3566160" cy="365760"/>
          </a:xfrm>
          <a:prstGeom prst="rect">
            <a:avLst/>
          </a:prstGeom>
          <a:noFill/>
          <a:ln/>
        </p:spPr>
        <p:txBody>
          <a:bodyPr wrap="square" lIns="0" tIns="0" rIns="0" bIns="0" rtlCol="0" anchor="ctr"/>
          <a:lstStyle/>
          <a:p>
            <a:pPr indent="0" marL="0">
              <a:buNone/>
            </a:pPr>
            <a:r>
              <a:rPr lang="en-US" sz="1800" dirty="0">
                <a:solidFill>
                  <a:schemeClr val="bg2"/>
                </a:solidFill>
                <a:latin typeface="Courier New" pitchFamily="34" charset="0"/>
                <a:ea typeface="Courier New" pitchFamily="34" charset="-122"/>
                <a:cs typeface="Courier New" pitchFamily="34" charset="-120"/>
              </a:rPr>
              <a:t>├── pytest.ini</a:t>
            </a:r>
            <a:endParaRPr lang="en-US" sz="1800" dirty="0"/>
          </a:p>
        </p:txBody>
      </p:sp>
      <p:sp>
        <p:nvSpPr>
          <p:cNvPr id="9" name="Text 6"/>
          <p:cNvSpPr txBox="1"/>
          <p:nvPr/>
        </p:nvSpPr>
        <p:spPr>
          <a:xfrm>
            <a:off x="731520" y="2788920"/>
            <a:ext cx="3566160" cy="365760"/>
          </a:xfrm>
          <a:prstGeom prst="rect">
            <a:avLst/>
          </a:prstGeom>
          <a:noFill/>
          <a:ln/>
        </p:spPr>
        <p:txBody>
          <a:bodyPr wrap="square" lIns="0" tIns="0" rIns="0" bIns="0" rtlCol="0" anchor="ctr"/>
          <a:lstStyle/>
          <a:p>
            <a:pPr indent="0" marL="0">
              <a:buNone/>
            </a:pPr>
            <a:r>
              <a:rPr lang="en-US" sz="1800" dirty="0">
                <a:solidFill>
                  <a:schemeClr val="bg2"/>
                </a:solidFill>
                <a:latin typeface="Courier New" pitchFamily="34" charset="0"/>
                <a:ea typeface="Courier New" pitchFamily="34" charset="-122"/>
                <a:cs typeface="Courier New" pitchFamily="34" charset="-120"/>
              </a:rPr>
              <a:t>└── tests/</a:t>
            </a:r>
            <a:endParaRPr lang="en-US" sz="1800" dirty="0"/>
          </a:p>
        </p:txBody>
      </p:sp>
      <p:sp>
        <p:nvSpPr>
          <p:cNvPr id="10" name="arrow"/>
          <p:cNvSpPr/>
          <p:nvPr/>
        </p:nvSpPr>
        <p:spPr>
          <a:xfrm>
            <a:off x="4572000" y="2093976"/>
            <a:ext cx="274320" cy="292608"/>
          </a:xfrm>
          <a:prstGeom prst="rightArrow">
            <a:avLst/>
          </a:prstGeom>
          <a:solidFill>
            <a:schemeClr val="accent6"/>
          </a:solidFill>
          <a:ln/>
        </p:spPr>
      </p:sp>
      <p:sp>
        <p:nvSpPr>
          <p:cNvPr id="11" name="Text 8"/>
          <p:cNvSpPr txBox="1"/>
          <p:nvPr/>
        </p:nvSpPr>
        <p:spPr>
          <a:xfrm>
            <a:off x="4983480" y="2057400"/>
            <a:ext cx="3611880" cy="365760"/>
          </a:xfrm>
          <a:prstGeom prst="rect">
            <a:avLst/>
          </a:prstGeom>
          <a:noFill/>
          <a:ln/>
        </p:spPr>
        <p:txBody>
          <a:bodyPr wrap="square" lIns="0" tIns="0" rIns="0" bIns="0" rtlCol="0" anchor="ctr"/>
          <a:lstStyle/>
          <a:p>
            <a:pPr indent="0" marL="0">
              <a:buNone/>
            </a:pPr>
            <a:r>
              <a:rPr lang="en-US" sz="2200" b="1" dirty="0">
                <a:solidFill>
                  <a:schemeClr val="tx1"/>
                </a:solidFill>
              </a:rPr>
              <a:t>what to install</a:t>
            </a:r>
            <a:endParaRPr lang="en-US" sz="2200" dirty="0"/>
          </a:p>
        </p:txBody>
      </p:sp>
      <p:sp>
        <p:nvSpPr>
          <p:cNvPr id="12" name="arrow"/>
          <p:cNvSpPr/>
          <p:nvPr/>
        </p:nvSpPr>
        <p:spPr>
          <a:xfrm>
            <a:off x="4572000" y="1728216"/>
            <a:ext cx="274320" cy="292608"/>
          </a:xfrm>
          <a:prstGeom prst="rightArrow">
            <a:avLst/>
          </a:prstGeom>
          <a:solidFill>
            <a:schemeClr val="accent6"/>
          </a:solidFill>
          <a:ln/>
        </p:spPr>
      </p:sp>
      <p:sp>
        <p:nvSpPr>
          <p:cNvPr id="13" name="Text 10"/>
          <p:cNvSpPr txBox="1"/>
          <p:nvPr/>
        </p:nvSpPr>
        <p:spPr>
          <a:xfrm>
            <a:off x="4983480" y="1691640"/>
            <a:ext cx="3611880" cy="365760"/>
          </a:xfrm>
          <a:prstGeom prst="rect">
            <a:avLst/>
          </a:prstGeom>
          <a:noFill/>
          <a:ln/>
        </p:spPr>
        <p:txBody>
          <a:bodyPr wrap="square" lIns="0" tIns="0" rIns="0" bIns="0" rtlCol="0" anchor="ctr"/>
          <a:lstStyle/>
          <a:p>
            <a:pPr indent="0" marL="0">
              <a:buNone/>
            </a:pPr>
            <a:r>
              <a:rPr lang="en-US" sz="2200" b="1" dirty="0">
                <a:solidFill>
                  <a:schemeClr val="tx1"/>
                </a:solidFill>
              </a:rPr>
              <a:t>what to copy</a:t>
            </a:r>
            <a:endParaRPr lang="en-US" sz="2200" dirty="0"/>
          </a:p>
        </p:txBody>
      </p:sp>
      <p:sp>
        <p:nvSpPr>
          <p:cNvPr id="14" name="readme panel"/>
          <p:cNvSpPr/>
          <p:nvPr/>
        </p:nvSpPr>
        <p:spPr>
          <a:xfrm>
            <a:off x="548640" y="3611880"/>
            <a:ext cx="3840480" cy="502920"/>
          </a:xfrm>
          <a:prstGeom prst="roundRect">
            <a:avLst>
              <a:gd name="adj" fmla="val 14545"/>
            </a:avLst>
          </a:prstGeom>
          <a:solidFill>
            <a:schemeClr val="tx1"/>
          </a:solidFill>
          <a:ln/>
        </p:spPr>
      </p:sp>
      <p:sp>
        <p:nvSpPr>
          <p:cNvPr id="15" name="Text 12"/>
          <p:cNvSpPr txBox="1"/>
          <p:nvPr/>
        </p:nvSpPr>
        <p:spPr>
          <a:xfrm>
            <a:off x="731520" y="3611880"/>
            <a:ext cx="3566160" cy="502920"/>
          </a:xfrm>
          <a:prstGeom prst="rect">
            <a:avLst/>
          </a:prstGeom>
          <a:noFill/>
          <a:ln/>
        </p:spPr>
        <p:txBody>
          <a:bodyPr wrap="square" lIns="0" tIns="0" rIns="0" bIns="0" rtlCol="0" anchor="ctr"/>
          <a:lstStyle/>
          <a:p>
            <a:pPr indent="0" marL="0">
              <a:buNone/>
            </a:pPr>
            <a:r>
              <a:rPr lang="en-US" sz="1800" dirty="0">
                <a:solidFill>
                  <a:schemeClr val="bg2"/>
                </a:solidFill>
                <a:latin typeface="Courier New" pitchFamily="34" charset="0"/>
                <a:ea typeface="Courier New" pitchFamily="34" charset="-122"/>
                <a:cs typeface="Courier New" pitchFamily="34" charset="-120"/>
              </a:rPr>
              <a:t>README.md</a:t>
            </a:r>
            <a:endParaRPr lang="en-US" sz="1800" dirty="0"/>
          </a:p>
        </p:txBody>
      </p:sp>
      <p:sp>
        <p:nvSpPr>
          <p:cNvPr id="16" name="arrow"/>
          <p:cNvSpPr/>
          <p:nvPr/>
        </p:nvSpPr>
        <p:spPr>
          <a:xfrm>
            <a:off x="4572000" y="3717036"/>
            <a:ext cx="274320" cy="292608"/>
          </a:xfrm>
          <a:prstGeom prst="rightArrow">
            <a:avLst/>
          </a:prstGeom>
          <a:solidFill>
            <a:schemeClr val="accent6"/>
          </a:solidFill>
          <a:ln/>
        </p:spPr>
      </p:sp>
      <p:sp>
        <p:nvSpPr>
          <p:cNvPr id="17" name="Text 14"/>
          <p:cNvSpPr txBox="1"/>
          <p:nvPr/>
        </p:nvSpPr>
        <p:spPr>
          <a:xfrm>
            <a:off x="4983480" y="3497580"/>
            <a:ext cx="3611880" cy="731520"/>
          </a:xfrm>
          <a:prstGeom prst="rect">
            <a:avLst/>
          </a:prstGeom>
          <a:noFill/>
          <a:ln/>
        </p:spPr>
        <p:txBody>
          <a:bodyPr wrap="square" lIns="0" tIns="0" rIns="0" bIns="0" rtlCol="0" anchor="ctr"/>
          <a:lstStyle/>
          <a:p>
            <a:pPr indent="0" marL="0">
              <a:buNone/>
            </a:pPr>
            <a:r>
              <a:rPr lang="en-US" sz="2200" b="1" dirty="0">
                <a:solidFill>
                  <a:schemeClr val="tx1"/>
                </a:solidFill>
              </a:rPr>
              <a:t>the start command and the port</a:t>
            </a:r>
            <a:endParaRPr lang="en-US" sz="2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Look, stop, remove</a:t>
            </a:r>
            <a:endParaRPr lang="en-US" sz="3400" dirty="0"/>
          </a:p>
        </p:txBody>
      </p:sp>
      <p:sp>
        <p:nvSpPr>
          <p:cNvPr id="4" name="command 1"/>
          <p:cNvSpPr/>
          <p:nvPr/>
        </p:nvSpPr>
        <p:spPr>
          <a:xfrm>
            <a:off x="548640" y="1188720"/>
            <a:ext cx="3931920" cy="566928"/>
          </a:xfrm>
          <a:prstGeom prst="roundRect">
            <a:avLst>
              <a:gd name="adj" fmla="val 12903"/>
            </a:avLst>
          </a:prstGeom>
          <a:solidFill>
            <a:schemeClr val="tx1"/>
          </a:solidFill>
          <a:ln/>
        </p:spPr>
      </p:sp>
      <p:sp>
        <p:nvSpPr>
          <p:cNvPr id="5" name="code"/>
          <p:cNvSpPr txBox="1"/>
          <p:nvPr/>
        </p:nvSpPr>
        <p:spPr>
          <a:xfrm>
            <a:off x="713232" y="1271016"/>
            <a:ext cx="3602736" cy="402336"/>
          </a:xfrm>
          <a:prstGeom prst="rect">
            <a:avLst/>
          </a:prstGeom>
          <a:noFill/>
          <a:ln/>
        </p:spPr>
        <p:txBody>
          <a:bodyPr wrap="square" lIns="0" tIns="0" rIns="0" bIns="0" rtlCol="0" anchor="ctr"/>
          <a:lstStyle/>
          <a:p>
            <a:pPr indent="0" marL="0">
              <a:lnSpc>
                <a:spcPts val="2400"/>
              </a:lnSpc>
              <a:buNone/>
            </a:pPr>
            <a:r>
              <a:rPr lang="en-US" sz="2000" dirty="0">
                <a:solidFill>
                  <a:schemeClr val="bg2"/>
                </a:solidFill>
                <a:latin typeface="Courier New" pitchFamily="34" charset="0"/>
                <a:ea typeface="Courier New" pitchFamily="34" charset="-122"/>
                <a:cs typeface="Courier New" pitchFamily="34" charset="-120"/>
              </a:rPr>
              <a:t>docker ps</a:t>
            </a:r>
            <a:endParaRPr lang="en-US" sz="2000" dirty="0"/>
          </a:p>
        </p:txBody>
      </p:sp>
      <p:sp>
        <p:nvSpPr>
          <p:cNvPr id="6" name="Text 3"/>
          <p:cNvSpPr txBox="1"/>
          <p:nvPr/>
        </p:nvSpPr>
        <p:spPr>
          <a:xfrm>
            <a:off x="4709160" y="1188720"/>
            <a:ext cx="3886200" cy="566928"/>
          </a:xfrm>
          <a:prstGeom prst="rect">
            <a:avLst/>
          </a:prstGeom>
          <a:noFill/>
          <a:ln/>
        </p:spPr>
        <p:txBody>
          <a:bodyPr wrap="square" lIns="0" tIns="0" rIns="0" bIns="0" rtlCol="0" anchor="ctr"/>
          <a:lstStyle/>
          <a:p>
            <a:pPr indent="0" marL="0">
              <a:buNone/>
            </a:pPr>
            <a:r>
              <a:rPr lang="en-US" sz="2200" b="1" dirty="0">
                <a:solidFill>
                  <a:schemeClr val="tx1"/>
                </a:solidFill>
              </a:rPr>
              <a:t>running containers</a:t>
            </a:r>
            <a:endParaRPr lang="en-US" sz="2200" dirty="0"/>
          </a:p>
        </p:txBody>
      </p:sp>
      <p:sp>
        <p:nvSpPr>
          <p:cNvPr id="7" name="command 2"/>
          <p:cNvSpPr/>
          <p:nvPr/>
        </p:nvSpPr>
        <p:spPr>
          <a:xfrm>
            <a:off x="548640" y="1920240"/>
            <a:ext cx="3931920" cy="566928"/>
          </a:xfrm>
          <a:prstGeom prst="roundRect">
            <a:avLst>
              <a:gd name="adj" fmla="val 12903"/>
            </a:avLst>
          </a:prstGeom>
          <a:solidFill>
            <a:schemeClr val="tx1"/>
          </a:solidFill>
          <a:ln/>
        </p:spPr>
      </p:sp>
      <p:sp>
        <p:nvSpPr>
          <p:cNvPr id="8" name="code"/>
          <p:cNvSpPr txBox="1"/>
          <p:nvPr/>
        </p:nvSpPr>
        <p:spPr>
          <a:xfrm>
            <a:off x="713232" y="2002536"/>
            <a:ext cx="3602736" cy="402336"/>
          </a:xfrm>
          <a:prstGeom prst="rect">
            <a:avLst/>
          </a:prstGeom>
          <a:noFill/>
          <a:ln/>
        </p:spPr>
        <p:txBody>
          <a:bodyPr wrap="square" lIns="0" tIns="0" rIns="0" bIns="0" rtlCol="0" anchor="ctr"/>
          <a:lstStyle/>
          <a:p>
            <a:pPr indent="0" marL="0">
              <a:lnSpc>
                <a:spcPts val="2400"/>
              </a:lnSpc>
              <a:buNone/>
            </a:pPr>
            <a:r>
              <a:rPr lang="en-US" sz="2000" dirty="0">
                <a:solidFill>
                  <a:schemeClr val="bg2"/>
                </a:solidFill>
                <a:latin typeface="Courier New" pitchFamily="34" charset="0"/>
                <a:ea typeface="Courier New" pitchFamily="34" charset="-122"/>
                <a:cs typeface="Courier New" pitchFamily="34" charset="-120"/>
              </a:rPr>
              <a:t>docker logs &lt;name&gt;</a:t>
            </a:r>
            <a:endParaRPr lang="en-US" sz="2000" dirty="0"/>
          </a:p>
        </p:txBody>
      </p:sp>
      <p:sp>
        <p:nvSpPr>
          <p:cNvPr id="9" name="Text 6"/>
          <p:cNvSpPr txBox="1"/>
          <p:nvPr/>
        </p:nvSpPr>
        <p:spPr>
          <a:xfrm>
            <a:off x="4709160" y="1920240"/>
            <a:ext cx="3886200" cy="566928"/>
          </a:xfrm>
          <a:prstGeom prst="rect">
            <a:avLst/>
          </a:prstGeom>
          <a:noFill/>
          <a:ln/>
        </p:spPr>
        <p:txBody>
          <a:bodyPr wrap="square" lIns="0" tIns="0" rIns="0" bIns="0" rtlCol="0" anchor="ctr"/>
          <a:lstStyle/>
          <a:p>
            <a:pPr indent="0" marL="0">
              <a:buNone/>
            </a:pPr>
            <a:r>
              <a:rPr lang="en-US" sz="2200" b="1" dirty="0">
                <a:solidFill>
                  <a:schemeClr val="tx1"/>
                </a:solidFill>
              </a:rPr>
              <a:t>what the container printed</a:t>
            </a:r>
            <a:endParaRPr lang="en-US" sz="2200" dirty="0"/>
          </a:p>
        </p:txBody>
      </p:sp>
      <p:sp>
        <p:nvSpPr>
          <p:cNvPr id="10" name="command 3"/>
          <p:cNvSpPr/>
          <p:nvPr/>
        </p:nvSpPr>
        <p:spPr>
          <a:xfrm>
            <a:off x="548640" y="2651760"/>
            <a:ext cx="3931920" cy="566928"/>
          </a:xfrm>
          <a:prstGeom prst="roundRect">
            <a:avLst>
              <a:gd name="adj" fmla="val 12903"/>
            </a:avLst>
          </a:prstGeom>
          <a:solidFill>
            <a:schemeClr val="tx1"/>
          </a:solidFill>
          <a:ln/>
        </p:spPr>
      </p:sp>
      <p:sp>
        <p:nvSpPr>
          <p:cNvPr id="11" name="code"/>
          <p:cNvSpPr txBox="1"/>
          <p:nvPr/>
        </p:nvSpPr>
        <p:spPr>
          <a:xfrm>
            <a:off x="713232" y="2734056"/>
            <a:ext cx="3602736" cy="402336"/>
          </a:xfrm>
          <a:prstGeom prst="rect">
            <a:avLst/>
          </a:prstGeom>
          <a:noFill/>
          <a:ln/>
        </p:spPr>
        <p:txBody>
          <a:bodyPr wrap="square" lIns="0" tIns="0" rIns="0" bIns="0" rtlCol="0" anchor="ctr"/>
          <a:lstStyle/>
          <a:p>
            <a:pPr indent="0" marL="0">
              <a:lnSpc>
                <a:spcPts val="2400"/>
              </a:lnSpc>
              <a:buNone/>
            </a:pPr>
            <a:r>
              <a:rPr lang="en-US" sz="2000" dirty="0">
                <a:solidFill>
                  <a:schemeClr val="bg2"/>
                </a:solidFill>
                <a:latin typeface="Courier New" pitchFamily="34" charset="0"/>
                <a:ea typeface="Courier New" pitchFamily="34" charset="-122"/>
                <a:cs typeface="Courier New" pitchFamily="34" charset="-120"/>
              </a:rPr>
              <a:t>docker stop &lt;name&gt;</a:t>
            </a:r>
            <a:endParaRPr lang="en-US" sz="2000" dirty="0"/>
          </a:p>
        </p:txBody>
      </p:sp>
      <p:sp>
        <p:nvSpPr>
          <p:cNvPr id="12" name="Text 9"/>
          <p:cNvSpPr txBox="1"/>
          <p:nvPr/>
        </p:nvSpPr>
        <p:spPr>
          <a:xfrm>
            <a:off x="4709160" y="2651760"/>
            <a:ext cx="3886200" cy="566928"/>
          </a:xfrm>
          <a:prstGeom prst="rect">
            <a:avLst/>
          </a:prstGeom>
          <a:noFill/>
          <a:ln/>
        </p:spPr>
        <p:txBody>
          <a:bodyPr wrap="square" lIns="0" tIns="0" rIns="0" bIns="0" rtlCol="0" anchor="ctr"/>
          <a:lstStyle/>
          <a:p>
            <a:pPr indent="0" marL="0">
              <a:buNone/>
            </a:pPr>
            <a:r>
              <a:rPr lang="en-US" sz="2200" b="1" dirty="0">
                <a:solidFill>
                  <a:schemeClr val="tx1"/>
                </a:solidFill>
              </a:rPr>
              <a:t>waits up to ten seconds</a:t>
            </a:r>
            <a:endParaRPr lang="en-US" sz="2200" dirty="0"/>
          </a:p>
        </p:txBody>
      </p:sp>
      <p:sp>
        <p:nvSpPr>
          <p:cNvPr id="13" name="command 4"/>
          <p:cNvSpPr/>
          <p:nvPr/>
        </p:nvSpPr>
        <p:spPr>
          <a:xfrm>
            <a:off x="548640" y="3383280"/>
            <a:ext cx="3931920" cy="566928"/>
          </a:xfrm>
          <a:prstGeom prst="roundRect">
            <a:avLst>
              <a:gd name="adj" fmla="val 12903"/>
            </a:avLst>
          </a:prstGeom>
          <a:solidFill>
            <a:schemeClr val="tx1"/>
          </a:solidFill>
          <a:ln/>
        </p:spPr>
      </p:sp>
      <p:sp>
        <p:nvSpPr>
          <p:cNvPr id="14" name="code"/>
          <p:cNvSpPr txBox="1"/>
          <p:nvPr/>
        </p:nvSpPr>
        <p:spPr>
          <a:xfrm>
            <a:off x="713232" y="3465576"/>
            <a:ext cx="3602736" cy="402336"/>
          </a:xfrm>
          <a:prstGeom prst="rect">
            <a:avLst/>
          </a:prstGeom>
          <a:noFill/>
          <a:ln/>
        </p:spPr>
        <p:txBody>
          <a:bodyPr wrap="square" lIns="0" tIns="0" rIns="0" bIns="0" rtlCol="0" anchor="ctr"/>
          <a:lstStyle/>
          <a:p>
            <a:pPr indent="0" marL="0">
              <a:lnSpc>
                <a:spcPts val="2400"/>
              </a:lnSpc>
              <a:buNone/>
            </a:pPr>
            <a:r>
              <a:rPr lang="en-US" sz="2000" dirty="0">
                <a:solidFill>
                  <a:schemeClr val="bg2"/>
                </a:solidFill>
                <a:latin typeface="Courier New" pitchFamily="34" charset="0"/>
                <a:ea typeface="Courier New" pitchFamily="34" charset="-122"/>
                <a:cs typeface="Courier New" pitchFamily="34" charset="-120"/>
              </a:rPr>
              <a:t>docker rm &lt;name&gt;</a:t>
            </a:r>
            <a:endParaRPr lang="en-US" sz="2000" dirty="0"/>
          </a:p>
        </p:txBody>
      </p:sp>
      <p:sp>
        <p:nvSpPr>
          <p:cNvPr id="15" name="Text 12"/>
          <p:cNvSpPr txBox="1"/>
          <p:nvPr/>
        </p:nvSpPr>
        <p:spPr>
          <a:xfrm>
            <a:off x="4709160" y="3383280"/>
            <a:ext cx="3886200" cy="566928"/>
          </a:xfrm>
          <a:prstGeom prst="rect">
            <a:avLst/>
          </a:prstGeom>
          <a:noFill/>
          <a:ln/>
        </p:spPr>
        <p:txBody>
          <a:bodyPr wrap="square" lIns="0" tIns="0" rIns="0" bIns="0" rtlCol="0" anchor="ctr"/>
          <a:lstStyle/>
          <a:p>
            <a:pPr indent="0" marL="0">
              <a:buNone/>
            </a:pPr>
            <a:r>
              <a:rPr lang="en-US" sz="2200" b="1" dirty="0">
                <a:solidFill>
                  <a:schemeClr val="tx1"/>
                </a:solidFill>
              </a:rPr>
              <a:t>removes it</a:t>
            </a:r>
            <a:endParaRPr lang="en-US" sz="2200" dirty="0"/>
          </a:p>
        </p:txBody>
      </p:sp>
      <p:sp>
        <p:nvSpPr>
          <p:cNvPr id="16" name="Text 13"/>
          <p:cNvSpPr txBox="1"/>
          <p:nvPr/>
        </p:nvSpPr>
        <p:spPr>
          <a:xfrm>
            <a:off x="548640" y="4206240"/>
            <a:ext cx="8046720" cy="548640"/>
          </a:xfrm>
          <a:prstGeom prst="rect">
            <a:avLst/>
          </a:prstGeom>
          <a:noFill/>
          <a:ln/>
        </p:spPr>
        <p:txBody>
          <a:bodyPr wrap="square" lIns="0" tIns="0" rIns="0" bIns="0" rtlCol="0" anchor="ctr"/>
          <a:lstStyle/>
          <a:p>
            <a:pPr indent="0" marL="0">
              <a:buNone/>
            </a:pPr>
            <a:r>
              <a:rPr lang="en-US" sz="2200" b="1" dirty="0">
                <a:solidFill>
                  <a:schemeClr val="accent2"/>
                </a:solidFill>
                <a:latin typeface="Courier New" pitchFamily="34" charset="0"/>
                <a:ea typeface="Courier New" pitchFamily="34" charset="-122"/>
                <a:cs typeface="Courier New" pitchFamily="34" charset="-120"/>
              </a:rPr>
              <a:t>-f</a:t>
            </a:r>
            <a:pPr indent="0" marL="0">
              <a:buNone/>
            </a:pPr>
            <a:r>
              <a:rPr lang="en-US" sz="2400" b="1" dirty="0">
                <a:solidFill>
                  <a:schemeClr val="accent2"/>
                </a:solidFill>
              </a:rPr>
              <a:t> stops and removes at once.</a:t>
            </a:r>
            <a:endParaRPr lang="en-US" sz="2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bg1"/>
                </a:solidFill>
              </a:rPr>
              <a:t>Containers are disposable</a:t>
            </a:r>
            <a:endParaRPr lang="en-US" sz="3400" dirty="0"/>
          </a:p>
        </p:txBody>
      </p:sp>
      <p:sp>
        <p:nvSpPr>
          <p:cNvPr id="4" name="Text 1"/>
          <p:cNvSpPr txBox="1"/>
          <p:nvPr/>
        </p:nvSpPr>
        <p:spPr>
          <a:xfrm>
            <a:off x="548640" y="1280160"/>
            <a:ext cx="8046720" cy="914400"/>
          </a:xfrm>
          <a:prstGeom prst="rect">
            <a:avLst/>
          </a:prstGeom>
          <a:noFill/>
          <a:ln/>
        </p:spPr>
        <p:txBody>
          <a:bodyPr wrap="square" lIns="0" tIns="0" rIns="0" bIns="0" rtlCol="0" anchor="ctr"/>
          <a:lstStyle/>
          <a:p>
            <a:pPr indent="0" marL="0">
              <a:buNone/>
            </a:pPr>
            <a:r>
              <a:rPr lang="en-US" sz="3800" b="1" dirty="0">
                <a:solidFill>
                  <a:schemeClr val="bg1"/>
                </a:solidFill>
                <a:latin typeface="Cambria" pitchFamily="34" charset="0"/>
                <a:ea typeface="Cambria" pitchFamily="34" charset="-122"/>
                <a:cs typeface="Cambria" pitchFamily="34" charset="-120"/>
              </a:rPr>
              <a:t>A container is disposable.</a:t>
            </a:r>
            <a:endParaRPr lang="en-US" sz="3800" dirty="0"/>
          </a:p>
        </p:txBody>
      </p:sp>
      <p:sp>
        <p:nvSpPr>
          <p:cNvPr id="5" name="Text 2"/>
          <p:cNvSpPr txBox="1"/>
          <p:nvPr/>
        </p:nvSpPr>
        <p:spPr>
          <a:xfrm>
            <a:off x="548640" y="2423160"/>
            <a:ext cx="8046720" cy="914400"/>
          </a:xfrm>
          <a:prstGeom prst="rect">
            <a:avLst/>
          </a:prstGeom>
          <a:noFill/>
          <a:ln/>
        </p:spPr>
        <p:txBody>
          <a:bodyPr wrap="square" lIns="0" tIns="0" rIns="0" bIns="0" rtlCol="0" anchor="ctr"/>
          <a:lstStyle/>
          <a:p>
            <a:pPr indent="0" marL="0">
              <a:buNone/>
            </a:pPr>
            <a:r>
              <a:rPr lang="en-US" sz="3800" b="1" dirty="0">
                <a:solidFill>
                  <a:schemeClr val="bg1"/>
                </a:solidFill>
                <a:latin typeface="Cambria" pitchFamily="34" charset="0"/>
                <a:ea typeface="Cambria" pitchFamily="34" charset="-122"/>
                <a:cs typeface="Cambria" pitchFamily="34" charset="-120"/>
              </a:rPr>
              <a:t>The image stays.</a:t>
            </a:r>
            <a:endParaRPr lang="en-US" sz="3800" dirty="0"/>
          </a:p>
        </p:txBody>
      </p:sp>
      <p:sp>
        <p:nvSpPr>
          <p:cNvPr id="6" name="Text 3"/>
          <p:cNvSpPr txBox="1"/>
          <p:nvPr/>
        </p:nvSpPr>
        <p:spPr>
          <a:xfrm>
            <a:off x="548640" y="3566160"/>
            <a:ext cx="8046720" cy="914400"/>
          </a:xfrm>
          <a:prstGeom prst="rect">
            <a:avLst/>
          </a:prstGeom>
          <a:noFill/>
          <a:ln/>
        </p:spPr>
        <p:txBody>
          <a:bodyPr wrap="square" lIns="0" tIns="0" rIns="0" bIns="0" rtlCol="0" anchor="ctr"/>
          <a:lstStyle/>
          <a:p>
            <a:pPr indent="0" marL="0">
              <a:buNone/>
            </a:pPr>
            <a:r>
              <a:rPr lang="en-US" sz="3800" b="1" dirty="0">
                <a:solidFill>
                  <a:srgbClr val="56D364"/>
                </a:solidFill>
                <a:latin typeface="Cambria" pitchFamily="34" charset="0"/>
                <a:ea typeface="Cambria" pitchFamily="34" charset="-122"/>
                <a:cs typeface="Cambria" pitchFamily="34" charset="-120"/>
              </a:rPr>
              <a:t>A new container starts empty.</a:t>
            </a:r>
            <a:endParaRPr lang="en-US" sz="38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Three steps</a:t>
            </a:r>
            <a:endParaRPr lang="en-US" sz="3400" dirty="0"/>
          </a:p>
        </p:txBody>
      </p:sp>
      <p:sp>
        <p:nvSpPr>
          <p:cNvPr id="4" name="step 1"/>
          <p:cNvSpPr/>
          <p:nvPr/>
        </p:nvSpPr>
        <p:spPr>
          <a:xfrm>
            <a:off x="548640" y="1280160"/>
            <a:ext cx="8046720" cy="731520"/>
          </a:xfrm>
          <a:prstGeom prst="roundRect">
            <a:avLst>
              <a:gd name="adj" fmla="val 1000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5" name="badge 1"/>
          <p:cNvSpPr/>
          <p:nvPr/>
        </p:nvSpPr>
        <p:spPr>
          <a:xfrm>
            <a:off x="731520" y="1417320"/>
            <a:ext cx="457200" cy="457200"/>
          </a:xfrm>
          <a:prstGeom prst="ellipse">
            <a:avLst/>
          </a:prstGeom>
          <a:solidFill>
            <a:schemeClr val="accent1"/>
          </a:solidFill>
          <a:ln/>
        </p:spPr>
      </p:sp>
      <p:sp>
        <p:nvSpPr>
          <p:cNvPr id="6" name="Text 3"/>
          <p:cNvSpPr txBox="1"/>
          <p:nvPr/>
        </p:nvSpPr>
        <p:spPr>
          <a:xfrm>
            <a:off x="731520" y="141732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4"/>
          <p:cNvSpPr txBox="1"/>
          <p:nvPr/>
        </p:nvSpPr>
        <p:spPr>
          <a:xfrm>
            <a:off x="1417320" y="1280160"/>
            <a:ext cx="7040880" cy="731520"/>
          </a:xfrm>
          <a:prstGeom prst="rect">
            <a:avLst/>
          </a:prstGeom>
          <a:noFill/>
          <a:ln/>
        </p:spPr>
        <p:txBody>
          <a:bodyPr wrap="square" lIns="0" tIns="0" rIns="0" bIns="0" rtlCol="0" anchor="ctr"/>
          <a:lstStyle/>
          <a:p>
            <a:pPr indent="0" marL="0">
              <a:buNone/>
            </a:pPr>
            <a:r>
              <a:rPr lang="en-US" sz="2000" b="1" dirty="0">
                <a:solidFill>
                  <a:schemeClr val="tx1"/>
                </a:solidFill>
                <a:latin typeface="Courier New" pitchFamily="34" charset="0"/>
                <a:ea typeface="Courier New" pitchFamily="34" charset="-122"/>
                <a:cs typeface="Courier New" pitchFamily="34" charset="-120"/>
              </a:rPr>
              <a:t>tasks-api</a:t>
            </a:r>
            <a:pPr indent="0" marL="0">
              <a:buNone/>
            </a:pPr>
            <a:r>
              <a:rPr lang="en-US" sz="2200" b="1" dirty="0">
                <a:solidFill>
                  <a:schemeClr val="tx1"/>
                </a:solidFill>
              </a:rPr>
              <a:t> as a container: build it, run it, curl it.</a:t>
            </a:r>
            <a:endParaRPr lang="en-US" sz="2200" dirty="0"/>
          </a:p>
        </p:txBody>
      </p:sp>
      <p:sp>
        <p:nvSpPr>
          <p:cNvPr id="8" name="step 2"/>
          <p:cNvSpPr/>
          <p:nvPr/>
        </p:nvSpPr>
        <p:spPr>
          <a:xfrm>
            <a:off x="548640" y="2148840"/>
            <a:ext cx="8046720" cy="731520"/>
          </a:xfrm>
          <a:prstGeom prst="roundRect">
            <a:avLst>
              <a:gd name="adj" fmla="val 1000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9" name="badge 2"/>
          <p:cNvSpPr/>
          <p:nvPr/>
        </p:nvSpPr>
        <p:spPr>
          <a:xfrm>
            <a:off x="731520" y="2286000"/>
            <a:ext cx="457200" cy="457200"/>
          </a:xfrm>
          <a:prstGeom prst="ellipse">
            <a:avLst/>
          </a:prstGeom>
          <a:solidFill>
            <a:schemeClr val="accent1"/>
          </a:solidFill>
          <a:ln/>
        </p:spPr>
      </p:sp>
      <p:sp>
        <p:nvSpPr>
          <p:cNvPr id="10" name="Text 7"/>
          <p:cNvSpPr txBox="1"/>
          <p:nvPr/>
        </p:nvSpPr>
        <p:spPr>
          <a:xfrm>
            <a:off x="731520" y="228600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8"/>
          <p:cNvSpPr txBox="1"/>
          <p:nvPr/>
        </p:nvSpPr>
        <p:spPr>
          <a:xfrm>
            <a:off x="1417320" y="2148840"/>
            <a:ext cx="7040880" cy="731520"/>
          </a:xfrm>
          <a:prstGeom prst="rect">
            <a:avLst/>
          </a:prstGeom>
          <a:noFill/>
          <a:ln/>
        </p:spPr>
        <p:txBody>
          <a:bodyPr wrap="square" lIns="0" tIns="0" rIns="0" bIns="0" rtlCol="0" anchor="ctr"/>
          <a:lstStyle/>
          <a:p>
            <a:pPr indent="0" marL="0">
              <a:buNone/>
            </a:pPr>
            <a:r>
              <a:rPr lang="en-US" sz="2200" b="1" dirty="0">
                <a:solidFill>
                  <a:schemeClr val="tx1"/>
                </a:solidFill>
              </a:rPr>
              <a:t>The same for </a:t>
            </a:r>
            <a:pPr indent="0" marL="0">
              <a:buNone/>
            </a:pPr>
            <a:r>
              <a:rPr lang="en-US" sz="2000" b="1" dirty="0">
                <a:solidFill>
                  <a:schemeClr val="tx1"/>
                </a:solidFill>
                <a:latin typeface="Courier New" pitchFamily="34" charset="0"/>
                <a:ea typeface="Courier New" pitchFamily="34" charset="-122"/>
                <a:cs typeface="Courier New" pitchFamily="34" charset="-120"/>
              </a:rPr>
              <a:t>title-normalizer</a:t>
            </a:r>
            <a:pPr indent="0" marL="0">
              <a:buNone/>
            </a:pPr>
            <a:r>
              <a:rPr lang="en-US" sz="2200" b="1" dirty="0">
                <a:solidFill>
                  <a:schemeClr val="tx1"/>
                </a:solidFill>
              </a:rPr>
              <a:t>.</a:t>
            </a:r>
            <a:endParaRPr lang="en-US" sz="2200" dirty="0"/>
          </a:p>
        </p:txBody>
      </p:sp>
      <p:sp>
        <p:nvSpPr>
          <p:cNvPr id="12" name="step 3"/>
          <p:cNvSpPr/>
          <p:nvPr/>
        </p:nvSpPr>
        <p:spPr>
          <a:xfrm>
            <a:off x="548640" y="3017520"/>
            <a:ext cx="8046720" cy="731520"/>
          </a:xfrm>
          <a:prstGeom prst="roundRect">
            <a:avLst>
              <a:gd name="adj" fmla="val 1000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3" name="badge 3"/>
          <p:cNvSpPr/>
          <p:nvPr/>
        </p:nvSpPr>
        <p:spPr>
          <a:xfrm>
            <a:off x="731520" y="3154680"/>
            <a:ext cx="457200" cy="457200"/>
          </a:xfrm>
          <a:prstGeom prst="ellipse">
            <a:avLst/>
          </a:prstGeom>
          <a:solidFill>
            <a:schemeClr val="accent1"/>
          </a:solidFill>
          <a:ln/>
        </p:spPr>
      </p:sp>
      <p:sp>
        <p:nvSpPr>
          <p:cNvPr id="14" name="Text 11"/>
          <p:cNvSpPr txBox="1"/>
          <p:nvPr/>
        </p:nvSpPr>
        <p:spPr>
          <a:xfrm>
            <a:off x="731520" y="31546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 12"/>
          <p:cNvSpPr txBox="1"/>
          <p:nvPr/>
        </p:nvSpPr>
        <p:spPr>
          <a:xfrm>
            <a:off x="1417320" y="3017520"/>
            <a:ext cx="7040880" cy="731520"/>
          </a:xfrm>
          <a:prstGeom prst="rect">
            <a:avLst/>
          </a:prstGeom>
          <a:noFill/>
          <a:ln/>
        </p:spPr>
        <p:txBody>
          <a:bodyPr wrap="square" lIns="0" tIns="0" rIns="0" bIns="0" rtlCol="0" anchor="ctr"/>
          <a:lstStyle/>
          <a:p>
            <a:pPr indent="0" marL="0">
              <a:buNone/>
            </a:pPr>
            <a:r>
              <a:rPr lang="en-US" sz="2200" b="1" dirty="0">
                <a:solidFill>
                  <a:schemeClr val="tx1"/>
                </a:solidFill>
              </a:rPr>
              <a:t>Make the two containers talk.</a:t>
            </a:r>
            <a:endParaRPr lang="en-US" sz="2200" dirty="0"/>
          </a:p>
        </p:txBody>
      </p:sp>
      <p:sp>
        <p:nvSpPr>
          <p:cNvPr id="16" name="Text 13"/>
          <p:cNvSpPr txBox="1"/>
          <p:nvPr/>
        </p:nvSpPr>
        <p:spPr>
          <a:xfrm>
            <a:off x="548640" y="4114800"/>
            <a:ext cx="8046720" cy="548640"/>
          </a:xfrm>
          <a:prstGeom prst="rect">
            <a:avLst/>
          </a:prstGeom>
          <a:noFill/>
          <a:ln/>
        </p:spPr>
        <p:txBody>
          <a:bodyPr wrap="square" lIns="0" tIns="0" rIns="0" bIns="0" rtlCol="0" anchor="ctr"/>
          <a:lstStyle/>
          <a:p>
            <a:pPr indent="0" marL="0">
              <a:buNone/>
            </a:pPr>
            <a:r>
              <a:rPr lang="en-US" sz="2600" b="1" dirty="0">
                <a:solidFill>
                  <a:schemeClr val="accent2"/>
                </a:solidFill>
              </a:rPr>
              <a:t>Write each one yourself.</a:t>
            </a:r>
            <a:endParaRPr lang="en-US" sz="26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Where to look</a:t>
            </a:r>
            <a:endParaRPr lang="en-US" sz="3400" dirty="0"/>
          </a:p>
        </p:txBody>
      </p:sp>
      <p:sp>
        <p:nvSpPr>
          <p:cNvPr id="4" name="box Your earlier steps"/>
          <p:cNvSpPr/>
          <p:nvPr/>
        </p:nvSpPr>
        <p:spPr>
          <a:xfrm>
            <a:off x="548640" y="1188720"/>
            <a:ext cx="1737360" cy="914400"/>
          </a:xfrm>
          <a:prstGeom prst="roundRect">
            <a:avLst>
              <a:gd name="adj" fmla="val 8000"/>
            </a:avLst>
          </a:prstGeom>
          <a:solidFill>
            <a:srgbClr val="1A7F37"/>
          </a:solidFill>
          <a:ln/>
        </p:spPr>
      </p:sp>
      <p:sp>
        <p:nvSpPr>
          <p:cNvPr id="5" name="Text 2"/>
          <p:cNvSpPr txBox="1"/>
          <p:nvPr/>
        </p:nvSpPr>
        <p:spPr>
          <a:xfrm>
            <a:off x="640080" y="1188720"/>
            <a:ext cx="1554480" cy="914400"/>
          </a:xfrm>
          <a:prstGeom prst="rect">
            <a:avLst/>
          </a:prstGeom>
          <a:noFill/>
          <a:ln/>
        </p:spPr>
        <p:txBody>
          <a:bodyPr wrap="square" lIns="0" tIns="0" rIns="0" bIns="0" rtlCol="0" anchor="ctr"/>
          <a:lstStyle/>
          <a:p>
            <a:pPr algn="ctr" indent="0" marL="0">
              <a:buNone/>
            </a:pPr>
            <a:r>
              <a:rPr lang="en-US" sz="1800" b="1" dirty="0">
                <a:solidFill>
                  <a:schemeClr val="bg1"/>
                </a:solidFill>
              </a:rPr>
              <a:t>Your earlier steps</a:t>
            </a:r>
            <a:endParaRPr lang="en-US" sz="1800" dirty="0"/>
          </a:p>
        </p:txBody>
      </p:sp>
      <p:sp>
        <p:nvSpPr>
          <p:cNvPr id="6" name="arrow"/>
          <p:cNvSpPr/>
          <p:nvPr/>
        </p:nvSpPr>
        <p:spPr>
          <a:xfrm>
            <a:off x="2331720" y="1499616"/>
            <a:ext cx="274320" cy="292608"/>
          </a:xfrm>
          <a:prstGeom prst="rightArrow">
            <a:avLst/>
          </a:prstGeom>
          <a:solidFill>
            <a:schemeClr val="accent6"/>
          </a:solidFill>
          <a:ln/>
        </p:spPr>
      </p:sp>
      <p:sp>
        <p:nvSpPr>
          <p:cNvPr id="7" name="box The demo file"/>
          <p:cNvSpPr/>
          <p:nvPr/>
        </p:nvSpPr>
        <p:spPr>
          <a:xfrm>
            <a:off x="2651760" y="1188720"/>
            <a:ext cx="1737360" cy="914400"/>
          </a:xfrm>
          <a:prstGeom prst="roundRect">
            <a:avLst>
              <a:gd name="adj" fmla="val 8000"/>
            </a:avLst>
          </a:prstGeom>
          <a:solidFill>
            <a:srgbClr val="1A7F37"/>
          </a:solidFill>
          <a:ln/>
        </p:spPr>
      </p:sp>
      <p:sp>
        <p:nvSpPr>
          <p:cNvPr id="8" name="Text 5"/>
          <p:cNvSpPr txBox="1"/>
          <p:nvPr/>
        </p:nvSpPr>
        <p:spPr>
          <a:xfrm>
            <a:off x="2743200" y="1188720"/>
            <a:ext cx="1554480" cy="914400"/>
          </a:xfrm>
          <a:prstGeom prst="rect">
            <a:avLst/>
          </a:prstGeom>
          <a:noFill/>
          <a:ln/>
        </p:spPr>
        <p:txBody>
          <a:bodyPr wrap="square" lIns="0" tIns="0" rIns="0" bIns="0" rtlCol="0" anchor="ctr"/>
          <a:lstStyle/>
          <a:p>
            <a:pPr algn="ctr" indent="0" marL="0">
              <a:buNone/>
            </a:pPr>
            <a:r>
              <a:rPr lang="en-US" sz="1800" b="1" dirty="0">
                <a:solidFill>
                  <a:schemeClr val="bg1"/>
                </a:solidFill>
              </a:rPr>
              <a:t>The demo file</a:t>
            </a:r>
            <a:endParaRPr lang="en-US" sz="1800" dirty="0"/>
          </a:p>
        </p:txBody>
      </p:sp>
      <p:sp>
        <p:nvSpPr>
          <p:cNvPr id="9" name="arrow"/>
          <p:cNvSpPr/>
          <p:nvPr/>
        </p:nvSpPr>
        <p:spPr>
          <a:xfrm>
            <a:off x="4434840" y="1499616"/>
            <a:ext cx="274320" cy="292608"/>
          </a:xfrm>
          <a:prstGeom prst="rightArrow">
            <a:avLst/>
          </a:prstGeom>
          <a:solidFill>
            <a:schemeClr val="accent6"/>
          </a:solidFill>
          <a:ln/>
        </p:spPr>
      </p:sp>
      <p:sp>
        <p:nvSpPr>
          <p:cNvPr id="10" name="box The docs"/>
          <p:cNvSpPr/>
          <p:nvPr/>
        </p:nvSpPr>
        <p:spPr>
          <a:xfrm>
            <a:off x="4754880" y="1188720"/>
            <a:ext cx="1737360" cy="914400"/>
          </a:xfrm>
          <a:prstGeom prst="roundRect">
            <a:avLst>
              <a:gd name="adj" fmla="val 8000"/>
            </a:avLst>
          </a:prstGeom>
          <a:solidFill>
            <a:srgbClr val="1A7F37"/>
          </a:solidFill>
          <a:ln/>
        </p:spPr>
      </p:sp>
      <p:sp>
        <p:nvSpPr>
          <p:cNvPr id="11" name="Text 8"/>
          <p:cNvSpPr txBox="1"/>
          <p:nvPr/>
        </p:nvSpPr>
        <p:spPr>
          <a:xfrm>
            <a:off x="4846320" y="1188720"/>
            <a:ext cx="1554480" cy="914400"/>
          </a:xfrm>
          <a:prstGeom prst="rect">
            <a:avLst/>
          </a:prstGeom>
          <a:noFill/>
          <a:ln/>
        </p:spPr>
        <p:txBody>
          <a:bodyPr wrap="square" lIns="0" tIns="0" rIns="0" bIns="0" rtlCol="0" anchor="ctr"/>
          <a:lstStyle/>
          <a:p>
            <a:pPr algn="ctr" indent="0" marL="0">
              <a:buNone/>
            </a:pPr>
            <a:r>
              <a:rPr lang="en-US" sz="1800" b="1" dirty="0">
                <a:solidFill>
                  <a:schemeClr val="bg1"/>
                </a:solidFill>
              </a:rPr>
              <a:t>The docs</a:t>
            </a:r>
            <a:endParaRPr lang="en-US" sz="1800" dirty="0"/>
          </a:p>
        </p:txBody>
      </p:sp>
      <p:sp>
        <p:nvSpPr>
          <p:cNvPr id="12" name="arrow"/>
          <p:cNvSpPr/>
          <p:nvPr/>
        </p:nvSpPr>
        <p:spPr>
          <a:xfrm>
            <a:off x="6537960" y="1499616"/>
            <a:ext cx="274320" cy="292608"/>
          </a:xfrm>
          <a:prstGeom prst="rightArrow">
            <a:avLst/>
          </a:prstGeom>
          <a:solidFill>
            <a:schemeClr val="accent6"/>
          </a:solidFill>
          <a:ln/>
        </p:spPr>
      </p:sp>
      <p:sp>
        <p:nvSpPr>
          <p:cNvPr id="13" name="box Raise your hand"/>
          <p:cNvSpPr/>
          <p:nvPr/>
        </p:nvSpPr>
        <p:spPr>
          <a:xfrm>
            <a:off x="6858000" y="1188720"/>
            <a:ext cx="1737360" cy="914400"/>
          </a:xfrm>
          <a:prstGeom prst="roundRect">
            <a:avLst>
              <a:gd name="adj" fmla="val 8000"/>
            </a:avLst>
          </a:prstGeom>
          <a:solidFill>
            <a:schemeClr val="accent2"/>
          </a:solidFill>
          <a:ln/>
        </p:spPr>
      </p:sp>
      <p:sp>
        <p:nvSpPr>
          <p:cNvPr id="14" name="Text 11"/>
          <p:cNvSpPr txBox="1"/>
          <p:nvPr/>
        </p:nvSpPr>
        <p:spPr>
          <a:xfrm>
            <a:off x="6949440" y="1188720"/>
            <a:ext cx="1554480" cy="914400"/>
          </a:xfrm>
          <a:prstGeom prst="rect">
            <a:avLst/>
          </a:prstGeom>
          <a:noFill/>
          <a:ln/>
        </p:spPr>
        <p:txBody>
          <a:bodyPr wrap="square" lIns="0" tIns="0" rIns="0" bIns="0" rtlCol="0" anchor="ctr"/>
          <a:lstStyle/>
          <a:p>
            <a:pPr algn="ctr" indent="0" marL="0">
              <a:buNone/>
            </a:pPr>
            <a:r>
              <a:rPr lang="en-US" sz="1800" b="1" dirty="0">
                <a:solidFill>
                  <a:schemeClr val="bg1"/>
                </a:solidFill>
              </a:rPr>
              <a:t>Raise your hand</a:t>
            </a:r>
            <a:endParaRPr lang="en-US" sz="1800" dirty="0"/>
          </a:p>
        </p:txBody>
      </p:sp>
      <p:sp>
        <p:nvSpPr>
          <p:cNvPr id="15" name="docs pages"/>
          <p:cNvSpPr/>
          <p:nvPr/>
        </p:nvSpPr>
        <p:spPr>
          <a:xfrm>
            <a:off x="548640" y="2331720"/>
            <a:ext cx="8046720" cy="1600200"/>
          </a:xfrm>
          <a:prstGeom prst="roundRect">
            <a:avLst>
              <a:gd name="adj" fmla="val 457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6" name="Text 13"/>
          <p:cNvSpPr txBox="1"/>
          <p:nvPr/>
        </p:nvSpPr>
        <p:spPr>
          <a:xfrm>
            <a:off x="822960" y="2395728"/>
            <a:ext cx="7498080" cy="320040"/>
          </a:xfrm>
          <a:prstGeom prst="rect">
            <a:avLst/>
          </a:prstGeom>
          <a:noFill/>
          <a:ln/>
        </p:spPr>
        <p:txBody>
          <a:bodyPr wrap="square" lIns="0" tIns="0" rIns="0" bIns="0" rtlCol="0" anchor="t"/>
          <a:lstStyle/>
          <a:p>
            <a:pPr indent="0" marL="0">
              <a:buNone/>
            </a:pPr>
            <a:r>
              <a:rPr lang="en-US" sz="1400" b="1" dirty="0">
                <a:solidFill>
                  <a:schemeClr val="accent6"/>
                </a:solidFill>
              </a:rPr>
              <a:t>Docs pages</a:t>
            </a:r>
            <a:endParaRPr lang="en-US" sz="1400" dirty="0"/>
          </a:p>
        </p:txBody>
      </p:sp>
      <p:sp>
        <p:nvSpPr>
          <p:cNvPr id="17" name="Text 14"/>
          <p:cNvSpPr txBox="1"/>
          <p:nvPr/>
        </p:nvSpPr>
        <p:spPr>
          <a:xfrm>
            <a:off x="822960" y="2743200"/>
            <a:ext cx="7498080" cy="1097280"/>
          </a:xfrm>
          <a:prstGeom prst="rect">
            <a:avLst/>
          </a:prstGeom>
          <a:noFill/>
          <a:ln/>
        </p:spPr>
        <p:txBody>
          <a:bodyPr wrap="square" lIns="0" tIns="0" rIns="0" bIns="0" rtlCol="0" anchor="t"/>
          <a:lstStyle/>
          <a:p>
            <a:pPr marL="177800" indent="-177800">
              <a:spcAft>
                <a:spcPts val="400"/>
              </a:spcAft>
              <a:buSzPct val="100000"/>
              <a:buChar char="•"/>
            </a:pPr>
            <a:r>
              <a:rPr lang="en-US" sz="1800" b="1" dirty="0">
                <a:solidFill>
                  <a:schemeClr val="tx1"/>
                </a:solidFill>
              </a:rPr>
              <a:t>Dockerfile reference</a:t>
            </a:r>
            <a:endParaRPr lang="en-US" sz="1800" dirty="0"/>
          </a:p>
          <a:p>
            <a:pPr marL="177800" indent="-177800">
              <a:spcAft>
                <a:spcPts val="400"/>
              </a:spcAft>
              <a:buSzPct val="100000"/>
              <a:buChar char="•"/>
            </a:pPr>
            <a:r>
              <a:rPr lang="en-US" sz="1800" b="1" dirty="0">
                <a:solidFill>
                  <a:schemeClr val="tx1"/>
                </a:solidFill>
              </a:rPr>
              <a:t>Building best practices</a:t>
            </a:r>
            <a:endParaRPr lang="en-US" sz="1800" dirty="0"/>
          </a:p>
          <a:p>
            <a:pPr marL="177800" indent="-177800">
              <a:spcAft>
                <a:spcPts val="400"/>
              </a:spcAft>
              <a:buSzPct val="100000"/>
              <a:buChar char="•"/>
            </a:pPr>
            <a:r>
              <a:rPr lang="en-US" sz="1800" b="1" dirty="0">
                <a:solidFill>
                  <a:schemeClr val="tx1"/>
                </a:solidFill>
              </a:rPr>
              <a:t>Forwarding ports in your codespace</a:t>
            </a:r>
            <a:endParaRPr lang="en-US" sz="1800" dirty="0"/>
          </a:p>
        </p:txBody>
      </p:sp>
      <p:sp>
        <p:nvSpPr>
          <p:cNvPr id="18" name="Text 15"/>
          <p:cNvSpPr txBox="1"/>
          <p:nvPr/>
        </p:nvSpPr>
        <p:spPr>
          <a:xfrm>
            <a:off x="548640" y="4114800"/>
            <a:ext cx="8046720" cy="548640"/>
          </a:xfrm>
          <a:prstGeom prst="rect">
            <a:avLst/>
          </a:prstGeom>
          <a:noFill/>
          <a:ln/>
        </p:spPr>
        <p:txBody>
          <a:bodyPr wrap="square" lIns="0" tIns="0" rIns="0" bIns="0" rtlCol="0" anchor="ctr"/>
          <a:lstStyle/>
          <a:p>
            <a:pPr indent="0" marL="0">
              <a:buNone/>
            </a:pPr>
            <a:r>
              <a:rPr lang="en-US" sz="2600" b="1" dirty="0">
                <a:solidFill>
                  <a:schemeClr val="accent2"/>
                </a:solidFill>
              </a:rPr>
              <a:t>Paste only what you can explain.</a:t>
            </a:r>
            <a:endParaRPr lang="en-US" sz="26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A red build is information</a:t>
            </a:r>
            <a:endParaRPr lang="en-US" sz="3400" dirty="0"/>
          </a:p>
        </p:txBody>
      </p:sp>
      <p:sp>
        <p:nvSpPr>
          <p:cNvPr id="4" name="Text 1"/>
          <p:cNvSpPr txBox="1"/>
          <p:nvPr/>
        </p:nvSpPr>
        <p:spPr>
          <a:xfrm>
            <a:off x="548640" y="1188720"/>
            <a:ext cx="8046720" cy="640080"/>
          </a:xfrm>
          <a:prstGeom prst="rect">
            <a:avLst/>
          </a:prstGeom>
          <a:noFill/>
          <a:ln/>
        </p:spPr>
        <p:txBody>
          <a:bodyPr wrap="square" lIns="0" tIns="0" rIns="0" bIns="0" rtlCol="0" anchor="ctr"/>
          <a:lstStyle/>
          <a:p>
            <a:pPr indent="0" marL="0">
              <a:buNone/>
            </a:pPr>
            <a:r>
              <a:rPr lang="en-US" sz="2800" b="1" dirty="0">
                <a:solidFill>
                  <a:schemeClr val="tx1"/>
                </a:solidFill>
              </a:rPr>
              <a:t>Read the error before you change anything.</a:t>
            </a:r>
            <a:endParaRPr lang="en-US" sz="2800" dirty="0"/>
          </a:p>
        </p:txBody>
      </p:sp>
      <p:sp>
        <p:nvSpPr>
          <p:cNvPr id="5" name="Text 2"/>
          <p:cNvSpPr txBox="1"/>
          <p:nvPr/>
        </p:nvSpPr>
        <p:spPr>
          <a:xfrm>
            <a:off x="548640" y="1920240"/>
            <a:ext cx="8046720" cy="640080"/>
          </a:xfrm>
          <a:prstGeom prst="rect">
            <a:avLst/>
          </a:prstGeom>
          <a:noFill/>
          <a:ln/>
        </p:spPr>
        <p:txBody>
          <a:bodyPr wrap="square" lIns="0" tIns="0" rIns="0" bIns="0" rtlCol="0" anchor="ctr"/>
          <a:lstStyle/>
          <a:p>
            <a:pPr indent="0" marL="0">
              <a:buNone/>
            </a:pPr>
            <a:r>
              <a:rPr lang="en-US" sz="2800" b="1" dirty="0">
                <a:solidFill>
                  <a:schemeClr val="accent2"/>
                </a:solidFill>
              </a:rPr>
              <a:t>Change one thing at a time.</a:t>
            </a:r>
            <a:endParaRPr lang="en-US" sz="2800" dirty="0"/>
          </a:p>
        </p:txBody>
      </p:sp>
      <p:sp>
        <p:nvSpPr>
          <p:cNvPr id="6" name="test output banner"/>
          <p:cNvSpPr/>
          <p:nvPr/>
        </p:nvSpPr>
        <p:spPr>
          <a:xfrm>
            <a:off x="548640" y="3017520"/>
            <a:ext cx="8046720" cy="1280160"/>
          </a:xfrm>
          <a:prstGeom prst="roundRect">
            <a:avLst>
              <a:gd name="adj" fmla="val 5714"/>
            </a:avLst>
          </a:prstGeom>
          <a:solidFill>
            <a:schemeClr val="tx1"/>
          </a:solidFill>
          <a:ln/>
        </p:spPr>
      </p:sp>
      <p:sp>
        <p:nvSpPr>
          <p:cNvPr id="7" name="Text 4"/>
          <p:cNvSpPr txBox="1"/>
          <p:nvPr/>
        </p:nvSpPr>
        <p:spPr>
          <a:xfrm>
            <a:off x="822960" y="3017520"/>
            <a:ext cx="7498080" cy="1280160"/>
          </a:xfrm>
          <a:prstGeom prst="rect">
            <a:avLst/>
          </a:prstGeom>
          <a:noFill/>
          <a:ln/>
        </p:spPr>
        <p:txBody>
          <a:bodyPr wrap="square" lIns="0" tIns="0" rIns="0" bIns="0" rtlCol="0" anchor="ctr"/>
          <a:lstStyle/>
          <a:p>
            <a:pPr indent="0" marL="0">
              <a:buNone/>
            </a:pPr>
            <a:r>
              <a:rPr lang="en-US" sz="2400" b="1" dirty="0">
                <a:solidFill>
                  <a:schemeClr val="bg1"/>
                </a:solidFill>
              </a:rPr>
              <a:t>A failed build tells you the line.</a:t>
            </a:r>
            <a:endParaRPr lang="en-US" sz="2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The demo Dockerfile</a:t>
            </a:r>
            <a:endParaRPr lang="en-US" sz="3400" dirty="0"/>
          </a:p>
        </p:txBody>
      </p:sp>
      <p:sp>
        <p:nvSpPr>
          <p:cNvPr id="4" name="code panel"/>
          <p:cNvSpPr/>
          <p:nvPr/>
        </p:nvSpPr>
        <p:spPr>
          <a:xfrm>
            <a:off x="320040" y="1005840"/>
            <a:ext cx="8503920" cy="2926080"/>
          </a:xfrm>
          <a:prstGeom prst="roundRect">
            <a:avLst>
              <a:gd name="adj" fmla="val 2500"/>
            </a:avLst>
          </a:prstGeom>
          <a:solidFill>
            <a:schemeClr val="tx1"/>
          </a:solidFill>
          <a:ln/>
        </p:spPr>
      </p:sp>
      <p:sp>
        <p:nvSpPr>
          <p:cNvPr id="5" name="code"/>
          <p:cNvSpPr txBox="1"/>
          <p:nvPr/>
        </p:nvSpPr>
        <p:spPr>
          <a:xfrm>
            <a:off x="429768" y="1088136"/>
            <a:ext cx="8284464" cy="2761488"/>
          </a:xfrm>
          <a:prstGeom prst="rect">
            <a:avLst/>
          </a:prstGeom>
          <a:noFill/>
          <a:ln/>
        </p:spPr>
        <p:txBody>
          <a:bodyPr wrap="square" lIns="0" tIns="0" rIns="0" bIns="0" rtlCol="0" anchor="t"/>
          <a:lstStyle/>
          <a:p>
            <a:pPr indent="0" marL="0">
              <a:lnSpc>
                <a:spcPts val="3520"/>
              </a:lnSpc>
              <a:buNone/>
            </a:pPr>
            <a:r>
              <a:rPr lang="en-US" sz="2200" dirty="0">
                <a:solidFill>
                  <a:schemeClr val="bg2"/>
                </a:solidFill>
                <a:latin typeface="Courier New" pitchFamily="34" charset="0"/>
                <a:ea typeface="Courier New" pitchFamily="34" charset="-122"/>
                <a:cs typeface="Courier New" pitchFamily="34" charset="-120"/>
              </a:rPr>
              <a:t>FROM node:24-slim</a:t>
            </a:r>
            <a:endParaRPr lang="en-US" sz="2200" dirty="0"/>
          </a:p>
          <a:p>
            <a:pPr indent="0" marL="0">
              <a:lnSpc>
                <a:spcPts val="3520"/>
              </a:lnSpc>
              <a:buNone/>
            </a:pPr>
            <a:r>
              <a:rPr lang="en-US" sz="2200" dirty="0">
                <a:solidFill>
                  <a:schemeClr val="bg2"/>
                </a:solidFill>
                <a:latin typeface="Courier New" pitchFamily="34" charset="0"/>
                <a:ea typeface="Courier New" pitchFamily="34" charset="-122"/>
                <a:cs typeface="Courier New" pitchFamily="34" charset="-120"/>
              </a:rPr>
              <a:t>WORKDIR /app</a:t>
            </a:r>
            <a:endParaRPr lang="en-US" sz="2200" dirty="0"/>
          </a:p>
          <a:p>
            <a:pPr indent="0" marL="0">
              <a:lnSpc>
                <a:spcPts val="3520"/>
              </a:lnSpc>
              <a:buNone/>
            </a:pPr>
            <a:r>
              <a:rPr lang="en-US" sz="2200" dirty="0">
                <a:solidFill>
                  <a:schemeClr val="bg2"/>
                </a:solidFill>
                <a:latin typeface="Courier New" pitchFamily="34" charset="0"/>
                <a:ea typeface="Courier New" pitchFamily="34" charset="-122"/>
                <a:cs typeface="Courier New" pitchFamily="34" charset="-120"/>
              </a:rPr>
              <a:t>COPY server.js .</a:t>
            </a:r>
            <a:endParaRPr lang="en-US" sz="2200" dirty="0"/>
          </a:p>
          <a:p>
            <a:pPr indent="0" marL="0">
              <a:lnSpc>
                <a:spcPts val="3520"/>
              </a:lnSpc>
              <a:buNone/>
            </a:pPr>
            <a:r>
              <a:rPr lang="en-US" sz="2200" dirty="0">
                <a:solidFill>
                  <a:schemeClr val="bg2"/>
                </a:solidFill>
                <a:latin typeface="Courier New" pitchFamily="34" charset="0"/>
                <a:ea typeface="Courier New" pitchFamily="34" charset="-122"/>
                <a:cs typeface="Courier New" pitchFamily="34" charset="-120"/>
              </a:rPr>
              <a:t>RUN node --version</a:t>
            </a:r>
            <a:endParaRPr lang="en-US" sz="2200" dirty="0"/>
          </a:p>
          <a:p>
            <a:pPr indent="0" marL="0">
              <a:lnSpc>
                <a:spcPts val="3520"/>
              </a:lnSpc>
              <a:buNone/>
            </a:pPr>
            <a:r>
              <a:rPr lang="en-US" sz="2200" dirty="0">
                <a:solidFill>
                  <a:schemeClr val="bg2"/>
                </a:solidFill>
                <a:latin typeface="Courier New" pitchFamily="34" charset="0"/>
                <a:ea typeface="Courier New" pitchFamily="34" charset="-122"/>
                <a:cs typeface="Courier New" pitchFamily="34" charset="-120"/>
              </a:rPr>
              <a:t>EXPOSE 3000</a:t>
            </a:r>
            <a:endParaRPr lang="en-US" sz="2200" dirty="0"/>
          </a:p>
          <a:p>
            <a:pPr indent="0" marL="0">
              <a:lnSpc>
                <a:spcPts val="3520"/>
              </a:lnSpc>
              <a:buNone/>
            </a:pPr>
            <a:r>
              <a:rPr lang="en-US" sz="2200" dirty="0">
                <a:solidFill>
                  <a:schemeClr val="bg2"/>
                </a:solidFill>
                <a:latin typeface="Courier New" pitchFamily="34" charset="0"/>
                <a:ea typeface="Courier New" pitchFamily="34" charset="-122"/>
                <a:cs typeface="Courier New" pitchFamily="34" charset="-120"/>
              </a:rPr>
              <a:t>CMD ["node", "server.js"]</a:t>
            </a:r>
            <a:endParaRPr lang="en-US" sz="2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1</a:t>
            </a:r>
            <a:endParaRPr lang="en-US" sz="3400" dirty="0"/>
          </a:p>
        </p:txBody>
      </p:sp>
      <p:sp>
        <p:nvSpPr>
          <p:cNvPr id="4" name="requirement"/>
          <p:cNvSpPr/>
          <p:nvPr/>
        </p:nvSpPr>
        <p:spPr>
          <a:xfrm>
            <a:off x="548640" y="1280160"/>
            <a:ext cx="8046720" cy="3291840"/>
          </a:xfrm>
          <a:prstGeom prst="roundRect">
            <a:avLst>
              <a:gd name="adj" fmla="val 2222"/>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5" name="requirement bar"/>
          <p:cNvSpPr/>
          <p:nvPr/>
        </p:nvSpPr>
        <p:spPr>
          <a:xfrm>
            <a:off x="548640" y="1280160"/>
            <a:ext cx="91440" cy="3291840"/>
          </a:xfrm>
          <a:prstGeom prst="rect">
            <a:avLst/>
          </a:prstGeom>
          <a:solidFill>
            <a:schemeClr val="accent1"/>
          </a:solidFill>
          <a:ln/>
        </p:spPr>
      </p:sp>
      <p:sp>
        <p:nvSpPr>
          <p:cNvPr id="6" name="Text 3"/>
          <p:cNvSpPr txBox="1"/>
          <p:nvPr/>
        </p:nvSpPr>
        <p:spPr>
          <a:xfrm>
            <a:off x="914400" y="1371600"/>
            <a:ext cx="7498080" cy="3108960"/>
          </a:xfrm>
          <a:prstGeom prst="rect">
            <a:avLst/>
          </a:prstGeom>
          <a:noFill/>
          <a:ln/>
        </p:spPr>
        <p:txBody>
          <a:bodyPr wrap="square" lIns="0" tIns="0" rIns="0" bIns="0" rtlCol="0" anchor="ctr"/>
          <a:lstStyle/>
          <a:p>
            <a:pPr indent="0" marL="0">
              <a:spcAft>
                <a:spcPts val="800"/>
              </a:spcAft>
              <a:buNone/>
            </a:pPr>
            <a:r>
              <a:rPr lang="en-US" sz="2200" dirty="0">
                <a:solidFill>
                  <a:schemeClr val="tx1"/>
                </a:solidFill>
              </a:rPr>
              <a:t>Create </a:t>
            </a:r>
            <a:pPr indent="0" marL="0">
              <a:spcAft>
                <a:spcPts val="800"/>
              </a:spcAft>
              <a:buNone/>
            </a:pPr>
            <a:r>
              <a:rPr lang="en-US" sz="2200" dirty="0">
                <a:solidFill>
                  <a:schemeClr val="tx1"/>
                </a:solidFill>
                <a:latin typeface="Courier New" pitchFamily="34" charset="0"/>
                <a:ea typeface="Courier New" pitchFamily="34" charset="-122"/>
                <a:cs typeface="Courier New" pitchFamily="34" charset="-120"/>
              </a:rPr>
              <a:t>services/tasks-api/Dockerfile</a:t>
            </a:r>
            <a:pPr indent="0" marL="0">
              <a:spcAft>
                <a:spcPts val="800"/>
              </a:spcAft>
              <a:buNone/>
            </a:pPr>
            <a:r>
              <a:rPr lang="en-US" sz="2200" dirty="0">
                <a:solidFill>
                  <a:schemeClr val="tx1"/>
                </a:solidFill>
              </a:rPr>
              <a:t>.</a:t>
            </a:r>
            <a:endParaRPr lang="en-US" sz="2200" dirty="0"/>
          </a:p>
          <a:p>
            <a:pPr indent="0" marL="0">
              <a:spcAft>
                <a:spcPts val="800"/>
              </a:spcAft>
              <a:buNone/>
            </a:pPr>
            <a:r>
              <a:rPr lang="en-US" sz="2200" dirty="0">
                <a:solidFill>
                  <a:schemeClr val="tx1"/>
                </a:solidFill>
              </a:rPr>
              <a:t>Build an image named </a:t>
            </a:r>
            <a:pPr indent="0" marL="0">
              <a:spcAft>
                <a:spcPts val="800"/>
              </a:spcAft>
              <a:buNone/>
            </a:pPr>
            <a:r>
              <a:rPr lang="en-US" sz="2200" dirty="0">
                <a:solidFill>
                  <a:schemeClr val="tx1"/>
                </a:solidFill>
                <a:latin typeface="Courier New" pitchFamily="34" charset="0"/>
                <a:ea typeface="Courier New" pitchFamily="34" charset="-122"/>
                <a:cs typeface="Courier New" pitchFamily="34" charset="-120"/>
              </a:rPr>
              <a:t>tasks-api</a:t>
            </a:r>
            <a:pPr indent="0" marL="0">
              <a:spcAft>
                <a:spcPts val="800"/>
              </a:spcAft>
              <a:buNone/>
            </a:pPr>
            <a:r>
              <a:rPr lang="en-US" sz="2200" dirty="0">
                <a:solidFill>
                  <a:schemeClr val="tx1"/>
                </a:solidFill>
              </a:rPr>
              <a:t>.</a:t>
            </a:r>
            <a:endParaRPr lang="en-US" sz="2200" dirty="0"/>
          </a:p>
          <a:p>
            <a:pPr indent="0" marL="0">
              <a:spcAft>
                <a:spcPts val="800"/>
              </a:spcAft>
              <a:buNone/>
            </a:pPr>
            <a:r>
              <a:rPr lang="en-US" sz="2200" dirty="0">
                <a:solidFill>
                  <a:schemeClr val="tx1"/>
                </a:solidFill>
              </a:rPr>
              <a:t>Run it in the foreground, port 5000 published.</a:t>
            </a:r>
            <a:endParaRPr lang="en-US" sz="2200" dirty="0"/>
          </a:p>
          <a:p>
            <a:pPr indent="0" marL="0">
              <a:spcAft>
                <a:spcPts val="800"/>
              </a:spcAft>
              <a:buNone/>
            </a:pPr>
            <a:r>
              <a:rPr lang="en-US" sz="2200" dirty="0">
                <a:solidFill>
                  <a:schemeClr val="tx1"/>
                </a:solidFill>
              </a:rPr>
              <a:t>In a second terminal: </a:t>
            </a:r>
            <a:pPr indent="0" marL="0">
              <a:spcAft>
                <a:spcPts val="800"/>
              </a:spcAft>
              <a:buNone/>
            </a:pPr>
            <a:r>
              <a:rPr lang="en-US" sz="2200" dirty="0">
                <a:solidFill>
                  <a:schemeClr val="tx1"/>
                </a:solidFill>
                <a:latin typeface="Courier New" pitchFamily="34" charset="0"/>
                <a:ea typeface="Courier New" pitchFamily="34" charset="-122"/>
                <a:cs typeface="Courier New" pitchFamily="34" charset="-120"/>
              </a:rPr>
              <a:t>curl localhost:5000/health</a:t>
            </a:r>
            <a:pPr indent="0" marL="0">
              <a:spcAft>
                <a:spcPts val="800"/>
              </a:spcAft>
              <a:buNone/>
            </a:pPr>
            <a:r>
              <a:rPr lang="en-US" sz="2200" dirty="0">
                <a:solidFill>
                  <a:schemeClr val="tx1"/>
                </a:solidFill>
              </a:rPr>
              <a:t>, then create a task with </a:t>
            </a:r>
            <a:pPr indent="0" marL="0">
              <a:spcAft>
                <a:spcPts val="800"/>
              </a:spcAft>
              <a:buNone/>
            </a:pPr>
            <a:r>
              <a:rPr lang="en-US" sz="2200" dirty="0">
                <a:solidFill>
                  <a:schemeClr val="tx1"/>
                </a:solidFill>
                <a:latin typeface="Courier New" pitchFamily="34" charset="0"/>
                <a:ea typeface="Courier New" pitchFamily="34" charset="-122"/>
                <a:cs typeface="Courier New" pitchFamily="34" charset="-120"/>
              </a:rPr>
              <a:t>POST /tasks</a:t>
            </a:r>
            <a:pPr indent="0" marL="0">
              <a:spcAft>
                <a:spcPts val="800"/>
              </a:spcAft>
              <a:buNone/>
            </a:pPr>
            <a:r>
              <a:rPr lang="en-US" sz="2200" dirty="0">
                <a:solidFill>
                  <a:schemeClr val="tx1"/>
                </a:solidFill>
              </a:rPr>
              <a:t>.</a:t>
            </a:r>
            <a:endParaRPr lang="en-US" sz="2200" dirty="0"/>
          </a:p>
          <a:p>
            <a:pPr indent="0" marL="0">
              <a:buNone/>
            </a:pPr>
            <a:r>
              <a:rPr lang="en-US" sz="2200" dirty="0">
                <a:solidFill>
                  <a:schemeClr val="tx1"/>
                </a:solidFill>
              </a:rPr>
              <a:t>Do not change the Python code.</a:t>
            </a:r>
            <a:endParaRPr lang="en-US" sz="2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1: stuck?</a:t>
            </a:r>
            <a:endParaRPr lang="en-US" sz="3400" dirty="0"/>
          </a:p>
        </p:txBody>
      </p:sp>
      <p:sp>
        <p:nvSpPr>
          <p:cNvPr id="4" name="requirement line"/>
          <p:cNvSpPr/>
          <p:nvPr/>
        </p:nvSpPr>
        <p:spPr>
          <a:xfrm>
            <a:off x="548640" y="1060704"/>
            <a:ext cx="8046720" cy="347472"/>
          </a:xfrm>
          <a:prstGeom prst="roundRect">
            <a:avLst>
              <a:gd name="adj" fmla="val 21053"/>
            </a:avLst>
          </a:prstGeom>
          <a:solidFill>
            <a:schemeClr val="tx1"/>
          </a:solidFill>
          <a:ln/>
        </p:spPr>
      </p:sp>
      <p:sp>
        <p:nvSpPr>
          <p:cNvPr id="5" name="Text 2"/>
          <p:cNvSpPr txBox="1"/>
          <p:nvPr/>
        </p:nvSpPr>
        <p:spPr>
          <a:xfrm>
            <a:off x="777240" y="1060704"/>
            <a:ext cx="7589520" cy="347472"/>
          </a:xfrm>
          <a:prstGeom prst="rect">
            <a:avLst/>
          </a:prstGeom>
          <a:noFill/>
          <a:ln/>
        </p:spPr>
        <p:txBody>
          <a:bodyPr wrap="square" lIns="0" tIns="0" rIns="0" bIns="0" rtlCol="0" anchor="ctr"/>
          <a:lstStyle/>
          <a:p>
            <a:pPr indent="0" marL="0">
              <a:buNone/>
            </a:pPr>
            <a:r>
              <a:rPr lang="en-US" sz="1600" b="1" dirty="0">
                <a:solidFill>
                  <a:schemeClr val="bg1"/>
                </a:solidFill>
              </a:rPr>
              <a:t>Dockerfile for </a:t>
            </a:r>
            <a:pPr indent="0" marL="0">
              <a:buNone/>
            </a:pPr>
            <a:r>
              <a:rPr lang="en-US" sz="1600" b="1" dirty="0">
                <a:solidFill>
                  <a:schemeClr val="bg1"/>
                </a:solidFill>
                <a:latin typeface="Courier New" pitchFamily="34" charset="0"/>
                <a:ea typeface="Courier New" pitchFamily="34" charset="-122"/>
                <a:cs typeface="Courier New" pitchFamily="34" charset="-120"/>
              </a:rPr>
              <a:t>tasks-api</a:t>
            </a:r>
            <a:pPr indent="0" marL="0">
              <a:buNone/>
            </a:pPr>
            <a:r>
              <a:rPr lang="en-US" sz="1600" b="1" dirty="0">
                <a:solidFill>
                  <a:schemeClr val="bg1"/>
                </a:solidFill>
              </a:rPr>
              <a:t>, image </a:t>
            </a:r>
            <a:pPr indent="0" marL="0">
              <a:buNone/>
            </a:pPr>
            <a:r>
              <a:rPr lang="en-US" sz="1600" b="1" dirty="0">
                <a:solidFill>
                  <a:schemeClr val="bg1"/>
                </a:solidFill>
                <a:latin typeface="Courier New" pitchFamily="34" charset="0"/>
                <a:ea typeface="Courier New" pitchFamily="34" charset="-122"/>
                <a:cs typeface="Courier New" pitchFamily="34" charset="-120"/>
              </a:rPr>
              <a:t>tasks-api</a:t>
            </a:r>
            <a:pPr indent="0" marL="0">
              <a:buNone/>
            </a:pPr>
            <a:r>
              <a:rPr lang="en-US" sz="1600" b="1" dirty="0">
                <a:solidFill>
                  <a:schemeClr val="bg1"/>
                </a:solidFill>
              </a:rPr>
              <a:t>, run it, </a:t>
            </a:r>
            <a:pPr indent="0" marL="0">
              <a:buNone/>
            </a:pPr>
            <a:r>
              <a:rPr lang="en-US" sz="1600" b="1" dirty="0">
                <a:solidFill>
                  <a:schemeClr val="bg1"/>
                </a:solidFill>
                <a:latin typeface="Courier New" pitchFamily="34" charset="0"/>
                <a:ea typeface="Courier New" pitchFamily="34" charset="-122"/>
                <a:cs typeface="Courier New" pitchFamily="34" charset="-120"/>
              </a:rPr>
              <a:t>curl</a:t>
            </a:r>
            <a:pPr indent="0" marL="0">
              <a:buNone/>
            </a:pPr>
            <a:r>
              <a:rPr lang="en-US" sz="1600" b="1" dirty="0">
                <a:solidFill>
                  <a:schemeClr val="bg1"/>
                </a:solidFill>
              </a:rPr>
              <a:t> </a:t>
            </a:r>
            <a:pPr indent="0" marL="0">
              <a:buNone/>
            </a:pPr>
            <a:r>
              <a:rPr lang="en-US" sz="1600" b="1" dirty="0">
                <a:solidFill>
                  <a:schemeClr val="bg1"/>
                </a:solidFill>
                <a:latin typeface="Courier New" pitchFamily="34" charset="0"/>
                <a:ea typeface="Courier New" pitchFamily="34" charset="-122"/>
                <a:cs typeface="Courier New" pitchFamily="34" charset="-120"/>
              </a:rPr>
              <a:t>/health</a:t>
            </a:r>
            <a:pPr indent="0" marL="0">
              <a:buNone/>
            </a:pPr>
            <a:r>
              <a:rPr lang="en-US" sz="1600" b="1" dirty="0">
                <a:solidFill>
                  <a:schemeClr val="bg1"/>
                </a:solidFill>
              </a:rPr>
              <a:t>.</a:t>
            </a:r>
            <a:endParaRPr lang="en-US" sz="1600" dirty="0"/>
          </a:p>
        </p:txBody>
      </p:sp>
      <p:sp>
        <p:nvSpPr>
          <p:cNvPr id="6" name="hint a card"/>
          <p:cNvSpPr/>
          <p:nvPr/>
        </p:nvSpPr>
        <p:spPr>
          <a:xfrm>
            <a:off x="548640" y="1481328"/>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7" name="hint a circle"/>
          <p:cNvSpPr/>
          <p:nvPr/>
        </p:nvSpPr>
        <p:spPr>
          <a:xfrm>
            <a:off x="640080" y="1585722"/>
            <a:ext cx="329184" cy="329184"/>
          </a:xfrm>
          <a:prstGeom prst="ellipse">
            <a:avLst/>
          </a:prstGeom>
          <a:solidFill>
            <a:schemeClr val="accent2"/>
          </a:solidFill>
          <a:ln/>
        </p:spPr>
      </p:sp>
      <p:sp>
        <p:nvSpPr>
          <p:cNvPr id="8" name="hint a letter"/>
          <p:cNvSpPr txBox="1"/>
          <p:nvPr/>
        </p:nvSpPr>
        <p:spPr>
          <a:xfrm>
            <a:off x="640080" y="158572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9" name="hint a text"/>
          <p:cNvSpPr txBox="1"/>
          <p:nvPr/>
        </p:nvSpPr>
        <p:spPr>
          <a:xfrm>
            <a:off x="1060704" y="1481328"/>
            <a:ext cx="7443216" cy="537972"/>
          </a:xfrm>
          <a:prstGeom prst="rect">
            <a:avLst/>
          </a:prstGeom>
          <a:noFill/>
          <a:ln/>
        </p:spPr>
        <p:txBody>
          <a:bodyPr wrap="square" lIns="0" tIns="0" rIns="0" bIns="0" rtlCol="0" anchor="ctr"/>
          <a:lstStyle/>
          <a:p>
            <a:pPr indent="0" marL="0">
              <a:buNone/>
            </a:pPr>
            <a:r>
              <a:rPr lang="en-US" sz="1600" dirty="0">
                <a:solidFill>
                  <a:schemeClr val="tx1"/>
                </a:solidFill>
              </a:rPr>
              <a:t>Look at the demo: what did each line do?</a:t>
            </a:r>
            <a:endParaRPr lang="en-US" sz="1600" dirty="0"/>
          </a:p>
        </p:txBody>
      </p:sp>
      <p:sp>
        <p:nvSpPr>
          <p:cNvPr id="10" name="hint b card"/>
          <p:cNvSpPr/>
          <p:nvPr/>
        </p:nvSpPr>
        <p:spPr>
          <a:xfrm>
            <a:off x="548640" y="2055876"/>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1" name="hint b circle"/>
          <p:cNvSpPr/>
          <p:nvPr/>
        </p:nvSpPr>
        <p:spPr>
          <a:xfrm>
            <a:off x="640080" y="2160270"/>
            <a:ext cx="329184" cy="329184"/>
          </a:xfrm>
          <a:prstGeom prst="ellipse">
            <a:avLst/>
          </a:prstGeom>
          <a:solidFill>
            <a:schemeClr val="accent2"/>
          </a:solidFill>
          <a:ln/>
        </p:spPr>
      </p:sp>
      <p:sp>
        <p:nvSpPr>
          <p:cNvPr id="12" name="hint b letter"/>
          <p:cNvSpPr txBox="1"/>
          <p:nvPr/>
        </p:nvSpPr>
        <p:spPr>
          <a:xfrm>
            <a:off x="640080" y="216027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13" name="hint b text"/>
          <p:cNvSpPr txBox="1"/>
          <p:nvPr/>
        </p:nvSpPr>
        <p:spPr>
          <a:xfrm>
            <a:off x="1060704" y="2055876"/>
            <a:ext cx="7443216" cy="537972"/>
          </a:xfrm>
          <a:prstGeom prst="rect">
            <a:avLst/>
          </a:prstGeom>
          <a:noFill/>
          <a:ln/>
        </p:spPr>
        <p:txBody>
          <a:bodyPr wrap="square" lIns="0" tIns="0" rIns="0" bIns="0" rtlCol="0" anchor="ctr"/>
          <a:lstStyle/>
          <a:p>
            <a:pPr indent="0" marL="0">
              <a:buNone/>
            </a:pPr>
            <a:r>
              <a:rPr lang="en-US" sz="1600" dirty="0">
                <a:solidFill>
                  <a:schemeClr val="tx1"/>
                </a:solidFill>
              </a:rPr>
              <a:t>Install requirements before you copy the code. The demo had a </a:t>
            </a:r>
            <a:pPr indent="0" marL="0">
              <a:buNone/>
            </a:pPr>
            <a:r>
              <a:rPr lang="en-US" sz="1600" dirty="0">
                <a:solidFill>
                  <a:schemeClr val="tx1"/>
                </a:solidFill>
                <a:latin typeface="Courier New" pitchFamily="34" charset="0"/>
                <a:ea typeface="Courier New" pitchFamily="34" charset="-122"/>
                <a:cs typeface="Courier New" pitchFamily="34" charset="-120"/>
              </a:rPr>
              <a:t>RUN</a:t>
            </a:r>
            <a:pPr indent="0" marL="0">
              <a:buNone/>
            </a:pPr>
            <a:r>
              <a:rPr lang="en-US" sz="1600" dirty="0">
                <a:solidFill>
                  <a:schemeClr val="tx1"/>
                </a:solidFill>
              </a:rPr>
              <a:t> line.</a:t>
            </a:r>
            <a:endParaRPr lang="en-US" sz="1600" dirty="0"/>
          </a:p>
        </p:txBody>
      </p:sp>
      <p:sp>
        <p:nvSpPr>
          <p:cNvPr id="14" name="hint c card"/>
          <p:cNvSpPr/>
          <p:nvPr/>
        </p:nvSpPr>
        <p:spPr>
          <a:xfrm>
            <a:off x="548640" y="2630424"/>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5" name="hint c circle"/>
          <p:cNvSpPr/>
          <p:nvPr/>
        </p:nvSpPr>
        <p:spPr>
          <a:xfrm>
            <a:off x="640080" y="2734818"/>
            <a:ext cx="329184" cy="329184"/>
          </a:xfrm>
          <a:prstGeom prst="ellipse">
            <a:avLst/>
          </a:prstGeom>
          <a:solidFill>
            <a:schemeClr val="accent2"/>
          </a:solidFill>
          <a:ln/>
        </p:spPr>
      </p:sp>
      <p:sp>
        <p:nvSpPr>
          <p:cNvPr id="16" name="hint c letter"/>
          <p:cNvSpPr txBox="1"/>
          <p:nvPr/>
        </p:nvSpPr>
        <p:spPr>
          <a:xfrm>
            <a:off x="640080" y="273481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17" name="hint c text"/>
          <p:cNvSpPr txBox="1"/>
          <p:nvPr/>
        </p:nvSpPr>
        <p:spPr>
          <a:xfrm>
            <a:off x="1060704" y="2630424"/>
            <a:ext cx="7443216" cy="537972"/>
          </a:xfrm>
          <a:prstGeom prst="rect">
            <a:avLst/>
          </a:prstGeom>
          <a:noFill/>
          <a:ln/>
        </p:spPr>
        <p:txBody>
          <a:bodyPr wrap="square" lIns="0" tIns="0" rIns="0" bIns="0" rtlCol="0" anchor="ctr"/>
          <a:lstStyle/>
          <a:p>
            <a:pPr indent="0" marL="0">
              <a:buNone/>
            </a:pPr>
            <a:r>
              <a:rPr lang="en-US" sz="1600" dirty="0">
                <a:solidFill>
                  <a:schemeClr val="tx1"/>
                </a:solidFill>
              </a:rPr>
              <a:t>How does the README start the service? That is your </a:t>
            </a:r>
            <a:pPr indent="0" marL="0">
              <a:buNone/>
            </a:pPr>
            <a:r>
              <a:rPr lang="en-US" sz="1600" dirty="0">
                <a:solidFill>
                  <a:schemeClr val="tx1"/>
                </a:solidFill>
                <a:latin typeface="Courier New" pitchFamily="34" charset="0"/>
                <a:ea typeface="Courier New" pitchFamily="34" charset="-122"/>
                <a:cs typeface="Courier New" pitchFamily="34" charset="-120"/>
              </a:rPr>
              <a:t>CMD</a:t>
            </a:r>
            <a:pPr indent="0" marL="0">
              <a:buNone/>
            </a:pPr>
            <a:r>
              <a:rPr lang="en-US" sz="1600" dirty="0">
                <a:solidFill>
                  <a:schemeClr val="tx1"/>
                </a:solidFill>
              </a:rPr>
              <a:t>.</a:t>
            </a:r>
            <a:endParaRPr lang="en-US" sz="1600" dirty="0"/>
          </a:p>
        </p:txBody>
      </p:sp>
      <p:sp>
        <p:nvSpPr>
          <p:cNvPr id="18" name="hint d card"/>
          <p:cNvSpPr/>
          <p:nvPr/>
        </p:nvSpPr>
        <p:spPr>
          <a:xfrm>
            <a:off x="548640" y="3204972"/>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9" name="hint d circle"/>
          <p:cNvSpPr/>
          <p:nvPr/>
        </p:nvSpPr>
        <p:spPr>
          <a:xfrm>
            <a:off x="640080" y="3309366"/>
            <a:ext cx="329184" cy="329184"/>
          </a:xfrm>
          <a:prstGeom prst="ellipse">
            <a:avLst/>
          </a:prstGeom>
          <a:solidFill>
            <a:schemeClr val="accent2"/>
          </a:solidFill>
          <a:ln/>
        </p:spPr>
      </p:sp>
      <p:sp>
        <p:nvSpPr>
          <p:cNvPr id="20" name="hint d letter"/>
          <p:cNvSpPr txBox="1"/>
          <p:nvPr/>
        </p:nvSpPr>
        <p:spPr>
          <a:xfrm>
            <a:off x="640080" y="330936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d</a:t>
            </a:r>
            <a:endParaRPr lang="en-US" sz="1200" dirty="0"/>
          </a:p>
        </p:txBody>
      </p:sp>
      <p:sp>
        <p:nvSpPr>
          <p:cNvPr id="21" name="hint d text"/>
          <p:cNvSpPr txBox="1"/>
          <p:nvPr/>
        </p:nvSpPr>
        <p:spPr>
          <a:xfrm>
            <a:off x="1060704" y="3204972"/>
            <a:ext cx="7443216" cy="537972"/>
          </a:xfrm>
          <a:prstGeom prst="rect">
            <a:avLst/>
          </a:prstGeom>
          <a:noFill/>
          <a:ln/>
        </p:spPr>
        <p:txBody>
          <a:bodyPr wrap="square" lIns="0" tIns="0" rIns="0" bIns="0" rtlCol="0" anchor="ctr"/>
          <a:lstStyle/>
          <a:p>
            <a:pPr indent="0" marL="0">
              <a:buNone/>
            </a:pPr>
            <a:r>
              <a:rPr lang="en-US" sz="1600" dirty="0">
                <a:solidFill>
                  <a:schemeClr val="tx1"/>
                </a:solidFill>
              </a:rPr>
              <a:t>Inside a container, listen on </a:t>
            </a:r>
            <a:pPr indent="0" marL="0">
              <a:buNone/>
            </a:pPr>
            <a:r>
              <a:rPr lang="en-US" sz="1600" dirty="0">
                <a:solidFill>
                  <a:schemeClr val="tx1"/>
                </a:solidFill>
                <a:latin typeface="Courier New" pitchFamily="34" charset="0"/>
                <a:ea typeface="Courier New" pitchFamily="34" charset="-122"/>
                <a:cs typeface="Courier New" pitchFamily="34" charset="-120"/>
              </a:rPr>
              <a:t>0.0.0.0</a:t>
            </a:r>
            <a:pPr indent="0" marL="0">
              <a:buNone/>
            </a:pPr>
            <a:r>
              <a:rPr lang="en-US" sz="1600" dirty="0">
                <a:solidFill>
                  <a:schemeClr val="tx1"/>
                </a:solidFill>
              </a:rPr>
              <a:t>, not </a:t>
            </a:r>
            <a:pPr indent="0" marL="0">
              <a:buNone/>
            </a:pPr>
            <a:r>
              <a:rPr lang="en-US" sz="1600" dirty="0">
                <a:solidFill>
                  <a:schemeClr val="tx1"/>
                </a:solidFill>
                <a:latin typeface="Courier New" pitchFamily="34" charset="0"/>
                <a:ea typeface="Courier New" pitchFamily="34" charset="-122"/>
                <a:cs typeface="Courier New" pitchFamily="34" charset="-120"/>
              </a:rPr>
              <a:t>localhost</a:t>
            </a:r>
            <a:pPr indent="0" marL="0">
              <a:buNone/>
            </a:pPr>
            <a:r>
              <a:rPr lang="en-US" sz="1600" dirty="0">
                <a:solidFill>
                  <a:schemeClr val="tx1"/>
                </a:solidFill>
              </a:rPr>
              <a:t>.</a:t>
            </a:r>
            <a:endParaRPr lang="en-US" sz="1600" dirty="0"/>
          </a:p>
        </p:txBody>
      </p:sp>
      <p:sp>
        <p:nvSpPr>
          <p:cNvPr id="22" name="hint e card"/>
          <p:cNvSpPr/>
          <p:nvPr/>
        </p:nvSpPr>
        <p:spPr>
          <a:xfrm>
            <a:off x="548640" y="3779520"/>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23" name="hint e circle"/>
          <p:cNvSpPr/>
          <p:nvPr/>
        </p:nvSpPr>
        <p:spPr>
          <a:xfrm>
            <a:off x="640080" y="3883914"/>
            <a:ext cx="329184" cy="329184"/>
          </a:xfrm>
          <a:prstGeom prst="ellipse">
            <a:avLst/>
          </a:prstGeom>
          <a:solidFill>
            <a:schemeClr val="accent2"/>
          </a:solidFill>
          <a:ln/>
        </p:spPr>
      </p:sp>
      <p:sp>
        <p:nvSpPr>
          <p:cNvPr id="24" name="hint e letter"/>
          <p:cNvSpPr txBox="1"/>
          <p:nvPr/>
        </p:nvSpPr>
        <p:spPr>
          <a:xfrm>
            <a:off x="640080" y="388391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e</a:t>
            </a:r>
            <a:endParaRPr lang="en-US" sz="1200" dirty="0"/>
          </a:p>
        </p:txBody>
      </p:sp>
      <p:sp>
        <p:nvSpPr>
          <p:cNvPr id="25" name="hint e text"/>
          <p:cNvSpPr txBox="1"/>
          <p:nvPr/>
        </p:nvSpPr>
        <p:spPr>
          <a:xfrm>
            <a:off x="1060704" y="3779520"/>
            <a:ext cx="7443216" cy="537972"/>
          </a:xfrm>
          <a:prstGeom prst="rect">
            <a:avLst/>
          </a:prstGeom>
          <a:noFill/>
          <a:ln/>
        </p:spPr>
        <p:txBody>
          <a:bodyPr wrap="square" lIns="0" tIns="0" rIns="0" bIns="0" rtlCol="0" anchor="ctr"/>
          <a:lstStyle/>
          <a:p>
            <a:pPr indent="0" marL="0">
              <a:buNone/>
            </a:pPr>
            <a:r>
              <a:rPr lang="en-US" sz="1600" dirty="0">
                <a:solidFill>
                  <a:schemeClr val="tx1"/>
                </a:solidFill>
              </a:rPr>
              <a:t>Run it in the foreground with </a:t>
            </a:r>
            <a:pPr indent="0" marL="0">
              <a:buNone/>
            </a:pPr>
            <a:r>
              <a:rPr lang="en-US" sz="1600" dirty="0">
                <a:solidFill>
                  <a:schemeClr val="tx1"/>
                </a:solidFill>
                <a:latin typeface="Courier New" pitchFamily="34" charset="0"/>
                <a:ea typeface="Courier New" pitchFamily="34" charset="-122"/>
                <a:cs typeface="Courier New" pitchFamily="34" charset="-120"/>
              </a:rPr>
              <a:t>-p host:container</a:t>
            </a:r>
            <a:pPr indent="0" marL="0">
              <a:buNone/>
            </a:pPr>
            <a:r>
              <a:rPr lang="en-US" sz="1600" dirty="0">
                <a:solidFill>
                  <a:schemeClr val="tx1"/>
                </a:solidFill>
              </a:rPr>
              <a:t>. Second terminal for </a:t>
            </a:r>
            <a:pPr indent="0" marL="0">
              <a:buNone/>
            </a:pPr>
            <a:r>
              <a:rPr lang="en-US" sz="1600" dirty="0">
                <a:solidFill>
                  <a:schemeClr val="tx1"/>
                </a:solidFill>
                <a:latin typeface="Courier New" pitchFamily="34" charset="0"/>
                <a:ea typeface="Courier New" pitchFamily="34" charset="-122"/>
                <a:cs typeface="Courier New" pitchFamily="34" charset="-120"/>
              </a:rPr>
              <a:t>curl</a:t>
            </a:r>
            <a:pPr indent="0" marL="0">
              <a:buNone/>
            </a:pPr>
            <a:r>
              <a:rPr lang="en-US" sz="1600" dirty="0">
                <a:solidFill>
                  <a:schemeClr val="tx1"/>
                </a:solidFill>
              </a:rPr>
              <a:t>.</a:t>
            </a:r>
            <a:endParaRPr lang="en-US" sz="1600" dirty="0"/>
          </a:p>
        </p:txBody>
      </p:sp>
      <p:sp>
        <p:nvSpPr>
          <p:cNvPr id="26" name="hint f card"/>
          <p:cNvSpPr/>
          <p:nvPr/>
        </p:nvSpPr>
        <p:spPr>
          <a:xfrm>
            <a:off x="548640" y="4354068"/>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27" name="hint f circle"/>
          <p:cNvSpPr/>
          <p:nvPr/>
        </p:nvSpPr>
        <p:spPr>
          <a:xfrm>
            <a:off x="640080" y="4458462"/>
            <a:ext cx="329184" cy="329184"/>
          </a:xfrm>
          <a:prstGeom prst="ellipse">
            <a:avLst/>
          </a:prstGeom>
          <a:solidFill>
            <a:schemeClr val="accent2"/>
          </a:solidFill>
          <a:ln/>
        </p:spPr>
      </p:sp>
      <p:sp>
        <p:nvSpPr>
          <p:cNvPr id="28" name="hint f letter"/>
          <p:cNvSpPr txBox="1"/>
          <p:nvPr/>
        </p:nvSpPr>
        <p:spPr>
          <a:xfrm>
            <a:off x="640080" y="445846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f</a:t>
            </a:r>
            <a:endParaRPr lang="en-US" sz="1200" dirty="0"/>
          </a:p>
        </p:txBody>
      </p:sp>
      <p:sp>
        <p:nvSpPr>
          <p:cNvPr id="29" name="hint f text"/>
          <p:cNvSpPr txBox="1"/>
          <p:nvPr/>
        </p:nvSpPr>
        <p:spPr>
          <a:xfrm>
            <a:off x="1060704" y="4354068"/>
            <a:ext cx="7443216" cy="537972"/>
          </a:xfrm>
          <a:prstGeom prst="rect">
            <a:avLst/>
          </a:prstGeom>
          <a:noFill/>
          <a:ln/>
        </p:spPr>
        <p:txBody>
          <a:bodyPr wrap="square" lIns="0" tIns="0" rIns="0" bIns="0" rtlCol="0" anchor="ctr"/>
          <a:lstStyle/>
          <a:p>
            <a:pPr indent="0" marL="0">
              <a:buNone/>
            </a:pPr>
            <a:r>
              <a:rPr lang="en-US" sz="1600" dirty="0">
                <a:solidFill>
                  <a:schemeClr val="tx1"/>
                </a:solidFill>
              </a:rPr>
              <a:t>Port already in use? </a:t>
            </a:r>
            <a:pPr indent="0" marL="0">
              <a:buNone/>
            </a:pPr>
            <a:r>
              <a:rPr lang="en-US" sz="1600" dirty="0">
                <a:solidFill>
                  <a:schemeClr val="tx1"/>
                </a:solidFill>
                <a:latin typeface="Courier New" pitchFamily="34" charset="0"/>
                <a:ea typeface="Courier New" pitchFamily="34" charset="-122"/>
                <a:cs typeface="Courier New" pitchFamily="34" charset="-120"/>
              </a:rPr>
              <a:t>docker ps</a:t>
            </a:r>
            <a:pPr indent="0" marL="0">
              <a:buNone/>
            </a:pPr>
            <a:r>
              <a:rPr lang="en-US" sz="1600" dirty="0">
                <a:solidFill>
                  <a:schemeClr val="tx1"/>
                </a:solidFill>
              </a:rPr>
              <a:t>, then </a:t>
            </a:r>
            <a:pPr indent="0" marL="0">
              <a:buNone/>
            </a:pPr>
            <a:r>
              <a:rPr lang="en-US" sz="1600" dirty="0">
                <a:solidFill>
                  <a:schemeClr val="tx1"/>
                </a:solidFill>
                <a:latin typeface="Courier New" pitchFamily="34" charset="0"/>
                <a:ea typeface="Courier New" pitchFamily="34" charset="-122"/>
                <a:cs typeface="Courier New" pitchFamily="34" charset="-120"/>
              </a:rPr>
              <a:t>docker rm -f</a:t>
            </a:r>
            <a:pPr indent="0" marL="0">
              <a:buNone/>
            </a:pPr>
            <a:r>
              <a:rPr lang="en-US" sz="1600" dirty="0">
                <a:solidFill>
                  <a:schemeClr val="tx1"/>
                </a:solidFill>
              </a:rPr>
              <a:t> the old one.</a:t>
            </a:r>
            <a:endParaRPr lang="en-US" sz="16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1" grpId="0" animBg="1"/>
      <p:bldP spid="12" grpId="0"/>
      <p:bldP spid="13" grpId="0"/>
      <p:bldP spid="15" grpId="0" animBg="1"/>
      <p:bldP spid="16" grpId="0"/>
      <p:bldP spid="17" grpId="0"/>
      <p:bldP spid="19" grpId="0" animBg="1"/>
      <p:bldP spid="20" grpId="0"/>
      <p:bldP spid="21" grpId="0"/>
      <p:bldP spid="23" grpId="0" animBg="1"/>
      <p:bldP spid="24" grpId="0"/>
      <p:bldP spid="25" grpId="0"/>
      <p:bldP spid="27" grpId="0" animBg="1"/>
      <p:bldP spid="28" grpId="0"/>
      <p:bldP spid="29" grpId="0"/>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1: behind?</a:t>
            </a:r>
            <a:endParaRPr lang="en-US" sz="3400" dirty="0"/>
          </a:p>
        </p:txBody>
      </p:sp>
      <p:sp>
        <p:nvSpPr>
          <p:cNvPr id="4" name="behind banner"/>
          <p:cNvSpPr/>
          <p:nvPr/>
        </p:nvSpPr>
        <p:spPr>
          <a:xfrm>
            <a:off x="548640" y="1143000"/>
            <a:ext cx="8046720" cy="640080"/>
          </a:xfrm>
          <a:prstGeom prst="roundRect">
            <a:avLst>
              <a:gd name="adj" fmla="val 11429"/>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777240" y="1143000"/>
            <a:ext cx="7589520" cy="640080"/>
          </a:xfrm>
          <a:prstGeom prst="rect">
            <a:avLst/>
          </a:prstGeom>
          <a:noFill/>
          <a:ln/>
        </p:spPr>
        <p:txBody>
          <a:bodyPr wrap="square" lIns="0" tIns="0" rIns="0" bIns="0" rtlCol="0" anchor="ctr"/>
          <a:lstStyle/>
          <a:p>
            <a:pPr indent="0" marL="0">
              <a:buNone/>
            </a:pPr>
            <a:r>
              <a:rPr lang="en-US" sz="2000" b="1" dirty="0">
                <a:solidFill>
                  <a:schemeClr val="tx1"/>
                </a:solidFill>
              </a:rPr>
              <a:t>Behind? The file is given. Four lines are yours.</a:t>
            </a:r>
            <a:endParaRPr lang="en-US" sz="2000" dirty="0"/>
          </a:p>
        </p:txBody>
      </p:sp>
      <p:sp>
        <p:nvSpPr>
          <p:cNvPr id="6" name="code panel"/>
          <p:cNvSpPr/>
          <p:nvPr/>
        </p:nvSpPr>
        <p:spPr>
          <a:xfrm>
            <a:off x="548640" y="1920240"/>
            <a:ext cx="8046720" cy="2834640"/>
          </a:xfrm>
          <a:prstGeom prst="roundRect">
            <a:avLst>
              <a:gd name="adj" fmla="val 2581"/>
            </a:avLst>
          </a:prstGeom>
          <a:solidFill>
            <a:schemeClr val="tx1"/>
          </a:solidFill>
          <a:ln/>
        </p:spPr>
      </p:sp>
      <p:sp>
        <p:nvSpPr>
          <p:cNvPr id="7" name="code"/>
          <p:cNvSpPr txBox="1"/>
          <p:nvPr/>
        </p:nvSpPr>
        <p:spPr>
          <a:xfrm>
            <a:off x="713232" y="2029968"/>
            <a:ext cx="7717536" cy="2615184"/>
          </a:xfrm>
          <a:prstGeom prst="rect">
            <a:avLst/>
          </a:prstGeom>
          <a:noFill/>
          <a:ln/>
        </p:spPr>
        <p:txBody>
          <a:bodyPr wrap="square" lIns="0" tIns="0" rIns="0" bIns="0" rtlCol="0" anchor="t"/>
          <a:lstStyle/>
          <a:p>
            <a:pPr indent="0" marL="0">
              <a:lnSpc>
                <a:spcPts val="2520"/>
              </a:lnSpc>
              <a:buNone/>
            </a:pPr>
            <a:r>
              <a:rPr lang="en-US" sz="1800" b="1" dirty="0">
                <a:solidFill>
                  <a:srgbClr val="E3B341"/>
                </a:solidFill>
                <a:latin typeface="Courier New" pitchFamily="34" charset="0"/>
                <a:ea typeface="Courier New" pitchFamily="34" charset="-122"/>
                <a:cs typeface="Courier New" pitchFamily="34" charset="-120"/>
              </a:rPr>
              <a:t># FROM ?</a:t>
            </a:r>
            <a:endParaRPr lang="en-US" sz="1800" dirty="0"/>
          </a:p>
          <a:p>
            <a:pPr indent="0" marL="0">
              <a:lnSpc>
                <a:spcPts val="2520"/>
              </a:lnSpc>
              <a:buNone/>
            </a:pPr>
            <a:r>
              <a:rPr lang="en-US" sz="1800" dirty="0">
                <a:solidFill>
                  <a:srgbClr val="9DA7B3"/>
                </a:solidFill>
                <a:latin typeface="Courier New" pitchFamily="34" charset="0"/>
                <a:ea typeface="Courier New" pitchFamily="34" charset="-122"/>
                <a:cs typeface="Courier New" pitchFamily="34" charset="-120"/>
              </a:rPr>
              <a:t>WORKDIR /app</a:t>
            </a:r>
            <a:endParaRPr lang="en-US" sz="1800" dirty="0"/>
          </a:p>
          <a:p>
            <a:pPr indent="0" marL="0">
              <a:lnSpc>
                <a:spcPts val="2520"/>
              </a:lnSpc>
              <a:buNone/>
            </a:pPr>
            <a:r>
              <a:rPr lang="en-US" sz="1800" b="1" dirty="0">
                <a:solidFill>
                  <a:srgbClr val="E3B341"/>
                </a:solidFill>
                <a:latin typeface="Courier New" pitchFamily="34" charset="0"/>
                <a:ea typeface="Courier New" pitchFamily="34" charset="-122"/>
                <a:cs typeface="Courier New" pitchFamily="34" charset="-120"/>
              </a:rPr>
              <a:t># COPY ?</a:t>
            </a:r>
            <a:endParaRPr lang="en-US" sz="1800" dirty="0"/>
          </a:p>
          <a:p>
            <a:pPr indent="0" marL="0">
              <a:lnSpc>
                <a:spcPts val="2520"/>
              </a:lnSpc>
              <a:buNone/>
            </a:pPr>
            <a:r>
              <a:rPr lang="en-US" sz="1800" dirty="0">
                <a:solidFill>
                  <a:srgbClr val="9DA7B3"/>
                </a:solidFill>
                <a:latin typeface="Courier New" pitchFamily="34" charset="0"/>
                <a:ea typeface="Courier New" pitchFamily="34" charset="-122"/>
                <a:cs typeface="Courier New" pitchFamily="34" charset="-120"/>
              </a:rPr>
              <a:t>RUN pip install --no-cache-dir -r requirements.txt</a:t>
            </a:r>
            <a:endParaRPr lang="en-US" sz="1800" dirty="0"/>
          </a:p>
          <a:p>
            <a:pPr indent="0" marL="0">
              <a:lnSpc>
                <a:spcPts val="2520"/>
              </a:lnSpc>
              <a:buNone/>
            </a:pPr>
            <a:r>
              <a:rPr lang="en-US" sz="1800" b="1" dirty="0">
                <a:solidFill>
                  <a:srgbClr val="E3B341"/>
                </a:solidFill>
                <a:latin typeface="Courier New" pitchFamily="34" charset="0"/>
                <a:ea typeface="Courier New" pitchFamily="34" charset="-122"/>
                <a:cs typeface="Courier New" pitchFamily="34" charset="-120"/>
              </a:rPr>
              <a:t># COPY ?</a:t>
            </a:r>
            <a:endParaRPr lang="en-US" sz="1800" dirty="0"/>
          </a:p>
          <a:p>
            <a:pPr indent="0" marL="0">
              <a:lnSpc>
                <a:spcPts val="2520"/>
              </a:lnSpc>
              <a:buNone/>
            </a:pPr>
            <a:r>
              <a:rPr lang="en-US" sz="1800" dirty="0">
                <a:solidFill>
                  <a:srgbClr val="9DA7B3"/>
                </a:solidFill>
                <a:latin typeface="Courier New" pitchFamily="34" charset="0"/>
                <a:ea typeface="Courier New" pitchFamily="34" charset="-122"/>
                <a:cs typeface="Courier New" pitchFamily="34" charset="-120"/>
              </a:rPr>
              <a:t>EXPOSE 5000</a:t>
            </a:r>
            <a:endParaRPr lang="en-US" sz="1800" dirty="0"/>
          </a:p>
          <a:p>
            <a:pPr indent="0" marL="0">
              <a:lnSpc>
                <a:spcPts val="2520"/>
              </a:lnSpc>
              <a:buNone/>
            </a:pPr>
            <a:r>
              <a:rPr lang="en-US" sz="1800" b="1" dirty="0">
                <a:solidFill>
                  <a:srgbClr val="E3B341"/>
                </a:solidFill>
                <a:latin typeface="Courier New" pitchFamily="34" charset="0"/>
                <a:ea typeface="Courier New" pitchFamily="34" charset="-122"/>
                <a:cs typeface="Courier New" pitchFamily="34" charset="-120"/>
              </a:rPr>
              <a:t># CMD ?</a:t>
            </a:r>
            <a:endParaRPr lang="en-US" sz="18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1: answer</a:t>
            </a:r>
            <a:endParaRPr lang="en-US" sz="3400" dirty="0"/>
          </a:p>
        </p:txBody>
      </p:sp>
      <p:sp>
        <p:nvSpPr>
          <p:cNvPr id="4" name="code panel Dockerfile"/>
          <p:cNvSpPr/>
          <p:nvPr/>
        </p:nvSpPr>
        <p:spPr>
          <a:xfrm>
            <a:off x="320040" y="1051560"/>
            <a:ext cx="8503920" cy="1920240"/>
          </a:xfrm>
          <a:prstGeom prst="roundRect">
            <a:avLst>
              <a:gd name="adj" fmla="val 3810"/>
            </a:avLst>
          </a:prstGeom>
          <a:solidFill>
            <a:schemeClr val="tx1"/>
          </a:solidFill>
          <a:ln/>
        </p:spPr>
      </p:sp>
      <p:sp>
        <p:nvSpPr>
          <p:cNvPr id="5" name="code"/>
          <p:cNvSpPr txBox="1"/>
          <p:nvPr/>
        </p:nvSpPr>
        <p:spPr>
          <a:xfrm>
            <a:off x="429768" y="1133856"/>
            <a:ext cx="8284464" cy="1755648"/>
          </a:xfrm>
          <a:prstGeom prst="rect">
            <a:avLst/>
          </a:prstGeom>
          <a:noFill/>
          <a:ln/>
        </p:spPr>
        <p:txBody>
          <a:bodyPr wrap="square" lIns="0" tIns="0" rIns="0" bIns="0" rtlCol="0" anchor="t"/>
          <a:lstStyle/>
          <a:p>
            <a:pPr indent="0" marL="0">
              <a:lnSpc>
                <a:spcPts val="1875"/>
              </a:lnSpc>
              <a:buNone/>
            </a:pPr>
            <a:r>
              <a:rPr lang="en-US" sz="1250" b="1" dirty="0">
                <a:solidFill>
                  <a:srgbClr val="56D364"/>
                </a:solidFill>
                <a:highlight>
                  <a:srgbClr val="1B3A28"/>
                </a:highlight>
                <a:latin typeface="Courier New" pitchFamily="34" charset="0"/>
                <a:ea typeface="Courier New" pitchFamily="34" charset="-122"/>
                <a:cs typeface="Courier New" pitchFamily="34" charset="-120"/>
              </a:rPr>
              <a:t>FROM python:3.12-slim</a:t>
            </a:r>
            <a:endParaRPr lang="en-US" sz="1250" dirty="0"/>
          </a:p>
          <a:p>
            <a:pPr indent="0" marL="0">
              <a:lnSpc>
                <a:spcPts val="1875"/>
              </a:lnSpc>
              <a:buNone/>
            </a:pPr>
            <a:r>
              <a:rPr lang="en-US" sz="1250" b="1" dirty="0">
                <a:solidFill>
                  <a:srgbClr val="56D364"/>
                </a:solidFill>
                <a:highlight>
                  <a:srgbClr val="1B3A28"/>
                </a:highlight>
                <a:latin typeface="Courier New" pitchFamily="34" charset="0"/>
                <a:ea typeface="Courier New" pitchFamily="34" charset="-122"/>
                <a:cs typeface="Courier New" pitchFamily="34" charset="-120"/>
              </a:rPr>
              <a:t>WORKDIR /app</a:t>
            </a:r>
            <a:endParaRPr lang="en-US" sz="1250" dirty="0"/>
          </a:p>
          <a:p>
            <a:pPr indent="0" marL="0">
              <a:lnSpc>
                <a:spcPts val="1875"/>
              </a:lnSpc>
              <a:buNone/>
            </a:pPr>
            <a:r>
              <a:rPr lang="en-US" sz="1250" b="1" dirty="0">
                <a:solidFill>
                  <a:srgbClr val="56D364"/>
                </a:solidFill>
                <a:highlight>
                  <a:srgbClr val="1B3A28"/>
                </a:highlight>
                <a:latin typeface="Courier New" pitchFamily="34" charset="0"/>
                <a:ea typeface="Courier New" pitchFamily="34" charset="-122"/>
                <a:cs typeface="Courier New" pitchFamily="34" charset="-120"/>
              </a:rPr>
              <a:t>COPY requirements.txt .</a:t>
            </a:r>
            <a:endParaRPr lang="en-US" sz="1250" dirty="0"/>
          </a:p>
          <a:p>
            <a:pPr indent="0" marL="0">
              <a:lnSpc>
                <a:spcPts val="1875"/>
              </a:lnSpc>
              <a:buNone/>
            </a:pPr>
            <a:r>
              <a:rPr lang="en-US" sz="1250" b="1" dirty="0">
                <a:solidFill>
                  <a:srgbClr val="56D364"/>
                </a:solidFill>
                <a:highlight>
                  <a:srgbClr val="1B3A28"/>
                </a:highlight>
                <a:latin typeface="Courier New" pitchFamily="34" charset="0"/>
                <a:ea typeface="Courier New" pitchFamily="34" charset="-122"/>
                <a:cs typeface="Courier New" pitchFamily="34" charset="-120"/>
              </a:rPr>
              <a:t>RUN pip install --no-cache-dir -r requirements.txt</a:t>
            </a:r>
            <a:endParaRPr lang="en-US" sz="1250" dirty="0"/>
          </a:p>
          <a:p>
            <a:pPr indent="0" marL="0">
              <a:lnSpc>
                <a:spcPts val="1875"/>
              </a:lnSpc>
              <a:buNone/>
            </a:pPr>
            <a:r>
              <a:rPr lang="en-US" sz="1250" b="1" dirty="0">
                <a:solidFill>
                  <a:srgbClr val="56D364"/>
                </a:solidFill>
                <a:highlight>
                  <a:srgbClr val="1B3A28"/>
                </a:highlight>
                <a:latin typeface="Courier New" pitchFamily="34" charset="0"/>
                <a:ea typeface="Courier New" pitchFamily="34" charset="-122"/>
                <a:cs typeface="Courier New" pitchFamily="34" charset="-120"/>
              </a:rPr>
              <a:t>COPY . .</a:t>
            </a:r>
            <a:endParaRPr lang="en-US" sz="1250" dirty="0"/>
          </a:p>
          <a:p>
            <a:pPr indent="0" marL="0">
              <a:lnSpc>
                <a:spcPts val="1875"/>
              </a:lnSpc>
              <a:buNone/>
            </a:pPr>
            <a:r>
              <a:rPr lang="en-US" sz="1250" b="1" dirty="0">
                <a:solidFill>
                  <a:srgbClr val="56D364"/>
                </a:solidFill>
                <a:highlight>
                  <a:srgbClr val="1B3A28"/>
                </a:highlight>
                <a:latin typeface="Courier New" pitchFamily="34" charset="0"/>
                <a:ea typeface="Courier New" pitchFamily="34" charset="-122"/>
                <a:cs typeface="Courier New" pitchFamily="34" charset="-120"/>
              </a:rPr>
              <a:t>EXPOSE 5000</a:t>
            </a:r>
            <a:endParaRPr lang="en-US" sz="1250" dirty="0"/>
          </a:p>
          <a:p>
            <a:pPr indent="0" marL="0">
              <a:lnSpc>
                <a:spcPts val="1875"/>
              </a:lnSpc>
              <a:buNone/>
            </a:pPr>
            <a:r>
              <a:rPr lang="en-US" sz="1250" b="1" dirty="0">
                <a:solidFill>
                  <a:srgbClr val="56D364"/>
                </a:solidFill>
                <a:highlight>
                  <a:srgbClr val="1B3A28"/>
                </a:highlight>
                <a:latin typeface="Courier New" pitchFamily="34" charset="0"/>
                <a:ea typeface="Courier New" pitchFamily="34" charset="-122"/>
                <a:cs typeface="Courier New" pitchFamily="34" charset="-120"/>
              </a:rPr>
              <a:t>CMD ["flask", "--app", "app:create_app", "run", "--host", "0.0.0.0", "--port", "5000"]</a:t>
            </a:r>
            <a:endParaRPr lang="en-US" sz="1250" dirty="0"/>
          </a:p>
        </p:txBody>
      </p:sp>
      <p:sp>
        <p:nvSpPr>
          <p:cNvPr id="6" name="code panel commands"/>
          <p:cNvSpPr/>
          <p:nvPr/>
        </p:nvSpPr>
        <p:spPr>
          <a:xfrm>
            <a:off x="320040" y="3108960"/>
            <a:ext cx="8503920" cy="1417320"/>
          </a:xfrm>
          <a:prstGeom prst="roundRect">
            <a:avLst>
              <a:gd name="adj" fmla="val 5161"/>
            </a:avLst>
          </a:prstGeom>
          <a:solidFill>
            <a:schemeClr val="tx1"/>
          </a:solidFill>
          <a:ln/>
        </p:spPr>
      </p:sp>
      <p:sp>
        <p:nvSpPr>
          <p:cNvPr id="7" name="code"/>
          <p:cNvSpPr txBox="1"/>
          <p:nvPr/>
        </p:nvSpPr>
        <p:spPr>
          <a:xfrm>
            <a:off x="429768" y="3191256"/>
            <a:ext cx="8284464" cy="1252728"/>
          </a:xfrm>
          <a:prstGeom prst="rect">
            <a:avLst/>
          </a:prstGeom>
          <a:noFill/>
          <a:ln/>
        </p:spPr>
        <p:txBody>
          <a:bodyPr wrap="square" lIns="0" tIns="0" rIns="0" bIns="0" rtlCol="0" anchor="t"/>
          <a:lstStyle/>
          <a:p>
            <a:pPr indent="0" marL="0">
              <a:lnSpc>
                <a:spcPts val="1875"/>
              </a:lnSpc>
              <a:buNone/>
            </a:pPr>
            <a:r>
              <a:rPr lang="en-US" sz="1250" b="1" dirty="0">
                <a:solidFill>
                  <a:srgbClr val="56D364"/>
                </a:solidFill>
                <a:highlight>
                  <a:srgbClr val="1B3A28"/>
                </a:highlight>
                <a:latin typeface="Courier New" pitchFamily="34" charset="0"/>
                <a:ea typeface="Courier New" pitchFamily="34" charset="-122"/>
                <a:cs typeface="Courier New" pitchFamily="34" charset="-120"/>
              </a:rPr>
              <a:t>docker build -t tasks-api services/tasks-api</a:t>
            </a:r>
            <a:endParaRPr lang="en-US" sz="1250" dirty="0"/>
          </a:p>
          <a:p>
            <a:pPr indent="0" marL="0">
              <a:lnSpc>
                <a:spcPts val="1875"/>
              </a:lnSpc>
              <a:buNone/>
            </a:pPr>
            <a:r>
              <a:rPr lang="en-US" sz="1250" b="1" dirty="0">
                <a:solidFill>
                  <a:srgbClr val="56D364"/>
                </a:solidFill>
                <a:highlight>
                  <a:srgbClr val="1B3A28"/>
                </a:highlight>
                <a:latin typeface="Courier New" pitchFamily="34" charset="0"/>
                <a:ea typeface="Courier New" pitchFamily="34" charset="-122"/>
                <a:cs typeface="Courier New" pitchFamily="34" charset="-120"/>
              </a:rPr>
              <a:t>docker run --rm -p 5000:5000 tasks-api</a:t>
            </a:r>
            <a:endParaRPr lang="en-US" sz="1250" dirty="0"/>
          </a:p>
          <a:p>
            <a:pPr indent="0" marL="0">
              <a:lnSpc>
                <a:spcPts val="1875"/>
              </a:lnSpc>
              <a:buNone/>
            </a:pPr>
            <a:r>
              <a:rPr lang="en-US" sz="1250" b="1" dirty="0">
                <a:solidFill>
                  <a:srgbClr val="56D364"/>
                </a:solidFill>
                <a:highlight>
                  <a:srgbClr val="1B3A28"/>
                </a:highlight>
                <a:latin typeface="Courier New" pitchFamily="34" charset="0"/>
                <a:ea typeface="Courier New" pitchFamily="34" charset="-122"/>
                <a:cs typeface="Courier New" pitchFamily="34" charset="-120"/>
              </a:rPr>
              <a:t>curl localhost:5000/health</a:t>
            </a:r>
            <a:endParaRPr lang="en-US" sz="1250" dirty="0"/>
          </a:p>
          <a:p>
            <a:pPr indent="0" marL="0">
              <a:lnSpc>
                <a:spcPts val="1875"/>
              </a:lnSpc>
              <a:buNone/>
            </a:pPr>
            <a:r>
              <a:rPr lang="en-US" sz="1250" b="1" dirty="0">
                <a:solidFill>
                  <a:srgbClr val="56D364"/>
                </a:solidFill>
                <a:highlight>
                  <a:srgbClr val="1B3A28"/>
                </a:highlight>
                <a:latin typeface="Courier New" pitchFamily="34" charset="0"/>
                <a:ea typeface="Courier New" pitchFamily="34" charset="-122"/>
                <a:cs typeface="Courier New" pitchFamily="34" charset="-120"/>
              </a:rPr>
              <a:t>curl -X POST localhost:5000/tasks -H 'Content-Type: application/json' \</a:t>
            </a:r>
            <a:endParaRPr lang="en-US" sz="1250" dirty="0"/>
          </a:p>
          <a:p>
            <a:pPr indent="0" marL="0">
              <a:lnSpc>
                <a:spcPts val="1875"/>
              </a:lnSpc>
              <a:buNone/>
            </a:pPr>
            <a:r>
              <a:rPr lang="en-US" sz="1250" b="1" dirty="0">
                <a:solidFill>
                  <a:srgbClr val="56D364"/>
                </a:solidFill>
                <a:highlight>
                  <a:srgbClr val="1B3A28"/>
                </a:highlight>
                <a:latin typeface="Courier New" pitchFamily="34" charset="0"/>
                <a:ea typeface="Courier New" pitchFamily="34" charset="-122"/>
                <a:cs typeface="Courier New" pitchFamily="34" charset="-120"/>
              </a:rPr>
              <a:t>  -d '{"title": "  buy   milk "}'</a:t>
            </a:r>
            <a:endParaRPr lang="en-US" sz="1250" dirty="0"/>
          </a:p>
        </p:txBody>
      </p:sp>
      <p:sp>
        <p:nvSpPr>
          <p:cNvPr id="8" name="Text 5"/>
          <p:cNvSpPr txBox="1"/>
          <p:nvPr/>
        </p:nvSpPr>
        <p:spPr>
          <a:xfrm>
            <a:off x="3383280" y="411480"/>
            <a:ext cx="5577840" cy="502920"/>
          </a:xfrm>
          <a:prstGeom prst="rect">
            <a:avLst/>
          </a:prstGeom>
          <a:noFill/>
          <a:ln/>
        </p:spPr>
        <p:txBody>
          <a:bodyPr wrap="square" lIns="0" tIns="0" rIns="0" bIns="0" rtlCol="0" anchor="ctr"/>
          <a:lstStyle/>
          <a:p>
            <a:pPr algn="r" indent="0" marL="0">
              <a:buNone/>
            </a:pPr>
            <a:r>
              <a:rPr lang="en-US" sz="1400" b="1" dirty="0">
                <a:solidFill>
                  <a:schemeClr val="accent1"/>
                </a:solidFill>
              </a:rPr>
              <a:t>Type this</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2</a:t>
            </a:r>
            <a:endParaRPr lang="en-US" sz="3400" dirty="0"/>
          </a:p>
        </p:txBody>
      </p:sp>
      <p:sp>
        <p:nvSpPr>
          <p:cNvPr id="4" name="requirement"/>
          <p:cNvSpPr/>
          <p:nvPr/>
        </p:nvSpPr>
        <p:spPr>
          <a:xfrm>
            <a:off x="548640" y="1280160"/>
            <a:ext cx="8046720" cy="3108960"/>
          </a:xfrm>
          <a:prstGeom prst="roundRect">
            <a:avLst>
              <a:gd name="adj" fmla="val 2353"/>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5" name="requirement bar"/>
          <p:cNvSpPr/>
          <p:nvPr/>
        </p:nvSpPr>
        <p:spPr>
          <a:xfrm>
            <a:off x="548640" y="1280160"/>
            <a:ext cx="91440" cy="3108960"/>
          </a:xfrm>
          <a:prstGeom prst="rect">
            <a:avLst/>
          </a:prstGeom>
          <a:solidFill>
            <a:schemeClr val="accent1"/>
          </a:solidFill>
          <a:ln/>
        </p:spPr>
      </p:sp>
      <p:sp>
        <p:nvSpPr>
          <p:cNvPr id="6" name="Text 3"/>
          <p:cNvSpPr txBox="1"/>
          <p:nvPr/>
        </p:nvSpPr>
        <p:spPr>
          <a:xfrm>
            <a:off x="914400" y="1371600"/>
            <a:ext cx="7498080" cy="2926080"/>
          </a:xfrm>
          <a:prstGeom prst="rect">
            <a:avLst/>
          </a:prstGeom>
          <a:noFill/>
          <a:ln/>
        </p:spPr>
        <p:txBody>
          <a:bodyPr wrap="square" lIns="0" tIns="0" rIns="0" bIns="0" rtlCol="0" anchor="ctr"/>
          <a:lstStyle/>
          <a:p>
            <a:pPr indent="0" marL="0">
              <a:spcAft>
                <a:spcPts val="800"/>
              </a:spcAft>
              <a:buNone/>
            </a:pPr>
            <a:r>
              <a:rPr lang="en-US" sz="2400" dirty="0">
                <a:solidFill>
                  <a:schemeClr val="tx1"/>
                </a:solidFill>
              </a:rPr>
              <a:t>Do the same for </a:t>
            </a:r>
            <a:pPr indent="0" marL="0">
              <a:spcAft>
                <a:spcPts val="800"/>
              </a:spcAft>
              <a:buNone/>
            </a:pPr>
            <a:r>
              <a:rPr lang="en-US" sz="2400" dirty="0">
                <a:solidFill>
                  <a:schemeClr val="tx1"/>
                </a:solidFill>
                <a:latin typeface="Courier New" pitchFamily="34" charset="0"/>
                <a:ea typeface="Courier New" pitchFamily="34" charset="-122"/>
                <a:cs typeface="Courier New" pitchFamily="34" charset="-120"/>
              </a:rPr>
              <a:t>title-normalizer</a:t>
            </a:r>
            <a:pPr indent="0" marL="0">
              <a:spcAft>
                <a:spcPts val="800"/>
              </a:spcAft>
              <a:buNone/>
            </a:pPr>
            <a:r>
              <a:rPr lang="en-US" sz="2400" dirty="0">
                <a:solidFill>
                  <a:schemeClr val="tx1"/>
                </a:solidFill>
              </a:rPr>
              <a:t>.</a:t>
            </a:r>
            <a:endParaRPr lang="en-US" sz="2400" dirty="0"/>
          </a:p>
          <a:p>
            <a:pPr indent="0" marL="0">
              <a:spcAft>
                <a:spcPts val="800"/>
              </a:spcAft>
              <a:buNone/>
            </a:pPr>
            <a:r>
              <a:rPr lang="en-US" sz="2400" dirty="0">
                <a:solidFill>
                  <a:schemeClr val="tx1"/>
                </a:solidFill>
              </a:rPr>
              <a:t>Stop the first container (Ctrl+C).</a:t>
            </a:r>
            <a:endParaRPr lang="en-US" sz="2400" dirty="0"/>
          </a:p>
          <a:p>
            <a:pPr indent="0" marL="0">
              <a:spcAft>
                <a:spcPts val="800"/>
              </a:spcAft>
              <a:buNone/>
            </a:pPr>
            <a:r>
              <a:rPr lang="en-US" sz="2400" dirty="0">
                <a:solidFill>
                  <a:schemeClr val="tx1"/>
                </a:solidFill>
              </a:rPr>
              <a:t>Its own Dockerfile.</a:t>
            </a:r>
            <a:endParaRPr lang="en-US" sz="2400" dirty="0"/>
          </a:p>
          <a:p>
            <a:pPr indent="0" marL="0">
              <a:spcAft>
                <a:spcPts val="800"/>
              </a:spcAft>
              <a:buNone/>
            </a:pPr>
            <a:r>
              <a:rPr lang="en-US" sz="2400" dirty="0">
                <a:solidFill>
                  <a:schemeClr val="tx1"/>
                </a:solidFill>
              </a:rPr>
              <a:t>An image named </a:t>
            </a:r>
            <a:pPr indent="0" marL="0">
              <a:spcAft>
                <a:spcPts val="800"/>
              </a:spcAft>
              <a:buNone/>
            </a:pPr>
            <a:r>
              <a:rPr lang="en-US" sz="2400" dirty="0">
                <a:solidFill>
                  <a:schemeClr val="tx1"/>
                </a:solidFill>
                <a:latin typeface="Courier New" pitchFamily="34" charset="0"/>
                <a:ea typeface="Courier New" pitchFamily="34" charset="-122"/>
                <a:cs typeface="Courier New" pitchFamily="34" charset="-120"/>
              </a:rPr>
              <a:t>title-normalizer</a:t>
            </a:r>
            <a:pPr indent="0" marL="0">
              <a:spcAft>
                <a:spcPts val="800"/>
              </a:spcAft>
              <a:buNone/>
            </a:pPr>
            <a:r>
              <a:rPr lang="en-US" sz="2400" dirty="0">
                <a:solidFill>
                  <a:schemeClr val="tx1"/>
                </a:solidFill>
              </a:rPr>
              <a:t>. Port 5001.</a:t>
            </a:r>
            <a:endParaRPr lang="en-US" sz="2400" dirty="0"/>
          </a:p>
          <a:p>
            <a:pPr indent="0" marL="0">
              <a:spcAft>
                <a:spcPts val="800"/>
              </a:spcAft>
              <a:buNone/>
            </a:pPr>
            <a:r>
              <a:rPr lang="en-US" sz="2400" dirty="0">
                <a:solidFill>
                  <a:schemeClr val="tx1"/>
                </a:solidFill>
                <a:latin typeface="Courier New" pitchFamily="34" charset="0"/>
                <a:ea typeface="Courier New" pitchFamily="34" charset="-122"/>
                <a:cs typeface="Courier New" pitchFamily="34" charset="-120"/>
              </a:rPr>
              <a:t>curl localhost:5001/health</a:t>
            </a:r>
            <a:pPr indent="0" marL="0">
              <a:spcAft>
                <a:spcPts val="800"/>
              </a:spcAft>
              <a:buNone/>
            </a:pPr>
            <a:r>
              <a:rPr lang="en-US" sz="2400" dirty="0">
                <a:solidFill>
                  <a:schemeClr val="tx1"/>
                </a:solidFill>
              </a:rPr>
              <a:t>.</a:t>
            </a:r>
            <a:endParaRPr lang="en-US" sz="2400" dirty="0"/>
          </a:p>
          <a:p>
            <a:pPr indent="0" marL="0">
              <a:buNone/>
            </a:pPr>
            <a:r>
              <a:rPr lang="en-US" sz="2400" dirty="0">
                <a:solidFill>
                  <a:schemeClr val="tx1"/>
                </a:solidFill>
              </a:rPr>
              <a:t>Send it a messy title: </a:t>
            </a:r>
            <a:pPr indent="0" marL="0">
              <a:buNone/>
            </a:pPr>
            <a:r>
              <a:rPr lang="en-US" sz="2400" dirty="0">
                <a:solidFill>
                  <a:schemeClr val="tx1"/>
                </a:solidFill>
                <a:latin typeface="Courier New" pitchFamily="34" charset="0"/>
                <a:ea typeface="Courier New" pitchFamily="34" charset="-122"/>
                <a:cs typeface="Courier New" pitchFamily="34" charset="-120"/>
              </a:rPr>
              <a:t>POST /invoke</a:t>
            </a:r>
            <a:pPr indent="0" marL="0">
              <a:buNone/>
            </a:pPr>
            <a:r>
              <a:rPr lang="en-US" sz="2400" dirty="0">
                <a:solidFill>
                  <a:schemeClr val="tx1"/>
                </a:solidFill>
              </a:rPr>
              <a:t>.</a:t>
            </a:r>
            <a:endParaRPr lang="en-US" sz="2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2: stuck?</a:t>
            </a:r>
            <a:endParaRPr lang="en-US" sz="3400" dirty="0"/>
          </a:p>
        </p:txBody>
      </p:sp>
      <p:sp>
        <p:nvSpPr>
          <p:cNvPr id="4" name="requirement line"/>
          <p:cNvSpPr/>
          <p:nvPr/>
        </p:nvSpPr>
        <p:spPr>
          <a:xfrm>
            <a:off x="548640" y="1060704"/>
            <a:ext cx="8046720" cy="347472"/>
          </a:xfrm>
          <a:prstGeom prst="roundRect">
            <a:avLst>
              <a:gd name="adj" fmla="val 21053"/>
            </a:avLst>
          </a:prstGeom>
          <a:solidFill>
            <a:schemeClr val="tx1"/>
          </a:solidFill>
          <a:ln/>
        </p:spPr>
      </p:sp>
      <p:sp>
        <p:nvSpPr>
          <p:cNvPr id="5" name="Text 2"/>
          <p:cNvSpPr txBox="1"/>
          <p:nvPr/>
        </p:nvSpPr>
        <p:spPr>
          <a:xfrm>
            <a:off x="777240" y="1060704"/>
            <a:ext cx="7589520" cy="347472"/>
          </a:xfrm>
          <a:prstGeom prst="rect">
            <a:avLst/>
          </a:prstGeom>
          <a:noFill/>
          <a:ln/>
        </p:spPr>
        <p:txBody>
          <a:bodyPr wrap="square" lIns="0" tIns="0" rIns="0" bIns="0" rtlCol="0" anchor="ctr"/>
          <a:lstStyle/>
          <a:p>
            <a:pPr indent="0" marL="0">
              <a:buNone/>
            </a:pPr>
            <a:r>
              <a:rPr lang="en-US" sz="1600" b="1" dirty="0">
                <a:solidFill>
                  <a:schemeClr val="bg1"/>
                </a:solidFill>
              </a:rPr>
              <a:t>Build and run </a:t>
            </a:r>
            <a:pPr indent="0" marL="0">
              <a:buNone/>
            </a:pPr>
            <a:r>
              <a:rPr lang="en-US" sz="1600" b="1" dirty="0">
                <a:solidFill>
                  <a:schemeClr val="bg1"/>
                </a:solidFill>
                <a:latin typeface="Courier New" pitchFamily="34" charset="0"/>
                <a:ea typeface="Courier New" pitchFamily="34" charset="-122"/>
                <a:cs typeface="Courier New" pitchFamily="34" charset="-120"/>
              </a:rPr>
              <a:t>title-normalizer</a:t>
            </a:r>
            <a:pPr indent="0" marL="0">
              <a:buNone/>
            </a:pPr>
            <a:r>
              <a:rPr lang="en-US" sz="1600" b="1" dirty="0">
                <a:solidFill>
                  <a:schemeClr val="bg1"/>
                </a:solidFill>
              </a:rPr>
              <a:t> on port 5001. </a:t>
            </a:r>
            <a:pPr indent="0" marL="0">
              <a:buNone/>
            </a:pPr>
            <a:r>
              <a:rPr lang="en-US" sz="1600" b="1" dirty="0">
                <a:solidFill>
                  <a:schemeClr val="bg1"/>
                </a:solidFill>
                <a:latin typeface="Courier New" pitchFamily="34" charset="0"/>
                <a:ea typeface="Courier New" pitchFamily="34" charset="-122"/>
                <a:cs typeface="Courier New" pitchFamily="34" charset="-120"/>
              </a:rPr>
              <a:t>curl</a:t>
            </a:r>
            <a:pPr indent="0" marL="0">
              <a:buNone/>
            </a:pPr>
            <a:r>
              <a:rPr lang="en-US" sz="1600" b="1" dirty="0">
                <a:solidFill>
                  <a:schemeClr val="bg1"/>
                </a:solidFill>
              </a:rPr>
              <a:t> </a:t>
            </a:r>
            <a:pPr indent="0" marL="0">
              <a:buNone/>
            </a:pPr>
            <a:r>
              <a:rPr lang="en-US" sz="1600" b="1" dirty="0">
                <a:solidFill>
                  <a:schemeClr val="bg1"/>
                </a:solidFill>
                <a:latin typeface="Courier New" pitchFamily="34" charset="0"/>
                <a:ea typeface="Courier New" pitchFamily="34" charset="-122"/>
                <a:cs typeface="Courier New" pitchFamily="34" charset="-120"/>
              </a:rPr>
              <a:t>/health</a:t>
            </a:r>
            <a:pPr indent="0" marL="0">
              <a:buNone/>
            </a:pPr>
            <a:r>
              <a:rPr lang="en-US" sz="1600" b="1" dirty="0">
                <a:solidFill>
                  <a:schemeClr val="bg1"/>
                </a:solidFill>
              </a:rPr>
              <a:t> and </a:t>
            </a:r>
            <a:pPr indent="0" marL="0">
              <a:buNone/>
            </a:pPr>
            <a:r>
              <a:rPr lang="en-US" sz="1600" b="1" dirty="0">
                <a:solidFill>
                  <a:schemeClr val="bg1"/>
                </a:solidFill>
                <a:latin typeface="Courier New" pitchFamily="34" charset="0"/>
                <a:ea typeface="Courier New" pitchFamily="34" charset="-122"/>
                <a:cs typeface="Courier New" pitchFamily="34" charset="-120"/>
              </a:rPr>
              <a:t>/invoke</a:t>
            </a:r>
            <a:pPr indent="0" marL="0">
              <a:buNone/>
            </a:pPr>
            <a:r>
              <a:rPr lang="en-US" sz="1600" b="1" dirty="0">
                <a:solidFill>
                  <a:schemeClr val="bg1"/>
                </a:solidFill>
              </a:rPr>
              <a:t>.</a:t>
            </a:r>
            <a:endParaRPr lang="en-US" sz="1600" dirty="0"/>
          </a:p>
        </p:txBody>
      </p:sp>
      <p:sp>
        <p:nvSpPr>
          <p:cNvPr id="6" name="hint a card"/>
          <p:cNvSpPr/>
          <p:nvPr/>
        </p:nvSpPr>
        <p:spPr>
          <a:xfrm>
            <a:off x="548640" y="1481328"/>
            <a:ext cx="8046720" cy="868680"/>
          </a:xfrm>
          <a:prstGeom prst="roundRect">
            <a:avLst>
              <a:gd name="adj" fmla="val 842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7" name="hint a circle"/>
          <p:cNvSpPr/>
          <p:nvPr/>
        </p:nvSpPr>
        <p:spPr>
          <a:xfrm>
            <a:off x="640080" y="1751076"/>
            <a:ext cx="329184" cy="329184"/>
          </a:xfrm>
          <a:prstGeom prst="ellipse">
            <a:avLst/>
          </a:prstGeom>
          <a:solidFill>
            <a:schemeClr val="accent2"/>
          </a:solidFill>
          <a:ln/>
        </p:spPr>
      </p:sp>
      <p:sp>
        <p:nvSpPr>
          <p:cNvPr id="8" name="hint a letter"/>
          <p:cNvSpPr txBox="1"/>
          <p:nvPr/>
        </p:nvSpPr>
        <p:spPr>
          <a:xfrm>
            <a:off x="640080" y="175107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9" name="hint a text"/>
          <p:cNvSpPr txBox="1"/>
          <p:nvPr/>
        </p:nvSpPr>
        <p:spPr>
          <a:xfrm>
            <a:off x="1060704" y="1481328"/>
            <a:ext cx="7443216" cy="868680"/>
          </a:xfrm>
          <a:prstGeom prst="rect">
            <a:avLst/>
          </a:prstGeom>
          <a:noFill/>
          <a:ln/>
        </p:spPr>
        <p:txBody>
          <a:bodyPr wrap="square" lIns="0" tIns="0" rIns="0" bIns="0" rtlCol="0" anchor="ctr"/>
          <a:lstStyle/>
          <a:p>
            <a:pPr indent="0" marL="0">
              <a:buNone/>
            </a:pPr>
            <a:r>
              <a:rPr lang="en-US" sz="1600" dirty="0">
                <a:solidFill>
                  <a:schemeClr val="tx1"/>
                </a:solidFill>
              </a:rPr>
              <a:t>Same recipe, other service. Copy your first file: what changes?</a:t>
            </a:r>
            <a:endParaRPr lang="en-US" sz="1600" dirty="0"/>
          </a:p>
        </p:txBody>
      </p:sp>
      <p:sp>
        <p:nvSpPr>
          <p:cNvPr id="10" name="hint b card"/>
          <p:cNvSpPr/>
          <p:nvPr/>
        </p:nvSpPr>
        <p:spPr>
          <a:xfrm>
            <a:off x="548640" y="2386584"/>
            <a:ext cx="8046720" cy="868680"/>
          </a:xfrm>
          <a:prstGeom prst="roundRect">
            <a:avLst>
              <a:gd name="adj" fmla="val 842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1" name="hint b circle"/>
          <p:cNvSpPr/>
          <p:nvPr/>
        </p:nvSpPr>
        <p:spPr>
          <a:xfrm>
            <a:off x="640080" y="2656332"/>
            <a:ext cx="329184" cy="329184"/>
          </a:xfrm>
          <a:prstGeom prst="ellipse">
            <a:avLst/>
          </a:prstGeom>
          <a:solidFill>
            <a:schemeClr val="accent2"/>
          </a:solidFill>
          <a:ln/>
        </p:spPr>
      </p:sp>
      <p:sp>
        <p:nvSpPr>
          <p:cNvPr id="12" name="hint b letter"/>
          <p:cNvSpPr txBox="1"/>
          <p:nvPr/>
        </p:nvSpPr>
        <p:spPr>
          <a:xfrm>
            <a:off x="640080" y="265633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13" name="hint b text"/>
          <p:cNvSpPr txBox="1"/>
          <p:nvPr/>
        </p:nvSpPr>
        <p:spPr>
          <a:xfrm>
            <a:off x="1060704" y="2386584"/>
            <a:ext cx="7443216" cy="868680"/>
          </a:xfrm>
          <a:prstGeom prst="rect">
            <a:avLst/>
          </a:prstGeom>
          <a:noFill/>
          <a:ln/>
        </p:spPr>
        <p:txBody>
          <a:bodyPr wrap="square" lIns="0" tIns="0" rIns="0" bIns="0" rtlCol="0" anchor="ctr"/>
          <a:lstStyle/>
          <a:p>
            <a:pPr indent="0" marL="0">
              <a:buNone/>
            </a:pPr>
            <a:r>
              <a:rPr lang="en-US" sz="1600" dirty="0">
                <a:solidFill>
                  <a:schemeClr val="tx1"/>
                </a:solidFill>
              </a:rPr>
              <a:t>The port is in the README table.</a:t>
            </a:r>
            <a:endParaRPr lang="en-US" sz="1600" dirty="0"/>
          </a:p>
        </p:txBody>
      </p:sp>
      <p:sp>
        <p:nvSpPr>
          <p:cNvPr id="14" name="hint c card"/>
          <p:cNvSpPr/>
          <p:nvPr/>
        </p:nvSpPr>
        <p:spPr>
          <a:xfrm>
            <a:off x="548640" y="3291840"/>
            <a:ext cx="8046720" cy="868680"/>
          </a:xfrm>
          <a:prstGeom prst="roundRect">
            <a:avLst>
              <a:gd name="adj" fmla="val 842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5" name="hint c circle"/>
          <p:cNvSpPr/>
          <p:nvPr/>
        </p:nvSpPr>
        <p:spPr>
          <a:xfrm>
            <a:off x="640080" y="3561588"/>
            <a:ext cx="329184" cy="329184"/>
          </a:xfrm>
          <a:prstGeom prst="ellipse">
            <a:avLst/>
          </a:prstGeom>
          <a:solidFill>
            <a:schemeClr val="accent2"/>
          </a:solidFill>
          <a:ln/>
        </p:spPr>
      </p:sp>
      <p:sp>
        <p:nvSpPr>
          <p:cNvPr id="16" name="hint c letter"/>
          <p:cNvSpPr txBox="1"/>
          <p:nvPr/>
        </p:nvSpPr>
        <p:spPr>
          <a:xfrm>
            <a:off x="640080" y="356158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17" name="hint c text"/>
          <p:cNvSpPr txBox="1"/>
          <p:nvPr/>
        </p:nvSpPr>
        <p:spPr>
          <a:xfrm>
            <a:off x="1060704" y="3291840"/>
            <a:ext cx="7443216" cy="868680"/>
          </a:xfrm>
          <a:prstGeom prst="rect">
            <a:avLst/>
          </a:prstGeom>
          <a:noFill/>
          <a:ln/>
        </p:spPr>
        <p:txBody>
          <a:bodyPr wrap="square" lIns="0" tIns="0" rIns="0" bIns="0" rtlCol="0" anchor="ctr"/>
          <a:lstStyle/>
          <a:p>
            <a:pPr indent="0" marL="0">
              <a:buNone/>
            </a:pPr>
            <a:r>
              <a:rPr lang="en-US" sz="1600" dirty="0">
                <a:solidFill>
                  <a:schemeClr val="tx1"/>
                </a:solidFill>
                <a:latin typeface="Courier New" pitchFamily="34" charset="0"/>
                <a:ea typeface="Courier New" pitchFamily="34" charset="-122"/>
                <a:cs typeface="Courier New" pitchFamily="34" charset="-120"/>
              </a:rPr>
              <a:t>POST /invoke</a:t>
            </a:r>
            <a:pPr indent="0" marL="0">
              <a:buNone/>
            </a:pPr>
            <a:r>
              <a:rPr lang="en-US" sz="1600" dirty="0">
                <a:solidFill>
                  <a:schemeClr val="tx1"/>
                </a:solidFill>
              </a:rPr>
              <a:t> takes a JSON body with a title. The README has an example.</a:t>
            </a:r>
            <a:endParaRPr lang="en-US" sz="16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1" grpId="0" animBg="1"/>
      <p:bldP spid="12" grpId="0"/>
      <p:bldP spid="13" grpId="0"/>
      <p:bldP spid="15" grpId="0" animBg="1"/>
      <p:bldP spid="16" grpId="0"/>
      <p:bldP spid="17" grpId="0"/>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2: answer</a:t>
            </a:r>
            <a:endParaRPr lang="en-US" sz="3400" dirty="0"/>
          </a:p>
        </p:txBody>
      </p:sp>
      <p:sp>
        <p:nvSpPr>
          <p:cNvPr id="4" name="code panel"/>
          <p:cNvSpPr/>
          <p:nvPr/>
        </p:nvSpPr>
        <p:spPr>
          <a:xfrm>
            <a:off x="320040" y="1005840"/>
            <a:ext cx="8503920" cy="2468880"/>
          </a:xfrm>
          <a:prstGeom prst="roundRect">
            <a:avLst>
              <a:gd name="adj" fmla="val 2963"/>
            </a:avLst>
          </a:prstGeom>
          <a:solidFill>
            <a:schemeClr val="tx1"/>
          </a:solidFill>
          <a:ln/>
        </p:spPr>
      </p:sp>
      <p:sp>
        <p:nvSpPr>
          <p:cNvPr id="5" name="code"/>
          <p:cNvSpPr txBox="1"/>
          <p:nvPr/>
        </p:nvSpPr>
        <p:spPr>
          <a:xfrm>
            <a:off x="429768" y="1088136"/>
            <a:ext cx="8284464" cy="2304288"/>
          </a:xfrm>
          <a:prstGeom prst="rect">
            <a:avLst/>
          </a:prstGeom>
          <a:noFill/>
          <a:ln/>
        </p:spPr>
        <p:txBody>
          <a:bodyPr wrap="square" lIns="0" tIns="0" rIns="0" bIns="0" rtlCol="0" anchor="t"/>
          <a:lstStyle/>
          <a:p>
            <a:pPr indent="0" marL="0">
              <a:lnSpc>
                <a:spcPts val="2125"/>
              </a:lnSpc>
              <a:buNone/>
            </a:pPr>
            <a:r>
              <a:rPr lang="en-US" sz="1250" dirty="0">
                <a:solidFill>
                  <a:srgbClr val="9DA7B3"/>
                </a:solidFill>
                <a:latin typeface="Courier New" pitchFamily="34" charset="0"/>
                <a:ea typeface="Courier New" pitchFamily="34" charset="-122"/>
                <a:cs typeface="Courier New" pitchFamily="34" charset="-120"/>
              </a:rPr>
              <a:t>FROM python:3.12-slim</a:t>
            </a:r>
            <a:endParaRPr lang="en-US" sz="1250" dirty="0"/>
          </a:p>
          <a:p>
            <a:pPr indent="0" marL="0">
              <a:lnSpc>
                <a:spcPts val="2125"/>
              </a:lnSpc>
              <a:buNone/>
            </a:pPr>
            <a:r>
              <a:rPr lang="en-US" sz="1250" dirty="0">
                <a:solidFill>
                  <a:srgbClr val="9DA7B3"/>
                </a:solidFill>
                <a:latin typeface="Courier New" pitchFamily="34" charset="0"/>
                <a:ea typeface="Courier New" pitchFamily="34" charset="-122"/>
                <a:cs typeface="Courier New" pitchFamily="34" charset="-120"/>
              </a:rPr>
              <a:t>WORKDIR /app</a:t>
            </a:r>
            <a:endParaRPr lang="en-US" sz="1250" dirty="0"/>
          </a:p>
          <a:p>
            <a:pPr indent="0" marL="0">
              <a:lnSpc>
                <a:spcPts val="2125"/>
              </a:lnSpc>
              <a:buNone/>
            </a:pPr>
            <a:r>
              <a:rPr lang="en-US" sz="1250" dirty="0">
                <a:solidFill>
                  <a:srgbClr val="9DA7B3"/>
                </a:solidFill>
                <a:latin typeface="Courier New" pitchFamily="34" charset="0"/>
                <a:ea typeface="Courier New" pitchFamily="34" charset="-122"/>
                <a:cs typeface="Courier New" pitchFamily="34" charset="-120"/>
              </a:rPr>
              <a:t>COPY requirements.txt .</a:t>
            </a:r>
            <a:endParaRPr lang="en-US" sz="1250" dirty="0"/>
          </a:p>
          <a:p>
            <a:pPr indent="0" marL="0">
              <a:lnSpc>
                <a:spcPts val="2125"/>
              </a:lnSpc>
              <a:buNone/>
            </a:pPr>
            <a:r>
              <a:rPr lang="en-US" sz="1250" dirty="0">
                <a:solidFill>
                  <a:srgbClr val="9DA7B3"/>
                </a:solidFill>
                <a:latin typeface="Courier New" pitchFamily="34" charset="0"/>
                <a:ea typeface="Courier New" pitchFamily="34" charset="-122"/>
                <a:cs typeface="Courier New" pitchFamily="34" charset="-120"/>
              </a:rPr>
              <a:t>RUN pip install --no-cache-dir -r requirements.txt</a:t>
            </a:r>
            <a:endParaRPr lang="en-US" sz="1250" dirty="0"/>
          </a:p>
          <a:p>
            <a:pPr indent="0" marL="0">
              <a:lnSpc>
                <a:spcPts val="2125"/>
              </a:lnSpc>
              <a:buNone/>
            </a:pPr>
            <a:r>
              <a:rPr lang="en-US" sz="1250" dirty="0">
                <a:solidFill>
                  <a:srgbClr val="9DA7B3"/>
                </a:solidFill>
                <a:latin typeface="Courier New" pitchFamily="34" charset="0"/>
                <a:ea typeface="Courier New" pitchFamily="34" charset="-122"/>
                <a:cs typeface="Courier New" pitchFamily="34" charset="-120"/>
              </a:rPr>
              <a:t>COPY . .</a:t>
            </a:r>
            <a:endParaRPr lang="en-US" sz="1250" dirty="0"/>
          </a:p>
          <a:p>
            <a:pPr indent="0" marL="0">
              <a:lnSpc>
                <a:spcPts val="2125"/>
              </a:lnSpc>
              <a:buNone/>
            </a:pPr>
            <a:r>
              <a:rPr lang="en-US" sz="1250" b="1" dirty="0">
                <a:solidFill>
                  <a:srgbClr val="56D364"/>
                </a:solidFill>
                <a:highlight>
                  <a:srgbClr val="1B3A28"/>
                </a:highlight>
                <a:latin typeface="Courier New" pitchFamily="34" charset="0"/>
                <a:ea typeface="Courier New" pitchFamily="34" charset="-122"/>
                <a:cs typeface="Courier New" pitchFamily="34" charset="-120"/>
              </a:rPr>
              <a:t>EXPOSE 5001</a:t>
            </a:r>
            <a:endParaRPr lang="en-US" sz="1250" dirty="0"/>
          </a:p>
          <a:p>
            <a:pPr indent="0" marL="0">
              <a:lnSpc>
                <a:spcPts val="2125"/>
              </a:lnSpc>
              <a:buNone/>
            </a:pPr>
            <a:r>
              <a:rPr lang="en-US" sz="1250" b="1" dirty="0">
                <a:solidFill>
                  <a:srgbClr val="56D364"/>
                </a:solidFill>
                <a:highlight>
                  <a:srgbClr val="1B3A28"/>
                </a:highlight>
                <a:latin typeface="Courier New" pitchFamily="34" charset="0"/>
                <a:ea typeface="Courier New" pitchFamily="34" charset="-122"/>
                <a:cs typeface="Courier New" pitchFamily="34" charset="-120"/>
              </a:rPr>
              <a:t>CMD ["flask", "--app", "app:create_app", "run", "--host", "0.0.0.0", "--port", "5001"]</a:t>
            </a:r>
            <a:endParaRPr lang="en-US" sz="1250" dirty="0"/>
          </a:p>
        </p:txBody>
      </p:sp>
      <p:sp>
        <p:nvSpPr>
          <p:cNvPr id="6" name="Text 3"/>
          <p:cNvSpPr txBox="1"/>
          <p:nvPr/>
        </p:nvSpPr>
        <p:spPr>
          <a:xfrm>
            <a:off x="3383280" y="411480"/>
            <a:ext cx="5577840" cy="502920"/>
          </a:xfrm>
          <a:prstGeom prst="rect">
            <a:avLst/>
          </a:prstGeom>
          <a:noFill/>
          <a:ln/>
        </p:spPr>
        <p:txBody>
          <a:bodyPr wrap="square" lIns="0" tIns="0" rIns="0" bIns="0" rtlCol="0" anchor="ctr"/>
          <a:lstStyle/>
          <a:p>
            <a:pPr algn="r" indent="0" marL="0">
              <a:buNone/>
            </a:pPr>
            <a:r>
              <a:rPr lang="en-US" sz="1400" b="1" dirty="0">
                <a:solidFill>
                  <a:schemeClr val="accent1"/>
                </a:solidFill>
              </a:rPr>
              <a:t>Same as Step 1. Green lines differ.</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Containers talk by name</a:t>
            </a:r>
            <a:endParaRPr lang="en-US" sz="3400" dirty="0"/>
          </a:p>
        </p:txBody>
      </p:sp>
      <p:sp>
        <p:nvSpPr>
          <p:cNvPr id="4" name="Text 1"/>
          <p:cNvSpPr txBox="1"/>
          <p:nvPr/>
        </p:nvSpPr>
        <p:spPr>
          <a:xfrm>
            <a:off x="548640" y="1005840"/>
            <a:ext cx="8046720" cy="457200"/>
          </a:xfrm>
          <a:prstGeom prst="rect">
            <a:avLst/>
          </a:prstGeom>
          <a:noFill/>
          <a:ln/>
        </p:spPr>
        <p:txBody>
          <a:bodyPr wrap="square" lIns="0" tIns="0" rIns="0" bIns="0" rtlCol="0" anchor="ctr"/>
          <a:lstStyle/>
          <a:p>
            <a:pPr indent="0" marL="0">
              <a:buNone/>
            </a:pPr>
            <a:r>
              <a:rPr lang="en-US" sz="2200" b="1" dirty="0">
                <a:solidFill>
                  <a:schemeClr val="tx1"/>
                </a:solidFill>
              </a:rPr>
              <a:t>On your own network a container's name is its address.</a:t>
            </a:r>
            <a:endParaRPr lang="en-US" sz="2200" dirty="0"/>
          </a:p>
        </p:txBody>
      </p:sp>
      <p:sp>
        <p:nvSpPr>
          <p:cNvPr id="5" name="network tasks-net"/>
          <p:cNvSpPr/>
          <p:nvPr/>
        </p:nvSpPr>
        <p:spPr>
          <a:xfrm>
            <a:off x="2743200" y="1600200"/>
            <a:ext cx="5852160" cy="2423160"/>
          </a:xfrm>
          <a:prstGeom prst="roundRect">
            <a:avLst>
              <a:gd name="adj" fmla="val 3019"/>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2926080" y="1645920"/>
            <a:ext cx="2743200" cy="365760"/>
          </a:xfrm>
          <a:prstGeom prst="rect">
            <a:avLst/>
          </a:prstGeom>
          <a:noFill/>
          <a:ln/>
        </p:spPr>
        <p:txBody>
          <a:bodyPr wrap="square" lIns="0" tIns="0" rIns="0" bIns="0" rtlCol="0" anchor="ctr"/>
          <a:lstStyle/>
          <a:p>
            <a:pPr indent="0" marL="0">
              <a:buNone/>
            </a:pPr>
            <a:r>
              <a:rPr lang="en-US" sz="1800" b="1" dirty="0">
                <a:solidFill>
                  <a:schemeClr val="accent6"/>
                </a:solidFill>
                <a:latin typeface="Courier New" pitchFamily="34" charset="0"/>
                <a:ea typeface="Courier New" pitchFamily="34" charset="-122"/>
                <a:cs typeface="Courier New" pitchFamily="34" charset="-120"/>
              </a:rPr>
              <a:t>tasks-net</a:t>
            </a:r>
            <a:endParaRPr lang="en-US" sz="1800" dirty="0"/>
          </a:p>
        </p:txBody>
      </p:sp>
      <p:sp>
        <p:nvSpPr>
          <p:cNvPr id="7" name="box tasks-api"/>
          <p:cNvSpPr/>
          <p:nvPr/>
        </p:nvSpPr>
        <p:spPr>
          <a:xfrm>
            <a:off x="2971800" y="2743200"/>
            <a:ext cx="1645920" cy="822960"/>
          </a:xfrm>
          <a:prstGeom prst="roundRect">
            <a:avLst>
              <a:gd name="adj" fmla="val 8889"/>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3017520" y="2743200"/>
            <a:ext cx="1554480" cy="822960"/>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tasks-api</a:t>
            </a:r>
            <a:endParaRPr lang="en-US" sz="1800" dirty="0"/>
          </a:p>
        </p:txBody>
      </p:sp>
      <p:sp>
        <p:nvSpPr>
          <p:cNvPr id="9" name="box title-normalizer"/>
          <p:cNvSpPr/>
          <p:nvPr/>
        </p:nvSpPr>
        <p:spPr>
          <a:xfrm>
            <a:off x="6172200" y="2743200"/>
            <a:ext cx="2240280" cy="822960"/>
          </a:xfrm>
          <a:prstGeom prst="roundRect">
            <a:avLst>
              <a:gd name="adj" fmla="val 8889"/>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6217920" y="2743200"/>
            <a:ext cx="2148840" cy="822960"/>
          </a:xfrm>
          <a:prstGeom prst="rect">
            <a:avLst/>
          </a:prstGeom>
          <a:no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title-normalizer</a:t>
            </a:r>
            <a:endParaRPr lang="en-US" sz="1600" dirty="0"/>
          </a:p>
        </p:txBody>
      </p:sp>
      <p:sp>
        <p:nvSpPr>
          <p:cNvPr id="11" name="name arrow"/>
          <p:cNvSpPr/>
          <p:nvPr/>
        </p:nvSpPr>
        <p:spPr>
          <a:xfrm>
            <a:off x="4663440" y="2971800"/>
            <a:ext cx="1463040" cy="365760"/>
          </a:xfrm>
          <a:prstGeom prst="rightArrow">
            <a:avLst/>
          </a:prstGeom>
          <a:solidFill>
            <a:srgbClr val="0969DA"/>
          </a:solidFill>
          <a:ln/>
        </p:spPr>
      </p:sp>
      <p:sp>
        <p:nvSpPr>
          <p:cNvPr id="12" name="Text 9"/>
          <p:cNvSpPr txBox="1"/>
          <p:nvPr/>
        </p:nvSpPr>
        <p:spPr>
          <a:xfrm>
            <a:off x="3931920" y="2331720"/>
            <a:ext cx="3108960" cy="365760"/>
          </a:xfrm>
          <a:prstGeom prst="rect">
            <a:avLst/>
          </a:prstGeom>
          <a:noFill/>
          <a:ln/>
        </p:spPr>
        <p:txBody>
          <a:bodyPr wrap="square" lIns="0" tIns="0" rIns="0" bIns="0" rtlCol="0" anchor="ctr"/>
          <a:lstStyle/>
          <a:p>
            <a:pPr algn="ctr" indent="0" marL="0">
              <a:buNone/>
            </a:pPr>
            <a:r>
              <a:rPr lang="en-US" sz="1400" b="1" dirty="0">
                <a:solidFill>
                  <a:srgbClr val="0969DA"/>
                </a:solidFill>
                <a:latin typeface="Courier New" pitchFamily="34" charset="0"/>
                <a:ea typeface="Courier New" pitchFamily="34" charset="-122"/>
                <a:cs typeface="Courier New" pitchFamily="34" charset="-120"/>
              </a:rPr>
              <a:t>http://title-normalizer:5001</a:t>
            </a:r>
            <a:endParaRPr lang="en-US" sz="1400" dirty="0"/>
          </a:p>
        </p:txBody>
      </p:sp>
      <p:sp>
        <p:nvSpPr>
          <p:cNvPr id="13" name="box curl"/>
          <p:cNvSpPr/>
          <p:nvPr/>
        </p:nvSpPr>
        <p:spPr>
          <a:xfrm>
            <a:off x="365760" y="2743200"/>
            <a:ext cx="1188720" cy="822960"/>
          </a:xfrm>
          <a:prstGeom prst="roundRect">
            <a:avLst>
              <a:gd name="adj" fmla="val 8889"/>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411480" y="2743200"/>
            <a:ext cx="1097280" cy="822960"/>
          </a:xfrm>
          <a:prstGeom prst="rect">
            <a:avLst/>
          </a:prstGeom>
          <a:noFill/>
          <a:ln/>
        </p:spPr>
        <p:txBody>
          <a:bodyPr wrap="square" lIns="0" tIns="0" rIns="0" bIns="0" rtlCol="0" anchor="ctr"/>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curl</a:t>
            </a:r>
            <a:endParaRPr lang="en-US" sz="1800" dirty="0"/>
          </a:p>
        </p:txBody>
      </p:sp>
      <p:sp>
        <p:nvSpPr>
          <p:cNvPr id="15" name="port arrow"/>
          <p:cNvSpPr/>
          <p:nvPr/>
        </p:nvSpPr>
        <p:spPr>
          <a:xfrm>
            <a:off x="1600200" y="2971800"/>
            <a:ext cx="1371600" cy="365760"/>
          </a:xfrm>
          <a:prstGeom prst="rightArrow">
            <a:avLst/>
          </a:prstGeom>
          <a:solidFill>
            <a:srgbClr val="57606A"/>
          </a:solidFill>
          <a:ln/>
        </p:spPr>
      </p:sp>
      <p:sp>
        <p:nvSpPr>
          <p:cNvPr id="16" name="Text 13"/>
          <p:cNvSpPr txBox="1"/>
          <p:nvPr/>
        </p:nvSpPr>
        <p:spPr>
          <a:xfrm>
            <a:off x="1051560" y="2331720"/>
            <a:ext cx="1600200" cy="365760"/>
          </a:xfrm>
          <a:prstGeom prst="rect">
            <a:avLst/>
          </a:prstGeom>
          <a:noFill/>
          <a:ln/>
        </p:spPr>
        <p:txBody>
          <a:bodyPr wrap="square" lIns="0" tIns="0" rIns="0" bIns="0" rtlCol="0" anchor="ctr"/>
          <a:lstStyle/>
          <a:p>
            <a:pPr algn="ctr" indent="0" marL="0">
              <a:buNone/>
            </a:pPr>
            <a:r>
              <a:rPr lang="en-US" sz="1400" b="1" dirty="0">
                <a:solidFill>
                  <a:srgbClr val="57606A"/>
                </a:solidFill>
                <a:latin typeface="Courier New" pitchFamily="34" charset="0"/>
                <a:ea typeface="Courier New" pitchFamily="34" charset="-122"/>
                <a:cs typeface="Courier New" pitchFamily="34" charset="-120"/>
              </a:rPr>
              <a:t>-p 5000:5000</a:t>
            </a:r>
            <a:endParaRPr lang="en-US" sz="1400" dirty="0"/>
          </a:p>
        </p:txBody>
      </p:sp>
      <p:sp>
        <p:nvSpPr>
          <p:cNvPr id="17" name="Text 14"/>
          <p:cNvSpPr txBox="1"/>
          <p:nvPr/>
        </p:nvSpPr>
        <p:spPr>
          <a:xfrm>
            <a:off x="548640" y="4206240"/>
            <a:ext cx="8046720" cy="502920"/>
          </a:xfrm>
          <a:prstGeom prst="rect">
            <a:avLst/>
          </a:prstGeom>
          <a:noFill/>
          <a:ln/>
        </p:spPr>
        <p:txBody>
          <a:bodyPr wrap="square" lIns="0" tIns="0" rIns="0" bIns="0" rtlCol="0" anchor="ctr"/>
          <a:lstStyle/>
          <a:p>
            <a:pPr indent="0" marL="0">
              <a:buNone/>
            </a:pPr>
            <a:r>
              <a:rPr lang="en-US" sz="2200" b="1" dirty="0">
                <a:solidFill>
                  <a:schemeClr val="accent2"/>
                </a:solidFill>
                <a:latin typeface="Courier New" pitchFamily="34" charset="0"/>
                <a:ea typeface="Courier New" pitchFamily="34" charset="-122"/>
                <a:cs typeface="Courier New" pitchFamily="34" charset="-120"/>
              </a:rPr>
              <a:t>-p</a:t>
            </a:r>
            <a:pPr indent="0" marL="0">
              <a:buNone/>
            </a:pPr>
            <a:r>
              <a:rPr lang="en-US" sz="2400" b="1" dirty="0">
                <a:solidFill>
                  <a:schemeClr val="accent2"/>
                </a:solidFill>
              </a:rPr>
              <a:t> is for the world outside.</a:t>
            </a:r>
            <a:endParaRPr lang="en-US" sz="2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3</a:t>
            </a:r>
            <a:endParaRPr lang="en-US" sz="3400" dirty="0"/>
          </a:p>
        </p:txBody>
      </p:sp>
      <p:sp>
        <p:nvSpPr>
          <p:cNvPr id="4" name="requirement"/>
          <p:cNvSpPr/>
          <p:nvPr/>
        </p:nvSpPr>
        <p:spPr>
          <a:xfrm>
            <a:off x="548640" y="1280160"/>
            <a:ext cx="8046720" cy="3383280"/>
          </a:xfrm>
          <a:prstGeom prst="roundRect">
            <a:avLst>
              <a:gd name="adj" fmla="val 2162"/>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5" name="requirement bar"/>
          <p:cNvSpPr/>
          <p:nvPr/>
        </p:nvSpPr>
        <p:spPr>
          <a:xfrm>
            <a:off x="548640" y="1280160"/>
            <a:ext cx="91440" cy="3383280"/>
          </a:xfrm>
          <a:prstGeom prst="rect">
            <a:avLst/>
          </a:prstGeom>
          <a:solidFill>
            <a:schemeClr val="accent1"/>
          </a:solidFill>
          <a:ln/>
        </p:spPr>
      </p:sp>
      <p:sp>
        <p:nvSpPr>
          <p:cNvPr id="6" name="Text 3"/>
          <p:cNvSpPr txBox="1"/>
          <p:nvPr/>
        </p:nvSpPr>
        <p:spPr>
          <a:xfrm>
            <a:off x="914400" y="1371600"/>
            <a:ext cx="7498080" cy="3200400"/>
          </a:xfrm>
          <a:prstGeom prst="rect">
            <a:avLst/>
          </a:prstGeom>
          <a:noFill/>
          <a:ln/>
        </p:spPr>
        <p:txBody>
          <a:bodyPr wrap="square" lIns="0" tIns="0" rIns="0" bIns="0" rtlCol="0" anchor="ctr"/>
          <a:lstStyle/>
          <a:p>
            <a:pPr indent="0" marL="0">
              <a:spcAft>
                <a:spcPts val="800"/>
              </a:spcAft>
              <a:buNone/>
            </a:pPr>
            <a:r>
              <a:rPr lang="en-US" sz="2000" dirty="0">
                <a:solidFill>
                  <a:schemeClr val="tx1"/>
                </a:solidFill>
              </a:rPr>
              <a:t>Make the two containers talk.</a:t>
            </a:r>
            <a:endParaRPr lang="en-US" sz="2000" dirty="0"/>
          </a:p>
          <a:p>
            <a:pPr indent="0" marL="0">
              <a:spcAft>
                <a:spcPts val="800"/>
              </a:spcAft>
              <a:buNone/>
            </a:pPr>
            <a:r>
              <a:rPr lang="en-US" sz="2000" dirty="0">
                <a:solidFill>
                  <a:schemeClr val="tx1"/>
                </a:solidFill>
              </a:rPr>
              <a:t>Stop the running containers.</a:t>
            </a:r>
            <a:endParaRPr lang="en-US" sz="2000" dirty="0"/>
          </a:p>
          <a:p>
            <a:pPr indent="0" marL="0">
              <a:spcAft>
                <a:spcPts val="800"/>
              </a:spcAft>
              <a:buNone/>
            </a:pPr>
            <a:r>
              <a:rPr lang="en-US" sz="2000" dirty="0">
                <a:solidFill>
                  <a:schemeClr val="tx1"/>
                </a:solidFill>
              </a:rPr>
              <a:t>Create a network </a:t>
            </a:r>
            <a:pPr indent="0" marL="0">
              <a:spcAft>
                <a:spcPts val="800"/>
              </a:spcAft>
              <a:buNone/>
            </a:pPr>
            <a:r>
              <a:rPr lang="en-US" sz="2000" dirty="0">
                <a:solidFill>
                  <a:schemeClr val="tx1"/>
                </a:solidFill>
                <a:latin typeface="Courier New" pitchFamily="34" charset="0"/>
                <a:ea typeface="Courier New" pitchFamily="34" charset="-122"/>
                <a:cs typeface="Courier New" pitchFamily="34" charset="-120"/>
              </a:rPr>
              <a:t>tasks-net</a:t>
            </a:r>
            <a:pPr indent="0" marL="0">
              <a:spcAft>
                <a:spcPts val="800"/>
              </a:spcAft>
              <a:buNone/>
            </a:pPr>
            <a:r>
              <a:rPr lang="en-US" sz="2000" dirty="0">
                <a:solidFill>
                  <a:schemeClr val="tx1"/>
                </a:solidFill>
              </a:rPr>
              <a:t>.</a:t>
            </a:r>
            <a:endParaRPr lang="en-US" sz="2000" dirty="0"/>
          </a:p>
          <a:p>
            <a:pPr indent="0" marL="0">
              <a:spcAft>
                <a:spcPts val="800"/>
              </a:spcAft>
              <a:buNone/>
            </a:pPr>
            <a:r>
              <a:rPr lang="en-US" sz="2000" dirty="0">
                <a:solidFill>
                  <a:schemeClr val="tx1"/>
                </a:solidFill>
              </a:rPr>
              <a:t>Run </a:t>
            </a:r>
            <a:pPr indent="0" marL="0">
              <a:spcAft>
                <a:spcPts val="800"/>
              </a:spcAft>
              <a:buNone/>
            </a:pPr>
            <a:r>
              <a:rPr lang="en-US" sz="2000" dirty="0">
                <a:solidFill>
                  <a:schemeClr val="tx1"/>
                </a:solidFill>
                <a:latin typeface="Courier New" pitchFamily="34" charset="0"/>
                <a:ea typeface="Courier New" pitchFamily="34" charset="-122"/>
                <a:cs typeface="Courier New" pitchFamily="34" charset="-120"/>
              </a:rPr>
              <a:t>title-normalizer</a:t>
            </a:r>
            <a:pPr indent="0" marL="0">
              <a:spcAft>
                <a:spcPts val="800"/>
              </a:spcAft>
              <a:buNone/>
            </a:pPr>
            <a:r>
              <a:rPr lang="en-US" sz="2000" dirty="0">
                <a:solidFill>
                  <a:schemeClr val="tx1"/>
                </a:solidFill>
              </a:rPr>
              <a:t> on it, named </a:t>
            </a:r>
            <a:pPr indent="0" marL="0">
              <a:spcAft>
                <a:spcPts val="800"/>
              </a:spcAft>
              <a:buNone/>
            </a:pPr>
            <a:r>
              <a:rPr lang="en-US" sz="2000" dirty="0">
                <a:solidFill>
                  <a:schemeClr val="tx1"/>
                </a:solidFill>
                <a:latin typeface="Courier New" pitchFamily="34" charset="0"/>
                <a:ea typeface="Courier New" pitchFamily="34" charset="-122"/>
                <a:cs typeface="Courier New" pitchFamily="34" charset="-120"/>
              </a:rPr>
              <a:t>title-normalizer</a:t>
            </a:r>
            <a:pPr indent="0" marL="0">
              <a:spcAft>
                <a:spcPts val="800"/>
              </a:spcAft>
              <a:buNone/>
            </a:pPr>
            <a:r>
              <a:rPr lang="en-US" sz="2000" dirty="0">
                <a:solidFill>
                  <a:schemeClr val="tx1"/>
                </a:solidFill>
              </a:rPr>
              <a:t>.</a:t>
            </a:r>
            <a:endParaRPr lang="en-US" sz="2000" dirty="0"/>
          </a:p>
          <a:p>
            <a:pPr indent="0" marL="0">
              <a:spcAft>
                <a:spcPts val="800"/>
              </a:spcAft>
              <a:buNone/>
            </a:pPr>
            <a:r>
              <a:rPr lang="en-US" sz="2000" dirty="0">
                <a:solidFill>
                  <a:schemeClr val="tx1"/>
                </a:solidFill>
              </a:rPr>
              <a:t>Run </a:t>
            </a:r>
            <a:pPr indent="0" marL="0">
              <a:spcAft>
                <a:spcPts val="800"/>
              </a:spcAft>
              <a:buNone/>
            </a:pPr>
            <a:r>
              <a:rPr lang="en-US" sz="2000" dirty="0">
                <a:solidFill>
                  <a:schemeClr val="tx1"/>
                </a:solidFill>
                <a:latin typeface="Courier New" pitchFamily="34" charset="0"/>
                <a:ea typeface="Courier New" pitchFamily="34" charset="-122"/>
                <a:cs typeface="Courier New" pitchFamily="34" charset="-120"/>
              </a:rPr>
              <a:t>tasks-api</a:t>
            </a:r>
            <a:pPr indent="0" marL="0">
              <a:spcAft>
                <a:spcPts val="800"/>
              </a:spcAft>
              <a:buNone/>
            </a:pPr>
            <a:r>
              <a:rPr lang="en-US" sz="2000" dirty="0">
                <a:solidFill>
                  <a:schemeClr val="tx1"/>
                </a:solidFill>
              </a:rPr>
              <a:t> on it, port 5000 published, with </a:t>
            </a:r>
            <a:pPr indent="0" marL="0">
              <a:spcAft>
                <a:spcPts val="800"/>
              </a:spcAft>
              <a:buNone/>
            </a:pPr>
            <a:r>
              <a:rPr lang="en-US" sz="2000" dirty="0">
                <a:solidFill>
                  <a:schemeClr val="tx1"/>
                </a:solidFill>
                <a:latin typeface="Courier New" pitchFamily="34" charset="0"/>
                <a:ea typeface="Courier New" pitchFamily="34" charset="-122"/>
                <a:cs typeface="Courier New" pitchFamily="34" charset="-120"/>
              </a:rPr>
              <a:t>NORMALIZER_URL</a:t>
            </a:r>
            <a:pPr indent="0" marL="0">
              <a:spcAft>
                <a:spcPts val="800"/>
              </a:spcAft>
              <a:buNone/>
            </a:pPr>
            <a:r>
              <a:rPr lang="en-US" sz="2000" dirty="0">
                <a:solidFill>
                  <a:schemeClr val="tx1"/>
                </a:solidFill>
              </a:rPr>
              <a:t> pointing at the normalizer.</a:t>
            </a:r>
            <a:endParaRPr lang="en-US" sz="2000" dirty="0"/>
          </a:p>
          <a:p>
            <a:pPr indent="0" marL="0">
              <a:buNone/>
            </a:pPr>
            <a:r>
              <a:rPr lang="en-US" sz="2000" dirty="0">
                <a:solidFill>
                  <a:schemeClr val="tx1"/>
                </a:solidFill>
                <a:latin typeface="Courier New" pitchFamily="34" charset="0"/>
                <a:ea typeface="Courier New" pitchFamily="34" charset="-122"/>
                <a:cs typeface="Courier New" pitchFamily="34" charset="-120"/>
              </a:rPr>
              <a:t>POST /tasks</a:t>
            </a:r>
            <a:pPr indent="0" marL="0">
              <a:buNone/>
            </a:pPr>
            <a:r>
              <a:rPr lang="en-US" sz="2000" dirty="0">
                <a:solidFill>
                  <a:schemeClr val="tx1"/>
                </a:solidFill>
              </a:rPr>
              <a:t> with a messy title: it comes back cleaned, </a:t>
            </a:r>
            <a:pPr indent="0" marL="0">
              <a:buNone/>
            </a:pPr>
            <a:r>
              <a:rPr lang="en-US" sz="2000" dirty="0">
                <a:solidFill>
                  <a:schemeClr val="tx1"/>
                </a:solidFill>
                <a:latin typeface="Courier New" pitchFamily="34" charset="0"/>
                <a:ea typeface="Courier New" pitchFamily="34" charset="-122"/>
                <a:cs typeface="Courier New" pitchFamily="34" charset="-120"/>
              </a:rPr>
              <a:t>normalized</a:t>
            </a:r>
            <a:pPr indent="0" marL="0">
              <a:buNone/>
            </a:pPr>
            <a:r>
              <a:rPr lang="en-US" sz="2000" dirty="0">
                <a:solidFill>
                  <a:schemeClr val="tx1"/>
                </a:solidFill>
              </a:rPr>
              <a:t> true.</a:t>
            </a:r>
            <a:endParaRPr lang="en-US" sz="2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3: stuck?</a:t>
            </a:r>
            <a:endParaRPr lang="en-US" sz="3400" dirty="0"/>
          </a:p>
        </p:txBody>
      </p:sp>
      <p:sp>
        <p:nvSpPr>
          <p:cNvPr id="4" name="requirement line"/>
          <p:cNvSpPr/>
          <p:nvPr/>
        </p:nvSpPr>
        <p:spPr>
          <a:xfrm>
            <a:off x="548640" y="1060704"/>
            <a:ext cx="8046720" cy="347472"/>
          </a:xfrm>
          <a:prstGeom prst="roundRect">
            <a:avLst>
              <a:gd name="adj" fmla="val 21053"/>
            </a:avLst>
          </a:prstGeom>
          <a:solidFill>
            <a:schemeClr val="tx1"/>
          </a:solidFill>
          <a:ln/>
        </p:spPr>
      </p:sp>
      <p:sp>
        <p:nvSpPr>
          <p:cNvPr id="5" name="Text 2"/>
          <p:cNvSpPr txBox="1"/>
          <p:nvPr/>
        </p:nvSpPr>
        <p:spPr>
          <a:xfrm>
            <a:off x="777240" y="1060704"/>
            <a:ext cx="7589520" cy="347472"/>
          </a:xfrm>
          <a:prstGeom prst="rect">
            <a:avLst/>
          </a:prstGeom>
          <a:noFill/>
          <a:ln/>
        </p:spPr>
        <p:txBody>
          <a:bodyPr wrap="square" lIns="0" tIns="0" rIns="0" bIns="0" rtlCol="0" anchor="ctr"/>
          <a:lstStyle/>
          <a:p>
            <a:pPr indent="0" marL="0">
              <a:buNone/>
            </a:pPr>
            <a:r>
              <a:rPr lang="en-US" sz="1600" b="1" dirty="0">
                <a:solidFill>
                  <a:schemeClr val="bg1"/>
                </a:solidFill>
              </a:rPr>
              <a:t>Run both on </a:t>
            </a:r>
            <a:pPr indent="0" marL="0">
              <a:buNone/>
            </a:pPr>
            <a:r>
              <a:rPr lang="en-US" sz="1600" b="1" dirty="0">
                <a:solidFill>
                  <a:schemeClr val="bg1"/>
                </a:solidFill>
                <a:latin typeface="Courier New" pitchFamily="34" charset="0"/>
                <a:ea typeface="Courier New" pitchFamily="34" charset="-122"/>
                <a:cs typeface="Courier New" pitchFamily="34" charset="-120"/>
              </a:rPr>
              <a:t>tasks-net</a:t>
            </a:r>
            <a:pPr indent="0" marL="0">
              <a:buNone/>
            </a:pPr>
            <a:r>
              <a:rPr lang="en-US" sz="1600" b="1" dirty="0">
                <a:solidFill>
                  <a:schemeClr val="bg1"/>
                </a:solidFill>
              </a:rPr>
              <a:t> and </a:t>
            </a:r>
            <a:pPr indent="0" marL="0">
              <a:buNone/>
            </a:pPr>
            <a:r>
              <a:rPr lang="en-US" sz="1600" b="1" dirty="0">
                <a:solidFill>
                  <a:schemeClr val="bg1"/>
                </a:solidFill>
                <a:latin typeface="Courier New" pitchFamily="34" charset="0"/>
                <a:ea typeface="Courier New" pitchFamily="34" charset="-122"/>
                <a:cs typeface="Courier New" pitchFamily="34" charset="-120"/>
              </a:rPr>
              <a:t>POST /tasks</a:t>
            </a:r>
            <a:pPr indent="0" marL="0">
              <a:buNone/>
            </a:pPr>
            <a:r>
              <a:rPr lang="en-US" sz="1600" b="1" dirty="0">
                <a:solidFill>
                  <a:schemeClr val="bg1"/>
                </a:solidFill>
              </a:rPr>
              <a:t>.</a:t>
            </a:r>
            <a:endParaRPr lang="en-US" sz="1600" dirty="0"/>
          </a:p>
        </p:txBody>
      </p:sp>
      <p:sp>
        <p:nvSpPr>
          <p:cNvPr id="6" name="hint a card"/>
          <p:cNvSpPr/>
          <p:nvPr/>
        </p:nvSpPr>
        <p:spPr>
          <a:xfrm>
            <a:off x="548640" y="1481328"/>
            <a:ext cx="8046720" cy="652882"/>
          </a:xfrm>
          <a:prstGeom prst="roundRect">
            <a:avLst>
              <a:gd name="adj" fmla="val 11204"/>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7" name="hint a circle"/>
          <p:cNvSpPr/>
          <p:nvPr/>
        </p:nvSpPr>
        <p:spPr>
          <a:xfrm>
            <a:off x="640080" y="1643177"/>
            <a:ext cx="329184" cy="329184"/>
          </a:xfrm>
          <a:prstGeom prst="ellipse">
            <a:avLst/>
          </a:prstGeom>
          <a:solidFill>
            <a:schemeClr val="accent2"/>
          </a:solidFill>
          <a:ln/>
        </p:spPr>
      </p:sp>
      <p:sp>
        <p:nvSpPr>
          <p:cNvPr id="8" name="hint a letter"/>
          <p:cNvSpPr txBox="1"/>
          <p:nvPr/>
        </p:nvSpPr>
        <p:spPr>
          <a:xfrm>
            <a:off x="640080" y="1643177"/>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9" name="hint a text"/>
          <p:cNvSpPr txBox="1"/>
          <p:nvPr/>
        </p:nvSpPr>
        <p:spPr>
          <a:xfrm>
            <a:off x="1060704" y="1481328"/>
            <a:ext cx="7443216" cy="652882"/>
          </a:xfrm>
          <a:prstGeom prst="rect">
            <a:avLst/>
          </a:prstGeom>
          <a:noFill/>
          <a:ln/>
        </p:spPr>
        <p:txBody>
          <a:bodyPr wrap="square" lIns="0" tIns="0" rIns="0" bIns="0" rtlCol="0" anchor="ctr"/>
          <a:lstStyle/>
          <a:p>
            <a:pPr indent="0" marL="0">
              <a:buNone/>
            </a:pPr>
            <a:r>
              <a:rPr lang="en-US" sz="1400" dirty="0">
                <a:solidFill>
                  <a:schemeClr val="tx1"/>
                </a:solidFill>
              </a:rPr>
              <a:t>First: </a:t>
            </a:r>
            <a:pPr indent="0" marL="0">
              <a:buNone/>
            </a:pPr>
            <a:r>
              <a:rPr lang="en-US" sz="1400" dirty="0">
                <a:solidFill>
                  <a:schemeClr val="tx1"/>
                </a:solidFill>
                <a:latin typeface="Courier New" pitchFamily="34" charset="0"/>
                <a:ea typeface="Courier New" pitchFamily="34" charset="-122"/>
                <a:cs typeface="Courier New" pitchFamily="34" charset="-120"/>
              </a:rPr>
              <a:t>docker network create tasks-net</a:t>
            </a:r>
            <a:pPr indent="0" marL="0">
              <a:buNone/>
            </a:pPr>
            <a:r>
              <a:rPr lang="en-US" sz="1400" dirty="0">
                <a:solidFill>
                  <a:schemeClr val="tx1"/>
                </a:solidFill>
              </a:rPr>
              <a:t>.</a:t>
            </a:r>
            <a:endParaRPr lang="en-US" sz="1400" dirty="0"/>
          </a:p>
        </p:txBody>
      </p:sp>
      <p:sp>
        <p:nvSpPr>
          <p:cNvPr id="10" name="hint b card"/>
          <p:cNvSpPr/>
          <p:nvPr/>
        </p:nvSpPr>
        <p:spPr>
          <a:xfrm>
            <a:off x="548640" y="2170786"/>
            <a:ext cx="8046720" cy="652882"/>
          </a:xfrm>
          <a:prstGeom prst="roundRect">
            <a:avLst>
              <a:gd name="adj" fmla="val 11204"/>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1" name="hint b circle"/>
          <p:cNvSpPr/>
          <p:nvPr/>
        </p:nvSpPr>
        <p:spPr>
          <a:xfrm>
            <a:off x="640080" y="2332634"/>
            <a:ext cx="329184" cy="329184"/>
          </a:xfrm>
          <a:prstGeom prst="ellipse">
            <a:avLst/>
          </a:prstGeom>
          <a:solidFill>
            <a:schemeClr val="accent2"/>
          </a:solidFill>
          <a:ln/>
        </p:spPr>
      </p:sp>
      <p:sp>
        <p:nvSpPr>
          <p:cNvPr id="12" name="hint b letter"/>
          <p:cNvSpPr txBox="1"/>
          <p:nvPr/>
        </p:nvSpPr>
        <p:spPr>
          <a:xfrm>
            <a:off x="640080" y="233263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13" name="hint b text"/>
          <p:cNvSpPr txBox="1"/>
          <p:nvPr/>
        </p:nvSpPr>
        <p:spPr>
          <a:xfrm>
            <a:off x="1060704" y="2170786"/>
            <a:ext cx="7443216" cy="652882"/>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title-normalizer</a:t>
            </a:r>
            <a:pPr indent="0" marL="0">
              <a:buNone/>
            </a:pPr>
            <a:r>
              <a:rPr lang="en-US" sz="1400" dirty="0">
                <a:solidFill>
                  <a:schemeClr val="tx1"/>
                </a:solidFill>
              </a:rPr>
              <a:t>: </a:t>
            </a:r>
            <a:pPr indent="0" marL="0">
              <a:buNone/>
            </a:pPr>
            <a:r>
              <a:rPr lang="en-US" sz="1400" dirty="0">
                <a:solidFill>
                  <a:schemeClr val="tx1"/>
                </a:solidFill>
                <a:latin typeface="Courier New" pitchFamily="34" charset="0"/>
                <a:ea typeface="Courier New" pitchFamily="34" charset="-122"/>
                <a:cs typeface="Courier New" pitchFamily="34" charset="-120"/>
              </a:rPr>
              <a:t>--network tasks-net --name title-normalizer</a:t>
            </a:r>
            <a:pPr indent="0" marL="0">
              <a:buNone/>
            </a:pPr>
            <a:r>
              <a:rPr lang="en-US" sz="1400" dirty="0">
                <a:solidFill>
                  <a:schemeClr val="tx1"/>
                </a:solidFill>
              </a:rPr>
              <a:t>.</a:t>
            </a:r>
            <a:endParaRPr lang="en-US" sz="1400" dirty="0"/>
          </a:p>
        </p:txBody>
      </p:sp>
      <p:sp>
        <p:nvSpPr>
          <p:cNvPr id="14" name="hint c card"/>
          <p:cNvSpPr/>
          <p:nvPr/>
        </p:nvSpPr>
        <p:spPr>
          <a:xfrm>
            <a:off x="548640" y="2860243"/>
            <a:ext cx="8046720" cy="652882"/>
          </a:xfrm>
          <a:prstGeom prst="roundRect">
            <a:avLst>
              <a:gd name="adj" fmla="val 11204"/>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5" name="hint c circle"/>
          <p:cNvSpPr/>
          <p:nvPr/>
        </p:nvSpPr>
        <p:spPr>
          <a:xfrm>
            <a:off x="640080" y="3022092"/>
            <a:ext cx="329184" cy="329184"/>
          </a:xfrm>
          <a:prstGeom prst="ellipse">
            <a:avLst/>
          </a:prstGeom>
          <a:solidFill>
            <a:schemeClr val="accent2"/>
          </a:solidFill>
          <a:ln/>
        </p:spPr>
      </p:sp>
      <p:sp>
        <p:nvSpPr>
          <p:cNvPr id="16" name="hint c letter"/>
          <p:cNvSpPr txBox="1"/>
          <p:nvPr/>
        </p:nvSpPr>
        <p:spPr>
          <a:xfrm>
            <a:off x="640080" y="302209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17" name="hint c text"/>
          <p:cNvSpPr txBox="1"/>
          <p:nvPr/>
        </p:nvSpPr>
        <p:spPr>
          <a:xfrm>
            <a:off x="1060704" y="2860243"/>
            <a:ext cx="7443216" cy="652882"/>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tasks-api</a:t>
            </a:r>
            <a:pPr indent="0" marL="0">
              <a:buNone/>
            </a:pPr>
            <a:r>
              <a:rPr lang="en-US" sz="1400" dirty="0">
                <a:solidFill>
                  <a:schemeClr val="tx1"/>
                </a:solidFill>
              </a:rPr>
              <a:t>: </a:t>
            </a:r>
            <a:pPr indent="0" marL="0">
              <a:buNone/>
            </a:pPr>
            <a:r>
              <a:rPr lang="en-US" sz="1400" dirty="0">
                <a:solidFill>
                  <a:schemeClr val="tx1"/>
                </a:solidFill>
                <a:latin typeface="Courier New" pitchFamily="34" charset="0"/>
                <a:ea typeface="Courier New" pitchFamily="34" charset="-122"/>
                <a:cs typeface="Courier New" pitchFamily="34" charset="-120"/>
              </a:rPr>
              <a:t>--network tasks-net</a:t>
            </a:r>
            <a:pPr indent="0" marL="0">
              <a:buNone/>
            </a:pPr>
            <a:r>
              <a:rPr lang="en-US" sz="1400" dirty="0">
                <a:solidFill>
                  <a:schemeClr val="tx1"/>
                </a:solidFill>
              </a:rPr>
              <a:t>, </a:t>
            </a:r>
            <a:pPr indent="0" marL="0">
              <a:buNone/>
            </a:pPr>
            <a:r>
              <a:rPr lang="en-US" sz="1400" dirty="0">
                <a:solidFill>
                  <a:schemeClr val="tx1"/>
                </a:solidFill>
                <a:latin typeface="Courier New" pitchFamily="34" charset="0"/>
                <a:ea typeface="Courier New" pitchFamily="34" charset="-122"/>
                <a:cs typeface="Courier New" pitchFamily="34" charset="-120"/>
              </a:rPr>
              <a:t>-p 5000:5000</a:t>
            </a:r>
            <a:pPr indent="0" marL="0">
              <a:buNone/>
            </a:pPr>
            <a:r>
              <a:rPr lang="en-US" sz="1400" dirty="0">
                <a:solidFill>
                  <a:schemeClr val="tx1"/>
                </a:solidFill>
              </a:rPr>
              <a:t>, and the env variable with </a:t>
            </a:r>
            <a:pPr indent="0" marL="0">
              <a:buNone/>
            </a:pPr>
            <a:r>
              <a:rPr lang="en-US" sz="1400" dirty="0">
                <a:solidFill>
                  <a:schemeClr val="tx1"/>
                </a:solidFill>
                <a:latin typeface="Courier New" pitchFamily="34" charset="0"/>
                <a:ea typeface="Courier New" pitchFamily="34" charset="-122"/>
                <a:cs typeface="Courier New" pitchFamily="34" charset="-120"/>
              </a:rPr>
              <a:t>-e</a:t>
            </a:r>
            <a:pPr indent="0" marL="0">
              <a:buNone/>
            </a:pPr>
            <a:r>
              <a:rPr lang="en-US" sz="1400" dirty="0">
                <a:solidFill>
                  <a:schemeClr val="tx1"/>
                </a:solidFill>
              </a:rPr>
              <a:t>.</a:t>
            </a:r>
            <a:endParaRPr lang="en-US" sz="1400" dirty="0"/>
          </a:p>
        </p:txBody>
      </p:sp>
      <p:sp>
        <p:nvSpPr>
          <p:cNvPr id="18" name="hint d card"/>
          <p:cNvSpPr/>
          <p:nvPr/>
        </p:nvSpPr>
        <p:spPr>
          <a:xfrm>
            <a:off x="548640" y="3549701"/>
            <a:ext cx="8046720" cy="652882"/>
          </a:xfrm>
          <a:prstGeom prst="roundRect">
            <a:avLst>
              <a:gd name="adj" fmla="val 11204"/>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9" name="hint d circle"/>
          <p:cNvSpPr/>
          <p:nvPr/>
        </p:nvSpPr>
        <p:spPr>
          <a:xfrm>
            <a:off x="640080" y="3711550"/>
            <a:ext cx="329184" cy="329184"/>
          </a:xfrm>
          <a:prstGeom prst="ellipse">
            <a:avLst/>
          </a:prstGeom>
          <a:solidFill>
            <a:schemeClr val="accent2"/>
          </a:solidFill>
          <a:ln/>
        </p:spPr>
      </p:sp>
      <p:sp>
        <p:nvSpPr>
          <p:cNvPr id="20" name="hint d letter"/>
          <p:cNvSpPr txBox="1"/>
          <p:nvPr/>
        </p:nvSpPr>
        <p:spPr>
          <a:xfrm>
            <a:off x="640080" y="371155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d</a:t>
            </a:r>
            <a:endParaRPr lang="en-US" sz="1200" dirty="0"/>
          </a:p>
        </p:txBody>
      </p:sp>
      <p:sp>
        <p:nvSpPr>
          <p:cNvPr id="21" name="hint d text"/>
          <p:cNvSpPr txBox="1"/>
          <p:nvPr/>
        </p:nvSpPr>
        <p:spPr>
          <a:xfrm>
            <a:off x="1060704" y="3549701"/>
            <a:ext cx="7443216" cy="652882"/>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-e NORMALIZER_URL=http://title-normalizer:5001</a:t>
            </a:r>
            <a:pPr indent="0" marL="0">
              <a:buNone/>
            </a:pPr>
            <a:r>
              <a:rPr lang="en-US" sz="1400" dirty="0">
                <a:solidFill>
                  <a:schemeClr val="tx1"/>
                </a:solidFill>
              </a:rPr>
              <a:t>: the name, not </a:t>
            </a:r>
            <a:pPr indent="0" marL="0">
              <a:buNone/>
            </a:pPr>
            <a:r>
              <a:rPr lang="en-US" sz="1400" dirty="0">
                <a:solidFill>
                  <a:schemeClr val="tx1"/>
                </a:solidFill>
                <a:latin typeface="Courier New" pitchFamily="34" charset="0"/>
                <a:ea typeface="Courier New" pitchFamily="34" charset="-122"/>
                <a:cs typeface="Courier New" pitchFamily="34" charset="-120"/>
              </a:rPr>
              <a:t>localhost</a:t>
            </a:r>
            <a:pPr indent="0" marL="0">
              <a:buNone/>
            </a:pPr>
            <a:r>
              <a:rPr lang="en-US" sz="1400" dirty="0">
                <a:solidFill>
                  <a:schemeClr val="tx1"/>
                </a:solidFill>
              </a:rPr>
              <a:t>.</a:t>
            </a:r>
            <a:endParaRPr lang="en-US" sz="1400" dirty="0"/>
          </a:p>
        </p:txBody>
      </p:sp>
      <p:sp>
        <p:nvSpPr>
          <p:cNvPr id="22" name="hint e card"/>
          <p:cNvSpPr/>
          <p:nvPr/>
        </p:nvSpPr>
        <p:spPr>
          <a:xfrm>
            <a:off x="548640" y="4239158"/>
            <a:ext cx="8046720" cy="652882"/>
          </a:xfrm>
          <a:prstGeom prst="roundRect">
            <a:avLst>
              <a:gd name="adj" fmla="val 11204"/>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23" name="hint e circle"/>
          <p:cNvSpPr/>
          <p:nvPr/>
        </p:nvSpPr>
        <p:spPr>
          <a:xfrm>
            <a:off x="640080" y="4401007"/>
            <a:ext cx="329184" cy="329184"/>
          </a:xfrm>
          <a:prstGeom prst="ellipse">
            <a:avLst/>
          </a:prstGeom>
          <a:solidFill>
            <a:schemeClr val="accent2"/>
          </a:solidFill>
          <a:ln/>
        </p:spPr>
      </p:sp>
      <p:sp>
        <p:nvSpPr>
          <p:cNvPr id="24" name="hint e letter"/>
          <p:cNvSpPr txBox="1"/>
          <p:nvPr/>
        </p:nvSpPr>
        <p:spPr>
          <a:xfrm>
            <a:off x="640080" y="4401007"/>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e</a:t>
            </a:r>
            <a:endParaRPr lang="en-US" sz="1200" dirty="0"/>
          </a:p>
        </p:txBody>
      </p:sp>
      <p:sp>
        <p:nvSpPr>
          <p:cNvPr id="25" name="hint e text"/>
          <p:cNvSpPr txBox="1"/>
          <p:nvPr/>
        </p:nvSpPr>
        <p:spPr>
          <a:xfrm>
            <a:off x="1060704" y="4239158"/>
            <a:ext cx="7443216" cy="652882"/>
          </a:xfrm>
          <a:prstGeom prst="rect">
            <a:avLst/>
          </a:prstGeom>
          <a:noFill/>
          <a:ln/>
        </p:spPr>
        <p:txBody>
          <a:bodyPr wrap="square" lIns="0" tIns="0" rIns="0" bIns="0" rtlCol="0" anchor="ctr"/>
          <a:lstStyle/>
          <a:p>
            <a:pPr indent="0" marL="0">
              <a:buNone/>
            </a:pPr>
            <a:r>
              <a:rPr lang="en-US" sz="1400" dirty="0">
                <a:solidFill>
                  <a:schemeClr val="tx1"/>
                </a:solidFill>
              </a:rPr>
              <a:t>Not cleaned? </a:t>
            </a:r>
            <a:pPr indent="0" marL="0">
              <a:buNone/>
            </a:pPr>
            <a:r>
              <a:rPr lang="en-US" sz="1400" dirty="0">
                <a:solidFill>
                  <a:schemeClr val="tx1"/>
                </a:solidFill>
                <a:latin typeface="Courier New" pitchFamily="34" charset="0"/>
                <a:ea typeface="Courier New" pitchFamily="34" charset="-122"/>
                <a:cs typeface="Courier New" pitchFamily="34" charset="-120"/>
              </a:rPr>
              <a:t>docker network inspect tasks-net</a:t>
            </a:r>
            <a:pPr indent="0" marL="0">
              <a:buNone/>
            </a:pPr>
            <a:r>
              <a:rPr lang="en-US" sz="1400" dirty="0">
                <a:solidFill>
                  <a:schemeClr val="tx1"/>
                </a:solidFill>
              </a:rPr>
              <a:t>: both names there? Same as the URL?</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1" grpId="0" animBg="1"/>
      <p:bldP spid="12" grpId="0"/>
      <p:bldP spid="13" grpId="0"/>
      <p:bldP spid="15" grpId="0" animBg="1"/>
      <p:bldP spid="16" grpId="0"/>
      <p:bldP spid="17" grpId="0"/>
      <p:bldP spid="19" grpId="0" animBg="1"/>
      <p:bldP spid="20" grpId="0"/>
      <p:bldP spid="21" grpId="0"/>
      <p:bldP spid="23" grpId="0" animBg="1"/>
      <p:bldP spid="24" grpId="0"/>
      <p:bldP spid="25" grpId="0"/>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3: answer</a:t>
            </a:r>
            <a:endParaRPr lang="en-US" sz="3400" dirty="0"/>
          </a:p>
        </p:txBody>
      </p:sp>
      <p:sp>
        <p:nvSpPr>
          <p:cNvPr id="4" name="code panel"/>
          <p:cNvSpPr/>
          <p:nvPr/>
        </p:nvSpPr>
        <p:spPr>
          <a:xfrm>
            <a:off x="320040" y="1005840"/>
            <a:ext cx="8503920" cy="2926080"/>
          </a:xfrm>
          <a:prstGeom prst="roundRect">
            <a:avLst>
              <a:gd name="adj" fmla="val 2500"/>
            </a:avLst>
          </a:prstGeom>
          <a:solidFill>
            <a:schemeClr val="tx1"/>
          </a:solidFill>
          <a:ln/>
        </p:spPr>
      </p:sp>
      <p:sp>
        <p:nvSpPr>
          <p:cNvPr id="5" name="code"/>
          <p:cNvSpPr txBox="1"/>
          <p:nvPr/>
        </p:nvSpPr>
        <p:spPr>
          <a:xfrm>
            <a:off x="429768" y="1088136"/>
            <a:ext cx="8284464" cy="2761488"/>
          </a:xfrm>
          <a:prstGeom prst="rect">
            <a:avLst/>
          </a:prstGeom>
          <a:noFill/>
          <a:ln/>
        </p:spPr>
        <p:txBody>
          <a:bodyPr wrap="square" lIns="0" tIns="0" rIns="0" bIns="0" rtlCol="0" anchor="t"/>
          <a:lstStyle/>
          <a:p>
            <a:pPr indent="0" marL="0">
              <a:lnSpc>
                <a:spcPts val="210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docker network create tasks-net</a:t>
            </a:r>
            <a:endParaRPr lang="en-US" sz="1400" dirty="0"/>
          </a:p>
          <a:p>
            <a:pPr indent="0" marL="0">
              <a:lnSpc>
                <a:spcPts val="2100"/>
              </a:lnSpc>
              <a:buNone/>
            </a:pPr>
            <a:r>
              <a:rPr lang="en-US" sz="1400" dirty="0">
                <a:solidFill>
                  <a:srgbClr val="9DA7B3"/>
                </a:solidFill>
                <a:latin typeface="Courier New" pitchFamily="34" charset="0"/>
                <a:ea typeface="Courier New" pitchFamily="34" charset="-122"/>
                <a:cs typeface="Courier New" pitchFamily="34" charset="-120"/>
              </a:rPr>
              <a:t> </a:t>
            </a:r>
            <a:endParaRPr lang="en-US" sz="1400" dirty="0"/>
          </a:p>
          <a:p>
            <a:pPr indent="0" marL="0">
              <a:lnSpc>
                <a:spcPts val="210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docker run --rm --name title-normalizer --network tasks-net title-normalizer</a:t>
            </a:r>
            <a:endParaRPr lang="en-US" sz="1400" dirty="0"/>
          </a:p>
          <a:p>
            <a:pPr indent="0" marL="0">
              <a:lnSpc>
                <a:spcPts val="2100"/>
              </a:lnSpc>
              <a:buNone/>
            </a:pPr>
            <a:r>
              <a:rPr lang="en-US" sz="1400" dirty="0">
                <a:solidFill>
                  <a:srgbClr val="9DA7B3"/>
                </a:solidFill>
                <a:latin typeface="Courier New" pitchFamily="34" charset="0"/>
                <a:ea typeface="Courier New" pitchFamily="34" charset="-122"/>
                <a:cs typeface="Courier New" pitchFamily="34" charset="-120"/>
              </a:rPr>
              <a:t> </a:t>
            </a:r>
            <a:endParaRPr lang="en-US" sz="1400" dirty="0"/>
          </a:p>
          <a:p>
            <a:pPr indent="0" marL="0">
              <a:lnSpc>
                <a:spcPts val="210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docker run --rm --name tasks-api --network tasks-net \</a:t>
            </a:r>
            <a:endParaRPr lang="en-US" sz="1400" dirty="0"/>
          </a:p>
          <a:p>
            <a:pPr indent="0" marL="0">
              <a:lnSpc>
                <a:spcPts val="210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-p 5000:5000 -e NORMALIZER_URL=http://title-normalizer:5001 tasks-api</a:t>
            </a:r>
            <a:endParaRPr lang="en-US" sz="1400" dirty="0"/>
          </a:p>
          <a:p>
            <a:pPr indent="0" marL="0">
              <a:lnSpc>
                <a:spcPts val="2100"/>
              </a:lnSpc>
              <a:buNone/>
            </a:pPr>
            <a:r>
              <a:rPr lang="en-US" sz="1400" dirty="0">
                <a:solidFill>
                  <a:srgbClr val="9DA7B3"/>
                </a:solidFill>
                <a:latin typeface="Courier New" pitchFamily="34" charset="0"/>
                <a:ea typeface="Courier New" pitchFamily="34" charset="-122"/>
                <a:cs typeface="Courier New" pitchFamily="34" charset="-120"/>
              </a:rPr>
              <a:t> </a:t>
            </a:r>
            <a:endParaRPr lang="en-US" sz="1400" dirty="0"/>
          </a:p>
          <a:p>
            <a:pPr indent="0" marL="0">
              <a:lnSpc>
                <a:spcPts val="210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curl -X POST localhost:5000/tasks -H 'Content-Type: application/json' \</a:t>
            </a:r>
            <a:endParaRPr lang="en-US" sz="1400" dirty="0"/>
          </a:p>
          <a:p>
            <a:pPr indent="0" marL="0">
              <a:lnSpc>
                <a:spcPts val="210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-d '{"title": "  buy   milk "}'</a:t>
            </a:r>
            <a:endParaRPr lang="en-US" sz="1400" dirty="0"/>
          </a:p>
        </p:txBody>
      </p:sp>
      <p:sp>
        <p:nvSpPr>
          <p:cNvPr id="6" name="Text 3"/>
          <p:cNvSpPr txBox="1"/>
          <p:nvPr/>
        </p:nvSpPr>
        <p:spPr>
          <a:xfrm>
            <a:off x="3383280" y="411480"/>
            <a:ext cx="5577840" cy="502920"/>
          </a:xfrm>
          <a:prstGeom prst="rect">
            <a:avLst/>
          </a:prstGeom>
          <a:noFill/>
          <a:ln/>
        </p:spPr>
        <p:txBody>
          <a:bodyPr wrap="square" lIns="0" tIns="0" rIns="0" bIns="0" rtlCol="0" anchor="ctr"/>
          <a:lstStyle/>
          <a:p>
            <a:pPr algn="r" indent="0" marL="0">
              <a:buNone/>
            </a:pPr>
            <a:r>
              <a:rPr lang="en-US" sz="1400" b="1" dirty="0">
                <a:solidFill>
                  <a:schemeClr val="accent1"/>
                </a:solidFill>
              </a:rPr>
              <a:t>Type this</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4</a:t>
            </a:r>
            <a:endParaRPr lang="en-US" sz="3400" dirty="0"/>
          </a:p>
        </p:txBody>
      </p:sp>
      <p:sp>
        <p:nvSpPr>
          <p:cNvPr id="4" name="requirement"/>
          <p:cNvSpPr/>
          <p:nvPr/>
        </p:nvSpPr>
        <p:spPr>
          <a:xfrm>
            <a:off x="548640" y="1280160"/>
            <a:ext cx="8046720" cy="2926080"/>
          </a:xfrm>
          <a:prstGeom prst="roundRect">
            <a:avLst>
              <a:gd name="adj" fmla="val 250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5" name="requirement bar"/>
          <p:cNvSpPr/>
          <p:nvPr/>
        </p:nvSpPr>
        <p:spPr>
          <a:xfrm>
            <a:off x="548640" y="1280160"/>
            <a:ext cx="91440" cy="2926080"/>
          </a:xfrm>
          <a:prstGeom prst="rect">
            <a:avLst/>
          </a:prstGeom>
          <a:solidFill>
            <a:schemeClr val="accent1"/>
          </a:solidFill>
          <a:ln/>
        </p:spPr>
      </p:sp>
      <p:sp>
        <p:nvSpPr>
          <p:cNvPr id="6" name="Text 3"/>
          <p:cNvSpPr txBox="1"/>
          <p:nvPr/>
        </p:nvSpPr>
        <p:spPr>
          <a:xfrm>
            <a:off x="914400" y="1371600"/>
            <a:ext cx="7498080" cy="2743200"/>
          </a:xfrm>
          <a:prstGeom prst="rect">
            <a:avLst/>
          </a:prstGeom>
          <a:noFill/>
          <a:ln/>
        </p:spPr>
        <p:txBody>
          <a:bodyPr wrap="square" lIns="0" tIns="0" rIns="0" bIns="0" rtlCol="0" anchor="ctr"/>
          <a:lstStyle/>
          <a:p>
            <a:pPr indent="0" marL="0">
              <a:spcAft>
                <a:spcPts val="800"/>
              </a:spcAft>
              <a:buNone/>
            </a:pPr>
            <a:r>
              <a:rPr lang="en-US" sz="2400" dirty="0">
                <a:solidFill>
                  <a:schemeClr val="tx1"/>
                </a:solidFill>
              </a:rPr>
              <a:t>On a new branch, add a job </a:t>
            </a:r>
            <a:pPr indent="0" marL="0">
              <a:spcAft>
                <a:spcPts val="800"/>
              </a:spcAft>
              <a:buNone/>
            </a:pPr>
            <a:r>
              <a:rPr lang="en-US" sz="2400" dirty="0">
                <a:solidFill>
                  <a:schemeClr val="tx1"/>
                </a:solidFill>
                <a:latin typeface="Courier New" pitchFamily="34" charset="0"/>
                <a:ea typeface="Courier New" pitchFamily="34" charset="-122"/>
                <a:cs typeface="Courier New" pitchFamily="34" charset="-120"/>
              </a:rPr>
              <a:t>build_images</a:t>
            </a:r>
            <a:pPr indent="0" marL="0">
              <a:spcAft>
                <a:spcPts val="800"/>
              </a:spcAft>
              <a:buNone/>
            </a:pPr>
            <a:r>
              <a:rPr lang="en-US" sz="2400" dirty="0">
                <a:solidFill>
                  <a:schemeClr val="tx1"/>
                </a:solidFill>
              </a:rPr>
              <a:t> to </a:t>
            </a:r>
            <a:pPr indent="0" marL="0">
              <a:spcAft>
                <a:spcPts val="800"/>
              </a:spcAft>
              <a:buNone/>
            </a:pPr>
            <a:r>
              <a:rPr lang="en-US" sz="2400" dirty="0">
                <a:solidFill>
                  <a:schemeClr val="tx1"/>
                </a:solidFill>
                <a:latin typeface="Courier New" pitchFamily="34" charset="0"/>
                <a:ea typeface="Courier New" pitchFamily="34" charset="-122"/>
                <a:cs typeface="Courier New" pitchFamily="34" charset="-120"/>
              </a:rPr>
              <a:t>ci.yml</a:t>
            </a:r>
            <a:pPr indent="0" marL="0">
              <a:spcAft>
                <a:spcPts val="800"/>
              </a:spcAft>
              <a:buNone/>
            </a:pPr>
            <a:r>
              <a:rPr lang="en-US" sz="2400" dirty="0">
                <a:solidFill>
                  <a:schemeClr val="tx1"/>
                </a:solidFill>
              </a:rPr>
              <a:t>.</a:t>
            </a:r>
            <a:endParaRPr lang="en-US" sz="2400" dirty="0"/>
          </a:p>
          <a:p>
            <a:pPr indent="0" marL="0">
              <a:spcAft>
                <a:spcPts val="800"/>
              </a:spcAft>
              <a:buNone/>
            </a:pPr>
            <a:r>
              <a:rPr lang="en-US" sz="2400" dirty="0">
                <a:solidFill>
                  <a:schemeClr val="tx1"/>
                </a:solidFill>
              </a:rPr>
              <a:t>A matrix over both services. </a:t>
            </a:r>
            <a:pPr indent="0" marL="0">
              <a:spcAft>
                <a:spcPts val="800"/>
              </a:spcAft>
              <a:buNone/>
            </a:pPr>
            <a:r>
              <a:rPr lang="en-US" sz="2400" dirty="0">
                <a:solidFill>
                  <a:schemeClr val="tx1"/>
                </a:solidFill>
                <a:latin typeface="Courier New" pitchFamily="34" charset="0"/>
                <a:ea typeface="Courier New" pitchFamily="34" charset="-122"/>
                <a:cs typeface="Courier New" pitchFamily="34" charset="-120"/>
              </a:rPr>
              <a:t>docker build</a:t>
            </a:r>
            <a:pPr indent="0" marL="0">
              <a:spcAft>
                <a:spcPts val="800"/>
              </a:spcAft>
              <a:buNone/>
            </a:pPr>
            <a:r>
              <a:rPr lang="en-US" sz="2400" dirty="0">
                <a:solidFill>
                  <a:schemeClr val="tx1"/>
                </a:solidFill>
              </a:rPr>
              <a:t> each one. It only builds.</a:t>
            </a:r>
            <a:endParaRPr lang="en-US" sz="2400" dirty="0"/>
          </a:p>
          <a:p>
            <a:pPr indent="0" marL="0">
              <a:spcAft>
                <a:spcPts val="800"/>
              </a:spcAft>
              <a:buNone/>
            </a:pPr>
            <a:r>
              <a:rPr lang="en-US" sz="2400" dirty="0">
                <a:solidFill>
                  <a:schemeClr val="tx1"/>
                </a:solidFill>
              </a:rPr>
              <a:t>Push, open a pull request into </a:t>
            </a:r>
            <a:pPr indent="0" marL="0">
              <a:spcAft>
                <a:spcPts val="800"/>
              </a:spcAft>
              <a:buNone/>
            </a:pPr>
            <a:r>
              <a:rPr lang="en-US" sz="2400" dirty="0">
                <a:solidFill>
                  <a:schemeClr val="tx1"/>
                </a:solidFill>
                <a:latin typeface="Courier New" pitchFamily="34" charset="0"/>
                <a:ea typeface="Courier New" pitchFamily="34" charset="-122"/>
                <a:cs typeface="Courier New" pitchFamily="34" charset="-120"/>
              </a:rPr>
              <a:t>main</a:t>
            </a:r>
            <a:pPr indent="0" marL="0">
              <a:spcAft>
                <a:spcPts val="800"/>
              </a:spcAft>
              <a:buNone/>
            </a:pPr>
            <a:r>
              <a:rPr lang="en-US" sz="2400" dirty="0">
                <a:solidFill>
                  <a:schemeClr val="tx1"/>
                </a:solidFill>
              </a:rPr>
              <a:t>.</a:t>
            </a:r>
            <a:endParaRPr lang="en-US" sz="2400" dirty="0"/>
          </a:p>
          <a:p>
            <a:pPr indent="0" marL="0">
              <a:buNone/>
            </a:pPr>
            <a:r>
              <a:rPr lang="en-US" sz="2400" dirty="0">
                <a:solidFill>
                  <a:schemeClr val="tx1"/>
                </a:solidFill>
                <a:latin typeface="Courier New" pitchFamily="34" charset="0"/>
                <a:ea typeface="Courier New" pitchFamily="34" charset="-122"/>
                <a:cs typeface="Courier New" pitchFamily="34" charset="-120"/>
              </a:rPr>
              <a:t>build_images</a:t>
            </a:r>
            <a:pPr indent="0" marL="0">
              <a:buNone/>
            </a:pPr>
            <a:r>
              <a:rPr lang="en-US" sz="2400" dirty="0">
                <a:solidFill>
                  <a:schemeClr val="tx1"/>
                </a:solidFill>
              </a:rPr>
              <a:t> is green.</a:t>
            </a:r>
            <a:endParaRPr lang="en-US" sz="2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4: stuck?</a:t>
            </a:r>
            <a:endParaRPr lang="en-US" sz="3400" dirty="0"/>
          </a:p>
        </p:txBody>
      </p:sp>
      <p:sp>
        <p:nvSpPr>
          <p:cNvPr id="4" name="requirement line"/>
          <p:cNvSpPr/>
          <p:nvPr/>
        </p:nvSpPr>
        <p:spPr>
          <a:xfrm>
            <a:off x="548640" y="1060704"/>
            <a:ext cx="8046720" cy="347472"/>
          </a:xfrm>
          <a:prstGeom prst="roundRect">
            <a:avLst>
              <a:gd name="adj" fmla="val 21053"/>
            </a:avLst>
          </a:prstGeom>
          <a:solidFill>
            <a:schemeClr val="tx1"/>
          </a:solidFill>
          <a:ln/>
        </p:spPr>
      </p:sp>
      <p:sp>
        <p:nvSpPr>
          <p:cNvPr id="5" name="Text 2"/>
          <p:cNvSpPr txBox="1"/>
          <p:nvPr/>
        </p:nvSpPr>
        <p:spPr>
          <a:xfrm>
            <a:off x="777240" y="1060704"/>
            <a:ext cx="7589520" cy="347472"/>
          </a:xfrm>
          <a:prstGeom prst="rect">
            <a:avLst/>
          </a:prstGeom>
          <a:noFill/>
          <a:ln/>
        </p:spPr>
        <p:txBody>
          <a:bodyPr wrap="square" lIns="0" tIns="0" rIns="0" bIns="0" rtlCol="0" anchor="ctr"/>
          <a:lstStyle/>
          <a:p>
            <a:pPr indent="0" marL="0">
              <a:buNone/>
            </a:pPr>
            <a:r>
              <a:rPr lang="en-US" sz="1600" b="1" dirty="0">
                <a:solidFill>
                  <a:schemeClr val="bg1"/>
                </a:solidFill>
              </a:rPr>
              <a:t>Add a </a:t>
            </a:r>
            <a:pPr indent="0" marL="0">
              <a:buNone/>
            </a:pPr>
            <a:r>
              <a:rPr lang="en-US" sz="1600" b="1" dirty="0">
                <a:solidFill>
                  <a:schemeClr val="bg1"/>
                </a:solidFill>
                <a:latin typeface="Courier New" pitchFamily="34" charset="0"/>
                <a:ea typeface="Courier New" pitchFamily="34" charset="-122"/>
                <a:cs typeface="Courier New" pitchFamily="34" charset="-120"/>
              </a:rPr>
              <a:t>build_images</a:t>
            </a:r>
            <a:pPr indent="0" marL="0">
              <a:buNone/>
            </a:pPr>
            <a:r>
              <a:rPr lang="en-US" sz="1600" b="1" dirty="0">
                <a:solidFill>
                  <a:schemeClr val="bg1"/>
                </a:solidFill>
              </a:rPr>
              <a:t> job to </a:t>
            </a:r>
            <a:pPr indent="0" marL="0">
              <a:buNone/>
            </a:pPr>
            <a:r>
              <a:rPr lang="en-US" sz="1600" b="1" dirty="0">
                <a:solidFill>
                  <a:schemeClr val="bg1"/>
                </a:solidFill>
                <a:latin typeface="Courier New" pitchFamily="34" charset="0"/>
                <a:ea typeface="Courier New" pitchFamily="34" charset="-122"/>
                <a:cs typeface="Courier New" pitchFamily="34" charset="-120"/>
              </a:rPr>
              <a:t>ci.yml</a:t>
            </a:r>
            <a:pPr indent="0" marL="0">
              <a:buNone/>
            </a:pPr>
            <a:r>
              <a:rPr lang="en-US" sz="1600" b="1" dirty="0">
                <a:solidFill>
                  <a:schemeClr val="bg1"/>
                </a:solidFill>
              </a:rPr>
              <a:t>. Open a pull request.</a:t>
            </a:r>
            <a:endParaRPr lang="en-US" sz="1600" dirty="0"/>
          </a:p>
        </p:txBody>
      </p:sp>
      <p:sp>
        <p:nvSpPr>
          <p:cNvPr id="6" name="hint a card"/>
          <p:cNvSpPr/>
          <p:nvPr/>
        </p:nvSpPr>
        <p:spPr>
          <a:xfrm>
            <a:off x="548640" y="1481328"/>
            <a:ext cx="8046720" cy="825246"/>
          </a:xfrm>
          <a:prstGeom prst="roundRect">
            <a:avLst>
              <a:gd name="adj" fmla="val 8864"/>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7" name="hint a circle"/>
          <p:cNvSpPr/>
          <p:nvPr/>
        </p:nvSpPr>
        <p:spPr>
          <a:xfrm>
            <a:off x="640080" y="1729359"/>
            <a:ext cx="329184" cy="329184"/>
          </a:xfrm>
          <a:prstGeom prst="ellipse">
            <a:avLst/>
          </a:prstGeom>
          <a:solidFill>
            <a:schemeClr val="accent2"/>
          </a:solidFill>
          <a:ln/>
        </p:spPr>
      </p:sp>
      <p:sp>
        <p:nvSpPr>
          <p:cNvPr id="8" name="hint a letter"/>
          <p:cNvSpPr txBox="1"/>
          <p:nvPr/>
        </p:nvSpPr>
        <p:spPr>
          <a:xfrm>
            <a:off x="640080" y="1729359"/>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9" name="hint a text"/>
          <p:cNvSpPr txBox="1"/>
          <p:nvPr/>
        </p:nvSpPr>
        <p:spPr>
          <a:xfrm>
            <a:off x="1060704" y="1481328"/>
            <a:ext cx="7443216" cy="825246"/>
          </a:xfrm>
          <a:prstGeom prst="rect">
            <a:avLst/>
          </a:prstGeom>
          <a:noFill/>
          <a:ln/>
        </p:spPr>
        <p:txBody>
          <a:bodyPr wrap="square" lIns="0" tIns="0" rIns="0" bIns="0" rtlCol="0" anchor="ctr"/>
          <a:lstStyle/>
          <a:p>
            <a:pPr indent="0" marL="0">
              <a:buNone/>
            </a:pPr>
            <a:r>
              <a:rPr lang="en-US" sz="1600" dirty="0">
                <a:solidFill>
                  <a:schemeClr val="tx1"/>
                </a:solidFill>
              </a:rPr>
              <a:t>Copy </a:t>
            </a:r>
            <a:pPr indent="0" marL="0">
              <a:buNone/>
            </a:pPr>
            <a:r>
              <a:rPr lang="en-US" sz="1600" dirty="0">
                <a:solidFill>
                  <a:schemeClr val="tx1"/>
                </a:solidFill>
                <a:latin typeface="Courier New" pitchFamily="34" charset="0"/>
                <a:ea typeface="Courier New" pitchFamily="34" charset="-122"/>
                <a:cs typeface="Courier New" pitchFamily="34" charset="-120"/>
              </a:rPr>
              <a:t>generate_api_docs</a:t>
            </a:r>
            <a:pPr indent="0" marL="0">
              <a:buNone/>
            </a:pPr>
            <a:r>
              <a:rPr lang="en-US" sz="1600" dirty="0">
                <a:solidFill>
                  <a:schemeClr val="tx1"/>
                </a:solidFill>
              </a:rPr>
              <a:t>. What is the matrix doing there?</a:t>
            </a:r>
            <a:endParaRPr lang="en-US" sz="1600" dirty="0"/>
          </a:p>
        </p:txBody>
      </p:sp>
      <p:sp>
        <p:nvSpPr>
          <p:cNvPr id="10" name="hint b card"/>
          <p:cNvSpPr/>
          <p:nvPr/>
        </p:nvSpPr>
        <p:spPr>
          <a:xfrm>
            <a:off x="548640" y="2343150"/>
            <a:ext cx="8046720" cy="825246"/>
          </a:xfrm>
          <a:prstGeom prst="roundRect">
            <a:avLst>
              <a:gd name="adj" fmla="val 8864"/>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1" name="hint b circle"/>
          <p:cNvSpPr/>
          <p:nvPr/>
        </p:nvSpPr>
        <p:spPr>
          <a:xfrm>
            <a:off x="640080" y="2591181"/>
            <a:ext cx="329184" cy="329184"/>
          </a:xfrm>
          <a:prstGeom prst="ellipse">
            <a:avLst/>
          </a:prstGeom>
          <a:solidFill>
            <a:schemeClr val="accent2"/>
          </a:solidFill>
          <a:ln/>
        </p:spPr>
      </p:sp>
      <p:sp>
        <p:nvSpPr>
          <p:cNvPr id="12" name="hint b letter"/>
          <p:cNvSpPr txBox="1"/>
          <p:nvPr/>
        </p:nvSpPr>
        <p:spPr>
          <a:xfrm>
            <a:off x="640080" y="2591181"/>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13" name="hint b text"/>
          <p:cNvSpPr txBox="1"/>
          <p:nvPr/>
        </p:nvSpPr>
        <p:spPr>
          <a:xfrm>
            <a:off x="1060704" y="2343150"/>
            <a:ext cx="7443216" cy="825246"/>
          </a:xfrm>
          <a:prstGeom prst="rect">
            <a:avLst/>
          </a:prstGeom>
          <a:noFill/>
          <a:ln/>
        </p:spPr>
        <p:txBody>
          <a:bodyPr wrap="square" lIns="0" tIns="0" rIns="0" bIns="0" rtlCol="0" anchor="ctr"/>
          <a:lstStyle/>
          <a:p>
            <a:pPr indent="0" marL="0">
              <a:buNone/>
            </a:pPr>
            <a:r>
              <a:rPr lang="en-US" sz="1600" dirty="0">
                <a:solidFill>
                  <a:schemeClr val="tx1"/>
                </a:solidFill>
              </a:rPr>
              <a:t>A </a:t>
            </a:r>
            <a:pPr indent="0" marL="0">
              <a:buNone/>
            </a:pPr>
            <a:r>
              <a:rPr lang="en-US" sz="1600" dirty="0">
                <a:solidFill>
                  <a:schemeClr val="tx1"/>
                </a:solidFill>
                <a:latin typeface="Courier New" pitchFamily="34" charset="0"/>
                <a:ea typeface="Courier New" pitchFamily="34" charset="-122"/>
                <a:cs typeface="Courier New" pitchFamily="34" charset="-120"/>
              </a:rPr>
              <a:t>run:</a:t>
            </a:r>
            <a:pPr indent="0" marL="0">
              <a:buNone/>
            </a:pPr>
            <a:r>
              <a:rPr lang="en-US" sz="1600" dirty="0">
                <a:solidFill>
                  <a:schemeClr val="tx1"/>
                </a:solidFill>
              </a:rPr>
              <a:t> step with the command you used locally.</a:t>
            </a:r>
            <a:endParaRPr lang="en-US" sz="1600" dirty="0"/>
          </a:p>
        </p:txBody>
      </p:sp>
      <p:sp>
        <p:nvSpPr>
          <p:cNvPr id="14" name="hint c card"/>
          <p:cNvSpPr/>
          <p:nvPr/>
        </p:nvSpPr>
        <p:spPr>
          <a:xfrm>
            <a:off x="548640" y="3204972"/>
            <a:ext cx="8046720" cy="825246"/>
          </a:xfrm>
          <a:prstGeom prst="roundRect">
            <a:avLst>
              <a:gd name="adj" fmla="val 8864"/>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5" name="hint c circle"/>
          <p:cNvSpPr/>
          <p:nvPr/>
        </p:nvSpPr>
        <p:spPr>
          <a:xfrm>
            <a:off x="640080" y="3453003"/>
            <a:ext cx="329184" cy="329184"/>
          </a:xfrm>
          <a:prstGeom prst="ellipse">
            <a:avLst/>
          </a:prstGeom>
          <a:solidFill>
            <a:schemeClr val="accent2"/>
          </a:solidFill>
          <a:ln/>
        </p:spPr>
      </p:sp>
      <p:sp>
        <p:nvSpPr>
          <p:cNvPr id="16" name="hint c letter"/>
          <p:cNvSpPr txBox="1"/>
          <p:nvPr/>
        </p:nvSpPr>
        <p:spPr>
          <a:xfrm>
            <a:off x="640080" y="3453003"/>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17" name="hint c text"/>
          <p:cNvSpPr txBox="1"/>
          <p:nvPr/>
        </p:nvSpPr>
        <p:spPr>
          <a:xfrm>
            <a:off x="1060704" y="3204972"/>
            <a:ext cx="7443216" cy="825246"/>
          </a:xfrm>
          <a:prstGeom prst="rect">
            <a:avLst/>
          </a:prstGeom>
          <a:noFill/>
          <a:ln/>
        </p:spPr>
        <p:txBody>
          <a:bodyPr wrap="square" lIns="0" tIns="0" rIns="0" bIns="0" rtlCol="0" anchor="ctr"/>
          <a:lstStyle/>
          <a:p>
            <a:pPr indent="0" marL="0">
              <a:buNone/>
            </a:pPr>
            <a:r>
              <a:rPr lang="en-US" sz="1600" dirty="0">
                <a:solidFill>
                  <a:schemeClr val="tx1"/>
                </a:solidFill>
              </a:rPr>
              <a:t>The build context is the service folder.</a:t>
            </a:r>
            <a:endParaRPr lang="en-US" sz="1600" dirty="0"/>
          </a:p>
        </p:txBody>
      </p:sp>
      <p:sp>
        <p:nvSpPr>
          <p:cNvPr id="18" name="hint d card"/>
          <p:cNvSpPr/>
          <p:nvPr/>
        </p:nvSpPr>
        <p:spPr>
          <a:xfrm>
            <a:off x="548640" y="4066794"/>
            <a:ext cx="8046720" cy="825246"/>
          </a:xfrm>
          <a:prstGeom prst="roundRect">
            <a:avLst>
              <a:gd name="adj" fmla="val 8864"/>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9" name="hint d circle"/>
          <p:cNvSpPr/>
          <p:nvPr/>
        </p:nvSpPr>
        <p:spPr>
          <a:xfrm>
            <a:off x="640080" y="4314825"/>
            <a:ext cx="329184" cy="329184"/>
          </a:xfrm>
          <a:prstGeom prst="ellipse">
            <a:avLst/>
          </a:prstGeom>
          <a:solidFill>
            <a:schemeClr val="accent2"/>
          </a:solidFill>
          <a:ln/>
        </p:spPr>
      </p:sp>
      <p:sp>
        <p:nvSpPr>
          <p:cNvPr id="20" name="hint d letter"/>
          <p:cNvSpPr txBox="1"/>
          <p:nvPr/>
        </p:nvSpPr>
        <p:spPr>
          <a:xfrm>
            <a:off x="640080" y="431482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d</a:t>
            </a:r>
            <a:endParaRPr lang="en-US" sz="1200" dirty="0"/>
          </a:p>
        </p:txBody>
      </p:sp>
      <p:sp>
        <p:nvSpPr>
          <p:cNvPr id="21" name="hint d text"/>
          <p:cNvSpPr txBox="1"/>
          <p:nvPr/>
        </p:nvSpPr>
        <p:spPr>
          <a:xfrm>
            <a:off x="1060704" y="4066794"/>
            <a:ext cx="7443216" cy="825246"/>
          </a:xfrm>
          <a:prstGeom prst="rect">
            <a:avLst/>
          </a:prstGeom>
          <a:noFill/>
          <a:ln/>
        </p:spPr>
        <p:txBody>
          <a:bodyPr wrap="square" lIns="0" tIns="0" rIns="0" bIns="0" rtlCol="0" anchor="ctr"/>
          <a:lstStyle/>
          <a:p>
            <a:pPr indent="0" marL="0">
              <a:buNone/>
            </a:pPr>
            <a:r>
              <a:rPr lang="en-US" sz="1600" dirty="0">
                <a:solidFill>
                  <a:schemeClr val="tx1"/>
                </a:solidFill>
              </a:rPr>
              <a:t>Red? Read the failing line of the first red job.</a:t>
            </a:r>
            <a:endParaRPr lang="en-US" sz="16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37</a:t>
            </a:fld>
            <a:endParaRPr lang="en-US"/>
          </a:p>
        </p:txBody>
      </p:sp>
    </p:spTree>
  </p:cSld>
  <p:clrMapOvr>
    <a:masterClrMapping/>
  </p:clrMapOvr>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1" grpId="0" animBg="1"/>
      <p:bldP spid="12" grpId="0"/>
      <p:bldP spid="13" grpId="0"/>
      <p:bldP spid="15" grpId="0" animBg="1"/>
      <p:bldP spid="16" grpId="0"/>
      <p:bldP spid="17" grpId="0"/>
      <p:bldP spid="19" grpId="0" animBg="1"/>
      <p:bldP spid="20" grpId="0"/>
      <p:bldP spid="21" grpId="0"/>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4: answer</a:t>
            </a:r>
            <a:endParaRPr lang="en-US" sz="3400" dirty="0"/>
          </a:p>
        </p:txBody>
      </p:sp>
      <p:sp>
        <p:nvSpPr>
          <p:cNvPr id="4" name="code panel"/>
          <p:cNvSpPr/>
          <p:nvPr/>
        </p:nvSpPr>
        <p:spPr>
          <a:xfrm>
            <a:off x="320040" y="1005840"/>
            <a:ext cx="8503920" cy="2834640"/>
          </a:xfrm>
          <a:prstGeom prst="roundRect">
            <a:avLst>
              <a:gd name="adj" fmla="val 2581"/>
            </a:avLst>
          </a:prstGeom>
          <a:solidFill>
            <a:schemeClr val="tx1"/>
          </a:solidFill>
          <a:ln/>
        </p:spPr>
      </p:sp>
      <p:sp>
        <p:nvSpPr>
          <p:cNvPr id="5" name="code"/>
          <p:cNvSpPr txBox="1"/>
          <p:nvPr/>
        </p:nvSpPr>
        <p:spPr>
          <a:xfrm>
            <a:off x="429768" y="1088136"/>
            <a:ext cx="8284464" cy="2670048"/>
          </a:xfrm>
          <a:prstGeom prst="rect">
            <a:avLst/>
          </a:prstGeom>
          <a:noFill/>
          <a:ln/>
        </p:spPr>
        <p:txBody>
          <a:bodyPr wrap="square" lIns="0" tIns="0" rIns="0" bIns="0" rtlCol="0" anchor="t"/>
          <a:lstStyle/>
          <a:p>
            <a:pPr indent="0" marL="0">
              <a:lnSpc>
                <a:spcPts val="224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build_images:</a:t>
            </a:r>
            <a:endParaRPr lang="en-US" sz="1400" dirty="0"/>
          </a:p>
          <a:p>
            <a:pPr indent="0" marL="0">
              <a:lnSpc>
                <a:spcPts val="224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runs-on: ubuntu-latest</a:t>
            </a:r>
            <a:endParaRPr lang="en-US" sz="1400" dirty="0"/>
          </a:p>
          <a:p>
            <a:pPr indent="0" marL="0">
              <a:lnSpc>
                <a:spcPts val="224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strategy:</a:t>
            </a:r>
            <a:endParaRPr lang="en-US" sz="1400" dirty="0"/>
          </a:p>
          <a:p>
            <a:pPr indent="0" marL="0">
              <a:lnSpc>
                <a:spcPts val="224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matrix:</a:t>
            </a:r>
            <a:endParaRPr lang="en-US" sz="1400" dirty="0"/>
          </a:p>
          <a:p>
            <a:pPr indent="0" marL="0">
              <a:lnSpc>
                <a:spcPts val="224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service: [tasks-api, title-normalizer] # ${{matrix.service}}</a:t>
            </a:r>
            <a:endParaRPr lang="en-US" sz="1400" dirty="0"/>
          </a:p>
          <a:p>
            <a:pPr indent="0" marL="0">
              <a:lnSpc>
                <a:spcPts val="224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steps:</a:t>
            </a:r>
            <a:endParaRPr lang="en-US" sz="1400" dirty="0"/>
          </a:p>
          <a:p>
            <a:pPr indent="0" marL="0">
              <a:lnSpc>
                <a:spcPts val="224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 uses: actions/checkout@v7</a:t>
            </a:r>
            <a:endParaRPr lang="en-US" sz="1400" dirty="0"/>
          </a:p>
          <a:p>
            <a:pPr indent="0" marL="0">
              <a:lnSpc>
                <a:spcPts val="224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 run: docker build -t ${{matrix.service}} services/${{matrix.service}}</a:t>
            </a:r>
            <a:endParaRPr lang="en-US" sz="1400" dirty="0"/>
          </a:p>
        </p:txBody>
      </p:sp>
      <p:sp>
        <p:nvSpPr>
          <p:cNvPr id="6" name="Text 3"/>
          <p:cNvSpPr txBox="1"/>
          <p:nvPr/>
        </p:nvSpPr>
        <p:spPr>
          <a:xfrm>
            <a:off x="3383280" y="411480"/>
            <a:ext cx="5577840" cy="502920"/>
          </a:xfrm>
          <a:prstGeom prst="rect">
            <a:avLst/>
          </a:prstGeom>
          <a:noFill/>
          <a:ln/>
        </p:spPr>
        <p:txBody>
          <a:bodyPr wrap="square" lIns="0" tIns="0" rIns="0" bIns="0" rtlCol="0" anchor="ctr"/>
          <a:lstStyle/>
          <a:p>
            <a:pPr algn="r" indent="0" marL="0">
              <a:buNone/>
            </a:pPr>
            <a:r>
              <a:rPr lang="en-US" sz="1400" b="1" dirty="0">
                <a:solidFill>
                  <a:schemeClr val="accent1"/>
                </a:solidFill>
              </a:rPr>
              <a:t>Goes before deploy.</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Two more tasks</a:t>
            </a:r>
            <a:endParaRPr lang="en-US" sz="3400" dirty="0"/>
          </a:p>
        </p:txBody>
      </p:sp>
      <p:sp>
        <p:nvSpPr>
          <p:cNvPr id="4" name="task 1"/>
          <p:cNvSpPr/>
          <p:nvPr/>
        </p:nvSpPr>
        <p:spPr>
          <a:xfrm>
            <a:off x="548640" y="1280160"/>
            <a:ext cx="8046720" cy="929640"/>
          </a:xfrm>
          <a:prstGeom prst="roundRect">
            <a:avLst>
              <a:gd name="adj" fmla="val 7869"/>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5" name="task 1 bar"/>
          <p:cNvSpPr/>
          <p:nvPr/>
        </p:nvSpPr>
        <p:spPr>
          <a:xfrm>
            <a:off x="548640" y="1280160"/>
            <a:ext cx="91440" cy="929640"/>
          </a:xfrm>
          <a:prstGeom prst="rect">
            <a:avLst/>
          </a:prstGeom>
          <a:solidFill>
            <a:schemeClr val="accent1"/>
          </a:solidFill>
          <a:ln/>
        </p:spPr>
      </p:sp>
      <p:sp>
        <p:nvSpPr>
          <p:cNvPr id="6" name="task 1 circle"/>
          <p:cNvSpPr/>
          <p:nvPr/>
        </p:nvSpPr>
        <p:spPr>
          <a:xfrm>
            <a:off x="868680" y="1516380"/>
            <a:ext cx="457200" cy="457200"/>
          </a:xfrm>
          <a:prstGeom prst="ellipse">
            <a:avLst/>
          </a:prstGeom>
          <a:solidFill>
            <a:schemeClr val="accent1"/>
          </a:solidFill>
          <a:ln/>
        </p:spPr>
      </p:sp>
      <p:sp>
        <p:nvSpPr>
          <p:cNvPr id="7" name="task 1 letter"/>
          <p:cNvSpPr txBox="1"/>
          <p:nvPr/>
        </p:nvSpPr>
        <p:spPr>
          <a:xfrm>
            <a:off x="868680" y="15163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1554480" y="1371600"/>
            <a:ext cx="6858000" cy="746760"/>
          </a:xfrm>
          <a:prstGeom prst="rect">
            <a:avLst/>
          </a:prstGeom>
          <a:noFill/>
          <a:ln/>
        </p:spPr>
        <p:txBody>
          <a:bodyPr wrap="square" lIns="0" tIns="0" rIns="0" bIns="0" rtlCol="0" anchor="ctr"/>
          <a:lstStyle/>
          <a:p>
            <a:pPr indent="0" marL="0">
              <a:buNone/>
            </a:pPr>
            <a:r>
              <a:rPr lang="en-US" sz="2000" dirty="0">
                <a:solidFill>
                  <a:schemeClr val="tx1"/>
                </a:solidFill>
              </a:rPr>
              <a:t>A </a:t>
            </a:r>
            <a:pPr indent="0" marL="0">
              <a:buNone/>
            </a:pPr>
            <a:r>
              <a:rPr lang="en-US" sz="2000" dirty="0">
                <a:solidFill>
                  <a:schemeClr val="tx1"/>
                </a:solidFill>
                <a:latin typeface="Courier New" pitchFamily="34" charset="0"/>
                <a:ea typeface="Courier New" pitchFamily="34" charset="-122"/>
                <a:cs typeface="Courier New" pitchFamily="34" charset="-120"/>
              </a:rPr>
              <a:t>.dockerignore</a:t>
            </a:r>
            <a:pPr indent="0" marL="0">
              <a:buNone/>
            </a:pPr>
            <a:r>
              <a:rPr lang="en-US" sz="2000" dirty="0">
                <a:solidFill>
                  <a:schemeClr val="tx1"/>
                </a:solidFill>
              </a:rPr>
              <a:t> for each service. Keep caches and tests out of the image. Check the image before and after.</a:t>
            </a:r>
            <a:endParaRPr lang="en-US" sz="2000" dirty="0"/>
          </a:p>
        </p:txBody>
      </p:sp>
      <p:sp>
        <p:nvSpPr>
          <p:cNvPr id="9" name="task 2"/>
          <p:cNvSpPr/>
          <p:nvPr/>
        </p:nvSpPr>
        <p:spPr>
          <a:xfrm>
            <a:off x="548640" y="2346960"/>
            <a:ext cx="8046720" cy="777240"/>
          </a:xfrm>
          <a:prstGeom prst="roundRect">
            <a:avLst>
              <a:gd name="adj" fmla="val 9412"/>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0" name="task 2 bar"/>
          <p:cNvSpPr/>
          <p:nvPr/>
        </p:nvSpPr>
        <p:spPr>
          <a:xfrm>
            <a:off x="548640" y="2346960"/>
            <a:ext cx="91440" cy="777240"/>
          </a:xfrm>
          <a:prstGeom prst="rect">
            <a:avLst/>
          </a:prstGeom>
          <a:solidFill>
            <a:schemeClr val="accent1"/>
          </a:solidFill>
          <a:ln/>
        </p:spPr>
      </p:sp>
      <p:sp>
        <p:nvSpPr>
          <p:cNvPr id="11" name="task 2 circle"/>
          <p:cNvSpPr/>
          <p:nvPr/>
        </p:nvSpPr>
        <p:spPr>
          <a:xfrm>
            <a:off x="868680" y="2506980"/>
            <a:ext cx="457200" cy="457200"/>
          </a:xfrm>
          <a:prstGeom prst="ellipse">
            <a:avLst/>
          </a:prstGeom>
          <a:solidFill>
            <a:schemeClr val="accent1"/>
          </a:solidFill>
          <a:ln/>
        </p:spPr>
      </p:sp>
      <p:sp>
        <p:nvSpPr>
          <p:cNvPr id="12" name="task 2 letter"/>
          <p:cNvSpPr txBox="1"/>
          <p:nvPr/>
        </p:nvSpPr>
        <p:spPr>
          <a:xfrm>
            <a:off x="868680" y="25069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3" name="Text 10"/>
          <p:cNvSpPr txBox="1"/>
          <p:nvPr/>
        </p:nvSpPr>
        <p:spPr>
          <a:xfrm>
            <a:off x="1554480" y="2438400"/>
            <a:ext cx="6858000" cy="594360"/>
          </a:xfrm>
          <a:prstGeom prst="rect">
            <a:avLst/>
          </a:prstGeom>
          <a:noFill/>
          <a:ln/>
        </p:spPr>
        <p:txBody>
          <a:bodyPr wrap="square" lIns="0" tIns="0" rIns="0" bIns="0" rtlCol="0" anchor="ctr"/>
          <a:lstStyle/>
          <a:p>
            <a:pPr indent="0" marL="0">
              <a:buNone/>
            </a:pPr>
            <a:r>
              <a:rPr lang="en-US" sz="2000" dirty="0">
                <a:solidFill>
                  <a:schemeClr val="tx1"/>
                </a:solidFill>
              </a:rPr>
              <a:t>Run the container as a non-root user.</a:t>
            </a:r>
            <a:endParaRPr lang="en-US" sz="2000" dirty="0"/>
          </a:p>
        </p:txBody>
      </p:sp>
      <p:sp>
        <p:nvSpPr>
          <p:cNvPr id="14" name="Text 11"/>
          <p:cNvSpPr txBox="1"/>
          <p:nvPr/>
        </p:nvSpPr>
        <p:spPr>
          <a:xfrm>
            <a:off x="548640" y="3307080"/>
            <a:ext cx="8046720" cy="411480"/>
          </a:xfrm>
          <a:prstGeom prst="rect">
            <a:avLst/>
          </a:prstGeom>
          <a:noFill/>
          <a:ln/>
        </p:spPr>
        <p:txBody>
          <a:bodyPr wrap="square" lIns="0" tIns="0" rIns="0" bIns="0" rtlCol="0" anchor="ctr"/>
          <a:lstStyle/>
          <a:p>
            <a:pPr indent="0" marL="0">
              <a:buNone/>
            </a:pPr>
            <a:r>
              <a:rPr lang="en-US" sz="2000" i="1" dirty="0">
                <a:solidFill>
                  <a:schemeClr val="accent6"/>
                </a:solidFill>
              </a:rPr>
              <a:t>Choose one, or do both. You decide how.</a:t>
            </a:r>
            <a:endParaRPr lang="en-US" sz="2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Two more tasks: stuck?</a:t>
            </a:r>
            <a:endParaRPr lang="en-US" sz="3400" dirty="0"/>
          </a:p>
        </p:txBody>
      </p:sp>
      <p:sp>
        <p:nvSpPr>
          <p:cNvPr id="4" name="column 1 head"/>
          <p:cNvSpPr/>
          <p:nvPr/>
        </p:nvSpPr>
        <p:spPr>
          <a:xfrm>
            <a:off x="320040" y="1060704"/>
            <a:ext cx="4206240" cy="347472"/>
          </a:xfrm>
          <a:prstGeom prst="roundRect">
            <a:avLst>
              <a:gd name="adj" fmla="val 21053"/>
            </a:avLst>
          </a:prstGeom>
          <a:solidFill>
            <a:schemeClr val="tx1"/>
          </a:solidFill>
          <a:ln/>
        </p:spPr>
      </p:sp>
      <p:sp>
        <p:nvSpPr>
          <p:cNvPr id="5" name="Text 2"/>
          <p:cNvSpPr txBox="1"/>
          <p:nvPr/>
        </p:nvSpPr>
        <p:spPr>
          <a:xfrm>
            <a:off x="502920" y="1060704"/>
            <a:ext cx="3931920" cy="347472"/>
          </a:xfrm>
          <a:prstGeom prst="rect">
            <a:avLst/>
          </a:prstGeom>
          <a:noFill/>
          <a:ln/>
        </p:spPr>
        <p:txBody>
          <a:bodyPr wrap="square" lIns="0" tIns="0" rIns="0" bIns="0" rtlCol="0" anchor="ctr"/>
          <a:lstStyle/>
          <a:p>
            <a:pPr indent="0" marL="0">
              <a:buNone/>
            </a:pPr>
            <a:r>
              <a:rPr lang="en-US" sz="1600" b="1" dirty="0">
                <a:solidFill>
                  <a:schemeClr val="bg1"/>
                </a:solidFill>
              </a:rPr>
              <a:t>1. .dockerignore</a:t>
            </a:r>
            <a:endParaRPr lang="en-US" sz="1600" dirty="0"/>
          </a:p>
        </p:txBody>
      </p:sp>
      <p:sp>
        <p:nvSpPr>
          <p:cNvPr id="6" name="column 2 head"/>
          <p:cNvSpPr/>
          <p:nvPr/>
        </p:nvSpPr>
        <p:spPr>
          <a:xfrm>
            <a:off x="4617720" y="1060704"/>
            <a:ext cx="4206240" cy="347472"/>
          </a:xfrm>
          <a:prstGeom prst="roundRect">
            <a:avLst>
              <a:gd name="adj" fmla="val 21053"/>
            </a:avLst>
          </a:prstGeom>
          <a:solidFill>
            <a:schemeClr val="tx1"/>
          </a:solidFill>
          <a:ln/>
        </p:spPr>
      </p:sp>
      <p:sp>
        <p:nvSpPr>
          <p:cNvPr id="7" name="Text 4"/>
          <p:cNvSpPr txBox="1"/>
          <p:nvPr/>
        </p:nvSpPr>
        <p:spPr>
          <a:xfrm>
            <a:off x="4800600" y="1060704"/>
            <a:ext cx="3931920" cy="347472"/>
          </a:xfrm>
          <a:prstGeom prst="rect">
            <a:avLst/>
          </a:prstGeom>
          <a:noFill/>
          <a:ln/>
        </p:spPr>
        <p:txBody>
          <a:bodyPr wrap="square" lIns="0" tIns="0" rIns="0" bIns="0" rtlCol="0" anchor="ctr"/>
          <a:lstStyle/>
          <a:p>
            <a:pPr indent="0" marL="0">
              <a:buNone/>
            </a:pPr>
            <a:r>
              <a:rPr lang="en-US" sz="1600" b="1" dirty="0">
                <a:solidFill>
                  <a:schemeClr val="bg1"/>
                </a:solidFill>
              </a:rPr>
              <a:t>2. Non-root</a:t>
            </a:r>
            <a:endParaRPr lang="en-US" sz="1600" dirty="0"/>
          </a:p>
        </p:txBody>
      </p:sp>
      <p:sp>
        <p:nvSpPr>
          <p:cNvPr id="8" name="hint L1 card"/>
          <p:cNvSpPr/>
          <p:nvPr/>
        </p:nvSpPr>
        <p:spPr>
          <a:xfrm>
            <a:off x="320040" y="1481328"/>
            <a:ext cx="4206240" cy="868680"/>
          </a:xfrm>
          <a:prstGeom prst="roundRect">
            <a:avLst>
              <a:gd name="adj" fmla="val 842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9" name="hint L1 circle"/>
          <p:cNvSpPr/>
          <p:nvPr/>
        </p:nvSpPr>
        <p:spPr>
          <a:xfrm>
            <a:off x="411480" y="1751076"/>
            <a:ext cx="329184" cy="329184"/>
          </a:xfrm>
          <a:prstGeom prst="ellipse">
            <a:avLst/>
          </a:prstGeom>
          <a:solidFill>
            <a:schemeClr val="accent2"/>
          </a:solidFill>
          <a:ln/>
        </p:spPr>
      </p:sp>
      <p:sp>
        <p:nvSpPr>
          <p:cNvPr id="10" name="hint L1 letter"/>
          <p:cNvSpPr txBox="1"/>
          <p:nvPr/>
        </p:nvSpPr>
        <p:spPr>
          <a:xfrm>
            <a:off x="411480" y="175107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11" name="hint L1 text"/>
          <p:cNvSpPr txBox="1"/>
          <p:nvPr/>
        </p:nvSpPr>
        <p:spPr>
          <a:xfrm>
            <a:off x="832104" y="1481328"/>
            <a:ext cx="3602736" cy="868680"/>
          </a:xfrm>
          <a:prstGeom prst="rect">
            <a:avLst/>
          </a:prstGeom>
          <a:noFill/>
          <a:ln/>
        </p:spPr>
        <p:txBody>
          <a:bodyPr wrap="square" lIns="0" tIns="0" rIns="0" bIns="0" rtlCol="0" anchor="ctr"/>
          <a:lstStyle/>
          <a:p>
            <a:pPr indent="0" marL="0">
              <a:buNone/>
            </a:pPr>
            <a:r>
              <a:rPr lang="en-US" sz="1400" dirty="0">
                <a:solidFill>
                  <a:schemeClr val="tx1"/>
                </a:solidFill>
              </a:rPr>
              <a:t>First make cache files: </a:t>
            </a:r>
            <a:pPr indent="0" marL="0">
              <a:buNone/>
            </a:pPr>
            <a:r>
              <a:rPr lang="en-US" sz="1400" dirty="0">
                <a:solidFill>
                  <a:schemeClr val="tx1"/>
                </a:solidFill>
                <a:latin typeface="Courier New" pitchFamily="34" charset="0"/>
                <a:ea typeface="Courier New" pitchFamily="34" charset="-122"/>
                <a:cs typeface="Courier New" pitchFamily="34" charset="-120"/>
              </a:rPr>
              <a:t>python -m compileall services/tasks-api</a:t>
            </a:r>
            <a:endParaRPr lang="en-US" sz="1400" dirty="0"/>
          </a:p>
        </p:txBody>
      </p:sp>
      <p:sp>
        <p:nvSpPr>
          <p:cNvPr id="12" name="hint R1 card"/>
          <p:cNvSpPr/>
          <p:nvPr/>
        </p:nvSpPr>
        <p:spPr>
          <a:xfrm>
            <a:off x="4617720" y="1481328"/>
            <a:ext cx="4206240" cy="868680"/>
          </a:xfrm>
          <a:prstGeom prst="roundRect">
            <a:avLst>
              <a:gd name="adj" fmla="val 842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3" name="hint R1 circle"/>
          <p:cNvSpPr/>
          <p:nvPr/>
        </p:nvSpPr>
        <p:spPr>
          <a:xfrm>
            <a:off x="4709160" y="1751076"/>
            <a:ext cx="329184" cy="329184"/>
          </a:xfrm>
          <a:prstGeom prst="ellipse">
            <a:avLst/>
          </a:prstGeom>
          <a:solidFill>
            <a:schemeClr val="accent2"/>
          </a:solidFill>
          <a:ln/>
        </p:spPr>
      </p:sp>
      <p:sp>
        <p:nvSpPr>
          <p:cNvPr id="14" name="hint R1 letter"/>
          <p:cNvSpPr txBox="1"/>
          <p:nvPr/>
        </p:nvSpPr>
        <p:spPr>
          <a:xfrm>
            <a:off x="4709160" y="175107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15" name="hint R1 text"/>
          <p:cNvSpPr txBox="1"/>
          <p:nvPr/>
        </p:nvSpPr>
        <p:spPr>
          <a:xfrm>
            <a:off x="5129784" y="1481328"/>
            <a:ext cx="3602736" cy="868680"/>
          </a:xfrm>
          <a:prstGeom prst="rect">
            <a:avLst/>
          </a:prstGeom>
          <a:noFill/>
          <a:ln/>
        </p:spPr>
        <p:txBody>
          <a:bodyPr wrap="square" lIns="0" tIns="0" rIns="0" bIns="0" rtlCol="0" anchor="ctr"/>
          <a:lstStyle/>
          <a:p>
            <a:pPr indent="0" marL="0">
              <a:buNone/>
            </a:pPr>
            <a:r>
              <a:rPr lang="en-US" sz="1400" dirty="0">
                <a:solidFill>
                  <a:schemeClr val="tx1"/>
                </a:solidFill>
              </a:rPr>
              <a:t>Create a user in the Dockerfile. Switch to it with </a:t>
            </a:r>
            <a:pPr indent="0" marL="0">
              <a:buNone/>
            </a:pPr>
            <a:r>
              <a:rPr lang="en-US" sz="1400" dirty="0">
                <a:solidFill>
                  <a:schemeClr val="tx1"/>
                </a:solidFill>
                <a:latin typeface="Courier New" pitchFamily="34" charset="0"/>
                <a:ea typeface="Courier New" pitchFamily="34" charset="-122"/>
                <a:cs typeface="Courier New" pitchFamily="34" charset="-120"/>
              </a:rPr>
              <a:t>USER</a:t>
            </a:r>
            <a:pPr indent="0" marL="0">
              <a:buNone/>
            </a:pPr>
            <a:r>
              <a:rPr lang="en-US" sz="1400" dirty="0">
                <a:solidFill>
                  <a:schemeClr val="tx1"/>
                </a:solidFill>
              </a:rPr>
              <a:t>.</a:t>
            </a:r>
            <a:endParaRPr lang="en-US" sz="1400" dirty="0"/>
          </a:p>
        </p:txBody>
      </p:sp>
      <p:sp>
        <p:nvSpPr>
          <p:cNvPr id="16" name="hint L2 card"/>
          <p:cNvSpPr/>
          <p:nvPr/>
        </p:nvSpPr>
        <p:spPr>
          <a:xfrm>
            <a:off x="320040" y="2377440"/>
            <a:ext cx="4206240" cy="868680"/>
          </a:xfrm>
          <a:prstGeom prst="roundRect">
            <a:avLst>
              <a:gd name="adj" fmla="val 842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7" name="hint L2 circle"/>
          <p:cNvSpPr/>
          <p:nvPr/>
        </p:nvSpPr>
        <p:spPr>
          <a:xfrm>
            <a:off x="411480" y="2647188"/>
            <a:ext cx="329184" cy="329184"/>
          </a:xfrm>
          <a:prstGeom prst="ellipse">
            <a:avLst/>
          </a:prstGeom>
          <a:solidFill>
            <a:schemeClr val="accent2"/>
          </a:solidFill>
          <a:ln/>
        </p:spPr>
      </p:sp>
      <p:sp>
        <p:nvSpPr>
          <p:cNvPr id="18" name="hint L2 letter"/>
          <p:cNvSpPr txBox="1"/>
          <p:nvPr/>
        </p:nvSpPr>
        <p:spPr>
          <a:xfrm>
            <a:off x="411480" y="264718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19" name="hint L2 text"/>
          <p:cNvSpPr txBox="1"/>
          <p:nvPr/>
        </p:nvSpPr>
        <p:spPr>
          <a:xfrm>
            <a:off x="832104" y="2377440"/>
            <a:ext cx="3602736" cy="868680"/>
          </a:xfrm>
          <a:prstGeom prst="rect">
            <a:avLst/>
          </a:prstGeom>
          <a:noFill/>
          <a:ln/>
        </p:spPr>
        <p:txBody>
          <a:bodyPr wrap="square" lIns="0" tIns="0" rIns="0" bIns="0" rtlCol="0" anchor="ctr"/>
          <a:lstStyle/>
          <a:p>
            <a:pPr indent="0" marL="0">
              <a:buNone/>
            </a:pPr>
            <a:r>
              <a:rPr lang="en-US" sz="1400" dirty="0">
                <a:solidFill>
                  <a:schemeClr val="tx1"/>
                </a:solidFill>
              </a:rPr>
              <a:t>Build, then look: </a:t>
            </a:r>
            <a:pPr indent="0" marL="0">
              <a:buNone/>
            </a:pPr>
            <a:r>
              <a:rPr lang="en-US" sz="1400" dirty="0">
                <a:solidFill>
                  <a:schemeClr val="tx1"/>
                </a:solidFill>
                <a:latin typeface="Courier New" pitchFamily="34" charset="0"/>
                <a:ea typeface="Courier New" pitchFamily="34" charset="-122"/>
                <a:cs typeface="Courier New" pitchFamily="34" charset="-120"/>
              </a:rPr>
              <a:t>docker run --rm tasks-api find /app -name "*.pyc"</a:t>
            </a:r>
            <a:endParaRPr lang="en-US" sz="1400" dirty="0"/>
          </a:p>
        </p:txBody>
      </p:sp>
      <p:sp>
        <p:nvSpPr>
          <p:cNvPr id="20" name="hint R2 card"/>
          <p:cNvSpPr/>
          <p:nvPr/>
        </p:nvSpPr>
        <p:spPr>
          <a:xfrm>
            <a:off x="4617720" y="2377440"/>
            <a:ext cx="4206240" cy="868680"/>
          </a:xfrm>
          <a:prstGeom prst="roundRect">
            <a:avLst>
              <a:gd name="adj" fmla="val 842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21" name="hint R2 circle"/>
          <p:cNvSpPr/>
          <p:nvPr/>
        </p:nvSpPr>
        <p:spPr>
          <a:xfrm>
            <a:off x="4709160" y="2647188"/>
            <a:ext cx="329184" cy="329184"/>
          </a:xfrm>
          <a:prstGeom prst="ellipse">
            <a:avLst/>
          </a:prstGeom>
          <a:solidFill>
            <a:schemeClr val="accent2"/>
          </a:solidFill>
          <a:ln/>
        </p:spPr>
      </p:sp>
      <p:sp>
        <p:nvSpPr>
          <p:cNvPr id="22" name="hint R2 letter"/>
          <p:cNvSpPr txBox="1"/>
          <p:nvPr/>
        </p:nvSpPr>
        <p:spPr>
          <a:xfrm>
            <a:off x="4709160" y="264718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23" name="hint R2 text"/>
          <p:cNvSpPr txBox="1"/>
          <p:nvPr/>
        </p:nvSpPr>
        <p:spPr>
          <a:xfrm>
            <a:off x="5129784" y="2377440"/>
            <a:ext cx="3602736" cy="868680"/>
          </a:xfrm>
          <a:prstGeom prst="rect">
            <a:avLst/>
          </a:prstGeom>
          <a:noFill/>
          <a:ln/>
        </p:spPr>
        <p:txBody>
          <a:bodyPr wrap="square" lIns="0" tIns="0" rIns="0" bIns="0" rtlCol="0" anchor="ctr"/>
          <a:lstStyle/>
          <a:p>
            <a:pPr indent="0" marL="0">
              <a:buNone/>
            </a:pPr>
            <a:r>
              <a:rPr lang="en-US" sz="1400" dirty="0">
                <a:solidFill>
                  <a:schemeClr val="tx1"/>
                </a:solidFill>
              </a:rPr>
              <a:t>Rebuild and run. Then </a:t>
            </a:r>
            <a:pPr indent="0" marL="0">
              <a:buNone/>
            </a:pPr>
            <a:r>
              <a:rPr lang="en-US" sz="1400" dirty="0">
                <a:solidFill>
                  <a:schemeClr val="tx1"/>
                </a:solidFill>
                <a:latin typeface="Courier New" pitchFamily="34" charset="0"/>
                <a:ea typeface="Courier New" pitchFamily="34" charset="-122"/>
                <a:cs typeface="Courier New" pitchFamily="34" charset="-120"/>
              </a:rPr>
              <a:t>docker exec</a:t>
            </a:r>
            <a:pPr indent="0" marL="0">
              <a:buNone/>
            </a:pPr>
            <a:r>
              <a:rPr lang="en-US" sz="1400" dirty="0">
                <a:solidFill>
                  <a:schemeClr val="tx1"/>
                </a:solidFill>
              </a:rPr>
              <a:t> into the container and run </a:t>
            </a:r>
            <a:pPr indent="0" marL="0">
              <a:buNone/>
            </a:pPr>
            <a:r>
              <a:rPr lang="en-US" sz="1400" dirty="0">
                <a:solidFill>
                  <a:schemeClr val="tx1"/>
                </a:solidFill>
                <a:latin typeface="Courier New" pitchFamily="34" charset="0"/>
                <a:ea typeface="Courier New" pitchFamily="34" charset="-122"/>
                <a:cs typeface="Courier New" pitchFamily="34" charset="-120"/>
              </a:rPr>
              <a:t>id</a:t>
            </a:r>
            <a:pPr indent="0" marL="0">
              <a:buNone/>
            </a:pPr>
            <a:r>
              <a:rPr lang="en-US" sz="1400" dirty="0">
                <a:solidFill>
                  <a:schemeClr val="tx1"/>
                </a:solidFill>
              </a:rPr>
              <a:t>.</a:t>
            </a:r>
            <a:endParaRPr lang="en-US" sz="1400" dirty="0"/>
          </a:p>
        </p:txBody>
      </p:sp>
      <p:sp>
        <p:nvSpPr>
          <p:cNvPr id="24" name="hint L3 card"/>
          <p:cNvSpPr/>
          <p:nvPr/>
        </p:nvSpPr>
        <p:spPr>
          <a:xfrm>
            <a:off x="320040" y="3273552"/>
            <a:ext cx="4206240" cy="868680"/>
          </a:xfrm>
          <a:prstGeom prst="roundRect">
            <a:avLst>
              <a:gd name="adj" fmla="val 842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25" name="hint L3 circle"/>
          <p:cNvSpPr/>
          <p:nvPr/>
        </p:nvSpPr>
        <p:spPr>
          <a:xfrm>
            <a:off x="411480" y="3543300"/>
            <a:ext cx="329184" cy="329184"/>
          </a:xfrm>
          <a:prstGeom prst="ellipse">
            <a:avLst/>
          </a:prstGeom>
          <a:solidFill>
            <a:schemeClr val="accent2"/>
          </a:solidFill>
          <a:ln/>
        </p:spPr>
      </p:sp>
      <p:sp>
        <p:nvSpPr>
          <p:cNvPr id="26" name="hint L3 letter"/>
          <p:cNvSpPr txBox="1"/>
          <p:nvPr/>
        </p:nvSpPr>
        <p:spPr>
          <a:xfrm>
            <a:off x="411480" y="354330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27" name="hint L3 text"/>
          <p:cNvSpPr txBox="1"/>
          <p:nvPr/>
        </p:nvSpPr>
        <p:spPr>
          <a:xfrm>
            <a:off x="832104" y="3273552"/>
            <a:ext cx="3602736" cy="868680"/>
          </a:xfrm>
          <a:prstGeom prst="rect">
            <a:avLst/>
          </a:prstGeom>
          <a:noFill/>
          <a:ln/>
        </p:spPr>
        <p:txBody>
          <a:bodyPr wrap="square" lIns="0" tIns="0" rIns="0" bIns="0" rtlCol="0" anchor="ctr"/>
          <a:lstStyle/>
          <a:p>
            <a:pPr indent="0" marL="0">
              <a:buNone/>
            </a:pPr>
            <a:r>
              <a:rPr lang="en-US" sz="1400" dirty="0">
                <a:solidFill>
                  <a:schemeClr val="tx1"/>
                </a:solidFill>
              </a:rPr>
              <a:t>Add </a:t>
            </a:r>
            <a:pPr indent="0" marL="0">
              <a:buNone/>
            </a:pPr>
            <a:r>
              <a:rPr lang="en-US" sz="1400" dirty="0">
                <a:solidFill>
                  <a:schemeClr val="tx1"/>
                </a:solidFill>
                <a:latin typeface="Courier New" pitchFamily="34" charset="0"/>
                <a:ea typeface="Courier New" pitchFamily="34" charset="-122"/>
                <a:cs typeface="Courier New" pitchFamily="34" charset="-120"/>
              </a:rPr>
              <a:t>.dockerignore</a:t>
            </a:r>
            <a:pPr indent="0" marL="0">
              <a:buNone/>
            </a:pPr>
            <a:r>
              <a:rPr lang="en-US" sz="1400" dirty="0">
                <a:solidFill>
                  <a:schemeClr val="tx1"/>
                </a:solidFill>
              </a:rPr>
              <a:t>, rebuild, look again. Nested folders need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rPr>
              <a:t>.</a:t>
            </a:r>
            <a:endParaRPr lang="en-US" sz="1400" dirty="0"/>
          </a:p>
        </p:txBody>
      </p:sp>
      <p:sp>
        <p:nvSpPr>
          <p:cNvPr id="28" name="hint R3 card"/>
          <p:cNvSpPr/>
          <p:nvPr/>
        </p:nvSpPr>
        <p:spPr>
          <a:xfrm>
            <a:off x="4617720" y="3273552"/>
            <a:ext cx="4206240" cy="868680"/>
          </a:xfrm>
          <a:prstGeom prst="roundRect">
            <a:avLst>
              <a:gd name="adj" fmla="val 842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29" name="hint R3 circle"/>
          <p:cNvSpPr/>
          <p:nvPr/>
        </p:nvSpPr>
        <p:spPr>
          <a:xfrm>
            <a:off x="4709160" y="3543300"/>
            <a:ext cx="329184" cy="329184"/>
          </a:xfrm>
          <a:prstGeom prst="ellipse">
            <a:avLst/>
          </a:prstGeom>
          <a:solidFill>
            <a:schemeClr val="accent2"/>
          </a:solidFill>
          <a:ln/>
        </p:spPr>
      </p:sp>
      <p:sp>
        <p:nvSpPr>
          <p:cNvPr id="30" name="hint R3 letter"/>
          <p:cNvSpPr txBox="1"/>
          <p:nvPr/>
        </p:nvSpPr>
        <p:spPr>
          <a:xfrm>
            <a:off x="4709160" y="354330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31" name="hint R3 text"/>
          <p:cNvSpPr txBox="1"/>
          <p:nvPr/>
        </p:nvSpPr>
        <p:spPr>
          <a:xfrm>
            <a:off x="5129784" y="3273552"/>
            <a:ext cx="3602736" cy="86868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useradd</a:t>
            </a:r>
            <a:pPr indent="0" marL="0">
              <a:buNone/>
            </a:pPr>
            <a:r>
              <a:rPr lang="en-US" sz="1400" dirty="0">
                <a:solidFill>
                  <a:schemeClr val="tx1"/>
                </a:solidFill>
              </a:rPr>
              <a:t> and </a:t>
            </a:r>
            <a:pPr indent="0" marL="0">
              <a:buNone/>
            </a:pPr>
            <a:r>
              <a:rPr lang="en-US" sz="1400" dirty="0">
                <a:solidFill>
                  <a:schemeClr val="tx1"/>
                </a:solidFill>
                <a:latin typeface="Courier New" pitchFamily="34" charset="0"/>
                <a:ea typeface="Courier New" pitchFamily="34" charset="-122"/>
                <a:cs typeface="Courier New" pitchFamily="34" charset="-120"/>
              </a:rPr>
              <a:t>adduser</a:t>
            </a:r>
            <a:pPr indent="0" marL="0">
              <a:buNone/>
            </a:pPr>
            <a:r>
              <a:rPr lang="en-US" sz="1400" dirty="0">
                <a:solidFill>
                  <a:schemeClr val="tx1"/>
                </a:solidFill>
              </a:rPr>
              <a:t> both exist in the base image.</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40</a:t>
            </a:fld>
            <a:endParaRPr lang="en-US"/>
          </a:p>
        </p:txBody>
      </p:sp>
    </p:spTree>
  </p:cSld>
  <p:clrMapOvr>
    <a:masterClrMapping/>
  </p:clrMapOvr>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P spid="13" grpId="0" animBg="1"/>
      <p:bldP spid="14" grpId="0"/>
      <p:bldP spid="15" grpId="0"/>
      <p:bldP spid="17" grpId="0" animBg="1"/>
      <p:bldP spid="18" grpId="0"/>
      <p:bldP spid="19" grpId="0"/>
      <p:bldP spid="21" grpId="0" animBg="1"/>
      <p:bldP spid="22" grpId="0"/>
      <p:bldP spid="23" grpId="0"/>
      <p:bldP spid="25" grpId="0" animBg="1"/>
      <p:bldP spid="26" grpId="0"/>
      <p:bldP spid="27" grpId="0"/>
      <p:bldP spid="29" grpId="0" animBg="1"/>
      <p:bldP spid="30" grpId="0"/>
      <p:bldP spid="31" grpId="0"/>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bg1"/>
                </a:solidFill>
              </a:rPr>
              <a:t>Wrap up</a:t>
            </a:r>
            <a:endParaRPr lang="en-US" sz="3400" dirty="0"/>
          </a:p>
        </p:txBody>
      </p:sp>
      <p:sp>
        <p:nvSpPr>
          <p:cNvPr id="4" name="step 1 circle"/>
          <p:cNvSpPr/>
          <p:nvPr/>
        </p:nvSpPr>
        <p:spPr>
          <a:xfrm>
            <a:off x="548640" y="1097280"/>
            <a:ext cx="457200" cy="457200"/>
          </a:xfrm>
          <a:prstGeom prst="ellipse">
            <a:avLst/>
          </a:prstGeom>
          <a:solidFill>
            <a:schemeClr val="accent1"/>
          </a:solidFill>
          <a:ln/>
        </p:spPr>
      </p:sp>
      <p:sp>
        <p:nvSpPr>
          <p:cNvPr id="5" name="step 1 letter"/>
          <p:cNvSpPr txBox="1"/>
          <p:nvPr/>
        </p:nvSpPr>
        <p:spPr>
          <a:xfrm>
            <a:off x="548640" y="10972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234440" y="1097280"/>
            <a:ext cx="7360920" cy="457200"/>
          </a:xfrm>
          <a:prstGeom prst="rect">
            <a:avLst/>
          </a:prstGeom>
          <a:noFill/>
          <a:ln/>
        </p:spPr>
        <p:txBody>
          <a:bodyPr wrap="square" lIns="0" tIns="0" rIns="0" bIns="0" rtlCol="0" anchor="ctr"/>
          <a:lstStyle/>
          <a:p>
            <a:pPr indent="0" marL="0">
              <a:buNone/>
            </a:pPr>
            <a:r>
              <a:rPr lang="en-US" sz="2400" b="1" dirty="0">
                <a:solidFill>
                  <a:schemeClr val="bg1"/>
                </a:solidFill>
              </a:rPr>
              <a:t>Merge your pull request.</a:t>
            </a:r>
            <a:endParaRPr lang="en-US" sz="2400" dirty="0"/>
          </a:p>
        </p:txBody>
      </p:sp>
      <p:sp>
        <p:nvSpPr>
          <p:cNvPr id="7" name="step 2 circle"/>
          <p:cNvSpPr/>
          <p:nvPr/>
        </p:nvSpPr>
        <p:spPr>
          <a:xfrm>
            <a:off x="548640" y="1783080"/>
            <a:ext cx="457200" cy="457200"/>
          </a:xfrm>
          <a:prstGeom prst="ellipse">
            <a:avLst/>
          </a:prstGeom>
          <a:solidFill>
            <a:schemeClr val="accent1"/>
          </a:solidFill>
          <a:ln/>
        </p:spPr>
      </p:sp>
      <p:sp>
        <p:nvSpPr>
          <p:cNvPr id="8" name="step 2 letter"/>
          <p:cNvSpPr txBox="1"/>
          <p:nvPr/>
        </p:nvSpPr>
        <p:spPr>
          <a:xfrm>
            <a:off x="548640" y="17830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6"/>
          <p:cNvSpPr txBox="1"/>
          <p:nvPr/>
        </p:nvSpPr>
        <p:spPr>
          <a:xfrm>
            <a:off x="1234440" y="1783080"/>
            <a:ext cx="7360920" cy="457200"/>
          </a:xfrm>
          <a:prstGeom prst="rect">
            <a:avLst/>
          </a:prstGeom>
          <a:noFill/>
          <a:ln/>
        </p:spPr>
        <p:txBody>
          <a:bodyPr wrap="square" lIns="0" tIns="0" rIns="0" bIns="0" rtlCol="0" anchor="ctr"/>
          <a:lstStyle/>
          <a:p>
            <a:pPr indent="0" marL="0">
              <a:buNone/>
            </a:pPr>
            <a:r>
              <a:rPr lang="en-US" sz="2400" b="1" dirty="0">
                <a:solidFill>
                  <a:schemeClr val="bg1"/>
                </a:solidFill>
              </a:rPr>
              <a:t>No pull request? On </a:t>
            </a:r>
            <a:pPr indent="0" marL="0">
              <a:buNone/>
            </a:pPr>
            <a:r>
              <a:rPr lang="en-US" sz="2400" b="1" dirty="0">
                <a:solidFill>
                  <a:schemeClr val="bg1"/>
                </a:solidFill>
                <a:latin typeface="Courier New" pitchFamily="34" charset="0"/>
                <a:ea typeface="Courier New" pitchFamily="34" charset="-122"/>
                <a:cs typeface="Courier New" pitchFamily="34" charset="-120"/>
              </a:rPr>
              <a:t>main</a:t>
            </a:r>
            <a:pPr indent="0" marL="0">
              <a:buNone/>
            </a:pPr>
            <a:r>
              <a:rPr lang="en-US" sz="2400" b="1" dirty="0">
                <a:solidFill>
                  <a:schemeClr val="bg1"/>
                </a:solidFill>
              </a:rPr>
              <a:t>:</a:t>
            </a:r>
            <a:endParaRPr lang="en-US" sz="2400" dirty="0"/>
          </a:p>
        </p:txBody>
      </p:sp>
      <p:sp>
        <p:nvSpPr>
          <p:cNvPr id="10" name="step 3 circle"/>
          <p:cNvSpPr/>
          <p:nvPr/>
        </p:nvSpPr>
        <p:spPr>
          <a:xfrm>
            <a:off x="548640" y="3657600"/>
            <a:ext cx="457200" cy="457200"/>
          </a:xfrm>
          <a:prstGeom prst="ellipse">
            <a:avLst/>
          </a:prstGeom>
          <a:solidFill>
            <a:schemeClr val="accent1"/>
          </a:solidFill>
          <a:ln/>
        </p:spPr>
      </p:sp>
      <p:sp>
        <p:nvSpPr>
          <p:cNvPr id="11" name="step 3 letter"/>
          <p:cNvSpPr txBox="1"/>
          <p:nvPr/>
        </p:nvSpPr>
        <p:spPr>
          <a:xfrm>
            <a:off x="548640" y="365760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2" name="Text 9"/>
          <p:cNvSpPr txBox="1"/>
          <p:nvPr/>
        </p:nvSpPr>
        <p:spPr>
          <a:xfrm>
            <a:off x="1234440" y="3657600"/>
            <a:ext cx="7360920" cy="457200"/>
          </a:xfrm>
          <a:prstGeom prst="rect">
            <a:avLst/>
          </a:prstGeom>
          <a:noFill/>
          <a:ln/>
        </p:spPr>
        <p:txBody>
          <a:bodyPr wrap="square" lIns="0" tIns="0" rIns="0" bIns="0" rtlCol="0" anchor="ctr"/>
          <a:lstStyle/>
          <a:p>
            <a:pPr indent="0" marL="0">
              <a:buNone/>
            </a:pPr>
            <a:r>
              <a:rPr lang="en-US" sz="2400" b="1" dirty="0">
                <a:solidFill>
                  <a:schemeClr val="bg1"/>
                </a:solidFill>
              </a:rPr>
              <a:t>Stop your Codespace.</a:t>
            </a:r>
            <a:endParaRPr lang="en-US" sz="2400" dirty="0"/>
          </a:p>
        </p:txBody>
      </p:sp>
      <p:sp>
        <p:nvSpPr>
          <p:cNvPr id="13" name="step 4 circle"/>
          <p:cNvSpPr/>
          <p:nvPr/>
        </p:nvSpPr>
        <p:spPr>
          <a:xfrm>
            <a:off x="548640" y="4251960"/>
            <a:ext cx="457200" cy="457200"/>
          </a:xfrm>
          <a:prstGeom prst="ellipse">
            <a:avLst/>
          </a:prstGeom>
          <a:solidFill>
            <a:schemeClr val="accent1"/>
          </a:solidFill>
          <a:ln/>
        </p:spPr>
      </p:sp>
      <p:sp>
        <p:nvSpPr>
          <p:cNvPr id="14" name="step 4 letter"/>
          <p:cNvSpPr txBox="1"/>
          <p:nvPr/>
        </p:nvSpPr>
        <p:spPr>
          <a:xfrm>
            <a:off x="548640" y="425196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5" name="Text 12"/>
          <p:cNvSpPr txBox="1"/>
          <p:nvPr/>
        </p:nvSpPr>
        <p:spPr>
          <a:xfrm>
            <a:off x="1234440" y="4251960"/>
            <a:ext cx="7360920" cy="457200"/>
          </a:xfrm>
          <a:prstGeom prst="rect">
            <a:avLst/>
          </a:prstGeom>
          <a:noFill/>
          <a:ln/>
        </p:spPr>
        <p:txBody>
          <a:bodyPr wrap="square" lIns="0" tIns="0" rIns="0" bIns="0" rtlCol="0" anchor="ctr"/>
          <a:lstStyle/>
          <a:p>
            <a:pPr indent="0" marL="0">
              <a:buNone/>
            </a:pPr>
            <a:r>
              <a:rPr lang="en-US" sz="2400" b="1" dirty="0">
                <a:solidFill>
                  <a:schemeClr val="bg1"/>
                </a:solidFill>
              </a:rPr>
              <a:t>Sign out of GitHub.</a:t>
            </a:r>
            <a:endParaRPr lang="en-US" sz="2400" dirty="0"/>
          </a:p>
        </p:txBody>
      </p:sp>
      <p:sp>
        <p:nvSpPr>
          <p:cNvPr id="16" name="command panel"/>
          <p:cNvSpPr/>
          <p:nvPr/>
        </p:nvSpPr>
        <p:spPr>
          <a:xfrm>
            <a:off x="1234440" y="2331720"/>
            <a:ext cx="7360920" cy="1188720"/>
          </a:xfrm>
          <a:prstGeom prst="roundRect">
            <a:avLst>
              <a:gd name="adj" fmla="val 6154"/>
            </a:avLst>
          </a:prstGeom>
          <a:solidFill>
            <a:srgbClr val="30363D"/>
          </a:solidFill>
          <a:ln/>
        </p:spPr>
      </p:sp>
      <p:sp>
        <p:nvSpPr>
          <p:cNvPr id="17" name="code"/>
          <p:cNvSpPr txBox="1"/>
          <p:nvPr/>
        </p:nvSpPr>
        <p:spPr>
          <a:xfrm>
            <a:off x="1399032" y="2414016"/>
            <a:ext cx="7031736" cy="1024128"/>
          </a:xfrm>
          <a:prstGeom prst="rect">
            <a:avLst/>
          </a:prstGeom>
          <a:noFill/>
          <a:ln/>
        </p:spPr>
        <p:txBody>
          <a:bodyPr wrap="square" lIns="0" tIns="0" rIns="0" bIns="0" rtlCol="0" anchor="ctr"/>
          <a:lstStyle/>
          <a:p>
            <a:pPr indent="0" marL="0">
              <a:lnSpc>
                <a:spcPts val="2660"/>
              </a:lnSpc>
              <a:buNone/>
            </a:pPr>
            <a:r>
              <a:rPr lang="en-US" sz="1900" dirty="0">
                <a:solidFill>
                  <a:schemeClr val="bg2"/>
                </a:solidFill>
                <a:latin typeface="Courier New" pitchFamily="34" charset="0"/>
                <a:ea typeface="Courier New" pitchFamily="34" charset="-122"/>
                <a:cs typeface="Courier New" pitchFamily="34" charset="-120"/>
              </a:rPr>
              <a:t>git add -A</a:t>
            </a:r>
            <a:endParaRPr lang="en-US" sz="1900" dirty="0"/>
          </a:p>
          <a:p>
            <a:pPr indent="0" marL="0">
              <a:lnSpc>
                <a:spcPts val="2660"/>
              </a:lnSpc>
              <a:buNone/>
            </a:pPr>
            <a:r>
              <a:rPr lang="en-US" sz="1900" dirty="0">
                <a:solidFill>
                  <a:schemeClr val="bg2"/>
                </a:solidFill>
                <a:latin typeface="Courier New" pitchFamily="34" charset="0"/>
                <a:ea typeface="Courier New" pitchFamily="34" charset="-122"/>
                <a:cs typeface="Courier New" pitchFamily="34" charset="-120"/>
              </a:rPr>
              <a:t>git commit -m docker</a:t>
            </a:r>
            <a:endParaRPr lang="en-US" sz="1900" dirty="0"/>
          </a:p>
          <a:p>
            <a:pPr indent="0" marL="0">
              <a:lnSpc>
                <a:spcPts val="2660"/>
              </a:lnSpc>
              <a:buNone/>
            </a:pPr>
            <a:r>
              <a:rPr lang="en-US" sz="1900" dirty="0">
                <a:solidFill>
                  <a:schemeClr val="bg2"/>
                </a:solidFill>
                <a:latin typeface="Courier New" pitchFamily="34" charset="0"/>
                <a:ea typeface="Courier New" pitchFamily="34" charset="-122"/>
                <a:cs typeface="Courier New" pitchFamily="34" charset="-120"/>
              </a:rPr>
              <a:t>git push</a:t>
            </a:r>
            <a:endParaRPr lang="en-US" sz="19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41</a:t>
            </a:fld>
            <a:endParaRPr lang="en-US"/>
          </a:p>
        </p:txBody>
      </p:sp>
    </p:spTree>
  </p:cSld>
  <p:clrMapOvr>
    <a:masterClrMapping/>
  </p:clrMapOvr>
</p:sld>
</file>

<file path=ppt/theme/theme1.xml><?xml version="1.0" encoding="utf-8"?>
<a:theme xmlns:a="http://schemas.openxmlformats.org/drawingml/2006/main" name="DevOps Terminal">
  <a:themeElements>
    <a:clrScheme name="DevOps Terminal">
      <a:dk1>
        <a:srgbClr val="161B22"/>
      </a:dk1>
      <a:lt1>
        <a:srgbClr val="FFFFFF"/>
      </a:lt1>
      <a:dk2>
        <a:srgbClr val="30363D"/>
      </a:dk2>
      <a:lt2>
        <a:srgbClr val="F3F5F7"/>
      </a:lt2>
      <a:accent1>
        <a:srgbClr val="1A7F37"/>
      </a:accent1>
      <a:accent2>
        <a:srgbClr val="9A6700"/>
      </a:accent2>
      <a:accent3>
        <a:srgbClr val="D1242F"/>
      </a:accent3>
      <a:accent4>
        <a:srgbClr val="0969DA"/>
      </a:accent4>
      <a:accent5>
        <a:srgbClr val="8957E5"/>
      </a:accent5>
      <a:accent6>
        <a:srgbClr val="57606A"/>
      </a:accent6>
      <a:hlink>
        <a:srgbClr val="0969DA"/>
      </a:hlink>
      <a:folHlink>
        <a:srgbClr val="8957E5"/>
      </a:folHlink>
    </a:clrScheme>
    <a:fontScheme name="DevOps Termi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 workshop - meeting 4</dc:title>
  <dc:subject>PptxGenJS Presentation</dc:subject>
  <dc:creator>Instructor</dc:creator>
  <cp:lastModifiedBy>Instructor</cp:lastModifiedBy>
  <cp:revision>1</cp:revision>
  <dcterms:created xsi:type="dcterms:W3CDTF">2026-10-28T22:17:03Z</dcterms:created>
  <dcterms:modified xsi:type="dcterms:W3CDTF">2026-10-28T22:17:03Z</dcterms:modified>
</cp:coreProperties>
</file>